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notesMasterIdLst>
    <p:notesMasterId r:id="rId35"/>
  </p:notesMasterIdLst>
  <p:handoutMasterIdLst>
    <p:handoutMasterId r:id="rId36"/>
  </p:handoutMasterIdLst>
  <p:sldIdLst>
    <p:sldId id="386" r:id="rId2"/>
    <p:sldId id="426" r:id="rId3"/>
    <p:sldId id="456" r:id="rId4"/>
    <p:sldId id="387" r:id="rId5"/>
    <p:sldId id="388" r:id="rId6"/>
    <p:sldId id="463" r:id="rId7"/>
    <p:sldId id="464" r:id="rId8"/>
    <p:sldId id="465" r:id="rId9"/>
    <p:sldId id="466" r:id="rId10"/>
    <p:sldId id="390" r:id="rId11"/>
    <p:sldId id="428" r:id="rId12"/>
    <p:sldId id="430" r:id="rId13"/>
    <p:sldId id="432" r:id="rId14"/>
    <p:sldId id="435" r:id="rId15"/>
    <p:sldId id="437" r:id="rId16"/>
    <p:sldId id="438" r:id="rId17"/>
    <p:sldId id="439" r:id="rId18"/>
    <p:sldId id="440" r:id="rId19"/>
    <p:sldId id="451" r:id="rId20"/>
    <p:sldId id="441" r:id="rId21"/>
    <p:sldId id="446" r:id="rId22"/>
    <p:sldId id="442" r:id="rId23"/>
    <p:sldId id="447" r:id="rId24"/>
    <p:sldId id="443" r:id="rId25"/>
    <p:sldId id="448" r:id="rId26"/>
    <p:sldId id="450" r:id="rId27"/>
    <p:sldId id="444" r:id="rId28"/>
    <p:sldId id="452" r:id="rId29"/>
    <p:sldId id="445" r:id="rId30"/>
    <p:sldId id="457" r:id="rId31"/>
    <p:sldId id="458" r:id="rId32"/>
    <p:sldId id="460" r:id="rId33"/>
    <p:sldId id="461" r:id="rId34"/>
  </p:sldIdLst>
  <p:sldSz cx="9144000" cy="6858000" type="screen4x3"/>
  <p:notesSz cx="6858000" cy="93138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707"/>
    <a:srgbClr val="000000"/>
    <a:srgbClr val="CCFF33"/>
    <a:srgbClr val="D60093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3" autoAdjust="0"/>
    <p:restoredTop sz="94643" autoAdjust="0"/>
  </p:normalViewPr>
  <p:slideViewPr>
    <p:cSldViewPr>
      <p:cViewPr varScale="1">
        <p:scale>
          <a:sx n="81" d="100"/>
          <a:sy n="81" d="100"/>
        </p:scale>
        <p:origin x="1502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58A5E7-41E7-4811-844C-613AE36CB240}" type="doc">
      <dgm:prSet loTypeId="urn:microsoft.com/office/officeart/2005/8/layout/vList2" loCatId="list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id-ID"/>
        </a:p>
      </dgm:t>
    </dgm:pt>
    <dgm:pt modelId="{4155CD7D-78BF-432A-A155-474A87DD957D}">
      <dgm:prSet phldrT="[Text]" custT="1"/>
      <dgm:spPr/>
      <dgm:t>
        <a:bodyPr/>
        <a:lstStyle/>
        <a:p>
          <a:pPr algn="ctr"/>
          <a:r>
            <a:rPr lang="id-ID" sz="1800" b="1" dirty="0"/>
            <a:t>Riwayat Pekerjaan</a:t>
          </a:r>
        </a:p>
      </dgm:t>
    </dgm:pt>
    <dgm:pt modelId="{EF30895B-A07D-440F-AADC-0AF21850F89C}" type="parTrans" cxnId="{B0233BB7-9669-4D2C-888C-679C143306AC}">
      <dgm:prSet/>
      <dgm:spPr/>
      <dgm:t>
        <a:bodyPr/>
        <a:lstStyle/>
        <a:p>
          <a:endParaRPr lang="id-ID"/>
        </a:p>
      </dgm:t>
    </dgm:pt>
    <dgm:pt modelId="{F6C19419-2962-4490-8766-F76FE873E167}" type="sibTrans" cxnId="{B0233BB7-9669-4D2C-888C-679C143306AC}">
      <dgm:prSet/>
      <dgm:spPr/>
      <dgm:t>
        <a:bodyPr/>
        <a:lstStyle/>
        <a:p>
          <a:endParaRPr lang="id-ID"/>
        </a:p>
      </dgm:t>
    </dgm:pt>
    <dgm:pt modelId="{BA7CCE9F-9316-417C-8243-485EE467F95F}">
      <dgm:prSet phldrT="[Text]" custT="1"/>
      <dgm:spPr/>
      <dgm:t>
        <a:bodyPr/>
        <a:lstStyle/>
        <a:p>
          <a:r>
            <a:rPr lang="en-US" sz="1800" dirty="0" err="1"/>
            <a:t>Sekretaris</a:t>
          </a:r>
          <a:r>
            <a:rPr lang="id-ID" sz="1800" dirty="0"/>
            <a:t> Jurusan Teknik Informatika UPN Veteran Yogyakarta (2002-2006)</a:t>
          </a:r>
          <a:r>
            <a:rPr lang="en-US" sz="1800" dirty="0"/>
            <a:t>.</a:t>
          </a:r>
          <a:endParaRPr lang="id-ID" sz="1800" dirty="0"/>
        </a:p>
      </dgm:t>
    </dgm:pt>
    <dgm:pt modelId="{A46FD5D4-5497-47E4-ACC8-911AB55CD651}" type="parTrans" cxnId="{A75AD114-F67F-495A-BBD7-299CB1D39991}">
      <dgm:prSet/>
      <dgm:spPr/>
      <dgm:t>
        <a:bodyPr/>
        <a:lstStyle/>
        <a:p>
          <a:endParaRPr lang="id-ID"/>
        </a:p>
      </dgm:t>
    </dgm:pt>
    <dgm:pt modelId="{26D7335C-E1BC-42AA-89BA-C4B40DE37392}" type="sibTrans" cxnId="{A75AD114-F67F-495A-BBD7-299CB1D39991}">
      <dgm:prSet/>
      <dgm:spPr/>
      <dgm:t>
        <a:bodyPr/>
        <a:lstStyle/>
        <a:p>
          <a:endParaRPr lang="id-ID"/>
        </a:p>
      </dgm:t>
    </dgm:pt>
    <dgm:pt modelId="{2A8EBEA8-0070-4F29-88D6-F5FB47509F31}">
      <dgm:prSet phldrT="[Text]" custT="1"/>
      <dgm:spPr/>
      <dgm:t>
        <a:bodyPr/>
        <a:lstStyle/>
        <a:p>
          <a:r>
            <a:rPr lang="id-ID" sz="1600" dirty="0"/>
            <a:t>Dosen matakuliah</a:t>
          </a:r>
          <a:r>
            <a:rPr lang="en-US" sz="1600" dirty="0"/>
            <a:t>:</a:t>
          </a:r>
          <a:r>
            <a:rPr lang="id-ID" sz="1600" dirty="0"/>
            <a:t> </a:t>
          </a:r>
          <a:r>
            <a:rPr lang="en-US" sz="1600" dirty="0" err="1"/>
            <a:t>Komputer</a:t>
          </a:r>
          <a:r>
            <a:rPr lang="en-US" sz="1600" dirty="0"/>
            <a:t> </a:t>
          </a:r>
          <a:r>
            <a:rPr lang="en-US" sz="1600" dirty="0" err="1"/>
            <a:t>dan</a:t>
          </a:r>
          <a:r>
            <a:rPr lang="en-US" sz="1600" dirty="0"/>
            <a:t> </a:t>
          </a:r>
          <a:r>
            <a:rPr lang="en-US" sz="1600" dirty="0" err="1"/>
            <a:t>Masyarakat</a:t>
          </a:r>
          <a:r>
            <a:rPr lang="en-US" sz="1600" dirty="0"/>
            <a:t>, </a:t>
          </a:r>
          <a:r>
            <a:rPr lang="en-US" sz="1600" dirty="0" err="1"/>
            <a:t>Algoritma</a:t>
          </a:r>
          <a:r>
            <a:rPr lang="en-US" sz="1600" dirty="0"/>
            <a:t> </a:t>
          </a:r>
          <a:r>
            <a:rPr lang="en-US" sz="1600" dirty="0" err="1"/>
            <a:t>dan</a:t>
          </a:r>
          <a:r>
            <a:rPr lang="en-US" sz="1600" dirty="0"/>
            <a:t> </a:t>
          </a:r>
          <a:r>
            <a:rPr lang="en-US" sz="1600" dirty="0" err="1"/>
            <a:t>Pemrograman</a:t>
          </a:r>
          <a:r>
            <a:rPr lang="id-ID" sz="1600" dirty="0"/>
            <a:t>, </a:t>
          </a:r>
          <a:r>
            <a:rPr lang="en-US" sz="1600" b="1" dirty="0" err="1"/>
            <a:t>Pemrograman</a:t>
          </a:r>
          <a:r>
            <a:rPr lang="en-US" sz="1600" b="1" dirty="0"/>
            <a:t> </a:t>
          </a:r>
          <a:r>
            <a:rPr lang="en-US" sz="1600" b="1" dirty="0" err="1"/>
            <a:t>Berorientasi</a:t>
          </a:r>
          <a:r>
            <a:rPr lang="en-US" sz="1600" b="1" dirty="0"/>
            <a:t> </a:t>
          </a:r>
          <a:r>
            <a:rPr lang="en-US" sz="1600" b="1" dirty="0" err="1"/>
            <a:t>Objek</a:t>
          </a:r>
          <a:r>
            <a:rPr lang="id-ID" sz="1600" dirty="0"/>
            <a:t>, </a:t>
          </a:r>
          <a:r>
            <a:rPr lang="en-US" sz="1600" dirty="0"/>
            <a:t>Basis Data </a:t>
          </a:r>
          <a:r>
            <a:rPr lang="en-US" sz="1600" dirty="0" err="1"/>
            <a:t>Berorientasi</a:t>
          </a:r>
          <a:r>
            <a:rPr lang="en-US" sz="1600" dirty="0"/>
            <a:t> </a:t>
          </a:r>
          <a:r>
            <a:rPr lang="en-US" sz="1600" dirty="0" err="1"/>
            <a:t>Objek</a:t>
          </a:r>
          <a:r>
            <a:rPr lang="en-US" sz="1600" dirty="0"/>
            <a:t>, Analisa dan Desain </a:t>
          </a:r>
          <a:r>
            <a:rPr lang="en-US" sz="1600" dirty="0" err="1"/>
            <a:t>Berorientasi</a:t>
          </a:r>
          <a:r>
            <a:rPr lang="en-US" sz="1600" dirty="0"/>
            <a:t> </a:t>
          </a:r>
          <a:r>
            <a:rPr lang="en-US" sz="1600" dirty="0" err="1"/>
            <a:t>Objek</a:t>
          </a:r>
          <a:r>
            <a:rPr lang="en-US" sz="1600" dirty="0"/>
            <a:t>, </a:t>
          </a:r>
          <a:r>
            <a:rPr lang="en-US" sz="1600" dirty="0" err="1"/>
            <a:t>Jaringan</a:t>
          </a:r>
          <a:r>
            <a:rPr lang="en-US" sz="1600" dirty="0"/>
            <a:t> </a:t>
          </a:r>
          <a:r>
            <a:rPr lang="en-US" sz="1600" dirty="0" err="1"/>
            <a:t>Syaraf</a:t>
          </a:r>
          <a:r>
            <a:rPr lang="en-US" sz="1600" dirty="0"/>
            <a:t> </a:t>
          </a:r>
          <a:r>
            <a:rPr lang="en-US" sz="1600" dirty="0" err="1"/>
            <a:t>Tiruan</a:t>
          </a:r>
          <a:r>
            <a:rPr lang="en-US" sz="1600" dirty="0"/>
            <a:t>, Genetic Algorithm, dan </a:t>
          </a:r>
          <a:r>
            <a:rPr lang="en-US" sz="1600" dirty="0" err="1"/>
            <a:t>Matematika</a:t>
          </a:r>
          <a:r>
            <a:rPr lang="en-US" sz="1600" dirty="0"/>
            <a:t> </a:t>
          </a:r>
          <a:r>
            <a:rPr lang="en-US" sz="1600" dirty="0" err="1"/>
            <a:t>Diskret</a:t>
          </a:r>
          <a:r>
            <a:rPr lang="en-US" sz="1600" dirty="0"/>
            <a:t>, </a:t>
          </a:r>
          <a:r>
            <a:rPr lang="en-US" sz="1600" dirty="0" err="1"/>
            <a:t>Pengenalan</a:t>
          </a:r>
          <a:r>
            <a:rPr lang="en-US" sz="1600" dirty="0"/>
            <a:t> Pola.</a:t>
          </a:r>
          <a:endParaRPr lang="id-ID" sz="1600" dirty="0"/>
        </a:p>
      </dgm:t>
    </dgm:pt>
    <dgm:pt modelId="{2EB8F156-5195-43C0-8DEF-88998B29AC78}" type="parTrans" cxnId="{C170B725-C181-4B7D-A7BB-845C1A075791}">
      <dgm:prSet/>
      <dgm:spPr/>
      <dgm:t>
        <a:bodyPr/>
        <a:lstStyle/>
        <a:p>
          <a:endParaRPr lang="id-ID"/>
        </a:p>
      </dgm:t>
    </dgm:pt>
    <dgm:pt modelId="{8D37B238-DB41-44F4-88F6-CEC605B39A2B}" type="sibTrans" cxnId="{C170B725-C181-4B7D-A7BB-845C1A075791}">
      <dgm:prSet/>
      <dgm:spPr/>
      <dgm:t>
        <a:bodyPr/>
        <a:lstStyle/>
        <a:p>
          <a:endParaRPr lang="id-ID"/>
        </a:p>
      </dgm:t>
    </dgm:pt>
    <dgm:pt modelId="{3FABCF46-5CE0-461B-B44F-A40DCD141C03}">
      <dgm:prSet phldrT="[Text]" custT="1"/>
      <dgm:spPr/>
      <dgm:t>
        <a:bodyPr/>
        <a:lstStyle/>
        <a:p>
          <a:r>
            <a:rPr lang="en-US" sz="1800" dirty="0" err="1"/>
            <a:t>Bidang</a:t>
          </a:r>
          <a:r>
            <a:rPr lang="en-US" sz="1800" dirty="0"/>
            <a:t> </a:t>
          </a:r>
          <a:r>
            <a:rPr lang="en-US" sz="1800" dirty="0" err="1"/>
            <a:t>Minat</a:t>
          </a:r>
          <a:r>
            <a:rPr lang="en-US" sz="1800" dirty="0"/>
            <a:t>: </a:t>
          </a:r>
          <a:r>
            <a:rPr lang="en-US" sz="1800" dirty="0" err="1"/>
            <a:t>SoftComputing</a:t>
          </a:r>
          <a:r>
            <a:rPr lang="en-US" sz="1800" dirty="0"/>
            <a:t>, Odor Recognition, dan </a:t>
          </a:r>
          <a:r>
            <a:rPr lang="en-US" sz="1800" dirty="0" err="1"/>
            <a:t>BioInformatika</a:t>
          </a:r>
          <a:r>
            <a:rPr lang="en-US" sz="1800" dirty="0"/>
            <a:t>. </a:t>
          </a:r>
          <a:endParaRPr lang="id-ID" sz="1800" dirty="0"/>
        </a:p>
      </dgm:t>
    </dgm:pt>
    <dgm:pt modelId="{66005702-77EF-4C69-8C53-143CBAC3E0F7}" type="parTrans" cxnId="{FD7D005C-FCF8-491B-91F7-FF583167D93B}">
      <dgm:prSet/>
      <dgm:spPr/>
      <dgm:t>
        <a:bodyPr/>
        <a:lstStyle/>
        <a:p>
          <a:endParaRPr lang="en-US"/>
        </a:p>
      </dgm:t>
    </dgm:pt>
    <dgm:pt modelId="{6DBD0622-78CF-43C9-B1BB-3571023A702E}" type="sibTrans" cxnId="{FD7D005C-FCF8-491B-91F7-FF583167D93B}">
      <dgm:prSet/>
      <dgm:spPr/>
      <dgm:t>
        <a:bodyPr/>
        <a:lstStyle/>
        <a:p>
          <a:endParaRPr lang="en-US"/>
        </a:p>
      </dgm:t>
    </dgm:pt>
    <dgm:pt modelId="{E96A2F75-0954-407D-8E2D-C9F3011DEC58}">
      <dgm:prSet phldrT="[Text]" custT="1"/>
      <dgm:spPr/>
      <dgm:t>
        <a:bodyPr/>
        <a:lstStyle/>
        <a:p>
          <a:r>
            <a:rPr lang="en-US" sz="1800" dirty="0" err="1"/>
            <a:t>Dosen</a:t>
          </a:r>
          <a:r>
            <a:rPr lang="en-US" sz="1800" dirty="0"/>
            <a:t> </a:t>
          </a:r>
          <a:r>
            <a:rPr lang="en-US" sz="1800" dirty="0" err="1"/>
            <a:t>Teknik</a:t>
          </a:r>
          <a:r>
            <a:rPr lang="en-US" sz="1800" dirty="0"/>
            <a:t> </a:t>
          </a:r>
          <a:r>
            <a:rPr lang="en-US" sz="1800" dirty="0" err="1"/>
            <a:t>Informatika</a:t>
          </a:r>
          <a:r>
            <a:rPr lang="en-US" sz="1800" dirty="0"/>
            <a:t> UPN Veteran Yogyakarta </a:t>
          </a:r>
          <a:r>
            <a:rPr lang="en-US" sz="1800" dirty="0" err="1"/>
            <a:t>sejak</a:t>
          </a:r>
          <a:r>
            <a:rPr lang="en-US" sz="1800" dirty="0"/>
            <a:t> 01 </a:t>
          </a:r>
          <a:r>
            <a:rPr lang="en-US" sz="1800" dirty="0" err="1"/>
            <a:t>Maret</a:t>
          </a:r>
          <a:r>
            <a:rPr lang="en-US" sz="1800" dirty="0"/>
            <a:t> 1996.</a:t>
          </a:r>
          <a:endParaRPr lang="id-ID" sz="1800" dirty="0"/>
        </a:p>
      </dgm:t>
    </dgm:pt>
    <dgm:pt modelId="{6C81F9D2-A9D1-4F11-9B02-E0C322D763C2}" type="parTrans" cxnId="{A735E8C3-BBD4-4E29-857C-3BB5AB0AB183}">
      <dgm:prSet/>
      <dgm:spPr/>
      <dgm:t>
        <a:bodyPr/>
        <a:lstStyle/>
        <a:p>
          <a:endParaRPr lang="en-US"/>
        </a:p>
      </dgm:t>
    </dgm:pt>
    <dgm:pt modelId="{5CCB7D0E-EF6F-43DF-8593-09C48A54363B}" type="sibTrans" cxnId="{A735E8C3-BBD4-4E29-857C-3BB5AB0AB183}">
      <dgm:prSet/>
      <dgm:spPr/>
      <dgm:t>
        <a:bodyPr/>
        <a:lstStyle/>
        <a:p>
          <a:endParaRPr lang="en-US"/>
        </a:p>
      </dgm:t>
    </dgm:pt>
    <dgm:pt modelId="{F3C92A93-4DCF-4B83-8C0D-6A8C02DE6B05}">
      <dgm:prSet phldrT="[Text]" custT="1"/>
      <dgm:spPr/>
      <dgm:t>
        <a:bodyPr/>
        <a:lstStyle/>
        <a:p>
          <a:r>
            <a:rPr lang="en-US" sz="1800" dirty="0" err="1"/>
            <a:t>Senat</a:t>
          </a:r>
          <a:r>
            <a:rPr lang="en-US" sz="1800" dirty="0"/>
            <a:t> UPN Veteran Yogyakarta </a:t>
          </a:r>
          <a:r>
            <a:rPr lang="en-US" sz="1800" dirty="0" err="1"/>
            <a:t>dua</a:t>
          </a:r>
          <a:r>
            <a:rPr lang="en-US" sz="1800" dirty="0"/>
            <a:t> </a:t>
          </a:r>
          <a:r>
            <a:rPr lang="en-US" sz="1800" dirty="0" err="1"/>
            <a:t>periode</a:t>
          </a:r>
          <a:r>
            <a:rPr lang="en-US" sz="1800" dirty="0"/>
            <a:t> 2001-2005 </a:t>
          </a:r>
          <a:r>
            <a:rPr lang="en-US" sz="1800" dirty="0" err="1"/>
            <a:t>dan</a:t>
          </a:r>
          <a:r>
            <a:rPr lang="en-US" sz="1800" dirty="0"/>
            <a:t> 2005-2009</a:t>
          </a:r>
          <a:endParaRPr lang="id-ID" sz="1800" dirty="0"/>
        </a:p>
      </dgm:t>
    </dgm:pt>
    <dgm:pt modelId="{F56A7474-E284-4319-A7B1-6E1DD3726DCD}" type="parTrans" cxnId="{357CA0AE-973D-40C9-B48A-FE9AF7821CF3}">
      <dgm:prSet/>
      <dgm:spPr/>
      <dgm:t>
        <a:bodyPr/>
        <a:lstStyle/>
        <a:p>
          <a:endParaRPr lang="en-US"/>
        </a:p>
      </dgm:t>
    </dgm:pt>
    <dgm:pt modelId="{7D533B9E-71A9-4831-A866-EEC9D4EB339A}" type="sibTrans" cxnId="{357CA0AE-973D-40C9-B48A-FE9AF7821CF3}">
      <dgm:prSet/>
      <dgm:spPr/>
      <dgm:t>
        <a:bodyPr/>
        <a:lstStyle/>
        <a:p>
          <a:endParaRPr lang="en-US"/>
        </a:p>
      </dgm:t>
    </dgm:pt>
    <dgm:pt modelId="{8198FB07-A86B-491F-8E89-2721854B8087}">
      <dgm:prSet phldrT="[Text]" custT="1"/>
      <dgm:spPr/>
      <dgm:t>
        <a:bodyPr/>
        <a:lstStyle/>
        <a:p>
          <a:r>
            <a:rPr lang="en-US" sz="1800" dirty="0" err="1"/>
            <a:t>Ketua</a:t>
          </a:r>
          <a:r>
            <a:rPr lang="en-US" sz="1800" dirty="0"/>
            <a:t> </a:t>
          </a:r>
          <a:r>
            <a:rPr lang="en-US" sz="1800" dirty="0" err="1"/>
            <a:t>Senat</a:t>
          </a:r>
          <a:r>
            <a:rPr lang="en-US" sz="1800" dirty="0"/>
            <a:t> FTI UPN Veteran Yogyakarta </a:t>
          </a:r>
          <a:r>
            <a:rPr lang="en-US" sz="1800" dirty="0" err="1"/>
            <a:t>Periode</a:t>
          </a:r>
          <a:r>
            <a:rPr lang="en-US" sz="1800" dirty="0"/>
            <a:t> 2020-2024 </a:t>
          </a:r>
          <a:endParaRPr lang="id-ID" sz="1800" dirty="0"/>
        </a:p>
      </dgm:t>
    </dgm:pt>
    <dgm:pt modelId="{D4982EF2-CDF2-431E-A73D-60175B9B9361}" type="parTrans" cxnId="{B6EAC937-66E8-48F3-AA61-F46021D5B003}">
      <dgm:prSet/>
      <dgm:spPr/>
      <dgm:t>
        <a:bodyPr/>
        <a:lstStyle/>
        <a:p>
          <a:endParaRPr lang="en-US"/>
        </a:p>
      </dgm:t>
    </dgm:pt>
    <dgm:pt modelId="{F0004536-BF77-4F0C-933E-DE172D49A13D}" type="sibTrans" cxnId="{B6EAC937-66E8-48F3-AA61-F46021D5B003}">
      <dgm:prSet/>
      <dgm:spPr/>
      <dgm:t>
        <a:bodyPr/>
        <a:lstStyle/>
        <a:p>
          <a:endParaRPr lang="en-US"/>
        </a:p>
      </dgm:t>
    </dgm:pt>
    <dgm:pt modelId="{40F7D194-0392-4E1F-B6B0-E7957ECB0B69}">
      <dgm:prSet phldrT="[Text]" custT="1"/>
      <dgm:spPr/>
      <dgm:t>
        <a:bodyPr/>
        <a:lstStyle/>
        <a:p>
          <a:r>
            <a:rPr lang="en-US" sz="1800" dirty="0" err="1"/>
            <a:t>Ketua</a:t>
          </a:r>
          <a:r>
            <a:rPr lang="en-US" sz="1800" dirty="0"/>
            <a:t> </a:t>
          </a:r>
          <a:r>
            <a:rPr lang="en-US" sz="1800" dirty="0" err="1"/>
            <a:t>Panitia</a:t>
          </a:r>
          <a:r>
            <a:rPr lang="en-US" sz="1800" dirty="0"/>
            <a:t> PKKBN 2020</a:t>
          </a:r>
          <a:endParaRPr lang="id-ID" sz="1800" dirty="0"/>
        </a:p>
      </dgm:t>
    </dgm:pt>
    <dgm:pt modelId="{2DB1A615-02E4-440C-B75F-F50788099595}" type="parTrans" cxnId="{B7A658CE-3C80-48E6-A100-41107938B1DD}">
      <dgm:prSet/>
      <dgm:spPr/>
      <dgm:t>
        <a:bodyPr/>
        <a:lstStyle/>
        <a:p>
          <a:endParaRPr lang="en-US"/>
        </a:p>
      </dgm:t>
    </dgm:pt>
    <dgm:pt modelId="{E5156EC8-FFBB-4961-9AB5-53EB97B84576}" type="sibTrans" cxnId="{B7A658CE-3C80-48E6-A100-41107938B1DD}">
      <dgm:prSet/>
      <dgm:spPr/>
      <dgm:t>
        <a:bodyPr/>
        <a:lstStyle/>
        <a:p>
          <a:endParaRPr lang="en-US"/>
        </a:p>
      </dgm:t>
    </dgm:pt>
    <dgm:pt modelId="{48FABF02-1072-4666-A455-0E6C3DFADDE1}">
      <dgm:prSet phldrT="[Text]" custT="1"/>
      <dgm:spPr/>
      <dgm:t>
        <a:bodyPr/>
        <a:lstStyle/>
        <a:p>
          <a:r>
            <a:rPr lang="en-US" sz="1800" dirty="0"/>
            <a:t>Wakil </a:t>
          </a:r>
          <a:r>
            <a:rPr lang="en-US" sz="1800" dirty="0" err="1"/>
            <a:t>Dekan</a:t>
          </a:r>
          <a:r>
            <a:rPr lang="en-US" sz="1800" dirty="0"/>
            <a:t> </a:t>
          </a:r>
          <a:r>
            <a:rPr lang="en-US" sz="1800" dirty="0" err="1"/>
            <a:t>Bidang</a:t>
          </a:r>
          <a:r>
            <a:rPr lang="en-US" sz="1800" dirty="0"/>
            <a:t> </a:t>
          </a:r>
          <a:r>
            <a:rPr lang="en-US" sz="1800" dirty="0" err="1"/>
            <a:t>Akademik</a:t>
          </a:r>
          <a:r>
            <a:rPr lang="en-US" sz="1800" dirty="0"/>
            <a:t> FTI </a:t>
          </a:r>
          <a:r>
            <a:rPr lang="en-US" sz="1800" dirty="0" err="1"/>
            <a:t>periode</a:t>
          </a:r>
          <a:r>
            <a:rPr lang="en-US" sz="1800" dirty="0"/>
            <a:t> 2024-2028 </a:t>
          </a:r>
          <a:endParaRPr lang="id-ID" sz="1800" dirty="0"/>
        </a:p>
      </dgm:t>
    </dgm:pt>
    <dgm:pt modelId="{5E8091DA-4F97-4A74-B370-7D3723AEC448}" type="parTrans" cxnId="{D25C1C47-8E27-4459-8A2A-5E5AAF96A3E3}">
      <dgm:prSet/>
      <dgm:spPr/>
      <dgm:t>
        <a:bodyPr/>
        <a:lstStyle/>
        <a:p>
          <a:endParaRPr lang="en-US"/>
        </a:p>
      </dgm:t>
    </dgm:pt>
    <dgm:pt modelId="{C0819237-9BFA-4D74-8CDF-66B982F6527F}" type="sibTrans" cxnId="{D25C1C47-8E27-4459-8A2A-5E5AAF96A3E3}">
      <dgm:prSet/>
      <dgm:spPr/>
      <dgm:t>
        <a:bodyPr/>
        <a:lstStyle/>
        <a:p>
          <a:endParaRPr lang="en-US"/>
        </a:p>
      </dgm:t>
    </dgm:pt>
    <dgm:pt modelId="{F0477689-485D-495C-9E8F-1B1253B45DEA}" type="pres">
      <dgm:prSet presAssocID="{8B58A5E7-41E7-4811-844C-613AE36CB240}" presName="linear" presStyleCnt="0">
        <dgm:presLayoutVars>
          <dgm:animLvl val="lvl"/>
          <dgm:resizeHandles val="exact"/>
        </dgm:presLayoutVars>
      </dgm:prSet>
      <dgm:spPr/>
    </dgm:pt>
    <dgm:pt modelId="{77808989-C3FF-4489-B0CF-60C5D9BDB474}" type="pres">
      <dgm:prSet presAssocID="{4155CD7D-78BF-432A-A155-474A87DD957D}" presName="parentText" presStyleLbl="node1" presStyleIdx="0" presStyleCnt="1" custScaleY="140308" custLinFactNeighborY="-7376">
        <dgm:presLayoutVars>
          <dgm:chMax val="0"/>
          <dgm:bulletEnabled val="1"/>
        </dgm:presLayoutVars>
      </dgm:prSet>
      <dgm:spPr/>
    </dgm:pt>
    <dgm:pt modelId="{0427FAF3-A671-42E3-89E7-CB261945AC82}" type="pres">
      <dgm:prSet presAssocID="{4155CD7D-78BF-432A-A155-474A87DD957D}" presName="childText" presStyleLbl="revTx" presStyleIdx="0" presStyleCnt="1" custScaleY="164434">
        <dgm:presLayoutVars>
          <dgm:bulletEnabled val="1"/>
        </dgm:presLayoutVars>
      </dgm:prSet>
      <dgm:spPr/>
    </dgm:pt>
  </dgm:ptLst>
  <dgm:cxnLst>
    <dgm:cxn modelId="{A75AD114-F67F-495A-BBD7-299CB1D39991}" srcId="{4155CD7D-78BF-432A-A155-474A87DD957D}" destId="{BA7CCE9F-9316-417C-8243-485EE467F95F}" srcOrd="3" destOrd="0" parTransId="{A46FD5D4-5497-47E4-ACC8-911AB55CD651}" sibTransId="{26D7335C-E1BC-42AA-89BA-C4B40DE37392}"/>
    <dgm:cxn modelId="{C19CB520-9C63-4827-AC13-FBE88847AB98}" type="presOf" srcId="{BA7CCE9F-9316-417C-8243-485EE467F95F}" destId="{0427FAF3-A671-42E3-89E7-CB261945AC82}" srcOrd="0" destOrd="3" presId="urn:microsoft.com/office/officeart/2005/8/layout/vList2"/>
    <dgm:cxn modelId="{DF2FAD22-A21F-4C09-BE8C-E2ECE7C1A7D9}" type="presOf" srcId="{40F7D194-0392-4E1F-B6B0-E7957ECB0B69}" destId="{0427FAF3-A671-42E3-89E7-CB261945AC82}" srcOrd="0" destOrd="5" presId="urn:microsoft.com/office/officeart/2005/8/layout/vList2"/>
    <dgm:cxn modelId="{72775523-D22A-4B6A-8FBE-17B3F5F68BD6}" type="presOf" srcId="{F3C92A93-4DCF-4B83-8C0D-6A8C02DE6B05}" destId="{0427FAF3-A671-42E3-89E7-CB261945AC82}" srcOrd="0" destOrd="4" presId="urn:microsoft.com/office/officeart/2005/8/layout/vList2"/>
    <dgm:cxn modelId="{C170B725-C181-4B7D-A7BB-845C1A075791}" srcId="{4155CD7D-78BF-432A-A155-474A87DD957D}" destId="{2A8EBEA8-0070-4F29-88D6-F5FB47509F31}" srcOrd="0" destOrd="0" parTransId="{2EB8F156-5195-43C0-8DEF-88998B29AC78}" sibTransId="{8D37B238-DB41-44F4-88F6-CEC605B39A2B}"/>
    <dgm:cxn modelId="{A1E0D42A-414E-43DD-9E49-662A91223BDC}" type="presOf" srcId="{4155CD7D-78BF-432A-A155-474A87DD957D}" destId="{77808989-C3FF-4489-B0CF-60C5D9BDB474}" srcOrd="0" destOrd="0" presId="urn:microsoft.com/office/officeart/2005/8/layout/vList2"/>
    <dgm:cxn modelId="{B6EAC937-66E8-48F3-AA61-F46021D5B003}" srcId="{4155CD7D-78BF-432A-A155-474A87DD957D}" destId="{8198FB07-A86B-491F-8E89-2721854B8087}" srcOrd="6" destOrd="0" parTransId="{D4982EF2-CDF2-431E-A73D-60175B9B9361}" sibTransId="{F0004536-BF77-4F0C-933E-DE172D49A13D}"/>
    <dgm:cxn modelId="{FD7D005C-FCF8-491B-91F7-FF583167D93B}" srcId="{4155CD7D-78BF-432A-A155-474A87DD957D}" destId="{3FABCF46-5CE0-461B-B44F-A40DCD141C03}" srcOrd="1" destOrd="0" parTransId="{66005702-77EF-4C69-8C53-143CBAC3E0F7}" sibTransId="{6DBD0622-78CF-43C9-B1BB-3571023A702E}"/>
    <dgm:cxn modelId="{D25C1C47-8E27-4459-8A2A-5E5AAF96A3E3}" srcId="{4155CD7D-78BF-432A-A155-474A87DD957D}" destId="{48FABF02-1072-4666-A455-0E6C3DFADDE1}" srcOrd="7" destOrd="0" parTransId="{5E8091DA-4F97-4A74-B370-7D3723AEC448}" sibTransId="{C0819237-9BFA-4D74-8CDF-66B982F6527F}"/>
    <dgm:cxn modelId="{B8A47368-7094-4F6A-BE47-5C9ADFB56E0C}" type="presOf" srcId="{48FABF02-1072-4666-A455-0E6C3DFADDE1}" destId="{0427FAF3-A671-42E3-89E7-CB261945AC82}" srcOrd="0" destOrd="7" presId="urn:microsoft.com/office/officeart/2005/8/layout/vList2"/>
    <dgm:cxn modelId="{83215484-BE4C-4582-929A-98F64F694EE8}" type="presOf" srcId="{2A8EBEA8-0070-4F29-88D6-F5FB47509F31}" destId="{0427FAF3-A671-42E3-89E7-CB261945AC82}" srcOrd="0" destOrd="0" presId="urn:microsoft.com/office/officeart/2005/8/layout/vList2"/>
    <dgm:cxn modelId="{DB8C89A0-D974-46FB-A576-E0FD200DA1E2}" type="presOf" srcId="{3FABCF46-5CE0-461B-B44F-A40DCD141C03}" destId="{0427FAF3-A671-42E3-89E7-CB261945AC82}" srcOrd="0" destOrd="1" presId="urn:microsoft.com/office/officeart/2005/8/layout/vList2"/>
    <dgm:cxn modelId="{A87AA2AA-21D7-4B5D-A4B5-3D208437F89C}" type="presOf" srcId="{E96A2F75-0954-407D-8E2D-C9F3011DEC58}" destId="{0427FAF3-A671-42E3-89E7-CB261945AC82}" srcOrd="0" destOrd="2" presId="urn:microsoft.com/office/officeart/2005/8/layout/vList2"/>
    <dgm:cxn modelId="{357CA0AE-973D-40C9-B48A-FE9AF7821CF3}" srcId="{4155CD7D-78BF-432A-A155-474A87DD957D}" destId="{F3C92A93-4DCF-4B83-8C0D-6A8C02DE6B05}" srcOrd="4" destOrd="0" parTransId="{F56A7474-E284-4319-A7B1-6E1DD3726DCD}" sibTransId="{7D533B9E-71A9-4831-A866-EEC9D4EB339A}"/>
    <dgm:cxn modelId="{B0233BB7-9669-4D2C-888C-679C143306AC}" srcId="{8B58A5E7-41E7-4811-844C-613AE36CB240}" destId="{4155CD7D-78BF-432A-A155-474A87DD957D}" srcOrd="0" destOrd="0" parTransId="{EF30895B-A07D-440F-AADC-0AF21850F89C}" sibTransId="{F6C19419-2962-4490-8766-F76FE873E167}"/>
    <dgm:cxn modelId="{A6040BBE-DD20-4358-9235-691DB07D13B9}" type="presOf" srcId="{8198FB07-A86B-491F-8E89-2721854B8087}" destId="{0427FAF3-A671-42E3-89E7-CB261945AC82}" srcOrd="0" destOrd="6" presId="urn:microsoft.com/office/officeart/2005/8/layout/vList2"/>
    <dgm:cxn modelId="{A735E8C3-BBD4-4E29-857C-3BB5AB0AB183}" srcId="{4155CD7D-78BF-432A-A155-474A87DD957D}" destId="{E96A2F75-0954-407D-8E2D-C9F3011DEC58}" srcOrd="2" destOrd="0" parTransId="{6C81F9D2-A9D1-4F11-9B02-E0C322D763C2}" sibTransId="{5CCB7D0E-EF6F-43DF-8593-09C48A54363B}"/>
    <dgm:cxn modelId="{7F8FFDC3-69E7-4EE1-B51F-8DC0C26E246B}" type="presOf" srcId="{8B58A5E7-41E7-4811-844C-613AE36CB240}" destId="{F0477689-485D-495C-9E8F-1B1253B45DEA}" srcOrd="0" destOrd="0" presId="urn:microsoft.com/office/officeart/2005/8/layout/vList2"/>
    <dgm:cxn modelId="{B7A658CE-3C80-48E6-A100-41107938B1DD}" srcId="{4155CD7D-78BF-432A-A155-474A87DD957D}" destId="{40F7D194-0392-4E1F-B6B0-E7957ECB0B69}" srcOrd="5" destOrd="0" parTransId="{2DB1A615-02E4-440C-B75F-F50788099595}" sibTransId="{E5156EC8-FFBB-4961-9AB5-53EB97B84576}"/>
    <dgm:cxn modelId="{F82D4986-841C-458C-89A3-8F203D190AB6}" type="presParOf" srcId="{F0477689-485D-495C-9E8F-1B1253B45DEA}" destId="{77808989-C3FF-4489-B0CF-60C5D9BDB474}" srcOrd="0" destOrd="0" presId="urn:microsoft.com/office/officeart/2005/8/layout/vList2"/>
    <dgm:cxn modelId="{588F8496-5AB6-4158-8C9E-49385EBEBD9F}" type="presParOf" srcId="{F0477689-485D-495C-9E8F-1B1253B45DEA}" destId="{0427FAF3-A671-42E3-89E7-CB261945AC8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808989-C3FF-4489-B0CF-60C5D9BDB474}">
      <dsp:nvSpPr>
        <dsp:cNvPr id="0" name=""/>
        <dsp:cNvSpPr/>
      </dsp:nvSpPr>
      <dsp:spPr>
        <a:xfrm>
          <a:off x="0" y="0"/>
          <a:ext cx="6096000" cy="65042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1800" b="1" kern="1200" dirty="0"/>
            <a:t>Riwayat Pekerjaan</a:t>
          </a:r>
        </a:p>
      </dsp:txBody>
      <dsp:txXfrm>
        <a:off x="31751" y="31751"/>
        <a:ext cx="6032498" cy="586924"/>
      </dsp:txXfrm>
    </dsp:sp>
    <dsp:sp modelId="{0427FAF3-A671-42E3-89E7-CB261945AC82}">
      <dsp:nvSpPr>
        <dsp:cNvPr id="0" name=""/>
        <dsp:cNvSpPr/>
      </dsp:nvSpPr>
      <dsp:spPr>
        <a:xfrm>
          <a:off x="0" y="654837"/>
          <a:ext cx="6096000" cy="5965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548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d-ID" sz="1600" kern="1200" dirty="0"/>
            <a:t>Dosen matakuliah</a:t>
          </a:r>
          <a:r>
            <a:rPr lang="en-US" sz="1600" kern="1200" dirty="0"/>
            <a:t>:</a:t>
          </a:r>
          <a:r>
            <a:rPr lang="id-ID" sz="1600" kern="1200" dirty="0"/>
            <a:t> </a:t>
          </a:r>
          <a:r>
            <a:rPr lang="en-US" sz="1600" kern="1200" dirty="0" err="1"/>
            <a:t>Komputer</a:t>
          </a:r>
          <a:r>
            <a:rPr lang="en-US" sz="1600" kern="1200" dirty="0"/>
            <a:t> </a:t>
          </a:r>
          <a:r>
            <a:rPr lang="en-US" sz="1600" kern="1200" dirty="0" err="1"/>
            <a:t>dan</a:t>
          </a:r>
          <a:r>
            <a:rPr lang="en-US" sz="1600" kern="1200" dirty="0"/>
            <a:t> </a:t>
          </a:r>
          <a:r>
            <a:rPr lang="en-US" sz="1600" kern="1200" dirty="0" err="1"/>
            <a:t>Masyarakat</a:t>
          </a:r>
          <a:r>
            <a:rPr lang="en-US" sz="1600" kern="1200" dirty="0"/>
            <a:t>, </a:t>
          </a:r>
          <a:r>
            <a:rPr lang="en-US" sz="1600" kern="1200" dirty="0" err="1"/>
            <a:t>Algoritma</a:t>
          </a:r>
          <a:r>
            <a:rPr lang="en-US" sz="1600" kern="1200" dirty="0"/>
            <a:t> </a:t>
          </a:r>
          <a:r>
            <a:rPr lang="en-US" sz="1600" kern="1200" dirty="0" err="1"/>
            <a:t>dan</a:t>
          </a:r>
          <a:r>
            <a:rPr lang="en-US" sz="1600" kern="1200" dirty="0"/>
            <a:t> </a:t>
          </a:r>
          <a:r>
            <a:rPr lang="en-US" sz="1600" kern="1200" dirty="0" err="1"/>
            <a:t>Pemrograman</a:t>
          </a:r>
          <a:r>
            <a:rPr lang="id-ID" sz="1600" kern="1200" dirty="0"/>
            <a:t>, </a:t>
          </a:r>
          <a:r>
            <a:rPr lang="en-US" sz="1600" b="1" kern="1200" dirty="0" err="1"/>
            <a:t>Pemrograman</a:t>
          </a:r>
          <a:r>
            <a:rPr lang="en-US" sz="1600" b="1" kern="1200" dirty="0"/>
            <a:t> </a:t>
          </a:r>
          <a:r>
            <a:rPr lang="en-US" sz="1600" b="1" kern="1200" dirty="0" err="1"/>
            <a:t>Berorientasi</a:t>
          </a:r>
          <a:r>
            <a:rPr lang="en-US" sz="1600" b="1" kern="1200" dirty="0"/>
            <a:t> </a:t>
          </a:r>
          <a:r>
            <a:rPr lang="en-US" sz="1600" b="1" kern="1200" dirty="0" err="1"/>
            <a:t>Objek</a:t>
          </a:r>
          <a:r>
            <a:rPr lang="id-ID" sz="1600" kern="1200" dirty="0"/>
            <a:t>, </a:t>
          </a:r>
          <a:r>
            <a:rPr lang="en-US" sz="1600" kern="1200" dirty="0"/>
            <a:t>Basis Data </a:t>
          </a:r>
          <a:r>
            <a:rPr lang="en-US" sz="1600" kern="1200" dirty="0" err="1"/>
            <a:t>Berorientasi</a:t>
          </a:r>
          <a:r>
            <a:rPr lang="en-US" sz="1600" kern="1200" dirty="0"/>
            <a:t> </a:t>
          </a:r>
          <a:r>
            <a:rPr lang="en-US" sz="1600" kern="1200" dirty="0" err="1"/>
            <a:t>Objek</a:t>
          </a:r>
          <a:r>
            <a:rPr lang="en-US" sz="1600" kern="1200" dirty="0"/>
            <a:t>, Analisa dan Desain </a:t>
          </a:r>
          <a:r>
            <a:rPr lang="en-US" sz="1600" kern="1200" dirty="0" err="1"/>
            <a:t>Berorientasi</a:t>
          </a:r>
          <a:r>
            <a:rPr lang="en-US" sz="1600" kern="1200" dirty="0"/>
            <a:t> </a:t>
          </a:r>
          <a:r>
            <a:rPr lang="en-US" sz="1600" kern="1200" dirty="0" err="1"/>
            <a:t>Objek</a:t>
          </a:r>
          <a:r>
            <a:rPr lang="en-US" sz="1600" kern="1200" dirty="0"/>
            <a:t>, </a:t>
          </a:r>
          <a:r>
            <a:rPr lang="en-US" sz="1600" kern="1200" dirty="0" err="1"/>
            <a:t>Jaringan</a:t>
          </a:r>
          <a:r>
            <a:rPr lang="en-US" sz="1600" kern="1200" dirty="0"/>
            <a:t> </a:t>
          </a:r>
          <a:r>
            <a:rPr lang="en-US" sz="1600" kern="1200" dirty="0" err="1"/>
            <a:t>Syaraf</a:t>
          </a:r>
          <a:r>
            <a:rPr lang="en-US" sz="1600" kern="1200" dirty="0"/>
            <a:t> </a:t>
          </a:r>
          <a:r>
            <a:rPr lang="en-US" sz="1600" kern="1200" dirty="0" err="1"/>
            <a:t>Tiruan</a:t>
          </a:r>
          <a:r>
            <a:rPr lang="en-US" sz="1600" kern="1200" dirty="0"/>
            <a:t>, Genetic Algorithm, dan </a:t>
          </a:r>
          <a:r>
            <a:rPr lang="en-US" sz="1600" kern="1200" dirty="0" err="1"/>
            <a:t>Matematika</a:t>
          </a:r>
          <a:r>
            <a:rPr lang="en-US" sz="1600" kern="1200" dirty="0"/>
            <a:t> </a:t>
          </a:r>
          <a:r>
            <a:rPr lang="en-US" sz="1600" kern="1200" dirty="0" err="1"/>
            <a:t>Diskret</a:t>
          </a:r>
          <a:r>
            <a:rPr lang="en-US" sz="1600" kern="1200" dirty="0"/>
            <a:t>, </a:t>
          </a:r>
          <a:r>
            <a:rPr lang="en-US" sz="1600" kern="1200" dirty="0" err="1"/>
            <a:t>Pengenalan</a:t>
          </a:r>
          <a:r>
            <a:rPr lang="en-US" sz="1600" kern="1200" dirty="0"/>
            <a:t> Pola.</a:t>
          </a:r>
          <a:endParaRPr lang="id-ID" sz="16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 err="1"/>
            <a:t>Bidang</a:t>
          </a:r>
          <a:r>
            <a:rPr lang="en-US" sz="1800" kern="1200" dirty="0"/>
            <a:t> </a:t>
          </a:r>
          <a:r>
            <a:rPr lang="en-US" sz="1800" kern="1200" dirty="0" err="1"/>
            <a:t>Minat</a:t>
          </a:r>
          <a:r>
            <a:rPr lang="en-US" sz="1800" kern="1200" dirty="0"/>
            <a:t>: </a:t>
          </a:r>
          <a:r>
            <a:rPr lang="en-US" sz="1800" kern="1200" dirty="0" err="1"/>
            <a:t>SoftComputing</a:t>
          </a:r>
          <a:r>
            <a:rPr lang="en-US" sz="1800" kern="1200" dirty="0"/>
            <a:t>, Odor Recognition, dan </a:t>
          </a:r>
          <a:r>
            <a:rPr lang="en-US" sz="1800" kern="1200" dirty="0" err="1"/>
            <a:t>BioInformatika</a:t>
          </a:r>
          <a:r>
            <a:rPr lang="en-US" sz="1800" kern="1200" dirty="0"/>
            <a:t>. </a:t>
          </a:r>
          <a:endParaRPr lang="id-ID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 err="1"/>
            <a:t>Dosen</a:t>
          </a:r>
          <a:r>
            <a:rPr lang="en-US" sz="1800" kern="1200" dirty="0"/>
            <a:t> </a:t>
          </a:r>
          <a:r>
            <a:rPr lang="en-US" sz="1800" kern="1200" dirty="0" err="1"/>
            <a:t>Teknik</a:t>
          </a:r>
          <a:r>
            <a:rPr lang="en-US" sz="1800" kern="1200" dirty="0"/>
            <a:t> </a:t>
          </a:r>
          <a:r>
            <a:rPr lang="en-US" sz="1800" kern="1200" dirty="0" err="1"/>
            <a:t>Informatika</a:t>
          </a:r>
          <a:r>
            <a:rPr lang="en-US" sz="1800" kern="1200" dirty="0"/>
            <a:t> UPN Veteran Yogyakarta </a:t>
          </a:r>
          <a:r>
            <a:rPr lang="en-US" sz="1800" kern="1200" dirty="0" err="1"/>
            <a:t>sejak</a:t>
          </a:r>
          <a:r>
            <a:rPr lang="en-US" sz="1800" kern="1200" dirty="0"/>
            <a:t> 01 </a:t>
          </a:r>
          <a:r>
            <a:rPr lang="en-US" sz="1800" kern="1200" dirty="0" err="1"/>
            <a:t>Maret</a:t>
          </a:r>
          <a:r>
            <a:rPr lang="en-US" sz="1800" kern="1200" dirty="0"/>
            <a:t> 1996.</a:t>
          </a:r>
          <a:endParaRPr lang="id-ID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 err="1"/>
            <a:t>Sekretaris</a:t>
          </a:r>
          <a:r>
            <a:rPr lang="id-ID" sz="1800" kern="1200" dirty="0"/>
            <a:t> Jurusan Teknik Informatika UPN Veteran Yogyakarta (2002-2006)</a:t>
          </a:r>
          <a:r>
            <a:rPr lang="en-US" sz="1800" kern="1200" dirty="0"/>
            <a:t>.</a:t>
          </a:r>
          <a:endParaRPr lang="id-ID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 err="1"/>
            <a:t>Senat</a:t>
          </a:r>
          <a:r>
            <a:rPr lang="en-US" sz="1800" kern="1200" dirty="0"/>
            <a:t> UPN Veteran Yogyakarta </a:t>
          </a:r>
          <a:r>
            <a:rPr lang="en-US" sz="1800" kern="1200" dirty="0" err="1"/>
            <a:t>dua</a:t>
          </a:r>
          <a:r>
            <a:rPr lang="en-US" sz="1800" kern="1200" dirty="0"/>
            <a:t> </a:t>
          </a:r>
          <a:r>
            <a:rPr lang="en-US" sz="1800" kern="1200" dirty="0" err="1"/>
            <a:t>periode</a:t>
          </a:r>
          <a:r>
            <a:rPr lang="en-US" sz="1800" kern="1200" dirty="0"/>
            <a:t> 2001-2005 </a:t>
          </a:r>
          <a:r>
            <a:rPr lang="en-US" sz="1800" kern="1200" dirty="0" err="1"/>
            <a:t>dan</a:t>
          </a:r>
          <a:r>
            <a:rPr lang="en-US" sz="1800" kern="1200" dirty="0"/>
            <a:t> 2005-2009</a:t>
          </a:r>
          <a:endParaRPr lang="id-ID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 err="1"/>
            <a:t>Ketua</a:t>
          </a:r>
          <a:r>
            <a:rPr lang="en-US" sz="1800" kern="1200" dirty="0"/>
            <a:t> </a:t>
          </a:r>
          <a:r>
            <a:rPr lang="en-US" sz="1800" kern="1200" dirty="0" err="1"/>
            <a:t>Panitia</a:t>
          </a:r>
          <a:r>
            <a:rPr lang="en-US" sz="1800" kern="1200" dirty="0"/>
            <a:t> PKKBN 2020</a:t>
          </a:r>
          <a:endParaRPr lang="id-ID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 err="1"/>
            <a:t>Ketua</a:t>
          </a:r>
          <a:r>
            <a:rPr lang="en-US" sz="1800" kern="1200" dirty="0"/>
            <a:t> </a:t>
          </a:r>
          <a:r>
            <a:rPr lang="en-US" sz="1800" kern="1200" dirty="0" err="1"/>
            <a:t>Senat</a:t>
          </a:r>
          <a:r>
            <a:rPr lang="en-US" sz="1800" kern="1200" dirty="0"/>
            <a:t> FTI UPN Veteran Yogyakarta </a:t>
          </a:r>
          <a:r>
            <a:rPr lang="en-US" sz="1800" kern="1200" dirty="0" err="1"/>
            <a:t>Periode</a:t>
          </a:r>
          <a:r>
            <a:rPr lang="en-US" sz="1800" kern="1200" dirty="0"/>
            <a:t> 2020-2024 </a:t>
          </a:r>
          <a:endParaRPr lang="id-ID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Wakil </a:t>
          </a:r>
          <a:r>
            <a:rPr lang="en-US" sz="1800" kern="1200" dirty="0" err="1"/>
            <a:t>Dekan</a:t>
          </a:r>
          <a:r>
            <a:rPr lang="en-US" sz="1800" kern="1200" dirty="0"/>
            <a:t> </a:t>
          </a:r>
          <a:r>
            <a:rPr lang="en-US" sz="1800" kern="1200" dirty="0" err="1"/>
            <a:t>Bidang</a:t>
          </a:r>
          <a:r>
            <a:rPr lang="en-US" sz="1800" kern="1200" dirty="0"/>
            <a:t> </a:t>
          </a:r>
          <a:r>
            <a:rPr lang="en-US" sz="1800" kern="1200" dirty="0" err="1"/>
            <a:t>Akademik</a:t>
          </a:r>
          <a:r>
            <a:rPr lang="en-US" sz="1800" kern="1200" dirty="0"/>
            <a:t> FTI </a:t>
          </a:r>
          <a:r>
            <a:rPr lang="en-US" sz="1800" kern="1200" dirty="0" err="1"/>
            <a:t>periode</a:t>
          </a:r>
          <a:r>
            <a:rPr lang="en-US" sz="1800" kern="1200" dirty="0"/>
            <a:t> 2024-2028 </a:t>
          </a:r>
          <a:endParaRPr lang="id-ID" sz="1800" kern="1200" dirty="0"/>
        </a:p>
      </dsp:txBody>
      <dsp:txXfrm>
        <a:off x="0" y="654837"/>
        <a:ext cx="6096000" cy="59654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fld id="{C86F193C-C289-4371-A97A-BE0216192A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149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1725" y="700088"/>
            <a:ext cx="4656138" cy="34925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24363"/>
            <a:ext cx="5029200" cy="418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fld id="{6BB55178-6231-4D76-9FDA-8501850614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981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AD7034-A682-4A61-816F-9588E104565D}" type="slidenum">
              <a:rPr lang="en-US"/>
              <a:pPr/>
              <a:t>1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B55178-6231-4D76-9FDA-850185061430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F5ABFA-C565-4C5F-92B2-E422F64930AF}" type="slidenum">
              <a:rPr lang="en-US"/>
              <a:pPr/>
              <a:t>4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ABF1FE-E78B-4C82-9557-B81501D559AE}" type="slidenum">
              <a:rPr lang="en-US"/>
              <a:pPr/>
              <a:t>5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8F177C-C914-4A64-8952-6C86D679B566}" type="slidenum">
              <a:rPr lang="en-US"/>
              <a:pPr/>
              <a:t>10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5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656" r:id="rId12"/>
    <p:sldLayoutId id="2147483666" r:id="rId13"/>
  </p:sldLayoutIdLst>
  <p:hf sldNum="0" hdr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990601"/>
            <a:ext cx="7772400" cy="2591762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Mengenal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Dasar-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dasar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OOP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menggunakan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sz="6600" dirty="0">
                <a:latin typeface="Times New Roman" pitchFamily="18" charset="0"/>
                <a:cs typeface="Times New Roman" pitchFamily="18" charset="0"/>
              </a:rPr>
              <a:t>Java Programming</a:t>
            </a:r>
            <a:endParaRPr lang="en-US" b="1" dirty="0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(</a:t>
            </a:r>
            <a:r>
              <a:rPr lang="en-US" dirty="0" err="1"/>
              <a:t>Pendahuluan</a:t>
            </a:r>
            <a:r>
              <a:rPr lang="en-US" dirty="0"/>
              <a:t>)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39971708"/>
              </p:ext>
            </p:extLst>
          </p:nvPr>
        </p:nvGraphicFramePr>
        <p:xfrm>
          <a:off x="2895600" y="116632"/>
          <a:ext cx="6096000" cy="66247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Rectangle 6"/>
          <p:cNvSpPr/>
          <p:nvPr/>
        </p:nvSpPr>
        <p:spPr>
          <a:xfrm>
            <a:off x="152400" y="2667000"/>
            <a:ext cx="259228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err="1"/>
              <a:t>Novrido</a:t>
            </a:r>
            <a:r>
              <a:rPr lang="en-US" sz="2000" b="1" dirty="0"/>
              <a:t> </a:t>
            </a:r>
            <a:r>
              <a:rPr lang="en-US" sz="2000" b="1" dirty="0" err="1"/>
              <a:t>Charibaldi</a:t>
            </a:r>
            <a:endParaRPr lang="en-US" sz="2000" b="1" dirty="0"/>
          </a:p>
          <a:p>
            <a:pPr algn="ctr"/>
            <a:endParaRPr lang="id-ID" sz="2000" b="1" dirty="0"/>
          </a:p>
          <a:p>
            <a:pPr algn="ctr"/>
            <a:r>
              <a:rPr lang="id-ID" sz="1600" b="1" dirty="0"/>
              <a:t>SMAN </a:t>
            </a:r>
            <a:r>
              <a:rPr lang="en-US" sz="1600" b="1" dirty="0"/>
              <a:t>6</a:t>
            </a:r>
            <a:r>
              <a:rPr lang="id-ID" sz="1600" b="1" dirty="0"/>
              <a:t> </a:t>
            </a:r>
            <a:r>
              <a:rPr lang="en-US" sz="1600" b="1" dirty="0"/>
              <a:t>Palembang</a:t>
            </a:r>
          </a:p>
          <a:p>
            <a:pPr algn="ctr"/>
            <a:r>
              <a:rPr lang="id-ID" sz="1600" b="1" dirty="0"/>
              <a:t> </a:t>
            </a:r>
            <a:endParaRPr lang="en-US" sz="1600" b="1" dirty="0"/>
          </a:p>
          <a:p>
            <a:pPr algn="ctr"/>
            <a:r>
              <a:rPr lang="id-ID" sz="1600" b="1" dirty="0"/>
              <a:t>S</a:t>
            </a:r>
            <a:r>
              <a:rPr lang="en-US" sz="1600" b="1" dirty="0"/>
              <a:t>1</a:t>
            </a:r>
            <a:r>
              <a:rPr lang="id-ID" sz="1600" b="1" dirty="0"/>
              <a:t> </a:t>
            </a:r>
            <a:r>
              <a:rPr lang="en-US" sz="1600" b="1" dirty="0"/>
              <a:t>–</a:t>
            </a:r>
            <a:r>
              <a:rPr lang="id-ID" sz="1600" b="1" dirty="0"/>
              <a:t> </a:t>
            </a:r>
            <a:r>
              <a:rPr lang="en-US" sz="1600" b="1" dirty="0" err="1"/>
              <a:t>Teknik</a:t>
            </a:r>
            <a:r>
              <a:rPr lang="en-US" sz="1600" b="1" dirty="0"/>
              <a:t> </a:t>
            </a:r>
            <a:r>
              <a:rPr lang="en-US" sz="1600" b="1" dirty="0" err="1"/>
              <a:t>Informatika</a:t>
            </a:r>
            <a:r>
              <a:rPr lang="en-US" sz="1600" b="1" dirty="0"/>
              <a:t> ST.INTEN Bandung</a:t>
            </a:r>
            <a:r>
              <a:rPr lang="id-ID" sz="1600" b="1" dirty="0"/>
              <a:t> </a:t>
            </a:r>
            <a:endParaRPr lang="en-US" sz="1600" b="1" dirty="0"/>
          </a:p>
          <a:p>
            <a:pPr algn="ctr"/>
            <a:r>
              <a:rPr lang="en-US" sz="1600" b="1" dirty="0"/>
              <a:t>1988 – 1995</a:t>
            </a:r>
          </a:p>
          <a:p>
            <a:pPr algn="ctr"/>
            <a:endParaRPr lang="id-ID" sz="1600" b="1" dirty="0"/>
          </a:p>
          <a:p>
            <a:pPr algn="ctr"/>
            <a:r>
              <a:rPr lang="id-ID" sz="1600" b="1" dirty="0"/>
              <a:t>S2 </a:t>
            </a:r>
            <a:r>
              <a:rPr lang="en-US" sz="1600" b="1" dirty="0"/>
              <a:t>-</a:t>
            </a:r>
            <a:r>
              <a:rPr lang="id-ID" sz="1600" b="1" dirty="0"/>
              <a:t> </a:t>
            </a:r>
            <a:r>
              <a:rPr lang="en-US" sz="1600" b="1" dirty="0" err="1"/>
              <a:t>Ilmu</a:t>
            </a:r>
            <a:r>
              <a:rPr lang="en-US" sz="1600" b="1" dirty="0"/>
              <a:t> </a:t>
            </a:r>
            <a:r>
              <a:rPr lang="en-US" sz="1600" b="1" dirty="0" err="1"/>
              <a:t>Komputer</a:t>
            </a:r>
            <a:r>
              <a:rPr lang="en-US" sz="1600" b="1" dirty="0"/>
              <a:t> UGM</a:t>
            </a:r>
            <a:r>
              <a:rPr lang="id-ID" sz="1600" b="1" dirty="0"/>
              <a:t> </a:t>
            </a:r>
            <a:r>
              <a:rPr lang="en-US" sz="1600" b="1" dirty="0"/>
              <a:t>1998 – 2001</a:t>
            </a:r>
          </a:p>
          <a:p>
            <a:pPr algn="ctr"/>
            <a:endParaRPr lang="id-ID" sz="1600" b="1" dirty="0"/>
          </a:p>
          <a:p>
            <a:pPr algn="ctr"/>
            <a:r>
              <a:rPr lang="id-ID" sz="1600" b="1" dirty="0"/>
              <a:t>S</a:t>
            </a:r>
            <a:r>
              <a:rPr lang="en-US" sz="1600" b="1" dirty="0"/>
              <a:t>3 -</a:t>
            </a:r>
            <a:r>
              <a:rPr lang="id-ID" sz="1600" b="1" dirty="0"/>
              <a:t> Ilmu Komputer UGM </a:t>
            </a:r>
          </a:p>
          <a:p>
            <a:pPr algn="ctr"/>
            <a:r>
              <a:rPr lang="en-US" sz="1600" b="1" dirty="0"/>
              <a:t>2012</a:t>
            </a:r>
            <a:r>
              <a:rPr lang="id-ID" sz="1600" b="1" dirty="0"/>
              <a:t> - </a:t>
            </a:r>
            <a:r>
              <a:rPr lang="en-US" sz="1600" b="1" dirty="0"/>
              <a:t>2019</a:t>
            </a:r>
            <a:endParaRPr lang="id-ID" sz="1600" b="1" dirty="0"/>
          </a:p>
        </p:txBody>
      </p:sp>
      <p:pic>
        <p:nvPicPr>
          <p:cNvPr id="30721" name="Picture 1" descr="D:\FOTO\Me2.JPG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52400" y="228601"/>
            <a:ext cx="2632759" cy="23621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64117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dirty="0" err="1">
                <a:effectLst/>
              </a:rPr>
              <a:t>Pengalaman</a:t>
            </a:r>
            <a:endParaRPr lang="en-US" b="0" dirty="0">
              <a:effectLst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err="1"/>
              <a:t>di</a:t>
            </a:r>
            <a:r>
              <a:rPr lang="en-US" b="1" dirty="0"/>
              <a:t> </a:t>
            </a:r>
            <a:r>
              <a:rPr lang="en-US" b="1" dirty="0" err="1"/>
              <a:t>tenda</a:t>
            </a:r>
            <a:r>
              <a:rPr lang="en-US" b="1" dirty="0"/>
              <a:t> </a:t>
            </a:r>
            <a:r>
              <a:rPr lang="en-US" b="1" dirty="0" err="1"/>
              <a:t>Relawan</a:t>
            </a:r>
            <a:r>
              <a:rPr lang="en-US" b="1" dirty="0"/>
              <a:t> PMI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3"/>
          </p:nvPr>
        </p:nvSpPr>
        <p:spPr/>
        <p:txBody>
          <a:bodyPr anchor="ctr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lang="en-US" b="1" dirty="0" err="1"/>
              <a:t>Relawan</a:t>
            </a:r>
            <a:r>
              <a:rPr lang="en-US" b="1" dirty="0"/>
              <a:t> </a:t>
            </a:r>
            <a:r>
              <a:rPr lang="en-US" b="1" dirty="0" err="1"/>
              <a:t>Merapi</a:t>
            </a:r>
            <a:r>
              <a:rPr lang="en-US" b="1" dirty="0"/>
              <a:t> 2010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28674" name="Picture 2" descr="D:\FOTO\gendol3.jpg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645025" y="1447800"/>
            <a:ext cx="4041775" cy="3809999"/>
          </a:xfrm>
          <a:prstGeom prst="rect">
            <a:avLst/>
          </a:prstGeom>
          <a:noFill/>
        </p:spPr>
      </p:pic>
      <p:sp>
        <p:nvSpPr>
          <p:cNvPr id="12" name="Content Placeholder 11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675" name="Picture 3" descr="D:\FOTO\diBarakGlagahHardj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1447800"/>
            <a:ext cx="4038600" cy="381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90600"/>
            <a:ext cx="8686800" cy="5257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None/>
            </a:pPr>
            <a:endParaRPr lang="id-ID" sz="3200" dirty="0"/>
          </a:p>
          <a:p>
            <a:pPr marL="109728" indent="0" eaLnBrk="1" hangingPunct="1">
              <a:lnSpc>
                <a:spcPct val="9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Project based</a:t>
            </a:r>
            <a:r>
              <a:rPr lang="id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</a:t>
            </a:r>
            <a:r>
              <a:rPr lang="id-ID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Presentasi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laporan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09728" indent="0" eaLnBrk="1" hangingPunct="1">
              <a:lnSpc>
                <a:spcPct val="9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Case based = 50%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diambil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jawaban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diskusi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09728" indent="0" eaLnBrk="1" hangingPunct="1">
              <a:lnSpc>
                <a:spcPct val="90000"/>
              </a:lnSpc>
              <a:buNone/>
            </a:pPr>
            <a:r>
              <a:rPr lang="en-US" sz="3200" dirty="0"/>
              <a:t>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400" dirty="0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b="1" dirty="0" err="1"/>
              <a:t>Penilaian</a:t>
            </a:r>
            <a:endParaRPr 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229600" cy="4916016"/>
          </a:xfrm>
        </p:spPr>
        <p:txBody>
          <a:bodyPr>
            <a:normAutofit fontScale="92500" lnSpcReduction="10000"/>
          </a:bodyPr>
          <a:lstStyle/>
          <a:p>
            <a:pPr marL="533400" indent="-533400">
              <a:lnSpc>
                <a:spcPct val="80000"/>
              </a:lnSpc>
            </a:pPr>
            <a:r>
              <a:rPr lang="en-US" sz="4000" dirty="0"/>
              <a:t>Abdul </a:t>
            </a:r>
            <a:r>
              <a:rPr lang="en-US" sz="4000" dirty="0" err="1"/>
              <a:t>Kadir</a:t>
            </a:r>
            <a:r>
              <a:rPr lang="en-US" sz="4000" dirty="0"/>
              <a:t>, </a:t>
            </a:r>
            <a:r>
              <a:rPr lang="en-US" sz="4000" dirty="0" err="1"/>
              <a:t>Dasar</a:t>
            </a:r>
            <a:r>
              <a:rPr lang="en-US" sz="4000" dirty="0"/>
              <a:t> </a:t>
            </a:r>
            <a:r>
              <a:rPr lang="en-US" sz="4000" dirty="0" err="1"/>
              <a:t>Pemrograman</a:t>
            </a:r>
            <a:r>
              <a:rPr lang="en-US" sz="4000" dirty="0"/>
              <a:t> Java</a:t>
            </a:r>
          </a:p>
          <a:p>
            <a:pPr marL="533400" indent="-533400">
              <a:lnSpc>
                <a:spcPct val="80000"/>
              </a:lnSpc>
            </a:pPr>
            <a:endParaRPr lang="en-US" sz="4000" dirty="0"/>
          </a:p>
          <a:p>
            <a:pPr marL="533400" indent="-533400">
              <a:lnSpc>
                <a:spcPct val="80000"/>
              </a:lnSpc>
            </a:pPr>
            <a:r>
              <a:rPr lang="en-US" sz="4000" dirty="0" err="1"/>
              <a:t>Novrido</a:t>
            </a:r>
            <a:r>
              <a:rPr lang="en-US" sz="4000" dirty="0"/>
              <a:t> </a:t>
            </a:r>
            <a:r>
              <a:rPr lang="en-US" sz="4000" dirty="0" err="1"/>
              <a:t>Charibaldi</a:t>
            </a:r>
            <a:r>
              <a:rPr lang="en-US" sz="4000" dirty="0"/>
              <a:t>, </a:t>
            </a:r>
            <a:r>
              <a:rPr lang="en-US" sz="4000" dirty="0" err="1"/>
              <a:t>Solusi</a:t>
            </a:r>
            <a:r>
              <a:rPr lang="en-US" sz="4000" dirty="0"/>
              <a:t> </a:t>
            </a:r>
            <a:r>
              <a:rPr lang="en-US" sz="4000" dirty="0" err="1"/>
              <a:t>Pemrograman</a:t>
            </a:r>
            <a:r>
              <a:rPr lang="en-US" sz="4000" dirty="0"/>
              <a:t> Java</a:t>
            </a:r>
          </a:p>
          <a:p>
            <a:pPr marL="533400" indent="-533400">
              <a:lnSpc>
                <a:spcPct val="80000"/>
              </a:lnSpc>
            </a:pPr>
            <a:endParaRPr lang="en-US" sz="4000" dirty="0"/>
          </a:p>
          <a:p>
            <a:pPr marL="533400" indent="-533400">
              <a:lnSpc>
                <a:spcPct val="80000"/>
              </a:lnSpc>
            </a:pPr>
            <a:r>
              <a:rPr lang="en-US" sz="4000" dirty="0"/>
              <a:t>Slide </a:t>
            </a:r>
            <a:r>
              <a:rPr lang="en-US" sz="4000" dirty="0" err="1"/>
              <a:t>Presentasi</a:t>
            </a:r>
            <a:r>
              <a:rPr lang="en-US" sz="4000" dirty="0"/>
              <a:t> </a:t>
            </a:r>
            <a:r>
              <a:rPr lang="en-US" sz="4000" dirty="0" err="1"/>
              <a:t>ini</a:t>
            </a:r>
            <a:endParaRPr lang="en-US" sz="4000" dirty="0"/>
          </a:p>
          <a:p>
            <a:pPr marL="533400" indent="-533400">
              <a:lnSpc>
                <a:spcPct val="80000"/>
              </a:lnSpc>
            </a:pPr>
            <a:endParaRPr lang="en-US" sz="4000" dirty="0"/>
          </a:p>
          <a:p>
            <a:pPr marL="533400" indent="-533400">
              <a:lnSpc>
                <a:spcPct val="80000"/>
              </a:lnSpc>
            </a:pPr>
            <a:r>
              <a:rPr lang="en-US" sz="4000" dirty="0"/>
              <a:t>Internet Resource yg </a:t>
            </a:r>
            <a:r>
              <a:rPr lang="en-US" sz="4000" dirty="0" err="1"/>
              <a:t>ada</a:t>
            </a:r>
            <a:r>
              <a:rPr lang="en-US" sz="4000" dirty="0"/>
              <a:t> </a:t>
            </a:r>
            <a:r>
              <a:rPr lang="en-US" sz="4000" dirty="0" err="1"/>
              <a:t>penulis</a:t>
            </a:r>
            <a:r>
              <a:rPr lang="en-US" sz="4000" dirty="0"/>
              <a:t> yg </a:t>
            </a:r>
            <a:r>
              <a:rPr lang="en-US" sz="4000" dirty="0" err="1"/>
              <a:t>jelas</a:t>
            </a:r>
            <a:endParaRPr lang="en-US" sz="4000" dirty="0"/>
          </a:p>
          <a:p>
            <a:pPr marL="533400" indent="-533400">
              <a:lnSpc>
                <a:spcPct val="80000"/>
              </a:lnSpc>
            </a:pPr>
            <a:r>
              <a:rPr lang="en-US" sz="4000" dirty="0"/>
              <a:t>ChatGPT </a:t>
            </a:r>
            <a:r>
              <a:rPr lang="en-US" sz="4000" dirty="0" err="1"/>
              <a:t>dkk</a:t>
            </a:r>
            <a:endParaRPr lang="en-US" sz="4000" dirty="0"/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endParaRPr lang="en-US" sz="3600" dirty="0"/>
          </a:p>
          <a:p>
            <a:pPr marL="533400" indent="-533400" eaLnBrk="1" hangingPunct="1">
              <a:lnSpc>
                <a:spcPct val="80000"/>
              </a:lnSpc>
              <a:buFontTx/>
              <a:buNone/>
            </a:pPr>
            <a:endParaRPr lang="en-US" sz="3600" dirty="0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/>
              <a:t>Pustaka</a:t>
            </a:r>
            <a:endParaRPr lang="en-US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21B1BD2-9CD1-425B-9FE3-20B2327578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5833578"/>
              </p:ext>
            </p:extLst>
          </p:nvPr>
        </p:nvGraphicFramePr>
        <p:xfrm>
          <a:off x="228600" y="913606"/>
          <a:ext cx="868680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6466">
                  <a:extLst>
                    <a:ext uri="{9D8B030D-6E8A-4147-A177-3AD203B41FA5}">
                      <a16:colId xmlns:a16="http://schemas.microsoft.com/office/drawing/2014/main" val="1060663755"/>
                    </a:ext>
                  </a:extLst>
                </a:gridCol>
                <a:gridCol w="3136900">
                  <a:extLst>
                    <a:ext uri="{9D8B030D-6E8A-4147-A177-3AD203B41FA5}">
                      <a16:colId xmlns:a16="http://schemas.microsoft.com/office/drawing/2014/main" val="3963486645"/>
                    </a:ext>
                  </a:extLst>
                </a:gridCol>
                <a:gridCol w="2493434">
                  <a:extLst>
                    <a:ext uri="{9D8B030D-6E8A-4147-A177-3AD203B41FA5}">
                      <a16:colId xmlns:a16="http://schemas.microsoft.com/office/drawing/2014/main" val="2054682094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Bidang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Phyton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Java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3711647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Data Science (ML and Big Data), AI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⭐⭐⭐⭐⭐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⭐⭐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061789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Web 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⭐⭐⭐⭐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⭐⭐⭐⭐⭐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429187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707"/>
                          </a:solidFill>
                        </a:rPr>
                        <a:t>Mobile Android</a:t>
                      </a:r>
                      <a:r>
                        <a:rPr lang="en-US" sz="1600" dirty="0">
                          <a:solidFill>
                            <a:srgbClr val="FF0707"/>
                          </a:solidFill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⭐⭐⭐⭐⭐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166711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Enterprise System </a:t>
                      </a:r>
                    </a:p>
                    <a:p>
                      <a:pPr algn="ctr"/>
                      <a:r>
                        <a:rPr lang="en-US" sz="1600" dirty="0"/>
                        <a:t>(</a:t>
                      </a:r>
                      <a:r>
                        <a:rPr lang="en-US" sz="1600" dirty="0" err="1"/>
                        <a:t>misal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sistem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Perbankan</a:t>
                      </a:r>
                      <a:r>
                        <a:rPr lang="en-US" sz="1600" dirty="0"/>
                        <a:t> /</a:t>
                      </a:r>
                      <a:r>
                        <a:rPr lang="en-US" sz="1600" dirty="0" err="1"/>
                        <a:t>Pembayaran</a:t>
                      </a:r>
                      <a:r>
                        <a:rPr lang="en-US" sz="1600" dirty="0"/>
                        <a:t>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⭐⭐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⭐⭐⭐⭐⭐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072706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IoT, Embedding System, </a:t>
                      </a:r>
                      <a:r>
                        <a:rPr lang="en-US" sz="1600" dirty="0" err="1"/>
                        <a:t>Automasi</a:t>
                      </a:r>
                      <a:r>
                        <a:rPr lang="en-US" sz="1600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⭐⭐⭐</a:t>
                      </a:r>
                    </a:p>
                    <a:p>
                      <a:pPr algn="ctr"/>
                      <a:r>
                        <a:rPr lang="en-US" sz="1200" dirty="0"/>
                        <a:t>(</a:t>
                      </a:r>
                      <a:r>
                        <a:rPr lang="en-US" sz="1200" dirty="0" err="1"/>
                        <a:t>ada</a:t>
                      </a:r>
                      <a:r>
                        <a:rPr lang="en-US" sz="1200" dirty="0"/>
                        <a:t> </a:t>
                      </a:r>
                      <a:r>
                        <a:rPr lang="en-US" sz="1200" b="1" dirty="0" err="1"/>
                        <a:t>MicroPython</a:t>
                      </a:r>
                      <a:r>
                        <a:rPr lang="en-US" sz="1200" b="0" dirty="0"/>
                        <a:t> </a:t>
                      </a:r>
                      <a:r>
                        <a:rPr lang="en-US" sz="1200" b="1" dirty="0" err="1"/>
                        <a:t>CircuitPython</a:t>
                      </a:r>
                      <a:r>
                        <a:rPr lang="en-US" sz="12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⭐⭐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8988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BioInformatics</a:t>
                      </a:r>
                      <a:r>
                        <a:rPr lang="en-US" sz="1600" dirty="0"/>
                        <a:t> and </a:t>
                      </a:r>
                    </a:p>
                    <a:p>
                      <a:pPr algn="ctr"/>
                      <a:r>
                        <a:rPr lang="en-US" sz="1600" dirty="0"/>
                        <a:t>Odor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⭐⭐⭐⭐⭐</a:t>
                      </a:r>
                    </a:p>
                    <a:p>
                      <a:pPr algn="ctr"/>
                      <a:r>
                        <a:rPr lang="en-US" sz="1200" dirty="0"/>
                        <a:t>(Ada BioPhyton, TensorFlow, </a:t>
                      </a:r>
                      <a:r>
                        <a:rPr lang="en-US" sz="1200" dirty="0" err="1"/>
                        <a:t>dll</a:t>
                      </a:r>
                      <a:r>
                        <a:rPr lang="en-US" sz="12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⭐⭐</a:t>
                      </a:r>
                    </a:p>
                    <a:p>
                      <a:pPr algn="ctr"/>
                      <a:r>
                        <a:rPr lang="en-US" sz="1200" dirty="0"/>
                        <a:t>(Ada </a:t>
                      </a:r>
                      <a:r>
                        <a:rPr lang="en-US" sz="1200" dirty="0" err="1"/>
                        <a:t>BioJava</a:t>
                      </a:r>
                      <a:r>
                        <a:rPr lang="en-US" sz="1200" dirty="0"/>
                        <a:t>, Weka, DL4)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34356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Manajemen</a:t>
                      </a:r>
                      <a:r>
                        <a:rPr lang="en-US" sz="1600" dirty="0"/>
                        <a:t> Memori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boros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memori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stabil</a:t>
                      </a:r>
                      <a:r>
                        <a:rPr lang="en-US" dirty="0"/>
                        <a:t> dan </a:t>
                      </a:r>
                      <a:r>
                        <a:rPr lang="en-US" dirty="0" err="1"/>
                        <a:t>terkontrol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4095179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Riset </a:t>
                      </a:r>
                      <a:r>
                        <a:rPr lang="en-US" sz="1600" dirty="0" err="1"/>
                        <a:t>akademik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⭐⭐⭐⭐⭐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⭐⭐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29816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707"/>
                          </a:solidFill>
                        </a:rPr>
                        <a:t>Operating System Developer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⭐⭐⭐⭐⭐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0822348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E94C35-5565-3ADB-E523-55D6BACC4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30B70E-5ABE-A009-F4FC-FF472A9E5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6ABDAA-2C69-5906-23B3-F0B4DAB08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96080"/>
            <a:ext cx="8686800" cy="7159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Java vs Phyton</a:t>
            </a:r>
          </a:p>
        </p:txBody>
      </p:sp>
    </p:spTree>
    <p:extLst>
      <p:ext uri="{BB962C8B-B14F-4D97-AF65-F5344CB8AC3E}">
        <p14:creationId xmlns:p14="http://schemas.microsoft.com/office/powerpoint/2010/main" val="2129104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8D3380-412D-31EA-7744-E9E28CD6E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600201"/>
            <a:ext cx="8991600" cy="3886200"/>
          </a:xfrm>
        </p:spPr>
        <p:txBody>
          <a:bodyPr/>
          <a:lstStyle/>
          <a:p>
            <a:r>
              <a:rPr lang="en-US" dirty="0"/>
              <a:t>Java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memanfaatkan</a:t>
            </a:r>
            <a:r>
              <a:rPr lang="en-US" dirty="0"/>
              <a:t> (</a:t>
            </a:r>
            <a:r>
              <a:rPr lang="en-US" dirty="0" err="1"/>
              <a:t>memanggil</a:t>
            </a:r>
            <a:r>
              <a:rPr lang="en-US" dirty="0"/>
              <a:t>) library Python,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statement “import”.</a:t>
            </a:r>
          </a:p>
          <a:p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arsitektur</a:t>
            </a:r>
            <a:r>
              <a:rPr lang="en-US" dirty="0"/>
              <a:t> </a:t>
            </a:r>
            <a:r>
              <a:rPr lang="en-US" dirty="0" err="1"/>
              <a:t>integrasi</a:t>
            </a:r>
            <a:r>
              <a:rPr lang="en-US" dirty="0"/>
              <a:t> (</a:t>
            </a:r>
            <a:r>
              <a:rPr lang="en-US" dirty="0" err="1"/>
              <a:t>terutama</a:t>
            </a:r>
            <a:r>
              <a:rPr lang="en-US" dirty="0"/>
              <a:t> REST API).</a:t>
            </a:r>
          </a:p>
          <a:p>
            <a:r>
              <a:rPr lang="en-US" dirty="0"/>
              <a:t>Java → </a:t>
            </a:r>
            <a:r>
              <a:rPr lang="en-US" dirty="0" err="1"/>
              <a:t>memanggil</a:t>
            </a:r>
            <a:r>
              <a:rPr lang="en-US" dirty="0"/>
              <a:t> service Python via HTTP</a:t>
            </a:r>
          </a:p>
          <a:p>
            <a:r>
              <a:rPr lang="en-US" dirty="0"/>
              <a:t>Java → </a:t>
            </a:r>
            <a:r>
              <a:rPr lang="en-US" dirty="0" err="1"/>
              <a:t>kirim</a:t>
            </a:r>
            <a:r>
              <a:rPr lang="en-US" dirty="0"/>
              <a:t> data (JSON) → Python (</a:t>
            </a:r>
            <a:r>
              <a:rPr lang="en-US" dirty="0" err="1"/>
              <a:t>FastAPI</a:t>
            </a:r>
            <a:r>
              <a:rPr lang="en-US" dirty="0"/>
              <a:t>/Flask)</a:t>
            </a:r>
          </a:p>
          <a:p>
            <a:r>
              <a:rPr lang="en-US" dirty="0"/>
              <a:t>Python → proses </a:t>
            </a:r>
            <a:r>
              <a:rPr lang="en-US" dirty="0" err="1"/>
              <a:t>dengan</a:t>
            </a:r>
            <a:r>
              <a:rPr lang="en-US" dirty="0"/>
              <a:t> NumPy/TensorFlow</a:t>
            </a:r>
          </a:p>
          <a:p>
            <a:r>
              <a:rPr lang="en-US" dirty="0"/>
              <a:t>Python → </a:t>
            </a:r>
            <a:r>
              <a:rPr lang="en-US" dirty="0" err="1"/>
              <a:t>kirim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(JSON) → Java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B99F55-EF60-6D4C-2ACD-F3D891881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ED0E57-9002-B1D7-D04B-6A3402A4D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BA84A73-CA3D-59AC-27E8-891C6CDE1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533400"/>
            <a:ext cx="8991600" cy="639762"/>
          </a:xfrm>
        </p:spPr>
        <p:txBody>
          <a:bodyPr>
            <a:normAutofit/>
          </a:bodyPr>
          <a:lstStyle/>
          <a:p>
            <a:pPr algn="ctr"/>
            <a:r>
              <a:rPr lang="en-US" sz="3000" dirty="0"/>
              <a:t>Java </a:t>
            </a:r>
            <a:r>
              <a:rPr lang="en-US" sz="3000" dirty="0" err="1"/>
              <a:t>kuat</a:t>
            </a:r>
            <a:r>
              <a:rPr lang="en-US" sz="3000" dirty="0"/>
              <a:t> di </a:t>
            </a:r>
            <a:r>
              <a:rPr lang="en-US" sz="3000" dirty="0" err="1"/>
              <a:t>Sistem</a:t>
            </a:r>
            <a:r>
              <a:rPr lang="en-US" sz="3000" dirty="0"/>
              <a:t>, Phyton </a:t>
            </a:r>
            <a:r>
              <a:rPr lang="en-US" sz="3000" dirty="0" err="1"/>
              <a:t>kuat</a:t>
            </a:r>
            <a:r>
              <a:rPr lang="en-US" sz="3000" dirty="0"/>
              <a:t> di Library</a:t>
            </a:r>
          </a:p>
        </p:txBody>
      </p:sp>
    </p:spTree>
    <p:extLst>
      <p:ext uri="{BB962C8B-B14F-4D97-AF65-F5344CB8AC3E}">
        <p14:creationId xmlns:p14="http://schemas.microsoft.com/office/powerpoint/2010/main" val="3081919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1AB459-2AF2-5C6A-512A-84F704518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828801"/>
            <a:ext cx="8763000" cy="1905000"/>
          </a:xfrm>
        </p:spPr>
        <p:txBody>
          <a:bodyPr/>
          <a:lstStyle/>
          <a:p>
            <a:pPr marL="109728" indent="0">
              <a:buNone/>
            </a:pPr>
            <a:r>
              <a:rPr lang="en-US" sz="2500" dirty="0"/>
              <a:t>✔ Python </a:t>
            </a:r>
            <a:r>
              <a:rPr lang="en-US" sz="2500" dirty="0" err="1"/>
              <a:t>tetap</a:t>
            </a:r>
            <a:r>
              <a:rPr lang="en-US" sz="2500" dirty="0"/>
              <a:t> full power (NumPy, </a:t>
            </a:r>
            <a:r>
              <a:rPr lang="en-US" sz="2500" dirty="0" err="1"/>
              <a:t>PyTorch</a:t>
            </a:r>
            <a:r>
              <a:rPr lang="en-US" sz="2500" dirty="0"/>
              <a:t>, SHAP, </a:t>
            </a:r>
            <a:r>
              <a:rPr lang="en-US" sz="2500" dirty="0" err="1"/>
              <a:t>dll</a:t>
            </a:r>
            <a:r>
              <a:rPr lang="en-US" sz="2500" dirty="0"/>
              <a:t>). </a:t>
            </a:r>
            <a:br>
              <a:rPr lang="en-US" sz="2500" dirty="0"/>
            </a:br>
            <a:r>
              <a:rPr lang="en-US" sz="2500" dirty="0"/>
              <a:t>✔ Java </a:t>
            </a:r>
            <a:r>
              <a:rPr lang="en-US" sz="2500" dirty="0" err="1"/>
              <a:t>tetap</a:t>
            </a:r>
            <a:r>
              <a:rPr lang="en-US" sz="2500" dirty="0"/>
              <a:t> </a:t>
            </a:r>
            <a:r>
              <a:rPr lang="en-US" sz="2500" dirty="0" err="1"/>
              <a:t>kuat</a:t>
            </a:r>
            <a:r>
              <a:rPr lang="en-US" sz="2500" dirty="0"/>
              <a:t> dan </a:t>
            </a:r>
            <a:r>
              <a:rPr lang="en-US" sz="2500" dirty="0" err="1"/>
              <a:t>stabil</a:t>
            </a:r>
            <a:r>
              <a:rPr lang="en-US" sz="2500" dirty="0"/>
              <a:t> </a:t>
            </a:r>
            <a:r>
              <a:rPr lang="en-US" sz="2500" dirty="0" err="1"/>
              <a:t>untuk</a:t>
            </a:r>
            <a:r>
              <a:rPr lang="en-US" sz="2500" dirty="0"/>
              <a:t> enterprise.</a:t>
            </a:r>
            <a:br>
              <a:rPr lang="en-US" sz="2500" dirty="0"/>
            </a:br>
            <a:r>
              <a:rPr lang="en-US" sz="2500" dirty="0"/>
              <a:t>✔ </a:t>
            </a:r>
            <a:r>
              <a:rPr lang="en-US" sz="2500" dirty="0" err="1"/>
              <a:t>Mudah</a:t>
            </a:r>
            <a:r>
              <a:rPr lang="en-US" sz="2500" dirty="0"/>
              <a:t> </a:t>
            </a:r>
            <a:r>
              <a:rPr lang="en-US" sz="2500" dirty="0" err="1"/>
              <a:t>diskalakan</a:t>
            </a:r>
            <a:r>
              <a:rPr lang="en-US" sz="2500" dirty="0"/>
              <a:t> (Docker/Kubernetes).</a:t>
            </a:r>
            <a:br>
              <a:rPr lang="en-US" sz="2500" dirty="0"/>
            </a:br>
            <a:r>
              <a:rPr lang="en-US" sz="2500" dirty="0"/>
              <a:t>✔ Bisa </a:t>
            </a:r>
            <a:r>
              <a:rPr lang="en-US" sz="2500" dirty="0" err="1"/>
              <a:t>dikembangkan</a:t>
            </a:r>
            <a:r>
              <a:rPr lang="en-US" sz="2500" dirty="0"/>
              <a:t> </a:t>
            </a:r>
            <a:r>
              <a:rPr lang="en-US" sz="2500" dirty="0" err="1"/>
              <a:t>menjadi</a:t>
            </a:r>
            <a:r>
              <a:rPr lang="en-US" sz="2500" dirty="0"/>
              <a:t> cloud-ready.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4429E2-020C-B8B4-6C10-2A9B66F86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EC41D0-0763-2E95-6115-2CC9B3E31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18838F5-E52E-369C-114E-AE515AD26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8839200" cy="1143000"/>
          </a:xfrm>
        </p:spPr>
        <p:txBody>
          <a:bodyPr>
            <a:normAutofit/>
          </a:bodyPr>
          <a:lstStyle/>
          <a:p>
            <a:pPr algn="ctr"/>
            <a:r>
              <a:rPr lang="en-US" sz="3500" dirty="0" err="1"/>
              <a:t>Kenapa</a:t>
            </a:r>
            <a:r>
              <a:rPr lang="en-US" sz="3500" dirty="0"/>
              <a:t> </a:t>
            </a:r>
            <a:r>
              <a:rPr lang="en-US" sz="3500" dirty="0" err="1"/>
              <a:t>Arsitektur</a:t>
            </a:r>
            <a:r>
              <a:rPr lang="en-US" sz="3500" dirty="0"/>
              <a:t> </a:t>
            </a:r>
            <a:r>
              <a:rPr lang="en-US" sz="3500" dirty="0" err="1"/>
              <a:t>Gabungan</a:t>
            </a:r>
            <a:r>
              <a:rPr lang="en-US" sz="3500" dirty="0"/>
              <a:t> </a:t>
            </a:r>
            <a:r>
              <a:rPr lang="en-US" sz="3500" dirty="0" err="1"/>
              <a:t>tsb</a:t>
            </a:r>
            <a:r>
              <a:rPr lang="en-US" sz="3500" dirty="0"/>
              <a:t> Ideal?</a:t>
            </a:r>
          </a:p>
        </p:txBody>
      </p:sp>
    </p:spTree>
    <p:extLst>
      <p:ext uri="{BB962C8B-B14F-4D97-AF65-F5344CB8AC3E}">
        <p14:creationId xmlns:p14="http://schemas.microsoft.com/office/powerpoint/2010/main" val="3527170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B1BB66-80F0-FD30-BE12-BB6689602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706269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import </a:t>
            </a:r>
            <a:r>
              <a:rPr lang="en-US" dirty="0" err="1"/>
              <a:t>java.net.URI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java.net.</a:t>
            </a:r>
            <a:r>
              <a:rPr lang="en-US" b="1" dirty="0" err="1">
                <a:solidFill>
                  <a:srgbClr val="FF0000"/>
                </a:solidFill>
              </a:rPr>
              <a:t>http</a:t>
            </a:r>
            <a:r>
              <a:rPr lang="en-US" dirty="0" err="1"/>
              <a:t>.HttpClient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java.net.</a:t>
            </a:r>
            <a:r>
              <a:rPr lang="en-US" b="1" dirty="0" err="1">
                <a:solidFill>
                  <a:srgbClr val="FF0000"/>
                </a:solidFill>
              </a:rPr>
              <a:t>http</a:t>
            </a:r>
            <a:r>
              <a:rPr lang="en-US" dirty="0" err="1"/>
              <a:t>.HttpRequest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java.net.</a:t>
            </a:r>
            <a:r>
              <a:rPr lang="en-US" b="1" dirty="0" err="1">
                <a:solidFill>
                  <a:srgbClr val="FF0000"/>
                </a:solidFill>
              </a:rPr>
              <a:t>http</a:t>
            </a:r>
            <a:r>
              <a:rPr lang="en-US" dirty="0" err="1"/>
              <a:t>.HttpResponse</a:t>
            </a:r>
            <a:r>
              <a:rPr lang="en-US" dirty="0"/>
              <a:t>;</a:t>
            </a:r>
          </a:p>
          <a:p>
            <a:r>
              <a:rPr lang="en-US" dirty="0"/>
              <a:t>public class </a:t>
            </a:r>
            <a:r>
              <a:rPr lang="en-US" dirty="0" err="1"/>
              <a:t>ENoseClient</a:t>
            </a:r>
            <a:r>
              <a:rPr lang="en-US" dirty="0"/>
              <a:t>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throws Exception {</a:t>
            </a:r>
          </a:p>
          <a:p>
            <a:r>
              <a:rPr lang="en-US" dirty="0"/>
              <a:t>        String </a:t>
            </a:r>
            <a:r>
              <a:rPr lang="en-US" dirty="0" err="1"/>
              <a:t>json</a:t>
            </a:r>
            <a:r>
              <a:rPr lang="en-US" dirty="0"/>
              <a:t> = {</a:t>
            </a:r>
          </a:p>
          <a:p>
            <a:r>
              <a:rPr lang="en-US" dirty="0"/>
              <a:t>            "</a:t>
            </a:r>
            <a:r>
              <a:rPr lang="en-US" dirty="0" err="1"/>
              <a:t>sensor_values</a:t>
            </a:r>
            <a:r>
              <a:rPr lang="en-US" dirty="0"/>
              <a:t>": [0.5, 0.7, 0.8, 0.6]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 </a:t>
            </a:r>
            <a:r>
              <a:rPr lang="en-US" dirty="0" err="1"/>
              <a:t>HttpClient</a:t>
            </a:r>
            <a:r>
              <a:rPr lang="en-US" dirty="0"/>
              <a:t> client = </a:t>
            </a:r>
            <a:r>
              <a:rPr lang="en-US" dirty="0" err="1"/>
              <a:t>HttpClient.newHttpClient</a:t>
            </a:r>
            <a:r>
              <a:rPr lang="en-US" dirty="0"/>
              <a:t>();</a:t>
            </a:r>
          </a:p>
          <a:p>
            <a:r>
              <a:rPr lang="en-US" dirty="0"/>
              <a:t>        </a:t>
            </a:r>
            <a:r>
              <a:rPr lang="en-US" dirty="0" err="1"/>
              <a:t>HttpRequest</a:t>
            </a:r>
            <a:r>
              <a:rPr lang="en-US" dirty="0"/>
              <a:t> request = </a:t>
            </a:r>
            <a:r>
              <a:rPr lang="en-US" dirty="0" err="1"/>
              <a:t>HttpRequest.newBuilder</a:t>
            </a:r>
            <a:r>
              <a:rPr lang="en-US" dirty="0"/>
              <a:t>()</a:t>
            </a:r>
          </a:p>
          <a:p>
            <a:r>
              <a:rPr lang="en-US" dirty="0"/>
              <a:t>                .</a:t>
            </a:r>
            <a:r>
              <a:rPr lang="en-US" dirty="0" err="1"/>
              <a:t>uri</a:t>
            </a:r>
            <a:r>
              <a:rPr lang="en-US" dirty="0"/>
              <a:t>(</a:t>
            </a:r>
            <a:r>
              <a:rPr lang="en-US" dirty="0" err="1"/>
              <a:t>URI.create</a:t>
            </a:r>
            <a:r>
              <a:rPr lang="en-US" dirty="0"/>
              <a:t>("http://127.0.0.1:8000/predict"))</a:t>
            </a:r>
          </a:p>
          <a:p>
            <a:r>
              <a:rPr lang="en-US" dirty="0"/>
              <a:t>                .header("Content-Type", "application/</a:t>
            </a:r>
            <a:r>
              <a:rPr lang="en-US" dirty="0" err="1"/>
              <a:t>json</a:t>
            </a:r>
            <a:r>
              <a:rPr lang="en-US" dirty="0"/>
              <a:t>")</a:t>
            </a:r>
          </a:p>
          <a:p>
            <a:r>
              <a:rPr lang="en-US" dirty="0"/>
              <a:t>                .POST(</a:t>
            </a:r>
            <a:r>
              <a:rPr lang="en-US" dirty="0" err="1"/>
              <a:t>HttpRequest.BodyPublishers.ofString</a:t>
            </a:r>
            <a:r>
              <a:rPr lang="en-US" dirty="0"/>
              <a:t>(</a:t>
            </a:r>
            <a:r>
              <a:rPr lang="en-US" dirty="0" err="1"/>
              <a:t>json</a:t>
            </a:r>
            <a:r>
              <a:rPr lang="en-US" dirty="0"/>
              <a:t>))</a:t>
            </a:r>
          </a:p>
          <a:p>
            <a:r>
              <a:rPr lang="en-US" dirty="0"/>
              <a:t>                .build();</a:t>
            </a:r>
          </a:p>
          <a:p>
            <a:r>
              <a:rPr lang="en-US" dirty="0"/>
              <a:t>        </a:t>
            </a:r>
            <a:r>
              <a:rPr lang="en-US" dirty="0" err="1"/>
              <a:t>HttpResponse</a:t>
            </a:r>
            <a:r>
              <a:rPr lang="en-US" dirty="0"/>
              <a:t>&lt;String&gt; response = </a:t>
            </a:r>
            <a:r>
              <a:rPr lang="en-US" dirty="0" err="1"/>
              <a:t>client.send</a:t>
            </a:r>
            <a:r>
              <a:rPr lang="en-US" dirty="0"/>
              <a:t>(request,</a:t>
            </a:r>
          </a:p>
          <a:p>
            <a:r>
              <a:rPr lang="en-US" dirty="0"/>
              <a:t>                </a:t>
            </a:r>
            <a:r>
              <a:rPr lang="en-US" dirty="0" err="1"/>
              <a:t>HttpResponse.BodyHandlers.ofString</a:t>
            </a:r>
            <a:r>
              <a:rPr lang="en-US" dirty="0"/>
              <a:t>());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("Response:");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response.body</a:t>
            </a:r>
            <a:r>
              <a:rPr lang="en-US" dirty="0"/>
              <a:t>());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43D72-CB67-BAFE-32CB-B0645AC4A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7C97C1-4399-1FB6-ECDD-22CACB8A0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8824050-7938-2FD3-A505-6FF0842AF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Contoh</a:t>
            </a:r>
            <a:r>
              <a:rPr lang="en-US" dirty="0"/>
              <a:t> Java Code</a:t>
            </a:r>
          </a:p>
        </p:txBody>
      </p:sp>
    </p:spTree>
    <p:extLst>
      <p:ext uri="{BB962C8B-B14F-4D97-AF65-F5344CB8AC3E}">
        <p14:creationId xmlns:p14="http://schemas.microsoft.com/office/powerpoint/2010/main" val="3739310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762000"/>
            <a:ext cx="8839200" cy="57912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	1. </a:t>
            </a:r>
            <a:r>
              <a:rPr lang="en-US" sz="2400" dirty="0" err="1"/>
              <a:t>Mengenal</a:t>
            </a:r>
            <a:r>
              <a:rPr lang="en-US" sz="2400" dirty="0"/>
              <a:t> Dasar-</a:t>
            </a:r>
            <a:r>
              <a:rPr lang="en-US" sz="2400" dirty="0" err="1"/>
              <a:t>dasar</a:t>
            </a:r>
            <a:r>
              <a:rPr lang="en-US" sz="2400" dirty="0"/>
              <a:t> OOP by Java Programming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	2. </a:t>
            </a:r>
            <a:r>
              <a:rPr lang="en-US" sz="2400" dirty="0" err="1"/>
              <a:t>Struktur</a:t>
            </a:r>
            <a:r>
              <a:rPr lang="en-US" sz="2400" dirty="0"/>
              <a:t> OOP (</a:t>
            </a:r>
            <a:r>
              <a:rPr lang="en-US" sz="2400" dirty="0" err="1"/>
              <a:t>bagian</a:t>
            </a:r>
            <a:r>
              <a:rPr lang="en-US" sz="2400" dirty="0"/>
              <a:t> </a:t>
            </a:r>
            <a:r>
              <a:rPr lang="en-US" sz="2400" dirty="0" err="1"/>
              <a:t>pertama</a:t>
            </a:r>
            <a:r>
              <a:rPr lang="en-US" sz="2400" dirty="0"/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	3.1. </a:t>
            </a:r>
            <a:r>
              <a:rPr lang="en-US" sz="2400" dirty="0" err="1"/>
              <a:t>Struktur</a:t>
            </a:r>
            <a:r>
              <a:rPr lang="en-US" sz="2400" dirty="0"/>
              <a:t> OOP, Class dan Anatomy </a:t>
            </a:r>
            <a:r>
              <a:rPr lang="en-US" sz="2400" dirty="0" err="1"/>
              <a:t>nya</a:t>
            </a:r>
            <a:r>
              <a:rPr lang="en-US" sz="2400" dirty="0"/>
              <a:t> (</a:t>
            </a:r>
            <a:r>
              <a:rPr lang="en-US" sz="2400" dirty="0" err="1"/>
              <a:t>bagian</a:t>
            </a:r>
            <a:r>
              <a:rPr lang="en-US" sz="2400" dirty="0"/>
              <a:t> </a:t>
            </a:r>
            <a:r>
              <a:rPr lang="en-US" sz="2400" dirty="0" err="1"/>
              <a:t>kedua</a:t>
            </a:r>
            <a:r>
              <a:rPr lang="en-US" sz="2400" dirty="0"/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	3.2. Package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	4. Lima pilar </a:t>
            </a:r>
            <a:r>
              <a:rPr lang="en-US" sz="2400" dirty="0" err="1"/>
              <a:t>Konsep</a:t>
            </a:r>
            <a:r>
              <a:rPr lang="en-US" sz="2400" dirty="0"/>
              <a:t> OOP</a:t>
            </a:r>
          </a:p>
          <a:p>
            <a:pPr>
              <a:lnSpc>
                <a:spcPct val="80000"/>
              </a:lnSpc>
              <a:buNone/>
            </a:pPr>
            <a:r>
              <a:rPr lang="en-US" sz="2400" dirty="0"/>
              <a:t>	5. Abstract Class </a:t>
            </a:r>
            <a:r>
              <a:rPr lang="en-US" sz="2400" dirty="0" err="1"/>
              <a:t>dan</a:t>
            </a:r>
            <a:r>
              <a:rPr lang="en-US" sz="2400" dirty="0"/>
              <a:t> Interface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	6. Exception Handling</a:t>
            </a:r>
          </a:p>
          <a:p>
            <a:pPr>
              <a:lnSpc>
                <a:spcPct val="80000"/>
              </a:lnSpc>
              <a:buNone/>
            </a:pPr>
            <a:r>
              <a:rPr lang="en-US" sz="2400" dirty="0"/>
              <a:t>	    </a:t>
            </a:r>
            <a:r>
              <a:rPr lang="en-US" sz="2400" b="1" dirty="0">
                <a:solidFill>
                  <a:srgbClr val="FF0000"/>
                </a:solidFill>
              </a:rPr>
              <a:t>Classes Dasar dan </a:t>
            </a:r>
            <a:r>
              <a:rPr lang="en-US" sz="2400" b="1" dirty="0" err="1">
                <a:solidFill>
                  <a:srgbClr val="FF0000"/>
                </a:solidFill>
              </a:rPr>
              <a:t>Operasi</a:t>
            </a:r>
            <a:r>
              <a:rPr lang="en-US" sz="2400" b="1" dirty="0">
                <a:solidFill>
                  <a:srgbClr val="FF0000"/>
                </a:solidFill>
              </a:rPr>
              <a:t> String</a:t>
            </a:r>
            <a:r>
              <a:rPr lang="en-US" sz="2400" dirty="0"/>
              <a:t> (</a:t>
            </a:r>
            <a:r>
              <a:rPr lang="en-US" sz="2400" dirty="0" err="1">
                <a:solidFill>
                  <a:srgbClr val="0070C0"/>
                </a:solidFill>
              </a:rPr>
              <a:t>mhs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belajar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mandiri</a:t>
            </a:r>
            <a:r>
              <a:rPr lang="en-US" sz="2400" dirty="0"/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	7. Multithreading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	    </a:t>
            </a:r>
            <a:r>
              <a:rPr lang="en-US" sz="2400" dirty="0">
                <a:solidFill>
                  <a:srgbClr val="FF0000"/>
                </a:solidFill>
              </a:rPr>
              <a:t>Enum, Generic, dan Functor </a:t>
            </a:r>
            <a:r>
              <a:rPr lang="en-US" sz="2400" dirty="0">
                <a:solidFill>
                  <a:srgbClr val="0070C0"/>
                </a:solidFill>
              </a:rPr>
              <a:t>(</a:t>
            </a:r>
            <a:r>
              <a:rPr lang="en-US" sz="2400" dirty="0" err="1">
                <a:solidFill>
                  <a:srgbClr val="0070C0"/>
                </a:solidFill>
              </a:rPr>
              <a:t>mhs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belajar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mandiri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solidFill>
                  <a:srgbClr val="FF0000"/>
                </a:solidFill>
              </a:rPr>
              <a:t>	    Java Collection Framework </a:t>
            </a:r>
            <a:r>
              <a:rPr lang="en-US" sz="2400" dirty="0">
                <a:solidFill>
                  <a:srgbClr val="0070C0"/>
                </a:solidFill>
              </a:rPr>
              <a:t>(</a:t>
            </a:r>
            <a:r>
              <a:rPr lang="en-US" sz="2400" dirty="0" err="1">
                <a:solidFill>
                  <a:srgbClr val="0070C0"/>
                </a:solidFill>
              </a:rPr>
              <a:t>mhs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belajar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mandiri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	8. </a:t>
            </a:r>
            <a:r>
              <a:rPr lang="en-US" sz="2400" dirty="0" err="1"/>
              <a:t>Komponen</a:t>
            </a:r>
            <a:r>
              <a:rPr lang="en-US" sz="2400" dirty="0"/>
              <a:t> Swing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Manajemen</a:t>
            </a:r>
            <a:r>
              <a:rPr lang="en-US" sz="2400" dirty="0"/>
              <a:t> Layout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	9. Event Handling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Sistem</a:t>
            </a:r>
            <a:r>
              <a:rPr lang="en-US" sz="2400" dirty="0"/>
              <a:t> Menu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	    </a:t>
            </a:r>
            <a:r>
              <a:rPr lang="en-US" sz="2400" dirty="0">
                <a:solidFill>
                  <a:srgbClr val="FF0000"/>
                </a:solidFill>
              </a:rPr>
              <a:t>Class File dan Stream I/O </a:t>
            </a:r>
            <a:r>
              <a:rPr lang="en-US" sz="2400" dirty="0">
                <a:solidFill>
                  <a:srgbClr val="0070C0"/>
                </a:solidFill>
              </a:rPr>
              <a:t>(</a:t>
            </a:r>
            <a:r>
              <a:rPr lang="en-US" sz="2400" dirty="0" err="1">
                <a:solidFill>
                  <a:srgbClr val="0070C0"/>
                </a:solidFill>
              </a:rPr>
              <a:t>mhs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belajar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mandiri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	10. </a:t>
            </a:r>
            <a:r>
              <a:rPr lang="en-US" sz="2400" dirty="0" err="1"/>
              <a:t>Pengelolaan</a:t>
            </a:r>
            <a:r>
              <a:rPr lang="en-US" sz="2400" dirty="0"/>
              <a:t> Data Base by Java (</a:t>
            </a:r>
            <a:r>
              <a:rPr lang="en-US" sz="2400" dirty="0" err="1"/>
              <a:t>menggunakan</a:t>
            </a:r>
            <a:r>
              <a:rPr lang="en-US" sz="2400" dirty="0"/>
              <a:t> JDBC)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	      </a:t>
            </a:r>
            <a:r>
              <a:rPr lang="en-US" sz="2400" dirty="0" err="1"/>
              <a:t>Sebenarnya</a:t>
            </a:r>
            <a:r>
              <a:rPr lang="en-US" sz="2400" dirty="0"/>
              <a:t> </a:t>
            </a:r>
            <a:r>
              <a:rPr lang="en-US" sz="2400" dirty="0" err="1"/>
              <a:t>banyak</a:t>
            </a:r>
            <a:r>
              <a:rPr lang="en-US" sz="2400" dirty="0"/>
              <a:t> </a:t>
            </a:r>
            <a:r>
              <a:rPr lang="en-US" sz="2400" dirty="0" err="1"/>
              <a:t>materi</a:t>
            </a:r>
            <a:r>
              <a:rPr lang="en-US" sz="2400" dirty="0"/>
              <a:t> </a:t>
            </a:r>
            <a:r>
              <a:rPr lang="en-US" sz="2400" dirty="0" err="1"/>
              <a:t>lainnya</a:t>
            </a:r>
            <a:r>
              <a:rPr lang="en-US" sz="2400" dirty="0"/>
              <a:t> </a:t>
            </a:r>
            <a:r>
              <a:rPr lang="en-US" sz="2400" dirty="0" err="1"/>
              <a:t>misal</a:t>
            </a:r>
            <a:r>
              <a:rPr lang="en-US" sz="2400" dirty="0"/>
              <a:t>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         </a:t>
            </a:r>
            <a:r>
              <a:rPr lang="en-US" sz="2400" dirty="0" err="1">
                <a:solidFill>
                  <a:srgbClr val="FF0000"/>
                </a:solidFill>
              </a:rPr>
              <a:t>Pemrograman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Jaringan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0000"/>
                </a:solidFill>
              </a:rPr>
              <a:t>Unit Testing</a:t>
            </a:r>
            <a:r>
              <a:rPr lang="en-US" sz="2400" dirty="0"/>
              <a:t>, </a:t>
            </a:r>
            <a:r>
              <a:rPr lang="en-US" sz="2400" dirty="0" err="1">
                <a:solidFill>
                  <a:srgbClr val="FF0000"/>
                </a:solidFill>
              </a:rPr>
              <a:t>dll</a:t>
            </a:r>
            <a:r>
              <a:rPr lang="en-US" sz="2400" dirty="0"/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/>
              <a:t>         </a:t>
            </a:r>
            <a:r>
              <a:rPr lang="en-US" sz="2400" dirty="0">
                <a:solidFill>
                  <a:srgbClr val="0070C0"/>
                </a:solidFill>
              </a:rPr>
              <a:t>(</a:t>
            </a:r>
            <a:r>
              <a:rPr lang="en-US" sz="2400" dirty="0" err="1">
                <a:solidFill>
                  <a:srgbClr val="0070C0"/>
                </a:solidFill>
              </a:rPr>
              <a:t>mhs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belajar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mandiri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3810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b="1" dirty="0"/>
              <a:t>Materi </a:t>
            </a:r>
            <a:r>
              <a:rPr lang="en-US" b="1" dirty="0" err="1"/>
              <a:t>tiap</a:t>
            </a:r>
            <a:r>
              <a:rPr lang="en-US" b="1" dirty="0"/>
              <a:t> </a:t>
            </a:r>
            <a:r>
              <a:rPr lang="en-US" b="1" dirty="0" err="1"/>
              <a:t>pertemuan</a:t>
            </a:r>
            <a:endParaRPr lang="en-US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err="1"/>
              <a:t>Tiga</a:t>
            </a:r>
            <a:r>
              <a:rPr lang="en-US" sz="4800" dirty="0"/>
              <a:t> </a:t>
            </a:r>
            <a:r>
              <a:rPr lang="en-US" sz="4800" dirty="0" err="1"/>
              <a:t>Teknologi</a:t>
            </a:r>
            <a:r>
              <a:rPr lang="en-US" sz="4800" dirty="0"/>
              <a:t> </a:t>
            </a:r>
            <a:r>
              <a:rPr lang="en-US" sz="4800" dirty="0" err="1"/>
              <a:t>Edisi</a:t>
            </a:r>
            <a:r>
              <a:rPr lang="en-US" sz="4800" dirty="0"/>
              <a:t>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635691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/>
              <a:t>Java Standard Edition </a:t>
            </a:r>
            <a:r>
              <a:rPr lang="en-US" sz="3600" dirty="0" err="1"/>
              <a:t>untuk</a:t>
            </a:r>
            <a:r>
              <a:rPr lang="en-US" sz="3600" dirty="0"/>
              <a:t> </a:t>
            </a:r>
            <a:r>
              <a:rPr lang="en-US" sz="3600" dirty="0" err="1"/>
              <a:t>aplikasi</a:t>
            </a:r>
            <a:r>
              <a:rPr lang="en-US" sz="3600" dirty="0"/>
              <a:t> </a:t>
            </a:r>
            <a:r>
              <a:rPr lang="en-US" sz="3600" dirty="0" err="1"/>
              <a:t>berbasis</a:t>
            </a:r>
            <a:r>
              <a:rPr lang="en-US" sz="3600" dirty="0"/>
              <a:t> desktop </a:t>
            </a:r>
            <a:r>
              <a:rPr lang="en-US" sz="3600" dirty="0" err="1"/>
              <a:t>ataupun</a:t>
            </a:r>
            <a:r>
              <a:rPr lang="en-US" sz="3600" dirty="0"/>
              <a:t> laptop.</a:t>
            </a:r>
          </a:p>
          <a:p>
            <a:endParaRPr lang="en-US" sz="3600" dirty="0"/>
          </a:p>
          <a:p>
            <a:r>
              <a:rPr lang="en-US" sz="3600" dirty="0"/>
              <a:t>Java Mobile Edition </a:t>
            </a:r>
            <a:r>
              <a:rPr lang="en-US" sz="3600" dirty="0" err="1"/>
              <a:t>untuk</a:t>
            </a:r>
            <a:r>
              <a:rPr lang="en-US" sz="3600" dirty="0"/>
              <a:t> </a:t>
            </a:r>
            <a:r>
              <a:rPr lang="en-US" sz="3600" dirty="0" err="1"/>
              <a:t>aplikasi</a:t>
            </a:r>
            <a:r>
              <a:rPr lang="en-US" sz="3600" dirty="0"/>
              <a:t> </a:t>
            </a:r>
            <a:r>
              <a:rPr lang="en-US" sz="3600" dirty="0" err="1"/>
              <a:t>berbasis</a:t>
            </a:r>
            <a:r>
              <a:rPr lang="en-US" sz="3600" dirty="0"/>
              <a:t> mobile small device </a:t>
            </a:r>
            <a:r>
              <a:rPr lang="en-US" sz="3600" dirty="0" err="1"/>
              <a:t>ataupun</a:t>
            </a:r>
            <a:r>
              <a:rPr lang="en-US" sz="3600" dirty="0"/>
              <a:t> </a:t>
            </a:r>
            <a:r>
              <a:rPr lang="en-US" sz="3600" dirty="0" err="1"/>
              <a:t>smartphone</a:t>
            </a:r>
            <a:r>
              <a:rPr lang="en-US" sz="3600" dirty="0"/>
              <a:t> (</a:t>
            </a:r>
            <a:r>
              <a:rPr lang="en-US" sz="3600" dirty="0" err="1"/>
              <a:t>umumnya</a:t>
            </a:r>
            <a:r>
              <a:rPr lang="en-US" sz="3600" dirty="0"/>
              <a:t> Android).</a:t>
            </a:r>
          </a:p>
          <a:p>
            <a:endParaRPr lang="en-US" sz="3600" dirty="0"/>
          </a:p>
          <a:p>
            <a:r>
              <a:rPr lang="en-US" sz="3600" dirty="0"/>
              <a:t>Java Enterprise Edition </a:t>
            </a:r>
            <a:r>
              <a:rPr lang="en-US" sz="3600" dirty="0" err="1"/>
              <a:t>untuk</a:t>
            </a:r>
            <a:r>
              <a:rPr lang="en-US" sz="3600" dirty="0"/>
              <a:t> </a:t>
            </a:r>
            <a:r>
              <a:rPr lang="en-US" sz="3600" dirty="0" err="1"/>
              <a:t>aplikasi</a:t>
            </a:r>
            <a:r>
              <a:rPr lang="en-US" sz="3600" dirty="0"/>
              <a:t> enterprise </a:t>
            </a:r>
            <a:r>
              <a:rPr lang="en-US" sz="3600" dirty="0" err="1"/>
              <a:t>dan</a:t>
            </a:r>
            <a:r>
              <a:rPr lang="en-US" sz="3600" dirty="0"/>
              <a:t> web programming.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algn="ctr"/>
            <a:r>
              <a:rPr lang="en-US" dirty="0" err="1"/>
              <a:t>Instalasi</a:t>
            </a:r>
            <a:r>
              <a:rPr lang="en-US" dirty="0"/>
              <a:t> </a:t>
            </a:r>
            <a:r>
              <a:rPr lang="en-US" dirty="0" err="1"/>
              <a:t>nya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instalasi</a:t>
            </a:r>
            <a:r>
              <a:rPr lang="en-US" dirty="0"/>
              <a:t> JDK, JVM, </a:t>
            </a:r>
            <a:r>
              <a:rPr lang="en-US" dirty="0" err="1"/>
              <a:t>dan</a:t>
            </a:r>
            <a:r>
              <a:rPr lang="en-US" dirty="0"/>
              <a:t> IDE</a:t>
            </a:r>
          </a:p>
          <a:p>
            <a:endParaRPr lang="en-US" dirty="0"/>
          </a:p>
          <a:p>
            <a:r>
              <a:rPr lang="en-US" dirty="0"/>
              <a:t>JDK (Java Development Kit) </a:t>
            </a:r>
            <a:r>
              <a:rPr lang="en-US" dirty="0" err="1"/>
              <a:t>adalah</a:t>
            </a:r>
            <a:r>
              <a:rPr lang="en-US" dirty="0"/>
              <a:t> compiler Java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mengkompilasi</a:t>
            </a:r>
            <a:r>
              <a:rPr lang="en-US" dirty="0"/>
              <a:t> program </a:t>
            </a:r>
            <a:r>
              <a:rPr lang="en-US" dirty="0" err="1"/>
              <a:t>berekstensi</a:t>
            </a:r>
            <a:r>
              <a:rPr lang="en-US" dirty="0"/>
              <a:t> </a:t>
            </a:r>
            <a:r>
              <a:rPr lang="en-US" i="1" dirty="0"/>
              <a:t>java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bytecode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file </a:t>
            </a:r>
            <a:r>
              <a:rPr lang="en-US" dirty="0" err="1"/>
              <a:t>berekstensi</a:t>
            </a:r>
            <a:r>
              <a:rPr lang="en-US" dirty="0"/>
              <a:t> </a:t>
            </a:r>
            <a:r>
              <a:rPr lang="en-US" i="1" dirty="0"/>
              <a:t>class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JVM (Java Virtual Machine)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file </a:t>
            </a:r>
            <a:r>
              <a:rPr lang="en-US" dirty="0" err="1"/>
              <a:t>bytecode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mesin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menjalankannya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79216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IDE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toh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991600" cy="54102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Integrated Development Environment  </a:t>
            </a:r>
            <a:r>
              <a:rPr lang="en-US" dirty="0" err="1"/>
              <a:t>merupakan</a:t>
            </a:r>
            <a:r>
              <a:rPr lang="en-US" dirty="0"/>
              <a:t> tools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proses</a:t>
            </a:r>
            <a:r>
              <a:rPr lang="en-US" dirty="0"/>
              <a:t> coding program.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lain yang </a:t>
            </a:r>
            <a:r>
              <a:rPr lang="en-US" dirty="0" err="1"/>
              <a:t>umumnya</a:t>
            </a:r>
            <a:r>
              <a:rPr lang="en-US" dirty="0"/>
              <a:t> </a:t>
            </a:r>
            <a:r>
              <a:rPr lang="en-US" dirty="0" err="1"/>
              <a:t>berbayar</a:t>
            </a:r>
            <a:r>
              <a:rPr lang="en-US" dirty="0"/>
              <a:t> (programmer </a:t>
            </a:r>
            <a:r>
              <a:rPr lang="en-US" dirty="0" err="1"/>
              <a:t>nya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diperkenankan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IDE </a:t>
            </a:r>
            <a:r>
              <a:rPr lang="en-US" dirty="0" err="1"/>
              <a:t>nya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), java yang freeware </a:t>
            </a:r>
            <a:r>
              <a:rPr lang="en-US" dirty="0" err="1"/>
              <a:t>membebaskan</a:t>
            </a:r>
            <a:r>
              <a:rPr lang="en-US" dirty="0"/>
              <a:t> </a:t>
            </a:r>
            <a:r>
              <a:rPr lang="en-US" dirty="0" err="1"/>
              <a:t>programmernya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IDE yang </a:t>
            </a:r>
            <a:r>
              <a:rPr lang="en-US" dirty="0" err="1"/>
              <a:t>mereka</a:t>
            </a:r>
            <a:r>
              <a:rPr lang="en-US" dirty="0"/>
              <a:t> </a:t>
            </a:r>
            <a:r>
              <a:rPr lang="en-US" dirty="0" err="1"/>
              <a:t>sukai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Beberapa</a:t>
            </a:r>
            <a:r>
              <a:rPr lang="en-US" dirty="0"/>
              <a:t> IDE </a:t>
            </a:r>
            <a:r>
              <a:rPr lang="en-US" dirty="0" err="1"/>
              <a:t>untuk</a:t>
            </a:r>
            <a:r>
              <a:rPr lang="en-US" dirty="0"/>
              <a:t> OOP yang </a:t>
            </a:r>
            <a:r>
              <a:rPr lang="en-US" dirty="0" err="1"/>
              <a:t>populer</a:t>
            </a:r>
            <a:r>
              <a:rPr lang="en-US" dirty="0"/>
              <a:t>, </a:t>
            </a:r>
            <a:r>
              <a:rPr lang="en-US" dirty="0" err="1"/>
              <a:t>misalnya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b="1" i="1" dirty="0" err="1"/>
              <a:t>Netbeans</a:t>
            </a:r>
            <a:r>
              <a:rPr lang="en-US" b="1" i="1" dirty="0"/>
              <a:t>, Eclipse, </a:t>
            </a:r>
            <a:r>
              <a:rPr lang="en-US" b="1" i="1" dirty="0" err="1"/>
              <a:t>Jdeveloper</a:t>
            </a:r>
            <a:r>
              <a:rPr lang="en-US" b="1" i="1" dirty="0"/>
              <a:t>, Semantic Café, Microsoft Visual J++, Borland JBuilder</a:t>
            </a:r>
            <a:r>
              <a:rPr lang="en-US" dirty="0"/>
              <a:t>, </a:t>
            </a:r>
            <a:r>
              <a:rPr lang="en-US" dirty="0" err="1"/>
              <a:t>dll</a:t>
            </a:r>
            <a:r>
              <a:rPr lang="en-US" dirty="0"/>
              <a:t>.</a:t>
            </a:r>
          </a:p>
          <a:p>
            <a:r>
              <a:rPr lang="en-US" dirty="0"/>
              <a:t>Dalam </a:t>
            </a:r>
            <a:r>
              <a:rPr lang="en-US" dirty="0" err="1"/>
              <a:t>konteks</a:t>
            </a:r>
            <a:r>
              <a:rPr lang="en-US" dirty="0"/>
              <a:t> PBO </a:t>
            </a:r>
            <a:r>
              <a:rPr lang="en-US" dirty="0" err="1"/>
              <a:t>maka</a:t>
            </a:r>
            <a:r>
              <a:rPr lang="en-US" dirty="0"/>
              <a:t> declare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OOD </a:t>
            </a:r>
            <a:r>
              <a:rPr lang="en-US" dirty="0" err="1"/>
              <a:t>mendesain</a:t>
            </a:r>
            <a:r>
              <a:rPr lang="en-US" dirty="0"/>
              <a:t> Diagram Class.</a:t>
            </a:r>
          </a:p>
          <a:p>
            <a:r>
              <a:rPr lang="en-US" dirty="0" err="1"/>
              <a:t>Beberapa</a:t>
            </a:r>
            <a:r>
              <a:rPr lang="en-US" dirty="0"/>
              <a:t> IDE </a:t>
            </a:r>
            <a:r>
              <a:rPr lang="en-US" dirty="0" err="1"/>
              <a:t>untuk</a:t>
            </a:r>
            <a:r>
              <a:rPr lang="en-US" dirty="0"/>
              <a:t> OOD yang popular, </a:t>
            </a:r>
            <a:r>
              <a:rPr lang="en-US" dirty="0" err="1"/>
              <a:t>misalnya</a:t>
            </a:r>
            <a:r>
              <a:rPr lang="en-US" dirty="0"/>
              <a:t>: </a:t>
            </a:r>
            <a:r>
              <a:rPr lang="en-US" sz="2800" b="1" dirty="0" err="1"/>
              <a:t>Netbeans</a:t>
            </a:r>
            <a:r>
              <a:rPr lang="en-US" sz="2800" b="1" dirty="0"/>
              <a:t> 6.0 s/d 6.5</a:t>
            </a:r>
            <a:r>
              <a:rPr lang="en-US" sz="2800" dirty="0"/>
              <a:t> (di </a:t>
            </a:r>
            <a:r>
              <a:rPr lang="en-US" sz="2800" dirty="0" err="1"/>
              <a:t>atas</a:t>
            </a:r>
            <a:r>
              <a:rPr lang="en-US" sz="2800" dirty="0"/>
              <a:t> </a:t>
            </a:r>
            <a:r>
              <a:rPr lang="en-US" sz="2800" dirty="0" err="1"/>
              <a:t>versi</a:t>
            </a:r>
            <a:r>
              <a:rPr lang="en-US" sz="2800" dirty="0"/>
              <a:t>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i="1" dirty="0"/>
              <a:t>UML Tool</a:t>
            </a:r>
            <a:r>
              <a:rPr lang="en-US" sz="2800" dirty="0"/>
              <a:t> </a:t>
            </a:r>
            <a:r>
              <a:rPr lang="en-US" sz="2800" dirty="0" err="1"/>
              <a:t>sudah</a:t>
            </a:r>
            <a:r>
              <a:rPr lang="en-US" sz="2800" dirty="0"/>
              <a:t> </a:t>
            </a:r>
            <a:r>
              <a:rPr lang="en-US" sz="2800" dirty="0" err="1"/>
              <a:t>berbayar</a:t>
            </a:r>
            <a:r>
              <a:rPr lang="en-US" sz="2800" dirty="0"/>
              <a:t> </a:t>
            </a:r>
            <a:r>
              <a:rPr lang="en-US" sz="2800" dirty="0" err="1"/>
              <a:t>karena</a:t>
            </a:r>
            <a:r>
              <a:rPr lang="en-US" sz="2800" dirty="0"/>
              <a:t> </a:t>
            </a:r>
            <a:r>
              <a:rPr lang="en-US" sz="2800" dirty="0" err="1"/>
              <a:t>dibeli</a:t>
            </a:r>
            <a:r>
              <a:rPr lang="en-US" sz="2800" dirty="0"/>
              <a:t> Oracle)</a:t>
            </a:r>
          </a:p>
          <a:p>
            <a:r>
              <a:rPr lang="en-US" sz="2800" b="1" i="1" dirty="0" err="1"/>
              <a:t>StarUML</a:t>
            </a:r>
            <a:endParaRPr lang="en-US" sz="2800" b="1" i="1" dirty="0"/>
          </a:p>
          <a:p>
            <a:r>
              <a:rPr lang="en-US" sz="2800" b="1" i="1" dirty="0"/>
              <a:t>Oracle JDeveloper</a:t>
            </a:r>
          </a:p>
          <a:p>
            <a:r>
              <a:rPr lang="en-US" sz="2800" b="1" i="1" dirty="0"/>
              <a:t>Gear Turbo JBuilder</a:t>
            </a:r>
          </a:p>
          <a:p>
            <a:r>
              <a:rPr lang="en-US" sz="2800" b="1" i="1" dirty="0"/>
              <a:t>Eclipse Ganymede</a:t>
            </a:r>
          </a:p>
          <a:p>
            <a:r>
              <a:rPr lang="en-US" sz="2800" b="1" i="1" dirty="0" err="1"/>
              <a:t>Umbrello</a:t>
            </a:r>
            <a:endParaRPr lang="en-US" sz="2800" b="1" i="1" dirty="0"/>
          </a:p>
          <a:p>
            <a:r>
              <a:rPr lang="en-US" sz="2800" b="1" i="1" dirty="0" err="1"/>
              <a:t>PlantUML</a:t>
            </a:r>
            <a:endParaRPr lang="en-US" sz="2800" b="1" i="1" dirty="0"/>
          </a:p>
          <a:p>
            <a:r>
              <a:rPr lang="en-US" sz="2800" b="1" i="1" dirty="0"/>
              <a:t>Rational Rose</a:t>
            </a:r>
          </a:p>
          <a:p>
            <a:r>
              <a:rPr lang="en-US" sz="2800" b="1" i="1" dirty="0" err="1"/>
              <a:t>ArgoUML</a:t>
            </a:r>
            <a:r>
              <a:rPr lang="en-US" b="1" i="1" dirty="0"/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0" dirty="0">
                <a:effectLst/>
              </a:rPr>
              <a:t>Tips and </a:t>
            </a:r>
            <a:r>
              <a:rPr lang="en-US" sz="4000" b="0" dirty="0" err="1">
                <a:effectLst/>
              </a:rPr>
              <a:t>Trik</a:t>
            </a:r>
            <a:r>
              <a:rPr lang="en-US" sz="4000" b="0" dirty="0">
                <a:effectLst/>
              </a:rPr>
              <a:t>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Contoh</a:t>
            </a:r>
            <a:r>
              <a:rPr lang="en-US" dirty="0"/>
              <a:t> program paling </a:t>
            </a:r>
            <a:r>
              <a:rPr lang="en-US" dirty="0" err="1"/>
              <a:t>sederhana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class</a:t>
            </a:r>
            <a:r>
              <a:rPr lang="en-US" dirty="0"/>
              <a:t> </a:t>
            </a:r>
            <a:r>
              <a:rPr lang="en-US" b="1" i="1" dirty="0" err="1"/>
              <a:t>N</a:t>
            </a:r>
            <a:r>
              <a:rPr lang="en-US" dirty="0" err="1"/>
              <a:t>amaclass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{</a:t>
            </a:r>
          </a:p>
          <a:p>
            <a:pPr>
              <a:buNone/>
            </a:pPr>
            <a:r>
              <a:rPr lang="en-US" dirty="0"/>
              <a:t>        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>
              <a:buNone/>
            </a:pPr>
            <a:r>
              <a:rPr lang="en-US" dirty="0"/>
              <a:t>                  // </a:t>
            </a:r>
            <a:r>
              <a:rPr lang="en-US" dirty="0" err="1"/>
              <a:t>isi</a:t>
            </a:r>
            <a:r>
              <a:rPr lang="en-US" dirty="0"/>
              <a:t> method </a:t>
            </a:r>
          </a:p>
          <a:p>
            <a:pPr>
              <a:buNone/>
            </a:pPr>
            <a:r>
              <a:rPr lang="en-US" dirty="0"/>
              <a:t>            }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b="1" dirty="0">
                <a:solidFill>
                  <a:srgbClr val="FF0000"/>
                </a:solidFill>
              </a:rPr>
              <a:t>}</a:t>
            </a:r>
          </a:p>
          <a:p>
            <a:pPr>
              <a:buNone/>
            </a:pP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menyimpan</a:t>
            </a:r>
            <a:r>
              <a:rPr lang="en-US" dirty="0"/>
              <a:t> program, </a:t>
            </a:r>
            <a:r>
              <a:rPr lang="en-US" dirty="0" err="1"/>
              <a:t>nama</a:t>
            </a:r>
            <a:r>
              <a:rPr lang="en-US" dirty="0"/>
              <a:t> file </a:t>
            </a:r>
            <a:r>
              <a:rPr lang="en-US" dirty="0" err="1"/>
              <a:t>nya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class yang </a:t>
            </a:r>
            <a:r>
              <a:rPr lang="en-US" dirty="0" err="1"/>
              <a:t>berisi</a:t>
            </a:r>
            <a:r>
              <a:rPr lang="en-US" dirty="0"/>
              <a:t> method main().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0" dirty="0">
                <a:effectLst/>
              </a:rPr>
              <a:t>Tips and </a:t>
            </a:r>
            <a:r>
              <a:rPr lang="en-US" sz="4000" b="0" dirty="0" err="1">
                <a:effectLst/>
              </a:rPr>
              <a:t>Trik</a:t>
            </a:r>
            <a:r>
              <a:rPr lang="en-US" sz="4000" b="0" dirty="0">
                <a:effectLst/>
              </a:rPr>
              <a:t>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menghindari</a:t>
            </a:r>
            <a:r>
              <a:rPr lang="en-US" dirty="0"/>
              <a:t> syntax error </a:t>
            </a:r>
            <a:r>
              <a:rPr lang="en-US" dirty="0" err="1"/>
              <a:t>sejak</a:t>
            </a:r>
            <a:r>
              <a:rPr lang="en-US" dirty="0"/>
              <a:t> </a:t>
            </a:r>
            <a:r>
              <a:rPr lang="en-US" dirty="0" err="1"/>
              <a:t>dini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coding </a:t>
            </a:r>
            <a:r>
              <a:rPr lang="en-US" b="1" i="1" dirty="0"/>
              <a:t>separator –separator</a:t>
            </a:r>
            <a:r>
              <a:rPr lang="en-US" dirty="0"/>
              <a:t>  class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class </a:t>
            </a:r>
            <a:r>
              <a:rPr lang="en-US" dirty="0" err="1"/>
              <a:t>lainnya</a:t>
            </a:r>
            <a:r>
              <a:rPr lang="en-US" dirty="0"/>
              <a:t> </a:t>
            </a:r>
            <a:r>
              <a:rPr lang="en-US" dirty="0" err="1"/>
              <a:t>diketikkan</a:t>
            </a:r>
            <a:r>
              <a:rPr lang="en-US" dirty="0"/>
              <a:t>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.</a:t>
            </a:r>
          </a:p>
          <a:p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   class </a:t>
            </a:r>
            <a:r>
              <a:rPr lang="en-US" dirty="0" err="1"/>
              <a:t>Namaclass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{</a:t>
            </a:r>
          </a:p>
          <a:p>
            <a:pPr>
              <a:buNone/>
            </a:pPr>
            <a:r>
              <a:rPr lang="en-US" dirty="0"/>
              <a:t>      //code program </a:t>
            </a:r>
            <a:r>
              <a:rPr lang="en-US" dirty="0" err="1"/>
              <a:t>tuh</a:t>
            </a:r>
            <a:r>
              <a:rPr lang="en-US" dirty="0"/>
              <a:t> </a:t>
            </a:r>
            <a:r>
              <a:rPr lang="en-US" dirty="0" err="1"/>
              <a:t>disini</a:t>
            </a:r>
            <a:r>
              <a:rPr lang="en-US" dirty="0"/>
              <a:t>!</a:t>
            </a:r>
          </a:p>
          <a:p>
            <a:pPr>
              <a:buNone/>
            </a:pPr>
            <a:r>
              <a:rPr lang="en-US" dirty="0"/>
              <a:t>   </a:t>
            </a:r>
            <a:r>
              <a:rPr lang="en-US" b="1" dirty="0">
                <a:solidFill>
                  <a:srgbClr val="FF0000"/>
                </a:solidFill>
              </a:rPr>
              <a:t>} </a:t>
            </a:r>
          </a:p>
          <a:p>
            <a:pPr>
              <a:buNone/>
            </a:pPr>
            <a:r>
              <a:rPr lang="en-US" dirty="0" err="1"/>
              <a:t>Tanda</a:t>
            </a:r>
            <a:r>
              <a:rPr lang="en-US" dirty="0"/>
              <a:t> </a:t>
            </a:r>
            <a:r>
              <a:rPr lang="en-US" dirty="0" err="1"/>
              <a:t>kurung</a:t>
            </a:r>
            <a:r>
              <a:rPr lang="en-US" dirty="0"/>
              <a:t> </a:t>
            </a:r>
            <a:r>
              <a:rPr lang="en-US" dirty="0" err="1"/>
              <a:t>kurawal</a:t>
            </a:r>
            <a:r>
              <a:rPr lang="en-US" dirty="0"/>
              <a:t> “{“ </a:t>
            </a:r>
            <a:r>
              <a:rPr lang="en-US" dirty="0" err="1"/>
              <a:t>dan</a:t>
            </a:r>
            <a:r>
              <a:rPr lang="en-US" dirty="0"/>
              <a:t> “}”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batas</a:t>
            </a:r>
            <a:r>
              <a:rPr lang="en-US" dirty="0"/>
              <a:t> class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didahulukan</a:t>
            </a:r>
            <a:r>
              <a:rPr lang="en-US" dirty="0"/>
              <a:t> </a:t>
            </a:r>
            <a:r>
              <a:rPr lang="en-US" dirty="0" err="1"/>
              <a:t>diketik</a:t>
            </a:r>
            <a:r>
              <a:rPr lang="en-US" dirty="0"/>
              <a:t>, </a:t>
            </a:r>
            <a:r>
              <a:rPr lang="en-US" dirty="0" err="1"/>
              <a:t>selanjutnya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code program </a:t>
            </a:r>
            <a:r>
              <a:rPr lang="en-US" dirty="0" err="1"/>
              <a:t>baris-baris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batas</a:t>
            </a:r>
            <a:r>
              <a:rPr lang="en-US" dirty="0"/>
              <a:t> class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Karakter</a:t>
            </a:r>
            <a:endParaRPr lang="en-US" dirty="0"/>
          </a:p>
          <a:p>
            <a:r>
              <a:rPr lang="en-US" dirty="0"/>
              <a:t>Identifier</a:t>
            </a:r>
          </a:p>
          <a:p>
            <a:r>
              <a:rPr lang="en-US" dirty="0"/>
              <a:t>Keyword</a:t>
            </a:r>
          </a:p>
          <a:p>
            <a:r>
              <a:rPr lang="en-US" dirty="0"/>
              <a:t>Literal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</a:t>
            </a:r>
          </a:p>
          <a:p>
            <a:r>
              <a:rPr lang="en-US" dirty="0"/>
              <a:t>Operator</a:t>
            </a:r>
          </a:p>
          <a:p>
            <a:r>
              <a:rPr lang="en-US" dirty="0"/>
              <a:t>Separator</a:t>
            </a:r>
          </a:p>
          <a:p>
            <a:r>
              <a:rPr lang="en-US" dirty="0" err="1"/>
              <a:t>Keterangan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komentar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dirty="0">
                <a:effectLst/>
              </a:rPr>
              <a:t>Token?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092891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teks</a:t>
            </a:r>
            <a:r>
              <a:rPr lang="en-US" dirty="0"/>
              <a:t> </a:t>
            </a:r>
            <a:r>
              <a:rPr lang="en-US" dirty="0" err="1"/>
              <a:t>terkecil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papan</a:t>
            </a:r>
            <a:r>
              <a:rPr lang="en-US" dirty="0"/>
              <a:t> keyboard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Java.</a:t>
            </a:r>
          </a:p>
          <a:p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err="1"/>
              <a:t>Huruf</a:t>
            </a:r>
            <a:r>
              <a:rPr lang="en-US" dirty="0"/>
              <a:t> (A </a:t>
            </a:r>
            <a:r>
              <a:rPr lang="en-US" dirty="0" err="1"/>
              <a:t>sampai</a:t>
            </a:r>
            <a:r>
              <a:rPr lang="en-US" dirty="0"/>
              <a:t> Z, a </a:t>
            </a:r>
            <a:r>
              <a:rPr lang="en-US" dirty="0" err="1"/>
              <a:t>sampai</a:t>
            </a:r>
            <a:r>
              <a:rPr lang="en-US" dirty="0"/>
              <a:t> z)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err="1"/>
              <a:t>Angka</a:t>
            </a:r>
            <a:r>
              <a:rPr lang="en-US" dirty="0"/>
              <a:t> (0 </a:t>
            </a:r>
            <a:r>
              <a:rPr lang="en-US" dirty="0" err="1"/>
              <a:t>sampai</a:t>
            </a:r>
            <a:r>
              <a:rPr lang="en-US" dirty="0"/>
              <a:t> 9)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err="1"/>
              <a:t>Simbol</a:t>
            </a:r>
            <a:r>
              <a:rPr lang="en-US" dirty="0"/>
              <a:t> </a:t>
            </a:r>
            <a:r>
              <a:rPr lang="en-US" dirty="0" err="1"/>
              <a:t>matematika</a:t>
            </a:r>
            <a:r>
              <a:rPr lang="en-US" dirty="0"/>
              <a:t> (*,/,+,-,…)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err="1"/>
              <a:t>Simbol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(</a:t>
            </a:r>
            <a:r>
              <a:rPr lang="en-US" dirty="0" err="1"/>
              <a:t>misal</a:t>
            </a:r>
            <a:r>
              <a:rPr lang="en-US" dirty="0"/>
              <a:t> &amp;, !, ?,…)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(</a:t>
            </a:r>
            <a:r>
              <a:rPr lang="en-US" dirty="0" err="1"/>
              <a:t>misal</a:t>
            </a:r>
            <a:r>
              <a:rPr lang="en-US" dirty="0"/>
              <a:t> </a:t>
            </a:r>
            <a:r>
              <a:rPr lang="en-US" i="1" dirty="0" err="1"/>
              <a:t>formfeed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/>
              <a:t>newline</a:t>
            </a:r>
            <a:r>
              <a:rPr lang="en-US" dirty="0"/>
              <a:t>).</a:t>
            </a:r>
          </a:p>
          <a:p>
            <a:pPr>
              <a:buNone/>
            </a:pP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catatan</a:t>
            </a:r>
            <a:r>
              <a:rPr lang="en-US" dirty="0"/>
              <a:t>,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</a:t>
            </a:r>
            <a:r>
              <a:rPr lang="en-US" dirty="0" err="1"/>
              <a:t>pendahulunya</a:t>
            </a:r>
            <a:r>
              <a:rPr lang="en-US" dirty="0"/>
              <a:t> </a:t>
            </a:r>
            <a:r>
              <a:rPr lang="en-US" dirty="0" err="1"/>
              <a:t>misal</a:t>
            </a:r>
            <a:r>
              <a:rPr lang="en-US" dirty="0"/>
              <a:t> C </a:t>
            </a:r>
            <a:r>
              <a:rPr lang="en-US" dirty="0" err="1"/>
              <a:t>atau</a:t>
            </a:r>
            <a:r>
              <a:rPr lang="en-US" dirty="0"/>
              <a:t> C++, Java TIDAK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himpunan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7 bit ASCII (American Standard Code for Information Interchange)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karakter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,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Unicode 16 bit,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huruf-huruf</a:t>
            </a:r>
            <a:r>
              <a:rPr lang="en-US" dirty="0"/>
              <a:t> </a:t>
            </a:r>
            <a:r>
              <a:rPr lang="en-US" dirty="0" err="1"/>
              <a:t>selain</a:t>
            </a:r>
            <a:r>
              <a:rPr lang="en-US" dirty="0"/>
              <a:t> </a:t>
            </a:r>
            <a:r>
              <a:rPr lang="en-US" dirty="0" err="1"/>
              <a:t>latin</a:t>
            </a:r>
            <a:r>
              <a:rPr lang="en-US" dirty="0"/>
              <a:t>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Java. 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0" dirty="0" err="1">
                <a:effectLst/>
              </a:rPr>
              <a:t>Karakter</a:t>
            </a:r>
            <a:endParaRPr lang="en-US" b="0" dirty="0">
              <a:effectLst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200" y="1066800"/>
            <a:ext cx="8915400" cy="5105400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program </a:t>
            </a:r>
            <a:r>
              <a:rPr lang="en-US" dirty="0" err="1"/>
              <a:t>wajib</a:t>
            </a:r>
            <a:r>
              <a:rPr lang="en-US" dirty="0"/>
              <a:t> </a:t>
            </a:r>
            <a:r>
              <a:rPr lang="en-US" dirty="0" err="1"/>
              <a:t>diberi</a:t>
            </a:r>
            <a:r>
              <a:rPr lang="en-US" dirty="0"/>
              <a:t> </a:t>
            </a:r>
            <a:r>
              <a:rPr lang="en-US" b="1" i="1" dirty="0" err="1"/>
              <a:t>nama</a:t>
            </a:r>
            <a:r>
              <a:rPr lang="en-US" b="1" i="1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dideklarasikan</a:t>
            </a:r>
            <a:r>
              <a:rPr lang="en-US" b="1" i="1" dirty="0"/>
              <a:t>.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, </a:t>
            </a:r>
            <a:r>
              <a:rPr lang="en-US" dirty="0" err="1"/>
              <a:t>konstanta</a:t>
            </a:r>
            <a:r>
              <a:rPr lang="en-US" dirty="0"/>
              <a:t>, method, class, package, interface, </a:t>
            </a:r>
            <a:r>
              <a:rPr lang="en-US" dirty="0" err="1"/>
              <a:t>dan</a:t>
            </a:r>
            <a:r>
              <a:rPr lang="en-US" dirty="0"/>
              <a:t> file </a:t>
            </a:r>
            <a:r>
              <a:rPr lang="en-US" dirty="0" err="1"/>
              <a:t>disebut</a:t>
            </a:r>
            <a:r>
              <a:rPr lang="en-US" dirty="0"/>
              <a:t> identifier.</a:t>
            </a:r>
          </a:p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memudahkan</a:t>
            </a:r>
            <a:r>
              <a:rPr lang="en-US" dirty="0"/>
              <a:t> programmer,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wajib</a:t>
            </a:r>
            <a:r>
              <a:rPr lang="en-US" dirty="0"/>
              <a:t> </a:t>
            </a:r>
            <a:r>
              <a:rPr lang="en-US" dirty="0" err="1"/>
              <a:t>unik</a:t>
            </a:r>
            <a:r>
              <a:rPr lang="en-US" dirty="0"/>
              <a:t> (</a:t>
            </a:r>
            <a:r>
              <a:rPr lang="en-US" dirty="0" err="1"/>
              <a:t>berbeda</a:t>
            </a:r>
            <a:r>
              <a:rPr lang="en-US" dirty="0"/>
              <a:t>),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teridentifikasi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compiler.</a:t>
            </a:r>
          </a:p>
          <a:p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penamaan</a:t>
            </a:r>
            <a:r>
              <a:rPr lang="en-US" dirty="0"/>
              <a:t> identifier:</a:t>
            </a:r>
          </a:p>
          <a:p>
            <a:r>
              <a:rPr lang="en-US" sz="2600" dirty="0"/>
              <a:t>1. Case sensitive (capital </a:t>
            </a:r>
            <a:r>
              <a:rPr lang="en-US" sz="2600" dirty="0" err="1"/>
              <a:t>atau</a:t>
            </a:r>
            <a:r>
              <a:rPr lang="en-US" sz="2600" dirty="0"/>
              <a:t> </a:t>
            </a:r>
            <a:r>
              <a:rPr lang="en-US" sz="2600" dirty="0" err="1"/>
              <a:t>bukan</a:t>
            </a:r>
            <a:r>
              <a:rPr lang="en-US" sz="2600" dirty="0"/>
              <a:t> </a:t>
            </a:r>
            <a:r>
              <a:rPr lang="en-US" sz="2600" dirty="0" err="1"/>
              <a:t>dibedakan</a:t>
            </a:r>
            <a:r>
              <a:rPr lang="en-US" sz="2600" dirty="0"/>
              <a:t>).</a:t>
            </a:r>
          </a:p>
          <a:p>
            <a:r>
              <a:rPr lang="en-US" sz="2600" dirty="0"/>
              <a:t>2. </a:t>
            </a:r>
            <a:r>
              <a:rPr lang="en-US" sz="2600" dirty="0" err="1"/>
              <a:t>Harus</a:t>
            </a:r>
            <a:r>
              <a:rPr lang="en-US" sz="2600" dirty="0"/>
              <a:t> </a:t>
            </a:r>
            <a:r>
              <a:rPr lang="en-US" sz="2600" dirty="0" err="1"/>
              <a:t>diawali</a:t>
            </a:r>
            <a:r>
              <a:rPr lang="en-US" sz="2600" dirty="0"/>
              <a:t> </a:t>
            </a:r>
            <a:r>
              <a:rPr lang="en-US" sz="2600" dirty="0" err="1"/>
              <a:t>dengan</a:t>
            </a:r>
            <a:r>
              <a:rPr lang="en-US" sz="2600" dirty="0"/>
              <a:t> </a:t>
            </a:r>
            <a:r>
              <a:rPr lang="en-US" sz="2600" dirty="0" err="1"/>
              <a:t>huruf</a:t>
            </a:r>
            <a:r>
              <a:rPr lang="en-US" sz="2600" dirty="0"/>
              <a:t> </a:t>
            </a:r>
            <a:r>
              <a:rPr lang="en-US" sz="2600" dirty="0" err="1"/>
              <a:t>atau</a:t>
            </a:r>
            <a:r>
              <a:rPr lang="en-US" sz="2600" dirty="0"/>
              <a:t> </a:t>
            </a:r>
            <a:r>
              <a:rPr lang="en-US" sz="2600" dirty="0" err="1"/>
              <a:t>simbol</a:t>
            </a:r>
            <a:r>
              <a:rPr lang="en-US" sz="2600" dirty="0"/>
              <a:t> </a:t>
            </a:r>
            <a:r>
              <a:rPr lang="en-US" sz="2600" dirty="0" err="1"/>
              <a:t>garis</a:t>
            </a:r>
            <a:r>
              <a:rPr lang="en-US" sz="2600" dirty="0"/>
              <a:t> </a:t>
            </a:r>
            <a:r>
              <a:rPr lang="en-US" sz="2600" dirty="0" err="1"/>
              <a:t>bawah</a:t>
            </a:r>
            <a:endParaRPr lang="en-US" sz="2600" dirty="0"/>
          </a:p>
          <a:p>
            <a:pPr>
              <a:buNone/>
            </a:pPr>
            <a:r>
              <a:rPr lang="en-US" sz="2600" dirty="0"/>
              <a:t>	    (_) </a:t>
            </a:r>
            <a:r>
              <a:rPr lang="en-US" sz="2600" dirty="0" err="1"/>
              <a:t>atau</a:t>
            </a:r>
            <a:r>
              <a:rPr lang="en-US" sz="2600" dirty="0"/>
              <a:t> </a:t>
            </a:r>
            <a:r>
              <a:rPr lang="en-US" sz="2600" dirty="0" err="1"/>
              <a:t>simbol</a:t>
            </a:r>
            <a:r>
              <a:rPr lang="en-US" sz="2600" dirty="0"/>
              <a:t> </a:t>
            </a:r>
            <a:r>
              <a:rPr lang="en-US" sz="2600" dirty="0" err="1"/>
              <a:t>dolar</a:t>
            </a:r>
            <a:r>
              <a:rPr lang="en-US" sz="2600" dirty="0"/>
              <a:t> ($).</a:t>
            </a:r>
          </a:p>
          <a:p>
            <a:r>
              <a:rPr lang="en-US" sz="2600" dirty="0"/>
              <a:t>3. </a:t>
            </a:r>
            <a:r>
              <a:rPr lang="en-US" sz="2600" dirty="0" err="1"/>
              <a:t>Karakter</a:t>
            </a:r>
            <a:r>
              <a:rPr lang="en-US" sz="2600" dirty="0"/>
              <a:t> </a:t>
            </a:r>
            <a:r>
              <a:rPr lang="en-US" sz="2600" dirty="0" err="1"/>
              <a:t>berikutnya</a:t>
            </a:r>
            <a:r>
              <a:rPr lang="en-US" sz="2600" dirty="0"/>
              <a:t> (</a:t>
            </a:r>
            <a:r>
              <a:rPr lang="en-US" sz="2600" dirty="0" err="1"/>
              <a:t>kedua</a:t>
            </a:r>
            <a:r>
              <a:rPr lang="en-US" sz="2600" dirty="0"/>
              <a:t> </a:t>
            </a:r>
            <a:r>
              <a:rPr lang="en-US" sz="2600" dirty="0" err="1"/>
              <a:t>dst</a:t>
            </a:r>
            <a:r>
              <a:rPr lang="en-US" sz="2600" dirty="0"/>
              <a:t>) </a:t>
            </a:r>
            <a:r>
              <a:rPr lang="en-US" sz="2600" dirty="0" err="1"/>
              <a:t>pada</a:t>
            </a:r>
            <a:r>
              <a:rPr lang="en-US" sz="2600" dirty="0"/>
              <a:t> identifier </a:t>
            </a:r>
            <a:r>
              <a:rPr lang="en-US" sz="2600" dirty="0" err="1"/>
              <a:t>boleh</a:t>
            </a:r>
            <a:r>
              <a:rPr lang="en-US" sz="2600" dirty="0"/>
              <a:t> </a:t>
            </a:r>
          </a:p>
          <a:p>
            <a:pPr>
              <a:buNone/>
            </a:pPr>
            <a:r>
              <a:rPr lang="en-US" sz="2600" dirty="0"/>
              <a:t>	    </a:t>
            </a:r>
            <a:r>
              <a:rPr lang="en-US" sz="2600" dirty="0" err="1"/>
              <a:t>angka</a:t>
            </a:r>
            <a:r>
              <a:rPr lang="en-US" sz="2600" dirty="0"/>
              <a:t> </a:t>
            </a:r>
            <a:r>
              <a:rPr lang="en-US" sz="2600" dirty="0" err="1"/>
              <a:t>atau</a:t>
            </a:r>
            <a:r>
              <a:rPr lang="en-US" sz="2600" dirty="0"/>
              <a:t> </a:t>
            </a:r>
            <a:r>
              <a:rPr lang="en-US" sz="2600" dirty="0" err="1"/>
              <a:t>karakter</a:t>
            </a:r>
            <a:r>
              <a:rPr lang="en-US" sz="2600" dirty="0"/>
              <a:t> </a:t>
            </a:r>
            <a:r>
              <a:rPr lang="en-US" sz="2600" dirty="0" err="1"/>
              <a:t>lainnya</a:t>
            </a:r>
            <a:r>
              <a:rPr lang="en-US" sz="2600" dirty="0"/>
              <a:t>.</a:t>
            </a:r>
          </a:p>
          <a:p>
            <a:r>
              <a:rPr lang="en-US" sz="2600" dirty="0"/>
              <a:t>4. </a:t>
            </a:r>
            <a:r>
              <a:rPr lang="en-US" sz="2600" dirty="0" err="1"/>
              <a:t>Dilarang</a:t>
            </a:r>
            <a:r>
              <a:rPr lang="en-US" sz="2600" dirty="0"/>
              <a:t> </a:t>
            </a:r>
            <a:r>
              <a:rPr lang="en-US" sz="2600" dirty="0" err="1"/>
              <a:t>menggunakan</a:t>
            </a:r>
            <a:r>
              <a:rPr lang="en-US" sz="2600" dirty="0"/>
              <a:t> keyword </a:t>
            </a:r>
            <a:r>
              <a:rPr lang="en-US" sz="2600" dirty="0" err="1"/>
              <a:t>yg</a:t>
            </a:r>
            <a:r>
              <a:rPr lang="en-US" sz="2600" dirty="0"/>
              <a:t> </a:t>
            </a:r>
            <a:r>
              <a:rPr lang="en-US" sz="2600" dirty="0" err="1"/>
              <a:t>dikenal</a:t>
            </a:r>
            <a:r>
              <a:rPr lang="en-US" sz="2600" dirty="0"/>
              <a:t> compiler </a:t>
            </a:r>
          </a:p>
          <a:p>
            <a:pPr>
              <a:buNone/>
            </a:pPr>
            <a:r>
              <a:rPr lang="en-US" sz="2600" dirty="0"/>
              <a:t>	    </a:t>
            </a:r>
            <a:r>
              <a:rPr lang="en-US" sz="2600" dirty="0" err="1"/>
              <a:t>sebagai</a:t>
            </a:r>
            <a:r>
              <a:rPr lang="en-US" sz="2600" dirty="0"/>
              <a:t> keyword.</a:t>
            </a:r>
          </a:p>
          <a:p>
            <a:endParaRPr lang="en-US" b="1" i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792162"/>
          </a:xfrm>
        </p:spPr>
        <p:txBody>
          <a:bodyPr/>
          <a:lstStyle/>
          <a:p>
            <a:pPr algn="ctr"/>
            <a:r>
              <a:rPr lang="en-US" b="0" dirty="0">
                <a:effectLst/>
              </a:rPr>
              <a:t>Identifier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788091"/>
          </a:xfrm>
        </p:spPr>
        <p:txBody>
          <a:bodyPr/>
          <a:lstStyle/>
          <a:p>
            <a:r>
              <a:rPr lang="en-US" dirty="0" err="1"/>
              <a:t>Konstanta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identifier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literal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yang TETAP.</a:t>
            </a:r>
          </a:p>
          <a:p>
            <a:endParaRPr lang="en-US" dirty="0"/>
          </a:p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deklarasi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   final float PHI = 3.14;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ctr"/>
            <a:r>
              <a:rPr lang="en-US" b="0" dirty="0" err="1">
                <a:effectLst/>
              </a:rPr>
              <a:t>Konstanta</a:t>
            </a:r>
            <a:endParaRPr lang="en-US" b="0" dirty="0">
              <a:effectLst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788091"/>
          </a:xfrm>
        </p:spPr>
        <p:txBody>
          <a:bodyPr/>
          <a:lstStyle/>
          <a:p>
            <a:r>
              <a:rPr lang="en-US" dirty="0"/>
              <a:t>Keyword </a:t>
            </a:r>
            <a:r>
              <a:rPr lang="en-US" dirty="0" err="1"/>
              <a:t>adalah</a:t>
            </a:r>
            <a:r>
              <a:rPr lang="en-US" dirty="0"/>
              <a:t> identifier standard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milik</a:t>
            </a:r>
            <a:r>
              <a:rPr lang="en-US" dirty="0"/>
              <a:t> Java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dikenali</a:t>
            </a:r>
            <a:r>
              <a:rPr lang="en-US" dirty="0"/>
              <a:t> compiler java.</a:t>
            </a:r>
          </a:p>
          <a:p>
            <a:endParaRPr lang="en-US" dirty="0"/>
          </a:p>
          <a:p>
            <a:r>
              <a:rPr lang="en-US" dirty="0"/>
              <a:t>Jadi </a:t>
            </a:r>
            <a:r>
              <a:rPr lang="en-US" dirty="0" err="1"/>
              <a:t>dilarang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keyword </a:t>
            </a:r>
            <a:r>
              <a:rPr lang="en-US" dirty="0" err="1"/>
              <a:t>sebagai</a:t>
            </a:r>
            <a:r>
              <a:rPr lang="en-US" dirty="0"/>
              <a:t> identifier non standard </a:t>
            </a:r>
            <a:r>
              <a:rPr lang="en-US" dirty="0" err="1"/>
              <a:t>milik</a:t>
            </a:r>
            <a:r>
              <a:rPr lang="en-US" dirty="0"/>
              <a:t> programmer.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algn="ctr"/>
            <a:r>
              <a:rPr lang="en-US" b="0" dirty="0">
                <a:effectLst/>
              </a:rPr>
              <a:t>Keyword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2234892"/>
              </p:ext>
            </p:extLst>
          </p:nvPr>
        </p:nvGraphicFramePr>
        <p:xfrm>
          <a:off x="457200" y="1524000"/>
          <a:ext cx="822960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abstract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threadsafe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boolean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throw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throws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Instance 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by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void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finaly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synchronize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continue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ctr"/>
            <a:r>
              <a:rPr lang="en-US" b="0" dirty="0" err="1">
                <a:effectLst/>
              </a:rPr>
              <a:t>Contoh</a:t>
            </a:r>
            <a:r>
              <a:rPr lang="en-US" b="0" dirty="0">
                <a:effectLst/>
              </a:rPr>
              <a:t> Keyword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0" dirty="0">
                <a:effectLst/>
              </a:rPr>
              <a:t>Literal </a:t>
            </a:r>
            <a:r>
              <a:rPr lang="en-US" b="0" dirty="0" err="1">
                <a:effectLst/>
              </a:rPr>
              <a:t>dan</a:t>
            </a:r>
            <a:r>
              <a:rPr lang="en-US" b="0" dirty="0">
                <a:effectLst/>
              </a:rPr>
              <a:t> </a:t>
            </a:r>
            <a:r>
              <a:rPr lang="en-US" b="0" dirty="0" err="1">
                <a:effectLst/>
              </a:rPr>
              <a:t>Tipe</a:t>
            </a:r>
            <a:r>
              <a:rPr lang="en-US" b="0" dirty="0">
                <a:effectLst/>
              </a:rPr>
              <a:t> Data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2452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Literal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, </a:t>
            </a:r>
            <a:r>
              <a:rPr lang="en-US" dirty="0" err="1"/>
              <a:t>konstanta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data.</a:t>
            </a:r>
          </a:p>
          <a:p>
            <a:endParaRPr lang="en-US" dirty="0"/>
          </a:p>
          <a:p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tiga</a:t>
            </a:r>
            <a:r>
              <a:rPr lang="en-US" dirty="0"/>
              <a:t> </a:t>
            </a:r>
            <a:r>
              <a:rPr lang="en-US" dirty="0" err="1"/>
              <a:t>besaran</a:t>
            </a:r>
            <a:r>
              <a:rPr lang="en-US" dirty="0"/>
              <a:t> literal </a:t>
            </a:r>
            <a:r>
              <a:rPr lang="en-US" dirty="0" err="1"/>
              <a:t>dalam</a:t>
            </a:r>
            <a:r>
              <a:rPr lang="en-US" dirty="0"/>
              <a:t> java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, </a:t>
            </a:r>
            <a:r>
              <a:rPr lang="en-US" dirty="0" err="1"/>
              <a:t>karakter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string.</a:t>
            </a:r>
          </a:p>
          <a:p>
            <a:endParaRPr lang="en-US" dirty="0"/>
          </a:p>
          <a:p>
            <a:r>
              <a:rPr lang="en-US" dirty="0"/>
              <a:t>Literal </a:t>
            </a:r>
            <a:r>
              <a:rPr lang="en-US" dirty="0" err="1"/>
              <a:t>angka</a:t>
            </a:r>
            <a:r>
              <a:rPr lang="en-US" dirty="0"/>
              <a:t> yg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dan </a:t>
            </a:r>
            <a:r>
              <a:rPr lang="en-US" dirty="0" err="1"/>
              <a:t>konstanta</a:t>
            </a:r>
            <a:r>
              <a:rPr lang="en-US" dirty="0"/>
              <a:t> </a:t>
            </a:r>
            <a:r>
              <a:rPr lang="en-US" dirty="0" err="1"/>
              <a:t>dikelompokkan</a:t>
            </a:r>
            <a:r>
              <a:rPr lang="en-US" dirty="0"/>
              <a:t> </a:t>
            </a:r>
            <a:r>
              <a:rPr lang="en-US" dirty="0" err="1"/>
              <a:t>lagi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jangkauannya</a:t>
            </a:r>
            <a:r>
              <a:rPr lang="en-US" dirty="0"/>
              <a:t>: byte, short, int, long, float, double, dan </a:t>
            </a:r>
            <a:r>
              <a:rPr lang="en-US" dirty="0" err="1"/>
              <a:t>boolean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konstanta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berisi</a:t>
            </a:r>
            <a:r>
              <a:rPr lang="en-US" dirty="0"/>
              <a:t> literal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dipesan</a:t>
            </a:r>
            <a:r>
              <a:rPr lang="en-US" dirty="0"/>
              <a:t>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deklarasi</a:t>
            </a:r>
            <a:r>
              <a:rPr lang="en-US" dirty="0"/>
              <a:t> program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dikenalkan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compiler java.</a:t>
            </a:r>
          </a:p>
          <a:p>
            <a:r>
              <a:rPr lang="en-US" dirty="0"/>
              <a:t> </a:t>
            </a:r>
          </a:p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deklarasi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beserta</a:t>
            </a:r>
            <a:r>
              <a:rPr lang="en-US" dirty="0"/>
              <a:t> literal </a:t>
            </a:r>
            <a:r>
              <a:rPr lang="en-US" dirty="0" err="1"/>
              <a:t>awal</a:t>
            </a:r>
            <a:r>
              <a:rPr lang="en-US" dirty="0"/>
              <a:t> (</a:t>
            </a:r>
            <a:r>
              <a:rPr lang="en-US" dirty="0" err="1"/>
              <a:t>inisialisasi</a:t>
            </a:r>
            <a:r>
              <a:rPr lang="en-US" dirty="0"/>
              <a:t>). </a:t>
            </a:r>
          </a:p>
          <a:p>
            <a:r>
              <a:rPr lang="en-US" dirty="0"/>
              <a:t>double a=3, b=4;</a:t>
            </a:r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10;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066799"/>
          <a:ext cx="8229600" cy="4724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950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Tipe</a:t>
                      </a:r>
                      <a:r>
                        <a:rPr lang="en-US" dirty="0"/>
                        <a:t> Data </a:t>
                      </a:r>
                      <a:r>
                        <a:rPr lang="en-US" dirty="0" err="1"/>
                        <a:t>Primitif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Jangkauan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Ukuran</a:t>
                      </a:r>
                      <a:r>
                        <a:rPr lang="en-US" dirty="0"/>
                        <a:t> (bit)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64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-128 </a:t>
                      </a:r>
                      <a:r>
                        <a:rPr lang="en-US" dirty="0" err="1"/>
                        <a:t>sampai</a:t>
                      </a:r>
                      <a:r>
                        <a:rPr lang="en-US" dirty="0"/>
                        <a:t> 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64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-32767 </a:t>
                      </a:r>
                      <a:r>
                        <a:rPr lang="en-US" dirty="0" err="1"/>
                        <a:t>sampai</a:t>
                      </a:r>
                      <a:r>
                        <a:rPr lang="en-US" dirty="0"/>
                        <a:t> 32767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950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int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-2147483648 </a:t>
                      </a:r>
                      <a:r>
                        <a:rPr lang="en-US" dirty="0" err="1"/>
                        <a:t>sampai</a:t>
                      </a:r>
                      <a:r>
                        <a:rPr lang="en-US" dirty="0"/>
                        <a:t> 2147483647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95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-9223372036854775808 </a:t>
                      </a:r>
                      <a:r>
                        <a:rPr lang="en-US" dirty="0" err="1"/>
                        <a:t>sampai</a:t>
                      </a:r>
                      <a:r>
                        <a:rPr lang="en-US" dirty="0"/>
                        <a:t> 9223372036854775807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64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single </a:t>
                      </a:r>
                      <a:r>
                        <a:rPr lang="en-US" dirty="0" err="1"/>
                        <a:t>unicode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64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3.4e-038 </a:t>
                      </a:r>
                      <a:r>
                        <a:rPr lang="en-US" dirty="0" err="1"/>
                        <a:t>sampai</a:t>
                      </a:r>
                      <a:r>
                        <a:rPr lang="en-US" dirty="0"/>
                        <a:t> 3.4r+038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64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1.7e-308 </a:t>
                      </a:r>
                      <a:r>
                        <a:rPr lang="en-US" dirty="0" err="1"/>
                        <a:t>sampai</a:t>
                      </a:r>
                      <a:r>
                        <a:rPr lang="en-US" dirty="0"/>
                        <a:t> 1.7e+308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64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boolean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 </a:t>
                      </a:r>
                      <a:r>
                        <a:rPr lang="en-US" dirty="0" err="1"/>
                        <a:t>atau</a:t>
                      </a:r>
                      <a:r>
                        <a:rPr lang="en-US" dirty="0"/>
                        <a:t> 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pPr algn="ctr"/>
            <a:r>
              <a:rPr lang="en-US" sz="2800" b="0" dirty="0" err="1">
                <a:effectLst/>
              </a:rPr>
              <a:t>Contoh</a:t>
            </a:r>
            <a:r>
              <a:rPr lang="en-US" sz="2800" b="0" dirty="0">
                <a:effectLst/>
              </a:rPr>
              <a:t> </a:t>
            </a:r>
            <a:r>
              <a:rPr lang="en-US" sz="2800" b="0" dirty="0" err="1">
                <a:effectLst/>
              </a:rPr>
              <a:t>jangkauan</a:t>
            </a:r>
            <a:r>
              <a:rPr lang="en-US" sz="2800" b="0" dirty="0">
                <a:effectLst/>
              </a:rPr>
              <a:t> </a:t>
            </a:r>
            <a:r>
              <a:rPr lang="en-US" sz="2800" b="0" dirty="0" err="1">
                <a:effectLst/>
              </a:rPr>
              <a:t>dan</a:t>
            </a:r>
            <a:r>
              <a:rPr lang="en-US" sz="2800" b="0" dirty="0">
                <a:effectLst/>
              </a:rPr>
              <a:t> </a:t>
            </a:r>
            <a:r>
              <a:rPr lang="en-US" sz="2800" b="0" dirty="0" err="1">
                <a:effectLst/>
              </a:rPr>
              <a:t>ukuran</a:t>
            </a:r>
            <a:r>
              <a:rPr lang="en-US" sz="2800" b="0" dirty="0">
                <a:effectLst/>
              </a:rPr>
              <a:t> </a:t>
            </a:r>
            <a:r>
              <a:rPr lang="en-US" sz="2800" b="0" dirty="0" err="1">
                <a:effectLst/>
              </a:rPr>
              <a:t>tipe</a:t>
            </a:r>
            <a:r>
              <a:rPr lang="en-US" sz="2800" b="0" dirty="0">
                <a:effectLst/>
              </a:rPr>
              <a:t> data </a:t>
            </a:r>
            <a:r>
              <a:rPr lang="en-US" sz="2800" b="0" dirty="0" err="1">
                <a:effectLst/>
              </a:rPr>
              <a:t>nya</a:t>
            </a:r>
            <a:endParaRPr lang="en-US" sz="2800" b="0" dirty="0">
              <a:effectLst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788091"/>
          </a:xfrm>
        </p:spPr>
        <p:txBody>
          <a:bodyPr/>
          <a:lstStyle/>
          <a:p>
            <a:r>
              <a:rPr lang="en-US" dirty="0"/>
              <a:t>Operator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simbol</a:t>
            </a:r>
            <a:r>
              <a:rPr lang="en-US" dirty="0"/>
              <a:t> </a:t>
            </a:r>
            <a:r>
              <a:rPr lang="en-US" dirty="0" err="1"/>
              <a:t>khusus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komputasi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/</a:t>
            </a:r>
            <a:r>
              <a:rPr lang="en-US" dirty="0" err="1"/>
              <a:t>dua</a:t>
            </a:r>
            <a:r>
              <a:rPr lang="en-US" dirty="0"/>
              <a:t>/</a:t>
            </a:r>
            <a:r>
              <a:rPr lang="en-US" dirty="0" err="1"/>
              <a:t>tiga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data. </a:t>
            </a:r>
            <a:r>
              <a:rPr lang="en-US" dirty="0" err="1"/>
              <a:t>Operan-nya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literal, </a:t>
            </a:r>
            <a:r>
              <a:rPr lang="en-US" dirty="0" err="1"/>
              <a:t>variabel</a:t>
            </a:r>
            <a:r>
              <a:rPr lang="en-US" dirty="0"/>
              <a:t>, </a:t>
            </a:r>
            <a:r>
              <a:rPr lang="en-US" dirty="0" err="1"/>
              <a:t>konstanta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argument.</a:t>
            </a:r>
          </a:p>
          <a:p>
            <a:endParaRPr lang="en-US" dirty="0"/>
          </a:p>
          <a:p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r>
              <a:rPr lang="en-US" dirty="0" err="1"/>
              <a:t>int</a:t>
            </a:r>
            <a:r>
              <a:rPr lang="en-US" dirty="0"/>
              <a:t> namaVar1, namaVar2 = 0;</a:t>
            </a:r>
          </a:p>
          <a:p>
            <a:r>
              <a:rPr lang="en-US" dirty="0"/>
              <a:t>namaVar1 = namaVar2 + 1;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ctr"/>
            <a:r>
              <a:rPr lang="en-US" b="0" dirty="0">
                <a:effectLst/>
              </a:rPr>
              <a:t>Operator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57200" y="990605"/>
          <a:ext cx="8229600" cy="5327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434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Prioritas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Kelompok</a:t>
                      </a:r>
                      <a:r>
                        <a:rPr lang="en-US" dirty="0"/>
                        <a:t>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Keterangan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4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[ ] </a:t>
                      </a:r>
                      <a:r>
                        <a:rPr lang="en-US" b="1" dirty="0" err="1"/>
                        <a:t>dan</a:t>
                      </a:r>
                      <a:r>
                        <a:rPr lang="en-US" b="1" dirty="0"/>
                        <a:t> (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mengelompokkan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memisahkan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4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++</a:t>
                      </a:r>
                      <a:r>
                        <a:rPr lang="en-US" b="1" dirty="0" err="1"/>
                        <a:t>var</a:t>
                      </a:r>
                      <a:r>
                        <a:rPr lang="en-US" b="1" dirty="0"/>
                        <a:t>, --</a:t>
                      </a:r>
                      <a:r>
                        <a:rPr lang="en-US" b="1" dirty="0" err="1"/>
                        <a:t>var</a:t>
                      </a:r>
                      <a:r>
                        <a:rPr lang="en-US" b="1" dirty="0"/>
                        <a:t>, ~,</a:t>
                      </a:r>
                      <a:r>
                        <a:rPr lang="en-US" b="1" baseline="0" dirty="0"/>
                        <a:t> </a:t>
                      </a:r>
                      <a:r>
                        <a:rPr lang="en-US" b="1" baseline="0" dirty="0" err="1"/>
                        <a:t>instanceof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preincrement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predecrement</a:t>
                      </a:r>
                      <a:r>
                        <a:rPr lang="en-US" dirty="0"/>
                        <a:t>, unary, </a:t>
                      </a:r>
                      <a:r>
                        <a:rPr lang="en-US" dirty="0" err="1"/>
                        <a:t>instane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dari</a:t>
                      </a:r>
                      <a:r>
                        <a:rPr lang="en-US" dirty="0"/>
                        <a:t> class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4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(type) (casting)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4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!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4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*,</a:t>
                      </a:r>
                      <a:r>
                        <a:rPr lang="en-US" b="1" baseline="0" dirty="0"/>
                        <a:t> /, %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kali, </a:t>
                      </a:r>
                      <a:r>
                        <a:rPr lang="en-US" dirty="0" err="1"/>
                        <a:t>bagi</a:t>
                      </a:r>
                      <a:r>
                        <a:rPr lang="en-US" dirty="0"/>
                        <a:t> modulus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4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+, 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tambah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kurang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4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&lt;&lt;, &gt;&gt;, &gt;&gt;&gt;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geser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untuk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bilangan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biner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4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&lt;, &gt;, &lt;=, 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pembandingan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4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==,</a:t>
                      </a:r>
                      <a:r>
                        <a:rPr lang="en-US" b="1" baseline="0" dirty="0"/>
                        <a:t> !=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kesamaan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ketidaksamaan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0" dirty="0" err="1">
                <a:effectLst/>
              </a:rPr>
              <a:t>Contoh</a:t>
            </a:r>
            <a:r>
              <a:rPr lang="en-US" b="0" dirty="0">
                <a:effectLst/>
              </a:rPr>
              <a:t> Operator </a:t>
            </a:r>
            <a:r>
              <a:rPr lang="en-US" b="0" dirty="0" err="1">
                <a:effectLst/>
              </a:rPr>
              <a:t>dan</a:t>
            </a:r>
            <a:r>
              <a:rPr lang="en-US" b="0" dirty="0">
                <a:effectLst/>
              </a:rPr>
              <a:t> </a:t>
            </a:r>
            <a:r>
              <a:rPr lang="en-US" b="0" dirty="0" err="1">
                <a:effectLst/>
              </a:rPr>
              <a:t>Prioritas-nya</a:t>
            </a:r>
            <a:endParaRPr lang="en-US" b="0" dirty="0">
              <a:effectLst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57200" y="914400"/>
          <a:ext cx="8229600" cy="5115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59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Prioritas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Kelompok</a:t>
                      </a:r>
                      <a:r>
                        <a:rPr lang="en-US" dirty="0"/>
                        <a:t>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Keterangan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9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&amp;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9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^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exclusive 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9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unconditional 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9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&amp;&amp;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conditional 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9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||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conditional 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86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?: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Shorthand </a:t>
                      </a:r>
                      <a:r>
                        <a:rPr lang="en-US" dirty="0" err="1"/>
                        <a:t>untuk</a:t>
                      </a:r>
                      <a:r>
                        <a:rPr lang="en-US" dirty="0"/>
                        <a:t> if..then…else…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69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=, +=, -=, *=, /=, %=, ^=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operator </a:t>
                      </a:r>
                      <a:r>
                        <a:rPr lang="en-US" dirty="0" err="1"/>
                        <a:t>penugasan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69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&amp;=, |=, &lt;&lt;=, &gt;&gt;=, &gt;&gt;&gt;=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operator </a:t>
                      </a:r>
                      <a:r>
                        <a:rPr lang="en-US" dirty="0" err="1"/>
                        <a:t>penugasan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86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var</a:t>
                      </a:r>
                      <a:r>
                        <a:rPr lang="en-US" b="1" dirty="0"/>
                        <a:t>++, </a:t>
                      </a:r>
                      <a:r>
                        <a:rPr lang="en-US" b="1" dirty="0" err="1"/>
                        <a:t>var</a:t>
                      </a:r>
                      <a:r>
                        <a:rPr lang="en-US" b="1" dirty="0"/>
                        <a:t>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posincrement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postdecrement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572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0" dirty="0" err="1">
                <a:effectLst/>
              </a:rPr>
              <a:t>Contoh</a:t>
            </a:r>
            <a:r>
              <a:rPr lang="en-US" b="0" dirty="0">
                <a:effectLst/>
              </a:rPr>
              <a:t> Operator </a:t>
            </a:r>
            <a:r>
              <a:rPr lang="en-US" b="0" dirty="0" err="1">
                <a:effectLst/>
              </a:rPr>
              <a:t>dan</a:t>
            </a:r>
            <a:r>
              <a:rPr lang="en-US" b="0" dirty="0">
                <a:effectLst/>
              </a:rPr>
              <a:t> </a:t>
            </a:r>
            <a:r>
              <a:rPr lang="en-US" b="0" dirty="0" err="1">
                <a:effectLst/>
              </a:rPr>
              <a:t>Prioritas-nya</a:t>
            </a:r>
            <a:endParaRPr lang="en-US" b="0" dirty="0">
              <a:effectLst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343400"/>
          </a:xfrm>
        </p:spPr>
        <p:txBody>
          <a:bodyPr>
            <a:noAutofit/>
          </a:bodyPr>
          <a:lstStyle/>
          <a:p>
            <a:r>
              <a:rPr lang="en-US" sz="4800" dirty="0"/>
              <a:t>Separator </a:t>
            </a:r>
            <a:r>
              <a:rPr lang="en-US" sz="4800" dirty="0" err="1"/>
              <a:t>menginformasikan</a:t>
            </a:r>
            <a:r>
              <a:rPr lang="en-US" sz="4800" dirty="0"/>
              <a:t> </a:t>
            </a:r>
            <a:r>
              <a:rPr lang="en-US" sz="4800" dirty="0" err="1"/>
              <a:t>kepada</a:t>
            </a:r>
            <a:r>
              <a:rPr lang="en-US" sz="4800" dirty="0"/>
              <a:t> compiler java </a:t>
            </a:r>
            <a:r>
              <a:rPr lang="en-US" sz="4800" dirty="0" err="1"/>
              <a:t>mengenai</a:t>
            </a:r>
            <a:r>
              <a:rPr lang="en-US" sz="4800" dirty="0"/>
              <a:t> </a:t>
            </a:r>
            <a:r>
              <a:rPr lang="en-US" sz="4800" dirty="0" err="1"/>
              <a:t>adanya</a:t>
            </a:r>
            <a:r>
              <a:rPr lang="en-US" sz="4800" dirty="0"/>
              <a:t> </a:t>
            </a:r>
            <a:r>
              <a:rPr lang="en-US" sz="4800" dirty="0" err="1"/>
              <a:t>kelompok</a:t>
            </a:r>
            <a:r>
              <a:rPr lang="en-US" sz="4800" dirty="0"/>
              <a:t> </a:t>
            </a:r>
            <a:r>
              <a:rPr lang="en-US" sz="4800" dirty="0" err="1"/>
              <a:t>kode</a:t>
            </a:r>
            <a:r>
              <a:rPr lang="en-US" sz="4800" dirty="0"/>
              <a:t> program.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73162"/>
          </a:xfrm>
        </p:spPr>
        <p:txBody>
          <a:bodyPr>
            <a:noAutofit/>
          </a:bodyPr>
          <a:lstStyle/>
          <a:p>
            <a:pPr algn="ctr"/>
            <a:r>
              <a:rPr lang="en-US" sz="5400" b="0" dirty="0">
                <a:effectLst/>
              </a:rPr>
              <a:t>Separator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43000"/>
          <a:ext cx="8229600" cy="537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Notasi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Nama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Deskripsi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(..)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kurung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buka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kurung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tutup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Mengelompokkan</a:t>
                      </a:r>
                      <a:r>
                        <a:rPr lang="en-US" sz="1600" dirty="0"/>
                        <a:t> parameter method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{…}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kurung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kurawal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buka</a:t>
                      </a:r>
                      <a:r>
                        <a:rPr lang="en-US" sz="1600" dirty="0"/>
                        <a:t>,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kurung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kurawal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tutup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Mengelompokkan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nilai-nilai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suatu</a:t>
                      </a:r>
                      <a:r>
                        <a:rPr lang="en-US" sz="1600" dirty="0"/>
                        <a:t> array, </a:t>
                      </a:r>
                    </a:p>
                    <a:p>
                      <a:pPr algn="ctr"/>
                      <a:r>
                        <a:rPr lang="en-US" sz="1600" dirty="0" err="1"/>
                        <a:t>Menentukan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blok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batas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mulai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batas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akhir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untuk</a:t>
                      </a:r>
                      <a:r>
                        <a:rPr lang="en-US" sz="1600" dirty="0"/>
                        <a:t> </a:t>
                      </a:r>
                    </a:p>
                    <a:p>
                      <a:pPr algn="ctr"/>
                      <a:r>
                        <a:rPr lang="en-US" sz="1600" dirty="0" err="1"/>
                        <a:t>kode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dalam</a:t>
                      </a:r>
                      <a:r>
                        <a:rPr lang="en-US" sz="1600" dirty="0"/>
                        <a:t> class </a:t>
                      </a:r>
                      <a:r>
                        <a:rPr lang="en-US" sz="1600" dirty="0" err="1"/>
                        <a:t>dan</a:t>
                      </a:r>
                      <a:r>
                        <a:rPr lang="en-US" sz="1600" dirty="0"/>
                        <a:t> </a:t>
                      </a:r>
                    </a:p>
                    <a:p>
                      <a:pPr algn="ctr"/>
                      <a:r>
                        <a:rPr lang="en-US" sz="1600" dirty="0" err="1"/>
                        <a:t>kode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di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dalam</a:t>
                      </a:r>
                      <a:r>
                        <a:rPr lang="en-US" sz="1600" baseline="0" dirty="0"/>
                        <a:t> method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[…]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Kurung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siku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buka</a:t>
                      </a:r>
                      <a:r>
                        <a:rPr lang="en-US" sz="1600" dirty="0"/>
                        <a:t>, </a:t>
                      </a:r>
                    </a:p>
                    <a:p>
                      <a:pPr algn="ctr"/>
                      <a:r>
                        <a:rPr lang="en-US" sz="1600" dirty="0" err="1"/>
                        <a:t>kurung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siku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tutup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Mendeklarasikan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tipe</a:t>
                      </a:r>
                      <a:r>
                        <a:rPr lang="en-US" sz="1600" dirty="0"/>
                        <a:t> array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titik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koma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Mengakhiri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satu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baris</a:t>
                      </a:r>
                      <a:r>
                        <a:rPr lang="en-US" sz="1600" dirty="0"/>
                        <a:t> program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,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koma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Memisahkan</a:t>
                      </a:r>
                      <a:r>
                        <a:rPr lang="en-US" sz="1600" dirty="0"/>
                        <a:t> identifier-identifier </a:t>
                      </a:r>
                      <a:r>
                        <a:rPr lang="en-US" sz="1600" dirty="0" err="1"/>
                        <a:t>di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bagian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deklarasi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variabel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atau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konstanta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titik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Memisahkan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nama-nama</a:t>
                      </a:r>
                      <a:r>
                        <a:rPr lang="en-US" sz="1600" dirty="0"/>
                        <a:t> package,</a:t>
                      </a:r>
                    </a:p>
                    <a:p>
                      <a:pPr algn="ctr"/>
                      <a:r>
                        <a:rPr lang="en-US" sz="1600" dirty="0" err="1"/>
                        <a:t>Memisahkan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nama</a:t>
                      </a:r>
                      <a:r>
                        <a:rPr lang="en-US" sz="1600" dirty="0"/>
                        <a:t> class </a:t>
                      </a:r>
                      <a:r>
                        <a:rPr lang="en-US" sz="1600" dirty="0" err="1"/>
                        <a:t>dan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nama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objek</a:t>
                      </a:r>
                      <a:r>
                        <a:rPr lang="en-US" sz="1600" dirty="0"/>
                        <a:t>,</a:t>
                      </a:r>
                    </a:p>
                    <a:p>
                      <a:pPr algn="ctr"/>
                      <a:r>
                        <a:rPr lang="en-US" sz="1600" dirty="0" err="1"/>
                        <a:t>Memisahkan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nama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objek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dan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nama</a:t>
                      </a:r>
                      <a:r>
                        <a:rPr lang="en-US" sz="1600" baseline="0" dirty="0"/>
                        <a:t> method.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ctr"/>
            <a:r>
              <a:rPr lang="en-US" b="0" dirty="0" err="1">
                <a:effectLst/>
              </a:rPr>
              <a:t>Contoh</a:t>
            </a:r>
            <a:r>
              <a:rPr lang="en-US" b="0" dirty="0">
                <a:effectLst/>
              </a:rPr>
              <a:t> Separator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711891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Keterangan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komentar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program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arti</a:t>
            </a:r>
            <a:r>
              <a:rPr lang="en-US" dirty="0"/>
              <a:t> </a:t>
            </a:r>
            <a:r>
              <a:rPr lang="en-US" dirty="0" err="1"/>
              <a:t>bagi</a:t>
            </a:r>
            <a:r>
              <a:rPr lang="en-US" dirty="0"/>
              <a:t> compiler, </a:t>
            </a:r>
            <a:r>
              <a:rPr lang="en-US" dirty="0" err="1"/>
              <a:t>artinya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komentar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ikut</a:t>
            </a:r>
            <a:r>
              <a:rPr lang="en-US" dirty="0"/>
              <a:t> </a:t>
            </a:r>
            <a:r>
              <a:rPr lang="en-US" dirty="0" err="1"/>
              <a:t>diproses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compiler. </a:t>
            </a:r>
          </a:p>
          <a:p>
            <a:r>
              <a:rPr lang="en-US" dirty="0" err="1"/>
              <a:t>Keterangan</a:t>
            </a:r>
            <a:r>
              <a:rPr lang="en-US" dirty="0"/>
              <a:t> </a:t>
            </a:r>
            <a:r>
              <a:rPr lang="en-US" dirty="0" err="1"/>
              <a:t>sangat</a:t>
            </a:r>
            <a:r>
              <a:rPr lang="en-US" dirty="0"/>
              <a:t> </a:t>
            </a:r>
            <a:r>
              <a:rPr lang="en-US" dirty="0" err="1"/>
              <a:t>berguna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menjelaskan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mengingat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program.</a:t>
            </a:r>
          </a:p>
          <a:p>
            <a:r>
              <a:rPr lang="en-US" dirty="0" err="1"/>
              <a:t>Ada</a:t>
            </a:r>
            <a:r>
              <a:rPr lang="en-US" dirty="0"/>
              <a:t> 3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keterangan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java:</a:t>
            </a:r>
          </a:p>
          <a:p>
            <a:r>
              <a:rPr lang="en-US" dirty="0"/>
              <a:t>//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keterangan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baris</a:t>
            </a:r>
            <a:endParaRPr lang="en-US" dirty="0"/>
          </a:p>
          <a:p>
            <a:r>
              <a:rPr lang="en-US" dirty="0"/>
              <a:t>/*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keterangan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1 </a:t>
            </a:r>
            <a:r>
              <a:rPr lang="en-US" dirty="0" err="1"/>
              <a:t>baris</a:t>
            </a:r>
            <a:r>
              <a:rPr lang="en-US" dirty="0"/>
              <a:t> */</a:t>
            </a:r>
          </a:p>
          <a:p>
            <a:r>
              <a:rPr lang="en-US" dirty="0"/>
              <a:t>/**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keterangan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1 </a:t>
            </a:r>
            <a:r>
              <a:rPr lang="en-US" dirty="0" err="1"/>
              <a:t>baris</a:t>
            </a:r>
            <a:r>
              <a:rPr lang="en-US" dirty="0"/>
              <a:t> */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ctr"/>
            <a:r>
              <a:rPr lang="en-US" b="0" dirty="0" err="1">
                <a:effectLst/>
              </a:rPr>
              <a:t>Keterangan</a:t>
            </a:r>
            <a:r>
              <a:rPr lang="en-US" b="0" dirty="0">
                <a:effectLst/>
              </a:rPr>
              <a:t> </a:t>
            </a:r>
            <a:r>
              <a:rPr lang="en-US" b="0" dirty="0" err="1">
                <a:effectLst/>
              </a:rPr>
              <a:t>dan</a:t>
            </a:r>
            <a:r>
              <a:rPr lang="en-US" b="0" dirty="0">
                <a:effectLst/>
              </a:rPr>
              <a:t> </a:t>
            </a:r>
            <a:r>
              <a:rPr lang="en-US" b="0" dirty="0" err="1">
                <a:effectLst/>
              </a:rPr>
              <a:t>Komentar</a:t>
            </a:r>
            <a:endParaRPr lang="en-US" b="0" dirty="0">
              <a:effectLst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219200"/>
            <a:ext cx="8610600" cy="5105400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Tipe</a:t>
            </a:r>
            <a:r>
              <a:rPr lang="en-US" dirty="0"/>
              <a:t> data </a:t>
            </a:r>
            <a:r>
              <a:rPr lang="en-US" dirty="0" err="1"/>
              <a:t>referensi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yang </a:t>
            </a:r>
            <a:r>
              <a:rPr lang="en-US" dirty="0" err="1"/>
              <a:t>berupa</a:t>
            </a:r>
            <a:r>
              <a:rPr lang="en-US" dirty="0"/>
              <a:t> class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berjenis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berarti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. </a:t>
            </a:r>
          </a:p>
          <a:p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deklarasinya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deklarasi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</a:t>
            </a:r>
            <a:r>
              <a:rPr lang="en-US" dirty="0" err="1"/>
              <a:t>primitif</a:t>
            </a:r>
            <a:r>
              <a:rPr lang="en-US" dirty="0"/>
              <a:t>,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pembuatan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dan </a:t>
            </a:r>
            <a:r>
              <a:rPr lang="en-US" dirty="0" err="1"/>
              <a:t>inisilisasi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pada </a:t>
            </a:r>
            <a:r>
              <a:rPr lang="en-US" dirty="0" err="1"/>
              <a:t>umumnya</a:t>
            </a:r>
            <a:r>
              <a:rPr lang="en-US" dirty="0"/>
              <a:t>, </a:t>
            </a:r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r>
              <a:rPr lang="en-US" b="1" dirty="0"/>
              <a:t>Integer </a:t>
            </a:r>
            <a:r>
              <a:rPr lang="en-US" b="1" dirty="0" err="1"/>
              <a:t>i</a:t>
            </a:r>
            <a:r>
              <a:rPr lang="en-US" b="1" dirty="0"/>
              <a:t> = new Integer(10);    int </a:t>
            </a:r>
            <a:r>
              <a:rPr lang="en-US" b="1" dirty="0" err="1"/>
              <a:t>i</a:t>
            </a:r>
            <a:r>
              <a:rPr lang="en-US" b="1" dirty="0"/>
              <a:t> = 10;</a:t>
            </a:r>
          </a:p>
          <a:p>
            <a:r>
              <a:rPr lang="en-US" b="1" dirty="0"/>
              <a:t>Double d = new Double(3.5);  double d = 3.5; </a:t>
            </a:r>
          </a:p>
          <a:p>
            <a:r>
              <a:rPr lang="en-US" dirty="0" err="1"/>
              <a:t>Tipe</a:t>
            </a:r>
            <a:r>
              <a:rPr lang="en-US" dirty="0"/>
              <a:t> data </a:t>
            </a:r>
            <a:r>
              <a:rPr lang="en-US" dirty="0" err="1"/>
              <a:t>referensi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kegunaan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kesamaan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</a:t>
            </a:r>
            <a:r>
              <a:rPr lang="en-US" dirty="0" err="1"/>
              <a:t>primitif</a:t>
            </a:r>
            <a:r>
              <a:rPr lang="en-US" dirty="0"/>
              <a:t>,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membedakan</a:t>
            </a:r>
            <a:r>
              <a:rPr lang="en-US" dirty="0"/>
              <a:t> </a:t>
            </a:r>
            <a:r>
              <a:rPr lang="en-US" dirty="0" err="1"/>
              <a:t>hanyalah</a:t>
            </a:r>
            <a:r>
              <a:rPr lang="en-US" dirty="0"/>
              <a:t> </a:t>
            </a:r>
            <a:r>
              <a:rPr lang="en-US" dirty="0" err="1"/>
              <a:t>alokasi</a:t>
            </a:r>
            <a:r>
              <a:rPr lang="en-US" dirty="0"/>
              <a:t> </a:t>
            </a:r>
            <a:r>
              <a:rPr lang="en-US" dirty="0" err="1"/>
              <a:t>memori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menampung</a:t>
            </a:r>
            <a:r>
              <a:rPr lang="en-US" dirty="0"/>
              <a:t> literal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variabel-variabel</a:t>
            </a:r>
            <a:r>
              <a:rPr lang="en-US" dirty="0"/>
              <a:t> </a:t>
            </a:r>
            <a:r>
              <a:rPr lang="en-US" dirty="0" err="1"/>
              <a:t>nya</a:t>
            </a:r>
            <a:r>
              <a:rPr lang="en-US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Tipe</a:t>
            </a:r>
            <a:r>
              <a:rPr lang="en-US" dirty="0"/>
              <a:t> Data </a:t>
            </a:r>
            <a:r>
              <a:rPr lang="en-US" dirty="0" err="1"/>
              <a:t>Referensi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914400"/>
            <a:ext cx="8534400" cy="5334000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 err="1"/>
              <a:t>Kegunaan</a:t>
            </a:r>
            <a:r>
              <a:rPr lang="en-US" sz="2800" dirty="0"/>
              <a:t> </a:t>
            </a:r>
            <a:r>
              <a:rPr lang="en-US" sz="2800" dirty="0" err="1"/>
              <a:t>fitur</a:t>
            </a:r>
            <a:r>
              <a:rPr lang="en-US" sz="2800" dirty="0"/>
              <a:t>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mengkonversi</a:t>
            </a:r>
            <a:r>
              <a:rPr lang="en-US" sz="2800" dirty="0"/>
              <a:t> </a:t>
            </a:r>
            <a:r>
              <a:rPr lang="en-US" sz="2800" dirty="0" err="1"/>
              <a:t>tipe</a:t>
            </a:r>
            <a:r>
              <a:rPr lang="en-US" sz="2800" dirty="0"/>
              <a:t> data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referensi</a:t>
            </a:r>
            <a:r>
              <a:rPr lang="en-US" sz="2800" dirty="0"/>
              <a:t>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primitif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sebaliknya</a:t>
            </a:r>
            <a:r>
              <a:rPr lang="en-US" sz="2800" dirty="0"/>
              <a:t>.</a:t>
            </a:r>
          </a:p>
          <a:p>
            <a:endParaRPr lang="en-US" sz="2800" dirty="0"/>
          </a:p>
          <a:p>
            <a:r>
              <a:rPr lang="en-US" sz="2800" dirty="0" err="1"/>
              <a:t>Contoh</a:t>
            </a:r>
            <a:r>
              <a:rPr lang="en-US" sz="2800" dirty="0"/>
              <a:t>:</a:t>
            </a:r>
          </a:p>
          <a:p>
            <a:r>
              <a:rPr lang="en-US" sz="2800" b="1" dirty="0" err="1"/>
              <a:t>int</a:t>
            </a:r>
            <a:r>
              <a:rPr lang="en-US" sz="2800" b="1" dirty="0"/>
              <a:t> </a:t>
            </a:r>
            <a:r>
              <a:rPr lang="en-US" sz="2800" b="1" dirty="0" err="1"/>
              <a:t>varPrim</a:t>
            </a:r>
            <a:r>
              <a:rPr lang="en-US" sz="2800" b="1" dirty="0"/>
              <a:t> = 10;</a:t>
            </a:r>
          </a:p>
          <a:p>
            <a:r>
              <a:rPr lang="en-US" sz="2800" b="1" dirty="0"/>
              <a:t>Integer </a:t>
            </a:r>
            <a:r>
              <a:rPr lang="en-US" sz="2800" b="1" dirty="0" err="1"/>
              <a:t>varRef</a:t>
            </a:r>
            <a:r>
              <a:rPr lang="en-US" sz="2800" b="1" dirty="0"/>
              <a:t> = new Integer(12);</a:t>
            </a:r>
          </a:p>
          <a:p>
            <a:endParaRPr lang="en-US" sz="2800" b="1" dirty="0"/>
          </a:p>
          <a:p>
            <a:r>
              <a:rPr lang="en-US" sz="2800" dirty="0" err="1"/>
              <a:t>Konversi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dilakukan</a:t>
            </a:r>
            <a:r>
              <a:rPr lang="en-US" sz="2800" dirty="0"/>
              <a:t> </a:t>
            </a:r>
            <a:r>
              <a:rPr lang="en-US" sz="2800" dirty="0" err="1"/>
              <a:t>dgn</a:t>
            </a:r>
            <a:r>
              <a:rPr lang="en-US" sz="2800" dirty="0"/>
              <a:t> </a:t>
            </a:r>
            <a:r>
              <a:rPr lang="en-US" sz="2800" dirty="0" err="1"/>
              <a:t>cara</a:t>
            </a:r>
            <a:r>
              <a:rPr lang="en-US" sz="2800" dirty="0"/>
              <a:t> </a:t>
            </a:r>
            <a:r>
              <a:rPr lang="en-US" sz="2800" dirty="0" err="1"/>
              <a:t>pertama</a:t>
            </a:r>
            <a:r>
              <a:rPr lang="en-US" sz="2800" dirty="0"/>
              <a:t>:</a:t>
            </a:r>
          </a:p>
          <a:p>
            <a:r>
              <a:rPr lang="en-US" sz="2800" b="1" dirty="0"/>
              <a:t>Integer </a:t>
            </a:r>
            <a:r>
              <a:rPr lang="en-US" sz="2800" b="1" dirty="0" err="1"/>
              <a:t>varRef</a:t>
            </a:r>
            <a:r>
              <a:rPr lang="en-US" sz="2800" b="1" dirty="0"/>
              <a:t> = new Integer(</a:t>
            </a:r>
            <a:r>
              <a:rPr lang="en-US" sz="2800" b="1" dirty="0" err="1"/>
              <a:t>varPrim</a:t>
            </a:r>
            <a:r>
              <a:rPr lang="en-US" sz="2800" b="1" dirty="0"/>
              <a:t>);</a:t>
            </a:r>
          </a:p>
          <a:p>
            <a:r>
              <a:rPr lang="en-US" sz="2800" b="1" dirty="0" err="1"/>
              <a:t>int</a:t>
            </a:r>
            <a:r>
              <a:rPr lang="en-US" sz="2800" b="1" dirty="0"/>
              <a:t> </a:t>
            </a:r>
            <a:r>
              <a:rPr lang="en-US" sz="2800" b="1" dirty="0" err="1"/>
              <a:t>varPrim</a:t>
            </a:r>
            <a:r>
              <a:rPr lang="en-US" sz="2800" b="1" dirty="0"/>
              <a:t> = </a:t>
            </a:r>
            <a:r>
              <a:rPr lang="en-US" sz="2800" b="1" dirty="0" err="1"/>
              <a:t>varRef.intValue</a:t>
            </a:r>
            <a:r>
              <a:rPr lang="en-US" sz="2800" b="1" dirty="0"/>
              <a:t>();</a:t>
            </a:r>
          </a:p>
          <a:p>
            <a:endParaRPr lang="en-US" sz="2800" b="1" dirty="0"/>
          </a:p>
          <a:p>
            <a:r>
              <a:rPr lang="en-US" sz="2800" dirty="0" err="1"/>
              <a:t>Konversi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cara</a:t>
            </a:r>
            <a:r>
              <a:rPr lang="en-US" sz="2800" dirty="0"/>
              <a:t> </a:t>
            </a:r>
            <a:r>
              <a:rPr lang="en-US" sz="2800" dirty="0" err="1"/>
              <a:t>kedua</a:t>
            </a:r>
            <a:r>
              <a:rPr lang="en-US" sz="2800" dirty="0"/>
              <a:t>:</a:t>
            </a:r>
          </a:p>
          <a:p>
            <a:r>
              <a:rPr lang="en-US" sz="2800" b="1" dirty="0" err="1"/>
              <a:t>int</a:t>
            </a:r>
            <a:r>
              <a:rPr lang="en-US" sz="2800" b="1" dirty="0"/>
              <a:t> </a:t>
            </a:r>
            <a:r>
              <a:rPr lang="en-US" sz="2800" b="1" dirty="0" err="1"/>
              <a:t>varPrim</a:t>
            </a:r>
            <a:r>
              <a:rPr lang="en-US" sz="2800" b="1" dirty="0"/>
              <a:t> = 10;</a:t>
            </a:r>
          </a:p>
          <a:p>
            <a:r>
              <a:rPr lang="en-US" sz="2800" b="1" dirty="0"/>
              <a:t>Integer </a:t>
            </a:r>
            <a:r>
              <a:rPr lang="en-US" sz="2800" b="1" dirty="0" err="1"/>
              <a:t>varRef</a:t>
            </a:r>
            <a:r>
              <a:rPr lang="en-US" sz="2800" b="1" dirty="0"/>
              <a:t> = </a:t>
            </a:r>
            <a:r>
              <a:rPr lang="en-US" sz="2800" b="1" dirty="0" err="1"/>
              <a:t>varPrim</a:t>
            </a:r>
            <a:r>
              <a:rPr lang="en-US" sz="2800" b="1" dirty="0"/>
              <a:t>;</a:t>
            </a:r>
          </a:p>
          <a:p>
            <a:r>
              <a:rPr lang="en-US" sz="2800" b="1" dirty="0"/>
              <a:t>int </a:t>
            </a:r>
            <a:r>
              <a:rPr lang="en-US" sz="2800" b="1" dirty="0" err="1"/>
              <a:t>varPrim</a:t>
            </a:r>
            <a:r>
              <a:rPr lang="en-US" sz="2800" b="1" dirty="0"/>
              <a:t> = </a:t>
            </a:r>
            <a:r>
              <a:rPr lang="en-US" sz="2800" b="1" dirty="0" err="1"/>
              <a:t>varRef</a:t>
            </a:r>
            <a:r>
              <a:rPr lang="en-US" sz="2800" b="1" dirty="0"/>
              <a:t>;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Autoboxing</a:t>
            </a:r>
            <a:r>
              <a:rPr lang="en-US" dirty="0"/>
              <a:t>/</a:t>
            </a:r>
            <a:r>
              <a:rPr lang="en-US" dirty="0" err="1"/>
              <a:t>Unboxing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b="1" dirty="0" err="1"/>
              <a:t>nilai</a:t>
            </a:r>
            <a:r>
              <a:rPr lang="en-US" b="1" dirty="0"/>
              <a:t> </a:t>
            </a:r>
            <a:r>
              <a:rPr lang="en-US" dirty="0" err="1"/>
              <a:t>atau</a:t>
            </a:r>
            <a:r>
              <a:rPr lang="en-US" b="1" dirty="0"/>
              <a:t> literal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berjenis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deklarasi</a:t>
            </a:r>
            <a:r>
              <a:rPr lang="en-US" dirty="0"/>
              <a:t> </a:t>
            </a:r>
            <a:r>
              <a:rPr lang="en-US" dirty="0" err="1"/>
              <a:t>awal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proses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, </a:t>
            </a:r>
            <a:r>
              <a:rPr lang="en-US" dirty="0" err="1"/>
              <a:t>adakalanya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b="1" dirty="0" err="1"/>
              <a:t>diubah</a:t>
            </a:r>
            <a:r>
              <a:rPr lang="en-US" dirty="0"/>
              <a:t> </a:t>
            </a:r>
            <a:r>
              <a:rPr lang="en-US" b="1" dirty="0" err="1"/>
              <a:t>tipe</a:t>
            </a:r>
            <a:r>
              <a:rPr lang="en-US" b="1" dirty="0"/>
              <a:t> </a:t>
            </a:r>
            <a:r>
              <a:rPr lang="en-US" b="1" dirty="0" err="1"/>
              <a:t>datanya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lain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proses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.</a:t>
            </a:r>
          </a:p>
          <a:p>
            <a:r>
              <a:rPr lang="en-US" dirty="0" err="1"/>
              <a:t>Bentuknya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umum</a:t>
            </a:r>
            <a:r>
              <a:rPr lang="en-US" dirty="0"/>
              <a:t> </a:t>
            </a:r>
            <a:r>
              <a:rPr lang="en-US" dirty="0" err="1"/>
              <a:t>sbb</a:t>
            </a:r>
            <a:r>
              <a:rPr lang="en-US" dirty="0"/>
              <a:t>:</a:t>
            </a:r>
          </a:p>
          <a:p>
            <a:r>
              <a:rPr lang="en-US" b="1" dirty="0"/>
              <a:t>(</a:t>
            </a:r>
            <a:r>
              <a:rPr lang="en-US" b="1" dirty="0" err="1"/>
              <a:t>tipe_data</a:t>
            </a:r>
            <a:r>
              <a:rPr lang="en-US" b="1" dirty="0"/>
              <a:t> </a:t>
            </a:r>
            <a:r>
              <a:rPr lang="en-US" b="1" dirty="0" err="1"/>
              <a:t>baru</a:t>
            </a:r>
            <a:r>
              <a:rPr lang="en-US" b="1" dirty="0"/>
              <a:t>) = </a:t>
            </a:r>
            <a:r>
              <a:rPr lang="en-US" b="1" dirty="0" err="1"/>
              <a:t>namaVariabel</a:t>
            </a:r>
            <a:r>
              <a:rPr lang="en-US" b="1" dirty="0"/>
              <a:t>;</a:t>
            </a:r>
          </a:p>
          <a:p>
            <a:endParaRPr lang="en-US" b="1" dirty="0"/>
          </a:p>
          <a:p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=65;</a:t>
            </a:r>
          </a:p>
          <a:p>
            <a:r>
              <a:rPr lang="en-US" b="1" dirty="0"/>
              <a:t>char </a:t>
            </a:r>
            <a:r>
              <a:rPr lang="en-US" b="1" dirty="0" err="1"/>
              <a:t>huruf</a:t>
            </a:r>
            <a:r>
              <a:rPr lang="en-US" b="1" dirty="0"/>
              <a:t>;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Agar </a:t>
            </a:r>
            <a:r>
              <a:rPr lang="en-US" b="1" dirty="0" err="1"/>
              <a:t>nilai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dirty="0"/>
              <a:t>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disimpan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diubah</a:t>
            </a:r>
            <a:r>
              <a:rPr lang="en-US" dirty="0"/>
              <a:t> </a:t>
            </a:r>
            <a:r>
              <a:rPr lang="en-US" dirty="0" err="1"/>
              <a:t>bertipe</a:t>
            </a:r>
            <a:r>
              <a:rPr lang="en-US" dirty="0"/>
              <a:t> char, </a:t>
            </a:r>
            <a:r>
              <a:rPr lang="en-US" dirty="0" err="1"/>
              <a:t>dengan</a:t>
            </a:r>
            <a:r>
              <a:rPr lang="en-US" dirty="0"/>
              <a:t> casting </a:t>
            </a:r>
            <a:r>
              <a:rPr lang="en-US" dirty="0" err="1"/>
              <a:t>sbb</a:t>
            </a:r>
            <a:r>
              <a:rPr lang="en-US" dirty="0"/>
              <a:t>:</a:t>
            </a:r>
          </a:p>
          <a:p>
            <a:r>
              <a:rPr lang="en-US" b="1" dirty="0" err="1"/>
              <a:t>huruf</a:t>
            </a:r>
            <a:r>
              <a:rPr lang="en-US" b="1" dirty="0"/>
              <a:t> = (char) </a:t>
            </a:r>
            <a:r>
              <a:rPr lang="en-US" b="1" dirty="0" err="1"/>
              <a:t>i</a:t>
            </a:r>
            <a:r>
              <a:rPr lang="en-US" b="1" dirty="0"/>
              <a:t>;</a:t>
            </a:r>
            <a:r>
              <a:rPr lang="en-US" dirty="0"/>
              <a:t>   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ctr"/>
            <a:r>
              <a:rPr lang="en-US" dirty="0">
                <a:effectLst/>
              </a:rPr>
              <a:t>Type-Casting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481328"/>
            <a:ext cx="8686800" cy="4525963"/>
          </a:xfrm>
        </p:spPr>
        <p:txBody>
          <a:bodyPr>
            <a:noAutofit/>
          </a:bodyPr>
          <a:lstStyle/>
          <a:p>
            <a:r>
              <a:rPr lang="en-US" sz="3000" dirty="0"/>
              <a:t>public class </a:t>
            </a:r>
            <a:r>
              <a:rPr lang="en-US" sz="3000" dirty="0" err="1"/>
              <a:t>ContohTypeCast</a:t>
            </a:r>
            <a:r>
              <a:rPr lang="en-US" sz="3000" dirty="0"/>
              <a:t> {</a:t>
            </a:r>
          </a:p>
          <a:p>
            <a:r>
              <a:rPr lang="en-US" sz="3000" dirty="0"/>
              <a:t>     int </a:t>
            </a:r>
            <a:r>
              <a:rPr lang="en-US" sz="3000" dirty="0" err="1"/>
              <a:t>i</a:t>
            </a:r>
            <a:r>
              <a:rPr lang="en-US" sz="3000" dirty="0"/>
              <a:t> = 65;</a:t>
            </a:r>
          </a:p>
          <a:p>
            <a:r>
              <a:rPr lang="en-US" sz="3000" dirty="0"/>
              <a:t>     public static void main (String[] </a:t>
            </a:r>
            <a:r>
              <a:rPr lang="en-US" sz="3000" dirty="0" err="1"/>
              <a:t>args</a:t>
            </a:r>
            <a:r>
              <a:rPr lang="en-US" sz="3000" dirty="0"/>
              <a:t>) {   </a:t>
            </a:r>
          </a:p>
          <a:p>
            <a:r>
              <a:rPr lang="en-US" sz="3000" dirty="0"/>
              <a:t>           char </a:t>
            </a:r>
            <a:r>
              <a:rPr lang="en-US" sz="3000" dirty="0" err="1"/>
              <a:t>hasil</a:t>
            </a:r>
            <a:r>
              <a:rPr lang="en-US" sz="3000" dirty="0"/>
              <a:t> = (char) </a:t>
            </a:r>
            <a:r>
              <a:rPr lang="en-US" sz="3000" dirty="0" err="1"/>
              <a:t>i</a:t>
            </a:r>
            <a:r>
              <a:rPr lang="en-US" sz="3000" dirty="0"/>
              <a:t>;</a:t>
            </a:r>
          </a:p>
          <a:p>
            <a:r>
              <a:rPr lang="en-US" sz="3000" dirty="0"/>
              <a:t>           </a:t>
            </a:r>
            <a:r>
              <a:rPr lang="en-US" sz="3000" dirty="0" err="1"/>
              <a:t>System.out.println</a:t>
            </a:r>
            <a:r>
              <a:rPr lang="en-US" sz="3000" dirty="0"/>
              <a:t>(“</a:t>
            </a:r>
            <a:r>
              <a:rPr lang="en-US" sz="3000" dirty="0" err="1"/>
              <a:t>Hasil</a:t>
            </a:r>
            <a:r>
              <a:rPr lang="en-US" sz="3000" dirty="0"/>
              <a:t> = ”+</a:t>
            </a:r>
            <a:r>
              <a:rPr lang="en-US" sz="3000" dirty="0" err="1"/>
              <a:t>hasil</a:t>
            </a:r>
            <a:r>
              <a:rPr lang="en-US" sz="3000" dirty="0"/>
              <a:t>); </a:t>
            </a:r>
          </a:p>
          <a:p>
            <a:r>
              <a:rPr lang="en-US" sz="3000" dirty="0"/>
              <a:t>     }</a:t>
            </a:r>
          </a:p>
          <a:p>
            <a:r>
              <a:rPr lang="en-US" sz="3000" dirty="0"/>
              <a:t>} </a:t>
            </a:r>
          </a:p>
          <a:p>
            <a:r>
              <a:rPr lang="en-US" sz="3000" dirty="0" err="1"/>
              <a:t>Setelah</a:t>
            </a:r>
            <a:r>
              <a:rPr lang="en-US" sz="3000" dirty="0"/>
              <a:t> </a:t>
            </a:r>
            <a:r>
              <a:rPr lang="en-US" sz="3000" dirty="0" err="1"/>
              <a:t>dikompilasi</a:t>
            </a:r>
            <a:r>
              <a:rPr lang="en-US" sz="3000" dirty="0"/>
              <a:t> </a:t>
            </a:r>
            <a:r>
              <a:rPr lang="en-US" sz="3000" dirty="0" err="1"/>
              <a:t>dan</a:t>
            </a:r>
            <a:r>
              <a:rPr lang="en-US" sz="3000" dirty="0"/>
              <a:t> </a:t>
            </a:r>
            <a:r>
              <a:rPr lang="en-US" sz="3000" dirty="0" err="1"/>
              <a:t>di</a:t>
            </a:r>
            <a:r>
              <a:rPr lang="en-US" sz="3000" dirty="0"/>
              <a:t> run, </a:t>
            </a:r>
            <a:r>
              <a:rPr lang="en-US" sz="3000" dirty="0" err="1"/>
              <a:t>akan</a:t>
            </a:r>
            <a:r>
              <a:rPr lang="en-US" sz="3000" dirty="0"/>
              <a:t> </a:t>
            </a:r>
            <a:r>
              <a:rPr lang="en-US" sz="3000" dirty="0" err="1"/>
              <a:t>diperoleh</a:t>
            </a:r>
            <a:r>
              <a:rPr lang="en-US" sz="3000" dirty="0"/>
              <a:t> </a:t>
            </a:r>
            <a:r>
              <a:rPr lang="en-US" sz="3000" dirty="0" err="1"/>
              <a:t>hasil</a:t>
            </a:r>
            <a:r>
              <a:rPr lang="en-US" sz="3000" dirty="0"/>
              <a:t>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>
                <a:effectLst/>
              </a:rPr>
              <a:t>Contoh</a:t>
            </a:r>
            <a:r>
              <a:rPr lang="en-US" dirty="0">
                <a:effectLst/>
              </a:rPr>
              <a:t> Class Type-Casting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19204</TotalTime>
  <Words>2280</Words>
  <Application>Microsoft Office PowerPoint</Application>
  <PresentationFormat>On-screen Show (4:3)</PresentationFormat>
  <Paragraphs>447</Paragraphs>
  <Slides>33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Lucida Sans Unicode</vt:lpstr>
      <vt:lpstr>Tahoma</vt:lpstr>
      <vt:lpstr>Times New Roman</vt:lpstr>
      <vt:lpstr>Verdana</vt:lpstr>
      <vt:lpstr>Wingdings 2</vt:lpstr>
      <vt:lpstr>Wingdings 3</vt:lpstr>
      <vt:lpstr>Concourse</vt:lpstr>
      <vt:lpstr>Mengenal Dasar-dasar OOP menggunakan  Java Programming</vt:lpstr>
      <vt:lpstr>PowerPoint Presentation</vt:lpstr>
      <vt:lpstr>Pengalaman</vt:lpstr>
      <vt:lpstr>Penilaian</vt:lpstr>
      <vt:lpstr>Pustaka</vt:lpstr>
      <vt:lpstr>Java vs Phyton</vt:lpstr>
      <vt:lpstr>Java kuat di Sistem, Phyton kuat di Library</vt:lpstr>
      <vt:lpstr>Kenapa Arsitektur Gabungan tsb Ideal?</vt:lpstr>
      <vt:lpstr>Contoh Java Code</vt:lpstr>
      <vt:lpstr>Materi tiap pertemuan</vt:lpstr>
      <vt:lpstr>Tiga Teknologi Edisi Java</vt:lpstr>
      <vt:lpstr>Instalasi nya apa saja ya?</vt:lpstr>
      <vt:lpstr>IDE itu apa toh?</vt:lpstr>
      <vt:lpstr>Tips and Trik (1)</vt:lpstr>
      <vt:lpstr>Tips and Trik (2)</vt:lpstr>
      <vt:lpstr>Token?</vt:lpstr>
      <vt:lpstr>Karakter</vt:lpstr>
      <vt:lpstr>Identifier</vt:lpstr>
      <vt:lpstr>Konstanta</vt:lpstr>
      <vt:lpstr>Keyword</vt:lpstr>
      <vt:lpstr>Contoh Keyword</vt:lpstr>
      <vt:lpstr>Literal dan Tipe Data</vt:lpstr>
      <vt:lpstr>Contoh jangkauan dan ukuran tipe data nya</vt:lpstr>
      <vt:lpstr>Operator</vt:lpstr>
      <vt:lpstr>Contoh Operator dan Prioritas-nya</vt:lpstr>
      <vt:lpstr>Contoh Operator dan Prioritas-nya</vt:lpstr>
      <vt:lpstr>Separator</vt:lpstr>
      <vt:lpstr>Contoh Separator</vt:lpstr>
      <vt:lpstr>Keterangan dan Komentar</vt:lpstr>
      <vt:lpstr>Tipe Data Referensi</vt:lpstr>
      <vt:lpstr>Autoboxing/Unboxing</vt:lpstr>
      <vt:lpstr>Type-Casting</vt:lpstr>
      <vt:lpstr>Contoh Class Type-Casting</vt:lpstr>
    </vt:vector>
  </TitlesOfParts>
  <Company>Columbia University Computer Science Department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Models</dc:title>
  <dc:creator>Valued Sony Customer</dc:creator>
  <cp:lastModifiedBy>Lenovo L340</cp:lastModifiedBy>
  <cp:revision>197</cp:revision>
  <dcterms:created xsi:type="dcterms:W3CDTF">2001-04-26T04:38:43Z</dcterms:created>
  <dcterms:modified xsi:type="dcterms:W3CDTF">2026-02-19T04:34:55Z</dcterms:modified>
</cp:coreProperties>
</file>