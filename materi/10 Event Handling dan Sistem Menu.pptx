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37" r:id="rId2"/>
    <p:sldId id="438" r:id="rId3"/>
    <p:sldId id="439" r:id="rId4"/>
    <p:sldId id="483" r:id="rId5"/>
    <p:sldId id="440" r:id="rId6"/>
    <p:sldId id="446" r:id="rId7"/>
    <p:sldId id="449" r:id="rId8"/>
    <p:sldId id="450" r:id="rId9"/>
    <p:sldId id="451" r:id="rId10"/>
    <p:sldId id="457" r:id="rId11"/>
    <p:sldId id="458" r:id="rId12"/>
    <p:sldId id="441" r:id="rId13"/>
    <p:sldId id="443" r:id="rId14"/>
    <p:sldId id="445" r:id="rId15"/>
    <p:sldId id="463" r:id="rId16"/>
    <p:sldId id="474" r:id="rId17"/>
    <p:sldId id="473" r:id="rId18"/>
    <p:sldId id="472" r:id="rId19"/>
    <p:sldId id="471" r:id="rId20"/>
    <p:sldId id="470" r:id="rId21"/>
    <p:sldId id="469" r:id="rId22"/>
    <p:sldId id="484" r:id="rId23"/>
    <p:sldId id="485" r:id="rId24"/>
    <p:sldId id="486" r:id="rId25"/>
    <p:sldId id="487" r:id="rId26"/>
    <p:sldId id="488" r:id="rId27"/>
    <p:sldId id="489" r:id="rId28"/>
    <p:sldId id="490" r:id="rId29"/>
    <p:sldId id="498" r:id="rId30"/>
    <p:sldId id="499" r:id="rId31"/>
    <p:sldId id="500" r:id="rId32"/>
    <p:sldId id="501" r:id="rId33"/>
    <p:sldId id="502" r:id="rId34"/>
    <p:sldId id="503" r:id="rId35"/>
    <p:sldId id="476" r:id="rId36"/>
    <p:sldId id="477" r:id="rId37"/>
    <p:sldId id="478" r:id="rId38"/>
    <p:sldId id="479" r:id="rId39"/>
    <p:sldId id="480" r:id="rId40"/>
    <p:sldId id="442" r:id="rId41"/>
    <p:sldId id="444" r:id="rId42"/>
    <p:sldId id="481" r:id="rId43"/>
    <p:sldId id="491" r:id="rId44"/>
    <p:sldId id="492" r:id="rId45"/>
    <p:sldId id="493" r:id="rId46"/>
    <p:sldId id="494" r:id="rId47"/>
    <p:sldId id="495" r:id="rId48"/>
    <p:sldId id="496" r:id="rId49"/>
    <p:sldId id="497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178B7-519B-496F-9B8C-F055CA07F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FECAB3-6C86-45C6-9B56-E78F8ADF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B518-BCAD-4B2B-9164-39668810C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275B-C29E-401F-9D19-7F8B0F0E0430}" type="datetimeFigureOut">
              <a:rPr lang="en-ID" smtClean="0"/>
              <a:t>02/06/2025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AC8E1-C805-42F5-ABBF-0DBD4BF89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AE523-9FC7-4150-B482-22495D81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AAFAA-5F37-494F-9F40-DB45A9CD84F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978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6B22-21B4-4850-9889-BA056BA99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98F4-12C3-4880-8F65-DFAF49A0E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97724-4DCE-4119-8173-FA5C4711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275B-C29E-401F-9D19-7F8B0F0E0430}" type="datetimeFigureOut">
              <a:rPr lang="en-ID" smtClean="0"/>
              <a:t>02/06/2025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DD942-02D8-4149-8353-8F01DE43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21A7A-A13A-4856-88C3-B927BD4A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AAFAA-5F37-494F-9F40-DB45A9CD84F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2674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910B6-659E-4C93-8425-251155264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49DEF-A9F7-4282-A7B8-95ED04A4E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5FF7C-794C-4F1C-BB72-3EDD106C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275B-C29E-401F-9D19-7F8B0F0E0430}" type="datetimeFigureOut">
              <a:rPr lang="en-ID" smtClean="0"/>
              <a:t>02/06/2025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ECD3A-4502-4DEF-B280-E3A263EE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9DBB1-7904-4FDE-8C02-1C02EB549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AAFAA-5F37-494F-9F40-DB45A9CD84F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627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D6398-90C7-4A35-BA2E-B5F730D7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82F10-93F8-41A3-9F88-79C8CBD4A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B94787-F044-4832-9D37-199C299B6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B95CA-4A4A-4B0D-B9DB-C4962BA3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275B-C29E-401F-9D19-7F8B0F0E0430}" type="datetimeFigureOut">
              <a:rPr lang="en-ID" smtClean="0"/>
              <a:t>02/06/2025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04D69-A547-4092-80C4-96C5021CF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8A108-5337-42D5-8218-31EBA2D4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AAFAA-5F37-494F-9F40-DB45A9CD84F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171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8367F-6F9B-4D9D-9F2B-13D673A6D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7CCEC-61B9-4EF2-87F2-CB799C202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19C3E-385C-452A-976C-058952716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0C969B-5881-4F66-A21B-958B417E6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93CFFD-E2EC-4972-8BF5-C47CCCC0C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AB07FD-6D82-4B4C-BA22-693403CB7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275B-C29E-401F-9D19-7F8B0F0E0430}" type="datetimeFigureOut">
              <a:rPr lang="en-ID" smtClean="0"/>
              <a:t>02/06/2025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00B9C1-3E05-482B-B797-6057CCEE1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287496-C910-4FE1-A152-C181A6D23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AAFAA-5F37-494F-9F40-DB45A9CD84F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886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6D16B-6232-414E-8B02-DB0161F22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19C892-8063-449C-8D3A-95EAD8FCB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275B-C29E-401F-9D19-7F8B0F0E0430}" type="datetimeFigureOut">
              <a:rPr lang="en-ID" smtClean="0"/>
              <a:t>02/06/2025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DA368-7639-4395-9012-B503C2CDA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0F9F3-3214-4C45-89D4-3A60C30B2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AAFAA-5F37-494F-9F40-DB45A9CD84F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5186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DB142F-5130-4C1A-B120-76B52535D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275B-C29E-401F-9D19-7F8B0F0E0430}" type="datetimeFigureOut">
              <a:rPr lang="en-ID" smtClean="0"/>
              <a:t>02/06/2025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051A42-8D29-41DD-8413-7A0DD11B4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7D9CA-99CB-4A8B-8E6B-DC382578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AAFAA-5F37-494F-9F40-DB45A9CD84F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7802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BA7C-ED69-4BCB-B7DC-2DAA1A05C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F46A9-F3B5-4DBE-8572-3535A596A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3B7A23-BC83-4CDA-BFEC-67A0D7E6B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2C756-0EA6-4016-A96D-E25EB39C7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275B-C29E-401F-9D19-7F8B0F0E0430}" type="datetimeFigureOut">
              <a:rPr lang="en-ID" smtClean="0"/>
              <a:t>02/06/2025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387DA-B688-4BCB-A389-8DE641C85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7080B-6345-420B-B15D-2EED83B9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AAFAA-5F37-494F-9F40-DB45A9CD84F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035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B5C52-23D8-4312-BD23-E8B367882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3DB2DD-1312-4F7C-9C33-6CD2BBD14E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19A12-EF8B-44DE-ABAE-975773284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C3906-4A04-4E35-B9C9-423084718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275B-C29E-401F-9D19-7F8B0F0E0430}" type="datetimeFigureOut">
              <a:rPr lang="en-ID" smtClean="0"/>
              <a:t>02/06/2025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2DA5B-9F62-4DBB-B080-24110502C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8A657-CAF2-41A9-AA78-2D23735B3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AAFAA-5F37-494F-9F40-DB45A9CD84F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136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D8BE0-E8FF-4C9E-BA84-2657AFE8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F15B9-BA8D-4DC9-BA41-99C238C62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25EF-BB81-40ED-8568-39E4A9EE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275B-C29E-401F-9D19-7F8B0F0E0430}" type="datetimeFigureOut">
              <a:rPr lang="en-ID" smtClean="0"/>
              <a:t>02/06/2025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73010-F908-401C-BE72-F528F0E2C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F17F1-A26B-4EA8-8C0C-D7F0E58E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AAFAA-5F37-494F-9F40-DB45A9CD84F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9589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03D25C-38F0-4C96-A88F-302578C4C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B6EF6-B8CC-48A9-95F9-D3D537C73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D197E-00F7-4A4E-9EB6-FE7CDB3F1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275B-C29E-401F-9D19-7F8B0F0E0430}" type="datetimeFigureOut">
              <a:rPr lang="en-ID" smtClean="0"/>
              <a:t>02/06/2025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3D496-A2E3-43DC-8ECB-5C284BFE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C66AE-837D-486F-81C5-6FD1A651C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AAFAA-5F37-494F-9F40-DB45A9CD84F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703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69D1A1-6124-4C39-BDEE-389818B4F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9AE27-2527-43F2-87CD-C70F29CFA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3F264-7668-4E4D-90FA-00E11519E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D275B-C29E-401F-9D19-7F8B0F0E0430}" type="datetimeFigureOut">
              <a:rPr lang="en-ID" smtClean="0"/>
              <a:t>02/06/2025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08794-F598-4DBA-8A29-187BFB357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73990-B86E-4160-8A06-9880F3C4E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AAFAA-5F37-494F-9F40-DB45A9CD84F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7261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0327" y="1226126"/>
            <a:ext cx="11319164" cy="51302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600" b="1" dirty="0"/>
              <a:t>1. Class standard </a:t>
            </a:r>
            <a:r>
              <a:rPr lang="en-US" sz="2600" b="1" dirty="0" err="1"/>
              <a:t>untuk</a:t>
            </a:r>
            <a:r>
              <a:rPr lang="en-US" sz="2600" b="1" dirty="0"/>
              <a:t> Event</a:t>
            </a:r>
            <a:endParaRPr lang="en-US" sz="2600" b="1" i="1" dirty="0"/>
          </a:p>
          <a:p>
            <a:endParaRPr lang="en-US" sz="1000" b="1" i="1" dirty="0"/>
          </a:p>
          <a:p>
            <a:pPr>
              <a:buNone/>
            </a:pPr>
            <a:r>
              <a:rPr lang="en-US" sz="2400" b="1" dirty="0"/>
              <a:t>2. </a:t>
            </a:r>
            <a:r>
              <a:rPr lang="en-US" sz="2400" b="1" dirty="0" err="1"/>
              <a:t>Deskripsi</a:t>
            </a:r>
            <a:r>
              <a:rPr lang="en-US" sz="2400" b="1" dirty="0"/>
              <a:t> Method Handler 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2400" b="1" dirty="0"/>
              <a:t>3. Class Event, Interface Listener, dan Method Handler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2600" b="1" dirty="0"/>
              <a:t>4. </a:t>
            </a:r>
            <a:r>
              <a:rPr lang="en-US" sz="2600" b="1" dirty="0" err="1"/>
              <a:t>Contoh-contoh</a:t>
            </a:r>
            <a:r>
              <a:rPr lang="en-US" sz="2600" b="1" dirty="0"/>
              <a:t> </a:t>
            </a:r>
            <a:r>
              <a:rPr lang="en-US" sz="2600" b="1" dirty="0" err="1"/>
              <a:t>Penggunaan</a:t>
            </a:r>
            <a:r>
              <a:rPr lang="en-US" sz="2600" b="1" dirty="0"/>
              <a:t> Event Listener dan Event Handler </a:t>
            </a:r>
          </a:p>
          <a:p>
            <a:pPr>
              <a:buNone/>
            </a:pPr>
            <a:r>
              <a:rPr lang="en-US" sz="2600" b="1" dirty="0"/>
              <a:t>    (</a:t>
            </a:r>
            <a:r>
              <a:rPr lang="en-US" sz="2600" b="1" dirty="0" err="1"/>
              <a:t>berada</a:t>
            </a:r>
            <a:r>
              <a:rPr lang="en-US" sz="2600" b="1" dirty="0"/>
              <a:t> di project </a:t>
            </a:r>
            <a:r>
              <a:rPr lang="en-US" sz="2600" b="1" dirty="0" err="1">
                <a:solidFill>
                  <a:srgbClr val="FF0000"/>
                </a:solidFill>
              </a:rPr>
              <a:t>pEventHandling</a:t>
            </a:r>
            <a:r>
              <a:rPr lang="en-US" sz="2600" b="1" dirty="0"/>
              <a:t>).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2600" b="1" dirty="0"/>
              <a:t>5. Level Menu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2600" b="1" dirty="0"/>
              <a:t>6. Event Handling pada Menu</a:t>
            </a:r>
          </a:p>
          <a:p>
            <a:pPr>
              <a:buNone/>
            </a:pPr>
            <a:endParaRPr lang="en-US" sz="2600" b="1" dirty="0"/>
          </a:p>
          <a:p>
            <a:pPr>
              <a:buNone/>
            </a:pPr>
            <a:endParaRPr lang="en-US" sz="2600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>
            <a:normAutofit/>
          </a:bodyPr>
          <a:lstStyle/>
          <a:p>
            <a:pPr algn="ctr"/>
            <a:r>
              <a:rPr lang="en-US" sz="3400" dirty="0"/>
              <a:t>Event Handling dan </a:t>
            </a:r>
            <a:r>
              <a:rPr lang="en-US" sz="3400" dirty="0" err="1"/>
              <a:t>Sistem</a:t>
            </a:r>
            <a:r>
              <a:rPr lang="en-US" sz="3400" dirty="0"/>
              <a:t> Menu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0617" y="1143000"/>
            <a:ext cx="11301274" cy="5257800"/>
          </a:xfrm>
        </p:spPr>
        <p:txBody>
          <a:bodyPr>
            <a:normAutofit/>
          </a:bodyPr>
          <a:lstStyle/>
          <a:p>
            <a:r>
              <a:rPr lang="en-US" sz="3000" b="1" i="1" dirty="0">
                <a:solidFill>
                  <a:srgbClr val="FF0000"/>
                </a:solidFill>
              </a:rPr>
              <a:t>Event</a:t>
            </a:r>
            <a:r>
              <a:rPr lang="en-US" sz="3000" dirty="0">
                <a:solidFill>
                  <a:srgbClr val="FF0000"/>
                </a:solidFill>
              </a:rPr>
              <a:t>  </a:t>
            </a:r>
            <a:r>
              <a:rPr lang="en-US" sz="3000" dirty="0" err="1"/>
              <a:t>adalah</a:t>
            </a:r>
            <a:r>
              <a:rPr lang="en-US" sz="3000" dirty="0"/>
              <a:t> </a:t>
            </a:r>
            <a:r>
              <a:rPr lang="en-US" sz="3000" dirty="0" err="1"/>
              <a:t>aksi</a:t>
            </a:r>
            <a:r>
              <a:rPr lang="en-US" sz="3000" dirty="0"/>
              <a:t> yang </a:t>
            </a:r>
            <a:r>
              <a:rPr lang="en-US" sz="3000" dirty="0" err="1"/>
              <a:t>dilakukan</a:t>
            </a:r>
            <a:r>
              <a:rPr lang="en-US" sz="3000" dirty="0"/>
              <a:t> user </a:t>
            </a:r>
            <a:r>
              <a:rPr lang="en-US" sz="3000" dirty="0" err="1"/>
              <a:t>terhadap</a:t>
            </a:r>
            <a:r>
              <a:rPr lang="en-US" sz="3000" dirty="0"/>
              <a:t> </a:t>
            </a:r>
            <a:r>
              <a:rPr lang="en-US" sz="3000" dirty="0" err="1"/>
              <a:t>suatu</a:t>
            </a:r>
            <a:r>
              <a:rPr lang="en-US" sz="3000" dirty="0"/>
              <a:t> </a:t>
            </a:r>
            <a:r>
              <a:rPr lang="en-US" sz="3000" dirty="0" err="1"/>
              <a:t>komponen</a:t>
            </a:r>
            <a:r>
              <a:rPr lang="en-US" sz="3000" dirty="0"/>
              <a:t> GUI.</a:t>
            </a:r>
          </a:p>
          <a:p>
            <a:r>
              <a:rPr lang="en-US" sz="3000" dirty="0"/>
              <a:t> </a:t>
            </a:r>
          </a:p>
          <a:p>
            <a:r>
              <a:rPr lang="en-US" sz="3000" dirty="0" err="1"/>
              <a:t>Setiap</a:t>
            </a:r>
            <a:r>
              <a:rPr lang="en-US" sz="3000" dirty="0"/>
              <a:t> </a:t>
            </a:r>
            <a:r>
              <a:rPr lang="en-US" sz="3000" dirty="0" err="1"/>
              <a:t>komponen</a:t>
            </a:r>
            <a:r>
              <a:rPr lang="en-US" sz="3000" dirty="0"/>
              <a:t> </a:t>
            </a:r>
            <a:r>
              <a:rPr lang="en-US" sz="3000" dirty="0" err="1"/>
              <a:t>harus</a:t>
            </a:r>
            <a:r>
              <a:rPr lang="en-US" sz="3000" dirty="0"/>
              <a:t> </a:t>
            </a:r>
            <a:r>
              <a:rPr lang="en-US" sz="3000" dirty="0" err="1"/>
              <a:t>diberi</a:t>
            </a:r>
            <a:r>
              <a:rPr lang="en-US" sz="3000" dirty="0"/>
              <a:t> </a:t>
            </a:r>
            <a:r>
              <a:rPr lang="en-US" sz="3000" dirty="0" err="1"/>
              <a:t>identitas</a:t>
            </a:r>
            <a:r>
              <a:rPr lang="en-US" sz="3000" dirty="0"/>
              <a:t> dan </a:t>
            </a:r>
            <a:r>
              <a:rPr lang="en-US" sz="3000" dirty="0" err="1"/>
              <a:t>dipasang</a:t>
            </a:r>
            <a:r>
              <a:rPr lang="en-US" sz="3000" dirty="0"/>
              <a:t> </a:t>
            </a:r>
            <a:r>
              <a:rPr lang="en-US" sz="3000" b="1" i="1" dirty="0">
                <a:solidFill>
                  <a:srgbClr val="FF0000"/>
                </a:solidFill>
              </a:rPr>
              <a:t>event listener</a:t>
            </a:r>
            <a:r>
              <a:rPr lang="en-US" sz="3000" dirty="0"/>
              <a:t>  </a:t>
            </a:r>
            <a:r>
              <a:rPr lang="en-US" sz="3000" dirty="0" err="1"/>
              <a:t>berupa</a:t>
            </a:r>
            <a:r>
              <a:rPr lang="en-US" sz="3000" dirty="0"/>
              <a:t> </a:t>
            </a:r>
            <a:r>
              <a:rPr lang="en-US" sz="3000" b="1" i="1" dirty="0">
                <a:solidFill>
                  <a:srgbClr val="FF0000"/>
                </a:solidFill>
              </a:rPr>
              <a:t>class  </a:t>
            </a:r>
            <a:r>
              <a:rPr lang="en-US" sz="3000" b="1" i="1" dirty="0" err="1">
                <a:solidFill>
                  <a:srgbClr val="FF0000"/>
                </a:solidFill>
              </a:rPr>
              <a:t>eventlistener</a:t>
            </a:r>
            <a:r>
              <a:rPr lang="en-US" sz="3000" b="1" i="1" dirty="0"/>
              <a:t>  </a:t>
            </a:r>
            <a:r>
              <a:rPr lang="en-US" sz="3000" dirty="0"/>
              <a:t>yang </a:t>
            </a:r>
            <a:r>
              <a:rPr lang="en-US" sz="3000" dirty="0" err="1"/>
              <a:t>diturunkan</a:t>
            </a:r>
            <a:r>
              <a:rPr lang="en-US" sz="3000" dirty="0"/>
              <a:t>/</a:t>
            </a:r>
            <a:r>
              <a:rPr lang="en-US" sz="3000" dirty="0" err="1"/>
              <a:t>diimplementasikan</a:t>
            </a:r>
            <a:r>
              <a:rPr lang="en-US" sz="3000" dirty="0"/>
              <a:t> </a:t>
            </a:r>
            <a:r>
              <a:rPr lang="en-US" sz="3000" dirty="0" err="1"/>
              <a:t>dari</a:t>
            </a:r>
            <a:r>
              <a:rPr lang="en-US" sz="3000" dirty="0"/>
              <a:t> class/interface standard </a:t>
            </a:r>
            <a:r>
              <a:rPr lang="en-US" sz="3000" dirty="0" err="1"/>
              <a:t>untuk</a:t>
            </a:r>
            <a:r>
              <a:rPr lang="en-US" sz="3000" dirty="0"/>
              <a:t> </a:t>
            </a:r>
            <a:r>
              <a:rPr lang="en-US" sz="3000" u="sng" dirty="0" err="1">
                <a:solidFill>
                  <a:srgbClr val="FF0000"/>
                </a:solidFill>
              </a:rPr>
              <a:t>mengenal</a:t>
            </a:r>
            <a:r>
              <a:rPr lang="en-US" sz="3000" dirty="0"/>
              <a:t> </a:t>
            </a:r>
            <a:r>
              <a:rPr lang="en-US" sz="3000" i="1" dirty="0"/>
              <a:t>event/</a:t>
            </a:r>
            <a:r>
              <a:rPr lang="en-US" sz="3000" i="1" dirty="0" err="1"/>
              <a:t>aksi</a:t>
            </a:r>
            <a:r>
              <a:rPr lang="en-US" sz="3000" dirty="0"/>
              <a:t>, </a:t>
            </a:r>
            <a:r>
              <a:rPr lang="en-US" sz="3000" dirty="0" err="1"/>
              <a:t>tujuannya</a:t>
            </a:r>
            <a:r>
              <a:rPr lang="en-US" sz="3000" dirty="0"/>
              <a:t> agar </a:t>
            </a:r>
            <a:r>
              <a:rPr lang="en-US" sz="3000" dirty="0" err="1"/>
              <a:t>komponen</a:t>
            </a:r>
            <a:r>
              <a:rPr lang="en-US" sz="3000" dirty="0"/>
              <a:t> </a:t>
            </a:r>
            <a:r>
              <a:rPr lang="en-US" sz="3000" dirty="0" err="1"/>
              <a:t>mampu</a:t>
            </a:r>
            <a:r>
              <a:rPr lang="en-US" sz="3000" dirty="0"/>
              <a:t> </a:t>
            </a:r>
            <a:r>
              <a:rPr lang="en-US" sz="3000" b="1" i="1" dirty="0" err="1">
                <a:solidFill>
                  <a:srgbClr val="FF0000"/>
                </a:solidFill>
              </a:rPr>
              <a:t>mengenal</a:t>
            </a:r>
            <a:r>
              <a:rPr lang="en-US" sz="3000" b="1" i="1" dirty="0">
                <a:solidFill>
                  <a:srgbClr val="FF0000"/>
                </a:solidFill>
              </a:rPr>
              <a:t> </a:t>
            </a:r>
            <a:r>
              <a:rPr lang="en-US" sz="3000" b="1" i="1" dirty="0" err="1">
                <a:solidFill>
                  <a:srgbClr val="FF0000"/>
                </a:solidFill>
              </a:rPr>
              <a:t>jenis</a:t>
            </a:r>
            <a:r>
              <a:rPr lang="en-US" sz="3000" dirty="0"/>
              <a:t> </a:t>
            </a:r>
            <a:r>
              <a:rPr lang="en-US" sz="3000" dirty="0" err="1"/>
              <a:t>suatu</a:t>
            </a:r>
            <a:r>
              <a:rPr lang="en-US" sz="3000" dirty="0"/>
              <a:t> </a:t>
            </a:r>
            <a:r>
              <a:rPr lang="en-US" sz="3000" b="1" i="1" dirty="0" err="1">
                <a:solidFill>
                  <a:srgbClr val="FF0000"/>
                </a:solidFill>
              </a:rPr>
              <a:t>aksi</a:t>
            </a:r>
            <a:r>
              <a:rPr lang="en-US" sz="3000" dirty="0"/>
              <a:t>. </a:t>
            </a:r>
          </a:p>
          <a:p>
            <a:endParaRPr lang="en-US" sz="3000" dirty="0"/>
          </a:p>
          <a:p>
            <a:r>
              <a:rPr lang="en-US" sz="3000" dirty="0" err="1"/>
              <a:t>Selanjutnya</a:t>
            </a:r>
            <a:r>
              <a:rPr lang="en-US" sz="3000" dirty="0"/>
              <a:t> </a:t>
            </a:r>
            <a:r>
              <a:rPr lang="en-US" sz="3000" b="1" i="1" dirty="0"/>
              <a:t>class </a:t>
            </a:r>
            <a:r>
              <a:rPr lang="en-US" sz="3000" b="1" i="1" dirty="0" err="1"/>
              <a:t>eventlistener</a:t>
            </a:r>
            <a:r>
              <a:rPr lang="en-US" sz="3000" dirty="0"/>
              <a:t>  </a:t>
            </a:r>
            <a:r>
              <a:rPr lang="en-US" sz="3000" dirty="0" err="1"/>
              <a:t>tersebut</a:t>
            </a:r>
            <a:r>
              <a:rPr lang="en-US" sz="3000" dirty="0"/>
              <a:t> </a:t>
            </a:r>
            <a:r>
              <a:rPr lang="en-US" sz="3000" dirty="0" err="1"/>
              <a:t>perlu</a:t>
            </a:r>
            <a:r>
              <a:rPr lang="en-US" sz="3000" dirty="0"/>
              <a:t> </a:t>
            </a:r>
            <a:r>
              <a:rPr lang="en-US" sz="3000" dirty="0" err="1"/>
              <a:t>diisi</a:t>
            </a:r>
            <a:r>
              <a:rPr lang="en-US" sz="3000" dirty="0"/>
              <a:t> </a:t>
            </a:r>
            <a:r>
              <a:rPr lang="en-US" sz="3000" b="1" i="1" dirty="0">
                <a:solidFill>
                  <a:srgbClr val="FF0000"/>
                </a:solidFill>
              </a:rPr>
              <a:t>event handler</a:t>
            </a:r>
            <a:r>
              <a:rPr lang="en-US" sz="3000" dirty="0"/>
              <a:t> </a:t>
            </a:r>
            <a:r>
              <a:rPr lang="en-US" sz="3000" dirty="0" err="1"/>
              <a:t>berupa</a:t>
            </a:r>
            <a:r>
              <a:rPr lang="en-US" sz="3000" dirty="0"/>
              <a:t> </a:t>
            </a:r>
            <a:r>
              <a:rPr lang="en-US" sz="3000" b="1" dirty="0">
                <a:solidFill>
                  <a:srgbClr val="0070C0"/>
                </a:solidFill>
              </a:rPr>
              <a:t>method()</a:t>
            </a:r>
            <a:r>
              <a:rPr lang="en-US" sz="3000" dirty="0">
                <a:solidFill>
                  <a:srgbClr val="0070C0"/>
                </a:solidFill>
              </a:rPr>
              <a:t> standard</a:t>
            </a:r>
            <a:r>
              <a:rPr lang="en-US" sz="3000" dirty="0"/>
              <a:t> yang </a:t>
            </a:r>
            <a:r>
              <a:rPr lang="en-US" sz="3000" dirty="0" err="1"/>
              <a:t>melakukan</a:t>
            </a:r>
            <a:r>
              <a:rPr lang="en-US" sz="3000" dirty="0"/>
              <a:t> </a:t>
            </a:r>
            <a:r>
              <a:rPr lang="en-US" sz="3000" b="1" i="1" dirty="0" err="1">
                <a:solidFill>
                  <a:srgbClr val="0070C0"/>
                </a:solidFill>
              </a:rPr>
              <a:t>reaksi</a:t>
            </a:r>
            <a:r>
              <a:rPr lang="en-US" sz="3000" dirty="0"/>
              <a:t> </a:t>
            </a:r>
            <a:r>
              <a:rPr lang="en-US" sz="3000" dirty="0" err="1"/>
              <a:t>bila</a:t>
            </a:r>
            <a:r>
              <a:rPr lang="en-US" sz="3000" dirty="0"/>
              <a:t> </a:t>
            </a:r>
            <a:r>
              <a:rPr lang="en-US" sz="3000" dirty="0" err="1"/>
              <a:t>ada</a:t>
            </a:r>
            <a:r>
              <a:rPr lang="en-US" sz="3000" dirty="0"/>
              <a:t> </a:t>
            </a:r>
            <a:r>
              <a:rPr lang="en-US" sz="3000" i="1" dirty="0"/>
              <a:t>user</a:t>
            </a:r>
            <a:r>
              <a:rPr lang="en-US" sz="3000" dirty="0"/>
              <a:t> yang </a:t>
            </a:r>
            <a:r>
              <a:rPr lang="en-US" sz="3000" dirty="0" err="1"/>
              <a:t>melakukan</a:t>
            </a:r>
            <a:r>
              <a:rPr lang="en-US" sz="3000" dirty="0"/>
              <a:t> </a:t>
            </a:r>
            <a:r>
              <a:rPr lang="en-US" sz="3000" b="1" i="1" dirty="0" err="1"/>
              <a:t>aksi</a:t>
            </a:r>
            <a:r>
              <a:rPr lang="en-US" sz="3000" dirty="0"/>
              <a:t>  </a:t>
            </a:r>
            <a:r>
              <a:rPr lang="en-US" sz="3000" dirty="0" err="1"/>
              <a:t>terhadap</a:t>
            </a:r>
            <a:r>
              <a:rPr lang="en-US" sz="3000" dirty="0"/>
              <a:t> </a:t>
            </a:r>
            <a:r>
              <a:rPr lang="en-US" sz="3000" dirty="0" err="1"/>
              <a:t>suatu</a:t>
            </a:r>
            <a:r>
              <a:rPr lang="en-US" sz="3000" dirty="0"/>
              <a:t> </a:t>
            </a:r>
            <a:r>
              <a:rPr lang="en-US" sz="3000" dirty="0" err="1"/>
              <a:t>komponen</a:t>
            </a:r>
            <a:r>
              <a:rPr lang="en-US" sz="3000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Cara </a:t>
            </a:r>
            <a:r>
              <a:rPr lang="en-US" sz="2800" dirty="0" err="1"/>
              <a:t>menangani</a:t>
            </a:r>
            <a:r>
              <a:rPr lang="en-US" sz="2800" dirty="0"/>
              <a:t> event listener </a:t>
            </a:r>
            <a:r>
              <a:rPr lang="en-US" sz="2800" dirty="0" err="1"/>
              <a:t>pada</a:t>
            </a:r>
            <a:r>
              <a:rPr lang="en-US" sz="2800" dirty="0"/>
              <a:t> </a:t>
            </a:r>
            <a:r>
              <a:rPr lang="en-US" sz="2800" dirty="0" err="1"/>
              <a:t>komponen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1" y="1074199"/>
            <a:ext cx="12348839" cy="493309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Ada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membangun</a:t>
            </a:r>
            <a:r>
              <a:rPr lang="en-US" dirty="0"/>
              <a:t> class </a:t>
            </a:r>
            <a:r>
              <a:rPr lang="en-US" dirty="0" err="1"/>
              <a:t>EventListener</a:t>
            </a:r>
            <a:r>
              <a:rPr lang="en-US" dirty="0"/>
              <a:t>:</a:t>
            </a:r>
          </a:p>
          <a:p>
            <a:pPr lvl="0"/>
            <a:r>
              <a:rPr lang="en-US" dirty="0"/>
              <a:t>1. Event </a:t>
            </a:r>
            <a:r>
              <a:rPr lang="en-US" dirty="0" err="1"/>
              <a:t>dihandle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oleh Class yg </a:t>
            </a:r>
            <a:r>
              <a:rPr lang="en-US" dirty="0" err="1"/>
              <a:t>dibuat</a:t>
            </a:r>
            <a:r>
              <a:rPr lang="en-US" dirty="0"/>
              <a:t> pada </a:t>
            </a:r>
            <a:r>
              <a:rPr lang="en-US" dirty="0" err="1"/>
              <a:t>langkah</a:t>
            </a:r>
            <a:r>
              <a:rPr lang="en-US" dirty="0"/>
              <a:t> 1 (class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frame).</a:t>
            </a:r>
          </a:p>
          <a:p>
            <a:pPr lvl="0"/>
            <a:r>
              <a:rPr lang="en-US" dirty="0"/>
              <a:t>  </a:t>
            </a:r>
          </a:p>
          <a:p>
            <a:pPr lvl="0"/>
            <a:r>
              <a:rPr lang="en-US" dirty="0"/>
              <a:t>2. Event </a:t>
            </a:r>
            <a:r>
              <a:rPr lang="en-US" dirty="0" err="1"/>
              <a:t>dihandle</a:t>
            </a:r>
            <a:r>
              <a:rPr lang="en-US" dirty="0"/>
              <a:t> oleh class yg </a:t>
            </a:r>
            <a:r>
              <a:rPr lang="en-US" dirty="0" err="1"/>
              <a:t>baru</a:t>
            </a:r>
            <a:r>
              <a:rPr lang="en-US" dirty="0"/>
              <a:t> (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InnerClass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i="1" dirty="0" err="1"/>
              <a:t>Caption</a:t>
            </a:r>
            <a:r>
              <a:rPr lang="en-US" dirty="0" err="1"/>
              <a:t>Listener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    </a:t>
            </a:r>
            <a:r>
              <a:rPr lang="en-US" dirty="0" err="1"/>
              <a:t>untuk</a:t>
            </a:r>
            <a:r>
              <a:rPr lang="en-US" dirty="0"/>
              <a:t> masing-masing </a:t>
            </a:r>
            <a:r>
              <a:rPr lang="en-US" dirty="0" err="1"/>
              <a:t>komponen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wajib</a:t>
            </a:r>
            <a:r>
              <a:rPr lang="en-US" dirty="0"/>
              <a:t> extends/implements </a:t>
            </a:r>
            <a:r>
              <a:rPr lang="en-US" dirty="0" err="1"/>
              <a:t>ke</a:t>
            </a:r>
            <a:r>
              <a:rPr lang="en-US" dirty="0"/>
              <a:t> Interface</a:t>
            </a:r>
          </a:p>
          <a:p>
            <a:pPr lvl="0"/>
            <a:r>
              <a:rPr lang="en-US" dirty="0"/>
              <a:t>    /Class standard </a:t>
            </a:r>
            <a:r>
              <a:rPr lang="en-US" dirty="0" err="1"/>
              <a:t>untuk</a:t>
            </a:r>
            <a:r>
              <a:rPr lang="en-US" dirty="0"/>
              <a:t> listener </a:t>
            </a:r>
            <a:r>
              <a:rPr lang="en-US" dirty="0" err="1"/>
              <a:t>tertentu</a:t>
            </a:r>
            <a:r>
              <a:rPr lang="en-US" dirty="0"/>
              <a:t>.</a:t>
            </a:r>
          </a:p>
          <a:p>
            <a:r>
              <a:rPr lang="en-US" dirty="0"/>
              <a:t>    </a:t>
            </a:r>
            <a:r>
              <a:rPr lang="en-US" i="1" dirty="0"/>
              <a:t>Caption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yang </a:t>
            </a:r>
            <a:r>
              <a:rPr lang="en-US" dirty="0" err="1"/>
              <a:t>berisi</a:t>
            </a:r>
            <a:r>
              <a:rPr lang="en-US" dirty="0"/>
              <a:t> caption </a:t>
            </a:r>
            <a:r>
              <a:rPr lang="en-US" dirty="0" err="1"/>
              <a:t>milik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.</a:t>
            </a:r>
          </a:p>
          <a:p>
            <a:endParaRPr lang="en-US" dirty="0"/>
          </a:p>
          <a:p>
            <a:pPr lvl="0"/>
            <a:r>
              <a:rPr lang="en-US" dirty="0"/>
              <a:t>3. Event </a:t>
            </a:r>
            <a:r>
              <a:rPr lang="en-US" dirty="0" err="1"/>
              <a:t>dihandle</a:t>
            </a:r>
            <a:r>
              <a:rPr lang="en-US" dirty="0"/>
              <a:t> oleh class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Anonymous Class </a:t>
            </a:r>
            <a:r>
              <a:rPr lang="en-US" dirty="0"/>
              <a:t>(</a:t>
            </a:r>
            <a:r>
              <a:rPr lang="en-US" dirty="0" err="1"/>
              <a:t>InnerClass</a:t>
            </a:r>
            <a:r>
              <a:rPr lang="en-US" dirty="0"/>
              <a:t> yg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)</a:t>
            </a:r>
          </a:p>
          <a:p>
            <a:pPr lvl="0"/>
            <a:endParaRPr lang="en-US" dirty="0"/>
          </a:p>
          <a:p>
            <a:r>
              <a:rPr lang="en-US" i="1" dirty="0"/>
              <a:t>Event listener</a:t>
            </a:r>
            <a:r>
              <a:rPr lang="en-US" dirty="0"/>
              <a:t>  standard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event handler</a:t>
            </a:r>
            <a:r>
              <a:rPr lang="en-US" dirty="0"/>
              <a:t> standard </a:t>
            </a:r>
            <a:r>
              <a:rPr lang="en-US" dirty="0" err="1"/>
              <a:t>adalah</a:t>
            </a:r>
            <a:r>
              <a:rPr lang="en-US" dirty="0"/>
              <a:t> interface yang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i="1" dirty="0"/>
              <a:t>package</a:t>
            </a:r>
            <a:r>
              <a:rPr lang="en-US" dirty="0"/>
              <a:t> </a:t>
            </a:r>
            <a:r>
              <a:rPr lang="en-US" i="1" dirty="0" err="1"/>
              <a:t>java.awt.event</a:t>
            </a:r>
            <a:r>
              <a:rPr lang="en-US" i="1" dirty="0"/>
              <a:t>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19597" y="274638"/>
            <a:ext cx="11549848" cy="639762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Cara </a:t>
            </a:r>
            <a:r>
              <a:rPr lang="en-US" sz="3600" dirty="0" err="1"/>
              <a:t>menangani</a:t>
            </a:r>
            <a:r>
              <a:rPr lang="en-US" sz="3600" dirty="0"/>
              <a:t> event pada </a:t>
            </a:r>
            <a:r>
              <a:rPr lang="en-US" sz="3600" dirty="0" err="1"/>
              <a:t>komponen</a:t>
            </a:r>
            <a:r>
              <a:rPr lang="en-US" sz="3600" dirty="0"/>
              <a:t> (Langkah ke-6)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C688-34C6-4AC0-9FFC-24486FC92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920"/>
            <a:ext cx="10515600" cy="6303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Template (Format standard) Langkah 6 Cara </a:t>
            </a:r>
            <a:r>
              <a:rPr lang="en-US" dirty="0" err="1"/>
              <a:t>Kedua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B0B2A-5EB7-4289-8946-C079CF650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64619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/>
              <a:t>class </a:t>
            </a:r>
            <a:r>
              <a:rPr lang="en-US" sz="3300" dirty="0" err="1"/>
              <a:t>EventListenerNonStandard</a:t>
            </a:r>
            <a:r>
              <a:rPr lang="en-US" sz="3300" dirty="0"/>
              <a:t> </a:t>
            </a:r>
            <a:r>
              <a:rPr lang="en-US" sz="3300" dirty="0">
                <a:solidFill>
                  <a:srgbClr val="FF0000"/>
                </a:solidFill>
              </a:rPr>
              <a:t>implements</a:t>
            </a:r>
            <a:r>
              <a:rPr lang="en-US" sz="3300" dirty="0"/>
              <a:t> </a:t>
            </a:r>
            <a:r>
              <a:rPr lang="en-US" sz="3300" dirty="0" err="1"/>
              <a:t>JenisListenerStandard</a:t>
            </a:r>
            <a:r>
              <a:rPr lang="en-US" sz="3300" dirty="0"/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/>
              <a:t>      //method </a:t>
            </a:r>
            <a:r>
              <a:rPr lang="en-US" sz="3300" i="1" dirty="0" err="1"/>
              <a:t>eventHandling</a:t>
            </a:r>
            <a:r>
              <a:rPr lang="en-US" sz="3300" dirty="0"/>
              <a:t> </a:t>
            </a:r>
            <a:r>
              <a:rPr lang="en-US" sz="3300" dirty="0" err="1"/>
              <a:t>terhadap</a:t>
            </a:r>
            <a:r>
              <a:rPr lang="en-US" sz="3300" dirty="0"/>
              <a:t> </a:t>
            </a:r>
            <a:r>
              <a:rPr lang="en-US" sz="3300" i="1" dirty="0" err="1"/>
              <a:t>JenisEvent</a:t>
            </a:r>
            <a:r>
              <a:rPr lang="en-US" sz="3300" i="1" dirty="0"/>
              <a:t>/</a:t>
            </a:r>
            <a:r>
              <a:rPr lang="en-US" sz="3300" i="1" dirty="0" err="1"/>
              <a:t>JenisAksi</a:t>
            </a:r>
            <a:r>
              <a:rPr lang="en-US" sz="3300" dirty="0"/>
              <a:t>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/>
              <a:t>      public void </a:t>
            </a:r>
            <a:r>
              <a:rPr lang="en-US" sz="3300" dirty="0" err="1"/>
              <a:t>jenis</a:t>
            </a:r>
            <a:r>
              <a:rPr lang="en-US" sz="3300" dirty="0" err="1">
                <a:solidFill>
                  <a:srgbClr val="FF0000"/>
                </a:solidFill>
              </a:rPr>
              <a:t>Reaksi</a:t>
            </a:r>
            <a:r>
              <a:rPr lang="en-US" sz="3300" dirty="0" err="1"/>
              <a:t>Standard</a:t>
            </a:r>
            <a:r>
              <a:rPr lang="en-US" sz="3300" dirty="0"/>
              <a:t>(</a:t>
            </a:r>
            <a:r>
              <a:rPr lang="en-US" sz="3300" i="1" dirty="0" err="1"/>
              <a:t>ClassJenis</a:t>
            </a:r>
            <a:r>
              <a:rPr lang="en-US" sz="3300" i="1" dirty="0" err="1">
                <a:solidFill>
                  <a:srgbClr val="FF0000"/>
                </a:solidFill>
              </a:rPr>
              <a:t>Aksi</a:t>
            </a:r>
            <a:r>
              <a:rPr lang="en-US" sz="3300" i="1" dirty="0" err="1"/>
              <a:t>Standard</a:t>
            </a:r>
            <a:r>
              <a:rPr lang="en-US" sz="3300" dirty="0"/>
              <a:t> ja1)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/>
              <a:t>            ………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/>
              <a:t>            ………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/>
              <a:t>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/>
              <a:t>}</a:t>
            </a:r>
          </a:p>
          <a:p>
            <a:endParaRPr lang="en-US" sz="9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/>
              <a:t>class </a:t>
            </a:r>
            <a:r>
              <a:rPr lang="en-US" sz="3300" dirty="0" err="1"/>
              <a:t>EventListenerNonStandard</a:t>
            </a:r>
            <a:r>
              <a:rPr lang="en-US" sz="3300" dirty="0"/>
              <a:t> </a:t>
            </a:r>
            <a:r>
              <a:rPr lang="en-US" sz="3300" dirty="0">
                <a:solidFill>
                  <a:srgbClr val="FF0000"/>
                </a:solidFill>
              </a:rPr>
              <a:t>extends</a:t>
            </a:r>
            <a:r>
              <a:rPr lang="en-US" sz="3300" dirty="0"/>
              <a:t> </a:t>
            </a:r>
            <a:r>
              <a:rPr lang="en-US" sz="3300" dirty="0" err="1"/>
              <a:t>JenisListenerStandard</a:t>
            </a:r>
            <a:r>
              <a:rPr lang="en-US" sz="3300" dirty="0"/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/>
              <a:t>      //method </a:t>
            </a:r>
            <a:r>
              <a:rPr lang="en-US" sz="3300" i="1" dirty="0" err="1"/>
              <a:t>eventHandling</a:t>
            </a:r>
            <a:r>
              <a:rPr lang="en-US" sz="3300" dirty="0"/>
              <a:t> </a:t>
            </a:r>
            <a:r>
              <a:rPr lang="en-US" sz="3300" dirty="0" err="1"/>
              <a:t>terhadap</a:t>
            </a:r>
            <a:r>
              <a:rPr lang="en-US" sz="3300" dirty="0"/>
              <a:t> </a:t>
            </a:r>
            <a:r>
              <a:rPr lang="en-US" sz="3300" i="1" dirty="0" err="1"/>
              <a:t>JenisEvent</a:t>
            </a:r>
            <a:r>
              <a:rPr lang="en-US" sz="3300" i="1" dirty="0"/>
              <a:t>/</a:t>
            </a:r>
            <a:r>
              <a:rPr lang="en-US" sz="3300" i="1" dirty="0" err="1"/>
              <a:t>JenisAksi</a:t>
            </a:r>
            <a:endParaRPr lang="en-US" sz="3300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/>
              <a:t>      public void </a:t>
            </a:r>
            <a:r>
              <a:rPr lang="en-US" sz="3300" dirty="0" err="1"/>
              <a:t>jenis</a:t>
            </a:r>
            <a:r>
              <a:rPr lang="en-US" sz="3300" dirty="0" err="1">
                <a:solidFill>
                  <a:srgbClr val="FF0000"/>
                </a:solidFill>
              </a:rPr>
              <a:t>Reaksi</a:t>
            </a:r>
            <a:r>
              <a:rPr lang="en-US" sz="3300" dirty="0" err="1"/>
              <a:t>Standard</a:t>
            </a:r>
            <a:r>
              <a:rPr lang="en-US" sz="3300" dirty="0"/>
              <a:t>(</a:t>
            </a:r>
            <a:r>
              <a:rPr lang="en-US" sz="3300" i="1" dirty="0" err="1"/>
              <a:t>ClassJenis</a:t>
            </a:r>
            <a:r>
              <a:rPr lang="en-US" sz="3300" i="1" dirty="0" err="1">
                <a:solidFill>
                  <a:srgbClr val="FF0000"/>
                </a:solidFill>
              </a:rPr>
              <a:t>Aksi</a:t>
            </a:r>
            <a:r>
              <a:rPr lang="en-US" sz="3300" i="1" dirty="0" err="1"/>
              <a:t>Standard</a:t>
            </a:r>
            <a:r>
              <a:rPr lang="en-US" sz="3300" dirty="0"/>
              <a:t> ja2)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/>
              <a:t>            ………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/>
              <a:t>            ………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/>
              <a:t>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/>
              <a:t>}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1987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6128" y="838199"/>
            <a:ext cx="11345662" cy="5598111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/>
              <a:t>Ada </a:t>
            </a:r>
            <a:r>
              <a:rPr lang="en-US" sz="3000" dirty="0" err="1"/>
              <a:t>lebih</a:t>
            </a:r>
            <a:r>
              <a:rPr lang="en-US" sz="3000" dirty="0"/>
              <a:t> </a:t>
            </a:r>
            <a:r>
              <a:rPr lang="en-US" sz="3000" dirty="0" err="1"/>
              <a:t>dari</a:t>
            </a:r>
            <a:r>
              <a:rPr lang="en-US" sz="3000" dirty="0"/>
              <a:t> 11 class standard yang </a:t>
            </a:r>
            <a:r>
              <a:rPr lang="en-US" sz="3000" dirty="0" err="1"/>
              <a:t>mencerminkan</a:t>
            </a:r>
            <a:r>
              <a:rPr lang="en-US" sz="3000" dirty="0"/>
              <a:t> </a:t>
            </a:r>
            <a:r>
              <a:rPr lang="en-US" sz="3000" dirty="0" err="1"/>
              <a:t>jenis</a:t>
            </a:r>
            <a:r>
              <a:rPr lang="en-US" sz="3000" dirty="0"/>
              <a:t> event/</a:t>
            </a:r>
            <a:r>
              <a:rPr lang="en-US" sz="3000" b="1" dirty="0" err="1">
                <a:solidFill>
                  <a:srgbClr val="FF0000"/>
                </a:solidFill>
              </a:rPr>
              <a:t>aksi</a:t>
            </a:r>
            <a:r>
              <a:rPr lang="en-US" sz="3000" dirty="0"/>
              <a:t> pada package j</a:t>
            </a:r>
            <a:r>
              <a:rPr lang="en-US" sz="3000" i="1" dirty="0"/>
              <a:t>ava.awt.event.* :</a:t>
            </a:r>
          </a:p>
          <a:p>
            <a:r>
              <a:rPr lang="en-US" sz="3000" i="1" dirty="0" err="1"/>
              <a:t>ActionEvent</a:t>
            </a:r>
            <a:r>
              <a:rPr lang="en-US" sz="3000" i="1" dirty="0"/>
              <a:t>, </a:t>
            </a:r>
            <a:r>
              <a:rPr lang="en-US" sz="3000" i="1" dirty="0" err="1"/>
              <a:t>TextEvent</a:t>
            </a:r>
            <a:r>
              <a:rPr lang="en-US" sz="3000" i="1" dirty="0"/>
              <a:t>, </a:t>
            </a:r>
            <a:r>
              <a:rPr lang="en-US" sz="3000" i="1" dirty="0" err="1"/>
              <a:t>ItemEvent</a:t>
            </a:r>
            <a:r>
              <a:rPr lang="en-US" sz="3000" i="1" dirty="0"/>
              <a:t>, </a:t>
            </a:r>
            <a:r>
              <a:rPr lang="en-US" sz="3000" i="1" dirty="0" err="1"/>
              <a:t>ListSelectionEvent</a:t>
            </a:r>
            <a:r>
              <a:rPr lang="en-US" sz="3000" i="1" dirty="0"/>
              <a:t>, </a:t>
            </a:r>
            <a:r>
              <a:rPr lang="en-US" sz="3000" i="1" dirty="0" err="1"/>
              <a:t>AdjustmentEvent</a:t>
            </a:r>
            <a:r>
              <a:rPr lang="en-US" sz="3000" i="1" dirty="0"/>
              <a:t>, </a:t>
            </a:r>
            <a:r>
              <a:rPr lang="en-US" sz="3000" i="1" dirty="0" err="1"/>
              <a:t>WindowEvent</a:t>
            </a:r>
            <a:r>
              <a:rPr lang="en-US" sz="3000" i="1" dirty="0"/>
              <a:t>, </a:t>
            </a:r>
            <a:r>
              <a:rPr lang="en-US" sz="3000" i="1" dirty="0" err="1"/>
              <a:t>ContainerEvent</a:t>
            </a:r>
            <a:r>
              <a:rPr lang="en-US" sz="3000" i="1" dirty="0"/>
              <a:t>, </a:t>
            </a:r>
            <a:r>
              <a:rPr lang="en-US" sz="3000" i="1" dirty="0" err="1"/>
              <a:t>ComponentEvent</a:t>
            </a:r>
            <a:r>
              <a:rPr lang="en-US" sz="3000" i="1" dirty="0"/>
              <a:t>, </a:t>
            </a:r>
            <a:r>
              <a:rPr lang="en-US" sz="3000" i="1" dirty="0" err="1"/>
              <a:t>FocusEvent</a:t>
            </a:r>
            <a:r>
              <a:rPr lang="en-US" sz="3000" i="1" dirty="0"/>
              <a:t>, </a:t>
            </a:r>
            <a:r>
              <a:rPr lang="en-US" sz="3000" i="1" dirty="0" err="1"/>
              <a:t>KeyEvent</a:t>
            </a:r>
            <a:r>
              <a:rPr lang="en-US" sz="3000" i="1" dirty="0"/>
              <a:t>, </a:t>
            </a:r>
            <a:r>
              <a:rPr lang="en-US" sz="3000" i="1" dirty="0" err="1"/>
              <a:t>dan</a:t>
            </a:r>
            <a:r>
              <a:rPr lang="en-US" sz="3000" i="1" dirty="0"/>
              <a:t> </a:t>
            </a:r>
            <a:r>
              <a:rPr lang="en-US" sz="3000" i="1" dirty="0" err="1"/>
              <a:t>MouseEvent</a:t>
            </a:r>
            <a:r>
              <a:rPr lang="en-US" sz="3000" i="1" dirty="0"/>
              <a:t>. </a:t>
            </a:r>
          </a:p>
          <a:p>
            <a:endParaRPr lang="en-US" sz="3000" i="1" dirty="0"/>
          </a:p>
          <a:p>
            <a:r>
              <a:rPr lang="en-US" sz="3000" dirty="0" err="1"/>
              <a:t>Untuk</a:t>
            </a:r>
            <a:r>
              <a:rPr lang="en-US" sz="3000" dirty="0"/>
              <a:t> </a:t>
            </a:r>
            <a:r>
              <a:rPr lang="en-US" sz="3000" dirty="0" err="1"/>
              <a:t>cara</a:t>
            </a:r>
            <a:r>
              <a:rPr lang="en-US" sz="3000" dirty="0"/>
              <a:t> </a:t>
            </a:r>
            <a:r>
              <a:rPr lang="en-US" sz="3000" dirty="0" err="1"/>
              <a:t>kedua</a:t>
            </a:r>
            <a:r>
              <a:rPr lang="en-US" sz="3000" dirty="0"/>
              <a:t>, class </a:t>
            </a:r>
            <a:r>
              <a:rPr lang="en-US" sz="3000" dirty="0" err="1"/>
              <a:t>tersebut</a:t>
            </a:r>
            <a:r>
              <a:rPr lang="en-US" sz="3000" dirty="0"/>
              <a:t> </a:t>
            </a:r>
            <a:r>
              <a:rPr lang="en-US" sz="3000" dirty="0" err="1"/>
              <a:t>nantinya</a:t>
            </a:r>
            <a:r>
              <a:rPr lang="en-US" sz="3000" dirty="0"/>
              <a:t> </a:t>
            </a:r>
            <a:r>
              <a:rPr lang="en-US" sz="3000" dirty="0" err="1"/>
              <a:t>akan</a:t>
            </a:r>
            <a:r>
              <a:rPr lang="en-US" sz="3000" dirty="0"/>
              <a:t> </a:t>
            </a:r>
            <a:r>
              <a:rPr lang="en-US" sz="3000" dirty="0" err="1"/>
              <a:t>menjadi</a:t>
            </a:r>
            <a:r>
              <a:rPr lang="en-US" sz="3000" dirty="0"/>
              <a:t> </a:t>
            </a:r>
            <a:r>
              <a:rPr lang="en-US" sz="3000" dirty="0" err="1">
                <a:solidFill>
                  <a:srgbClr val="FF0000"/>
                </a:solidFill>
              </a:rPr>
              <a:t>tipe</a:t>
            </a:r>
            <a:r>
              <a:rPr lang="en-US" sz="3000" dirty="0">
                <a:solidFill>
                  <a:srgbClr val="FF0000"/>
                </a:solidFill>
              </a:rPr>
              <a:t> parameter</a:t>
            </a:r>
            <a:r>
              <a:rPr lang="en-US" sz="3000" dirty="0"/>
              <a:t> </a:t>
            </a:r>
            <a:r>
              <a:rPr lang="en-US" sz="3000" dirty="0" err="1"/>
              <a:t>bagi</a:t>
            </a:r>
            <a:r>
              <a:rPr lang="en-US" sz="3000" dirty="0"/>
              <a:t> method handler yang </a:t>
            </a:r>
            <a:r>
              <a:rPr lang="en-US" sz="3000" dirty="0" err="1"/>
              <a:t>digunakan</a:t>
            </a:r>
            <a:r>
              <a:rPr lang="en-US" sz="3000" dirty="0"/>
              <a:t>. </a:t>
            </a:r>
          </a:p>
          <a:p>
            <a:endParaRPr lang="en-US" sz="3000" dirty="0"/>
          </a:p>
          <a:p>
            <a:r>
              <a:rPr lang="en-US" sz="3000" dirty="0" err="1"/>
              <a:t>Selanjutnya</a:t>
            </a:r>
            <a:r>
              <a:rPr lang="en-US" sz="3000" dirty="0"/>
              <a:t> method handler </a:t>
            </a:r>
            <a:r>
              <a:rPr lang="en-US" sz="3000" dirty="0" err="1"/>
              <a:t>akan</a:t>
            </a:r>
            <a:r>
              <a:rPr lang="en-US" sz="3000" dirty="0"/>
              <a:t> </a:t>
            </a:r>
            <a:r>
              <a:rPr lang="en-US" sz="3000" dirty="0" err="1"/>
              <a:t>dimasukkan</a:t>
            </a:r>
            <a:r>
              <a:rPr lang="en-US" sz="3000" dirty="0"/>
              <a:t> </a:t>
            </a:r>
            <a:r>
              <a:rPr lang="en-US" sz="3000" dirty="0" err="1"/>
              <a:t>ke</a:t>
            </a:r>
            <a:r>
              <a:rPr lang="en-US" sz="3000" dirty="0"/>
              <a:t> </a:t>
            </a:r>
            <a:r>
              <a:rPr lang="en-US" sz="3000" dirty="0" err="1"/>
              <a:t>dalam</a:t>
            </a:r>
            <a:r>
              <a:rPr lang="en-US" sz="3000" dirty="0"/>
              <a:t> class yang </a:t>
            </a:r>
            <a:r>
              <a:rPr lang="en-US" sz="3000" dirty="0" err="1"/>
              <a:t>merupakan</a:t>
            </a:r>
            <a:r>
              <a:rPr lang="en-US" sz="3000" dirty="0"/>
              <a:t> </a:t>
            </a:r>
            <a:r>
              <a:rPr lang="en-US" sz="3000" dirty="0" err="1"/>
              <a:t>implementasi</a:t>
            </a:r>
            <a:r>
              <a:rPr lang="en-US" sz="3000" dirty="0"/>
              <a:t> </a:t>
            </a:r>
            <a:r>
              <a:rPr lang="en-US" sz="3000" dirty="0" err="1"/>
              <a:t>dari</a:t>
            </a:r>
            <a:r>
              <a:rPr lang="en-US" sz="3000" dirty="0"/>
              <a:t> interface event </a:t>
            </a:r>
            <a:r>
              <a:rPr lang="en-US" sz="3000" dirty="0" err="1"/>
              <a:t>listenernya</a:t>
            </a:r>
            <a:r>
              <a:rPr lang="en-US" sz="3000" dirty="0"/>
              <a:t>. </a:t>
            </a:r>
          </a:p>
          <a:p>
            <a:r>
              <a:rPr lang="en-US" sz="3000" dirty="0" err="1"/>
              <a:t>Objek</a:t>
            </a:r>
            <a:r>
              <a:rPr lang="en-US" sz="3000" dirty="0"/>
              <a:t> </a:t>
            </a:r>
            <a:r>
              <a:rPr lang="en-US" sz="3000" dirty="0" err="1"/>
              <a:t>dari</a:t>
            </a:r>
            <a:r>
              <a:rPr lang="en-US" sz="3000" dirty="0"/>
              <a:t> class listener </a:t>
            </a:r>
            <a:r>
              <a:rPr lang="en-US" sz="3000" dirty="0" err="1"/>
              <a:t>tersebut</a:t>
            </a:r>
            <a:r>
              <a:rPr lang="en-US" sz="3000" dirty="0"/>
              <a:t> </a:t>
            </a:r>
            <a:r>
              <a:rPr lang="en-US" sz="3000" dirty="0" err="1"/>
              <a:t>akan</a:t>
            </a:r>
            <a:r>
              <a:rPr lang="en-US" sz="3000" dirty="0"/>
              <a:t> </a:t>
            </a:r>
            <a:r>
              <a:rPr lang="en-US" sz="3000" dirty="0" err="1"/>
              <a:t>dimasukkan</a:t>
            </a:r>
            <a:r>
              <a:rPr lang="en-US" sz="3000" dirty="0"/>
              <a:t> </a:t>
            </a:r>
            <a:r>
              <a:rPr lang="en-US" sz="3000" dirty="0" err="1"/>
              <a:t>sebagai</a:t>
            </a:r>
            <a:r>
              <a:rPr lang="en-US" sz="3000" dirty="0"/>
              <a:t> </a:t>
            </a:r>
            <a:r>
              <a:rPr lang="en-US" sz="3000" dirty="0" err="1"/>
              <a:t>nilai</a:t>
            </a:r>
            <a:r>
              <a:rPr lang="en-US" sz="3000" dirty="0"/>
              <a:t> parameter </a:t>
            </a:r>
            <a:r>
              <a:rPr lang="en-US" sz="3000" dirty="0" err="1"/>
              <a:t>dari</a:t>
            </a:r>
            <a:r>
              <a:rPr lang="en-US" sz="3000" dirty="0"/>
              <a:t> method </a:t>
            </a:r>
            <a:r>
              <a:rPr lang="en-US" sz="3000" dirty="0" err="1"/>
              <a:t>addLiastener</a:t>
            </a:r>
            <a:r>
              <a:rPr lang="en-US" sz="3000" dirty="0"/>
              <a:t>() yang </a:t>
            </a:r>
            <a:r>
              <a:rPr lang="en-US" sz="3000" dirty="0" err="1"/>
              <a:t>akan</a:t>
            </a:r>
            <a:r>
              <a:rPr lang="en-US" sz="3000" dirty="0"/>
              <a:t> </a:t>
            </a:r>
            <a:r>
              <a:rPr lang="en-US" sz="3000" dirty="0" err="1"/>
              <a:t>dipanggil</a:t>
            </a:r>
            <a:r>
              <a:rPr lang="en-US" sz="3000" dirty="0"/>
              <a:t> </a:t>
            </a:r>
            <a:r>
              <a:rPr lang="en-US" sz="3000" dirty="0" err="1"/>
              <a:t>objek</a:t>
            </a:r>
            <a:r>
              <a:rPr lang="en-US" sz="3000" dirty="0"/>
              <a:t> </a:t>
            </a:r>
            <a:r>
              <a:rPr lang="en-US" sz="3000" dirty="0" err="1"/>
              <a:t>komponen</a:t>
            </a:r>
            <a:r>
              <a:rPr lang="en-US" sz="3000" dirty="0"/>
              <a:t> yang </a:t>
            </a:r>
            <a:r>
              <a:rPr lang="en-US" sz="3000" dirty="0" err="1"/>
              <a:t>menggunakan</a:t>
            </a:r>
            <a:r>
              <a:rPr lang="en-US" sz="3000" dirty="0"/>
              <a:t> event listener dan event handler </a:t>
            </a:r>
            <a:r>
              <a:rPr lang="en-US" sz="3000" dirty="0" err="1"/>
              <a:t>tersebut</a:t>
            </a:r>
            <a:r>
              <a:rPr lang="en-US" sz="3000" dirty="0"/>
              <a:t>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14935" y="152400"/>
            <a:ext cx="11562131" cy="563562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Class Event standard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513038"/>
              </p:ext>
            </p:extLst>
          </p:nvPr>
        </p:nvGraphicFramePr>
        <p:xfrm>
          <a:off x="363985" y="593727"/>
          <a:ext cx="11496583" cy="5940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9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1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1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No.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Method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Reaksi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 Standard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Deskripsi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Reaksi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2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addActionListener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objekListener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Memasang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action listener pada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komponen</a:t>
                      </a:r>
                      <a:endParaRPr lang="en-US" sz="18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55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actionPerformed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ActionEvent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ae)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Reaksi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terhadap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</a:rPr>
                        <a:t>aksi-aksi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yang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dilakukan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user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terhadap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komponen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:</a:t>
                      </a:r>
                    </a:p>
                    <a:p>
                      <a:pPr marL="342900" lvl="0" indent="-342900" algn="just"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274320" algn="l"/>
                        </a:tabLs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Mengklik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Button</a:t>
                      </a:r>
                    </a:p>
                    <a:p>
                      <a:pPr marL="342900" lvl="0" indent="-342900" algn="just"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274320" algn="l"/>
                        </a:tabLs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Memilih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item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baru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pada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komponen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: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    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ComboBox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/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CheckBox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/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MenuItem</a:t>
                      </a:r>
                      <a:endParaRPr lang="en-US" sz="1800" b="1" dirty="0">
                        <a:latin typeface="Times New Roman"/>
                        <a:ea typeface="Times New Roman"/>
                      </a:endParaRPr>
                    </a:p>
                    <a:p>
                      <a:pPr marL="0" lvl="0" indent="0" algn="just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74320" algn="l"/>
                        </a:tabLs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3.  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Menekan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tombol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enter pada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komponen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TextField</a:t>
                      </a:r>
                      <a:endParaRPr lang="en-US" sz="18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1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Times New Roman"/>
                        </a:rPr>
                        <a:t>3</a:t>
                      </a:r>
                      <a:endParaRPr lang="en-US" sz="18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Times New Roman"/>
                        </a:rPr>
                        <a:t>addItemListener(objekListener)</a:t>
                      </a:r>
                      <a:endParaRPr lang="en-US" sz="18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Memasang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item listener pada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komponen</a:t>
                      </a:r>
                      <a:endParaRPr lang="en-US" sz="18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717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Times New Roman"/>
                        </a:rPr>
                        <a:t>4</a:t>
                      </a:r>
                      <a:endParaRPr lang="en-US" sz="18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Times New Roman"/>
                        </a:rPr>
                        <a:t>itemStateChanged(ItemEvent ie)</a:t>
                      </a:r>
                      <a:endParaRPr lang="en-US" sz="18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just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74320" algn="l"/>
                        </a:tabLs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Reaksi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terhadap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</a:rPr>
                        <a:t>aksi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:</a:t>
                      </a:r>
                    </a:p>
                    <a:p>
                      <a:pPr marL="342900" lvl="0" indent="-342900" algn="just"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274320" algn="l"/>
                        </a:tabLs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Memilih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item pada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komponen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ComboBox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.</a:t>
                      </a:r>
                    </a:p>
                    <a:p>
                      <a:pPr marL="342900" lvl="0" indent="-342900" algn="just"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274320" algn="l"/>
                        </a:tabLs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Memilih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satu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/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lebih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item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pada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komponen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</a:rPr>
                        <a:t>CheckBox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.</a:t>
                      </a:r>
                    </a:p>
                    <a:p>
                      <a:pPr marL="342900" lvl="0" indent="-342900" algn="just"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274320" algn="l"/>
                        </a:tabLst>
                      </a:pPr>
                      <a:r>
                        <a:rPr lang="en-US" sz="1800" b="1" dirty="0" err="1">
                          <a:latin typeface="Times New Roman"/>
                        </a:rPr>
                        <a:t>Memilih</a:t>
                      </a:r>
                      <a:r>
                        <a:rPr lang="en-US" sz="1800" b="1" dirty="0">
                          <a:latin typeface="Times New Roman"/>
                        </a:rPr>
                        <a:t> item </a:t>
                      </a:r>
                      <a:r>
                        <a:rPr lang="en-US" sz="1800" b="1" dirty="0" err="1">
                          <a:latin typeface="Times New Roman"/>
                        </a:rPr>
                        <a:t>pada</a:t>
                      </a:r>
                      <a:r>
                        <a:rPr lang="en-US" sz="1800" b="1" dirty="0">
                          <a:latin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Times New Roman"/>
                        </a:rPr>
                        <a:t>komponen</a:t>
                      </a:r>
                      <a:r>
                        <a:rPr lang="en-US" sz="1800" b="1" dirty="0">
                          <a:latin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Times New Roman"/>
                        </a:rPr>
                        <a:t>RadioButton</a:t>
                      </a:r>
                      <a:r>
                        <a:rPr lang="en-US" sz="1800" b="1" dirty="0">
                          <a:latin typeface="Times New Roman"/>
                        </a:rPr>
                        <a:t>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136525"/>
            <a:ext cx="8229600" cy="45720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 err="1"/>
              <a:t>Deskripsi</a:t>
            </a:r>
            <a:r>
              <a:rPr lang="en-US" sz="2800" dirty="0"/>
              <a:t> Method Standard Handler (</a:t>
            </a:r>
            <a:r>
              <a:rPr lang="en-US" sz="2800" dirty="0" err="1"/>
              <a:t>Reaksi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1521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9100137"/>
              </p:ext>
            </p:extLst>
          </p:nvPr>
        </p:nvGraphicFramePr>
        <p:xfrm>
          <a:off x="630315" y="914401"/>
          <a:ext cx="11114842" cy="5548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8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4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712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No.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Method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Reaksi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 Standard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Deskripsi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Reaksi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2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addWindowListener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objekListener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Menambahkan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window listener pada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komponen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window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windowClosing(WindowEvent we)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Window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menutup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dan exit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4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windowOpened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WindowEvent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we)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Window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dibuka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9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windowIconfied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WindowEvent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we)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Tombol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minimize window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diklik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9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windowDeiconfied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WindowEvent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we)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Mengembalikan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ukuran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window 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setelah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diminimize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9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windowClosed(WindowEvent we)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Window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dalam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kondisi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tertutup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29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11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windowActivated(WindowEvent we)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Window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diklik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untuk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diaktifkan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729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12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windowDeactivated(WindowEvent we)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Klik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posisi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di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luar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window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untuk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non-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aktifkan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window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 err="1"/>
              <a:t>Deskripsi</a:t>
            </a:r>
            <a:r>
              <a:rPr lang="en-US" sz="2800" b="1" dirty="0"/>
              <a:t> Method Handler (</a:t>
            </a:r>
            <a:r>
              <a:rPr lang="en-US" sz="2800" b="1" dirty="0" err="1"/>
              <a:t>terkait</a:t>
            </a:r>
            <a:r>
              <a:rPr lang="en-US" sz="2800" b="1" dirty="0"/>
              <a:t> </a:t>
            </a:r>
            <a:r>
              <a:rPr lang="en-US" sz="2800" b="1" dirty="0" err="1"/>
              <a:t>dengan</a:t>
            </a:r>
            <a:r>
              <a:rPr lang="en-US" sz="2800" b="1" dirty="0"/>
              <a:t> </a:t>
            </a:r>
            <a:r>
              <a:rPr lang="en-US" sz="2800" b="1" dirty="0" err="1"/>
              <a:t>komponen</a:t>
            </a:r>
            <a:r>
              <a:rPr lang="en-US" sz="2800" b="1" dirty="0"/>
              <a:t> Window)</a:t>
            </a:r>
          </a:p>
        </p:txBody>
      </p:sp>
    </p:spTree>
    <p:extLst>
      <p:ext uri="{BB962C8B-B14F-4D97-AF65-F5344CB8AC3E}">
        <p14:creationId xmlns:p14="http://schemas.microsoft.com/office/powerpoint/2010/main" val="3616089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3340474"/>
              </p:ext>
            </p:extLst>
          </p:nvPr>
        </p:nvGraphicFramePr>
        <p:xfrm>
          <a:off x="523783" y="914400"/>
          <a:ext cx="11310151" cy="544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1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3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No.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Method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Reaksi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 Standard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Deskripsi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Reaksi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77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13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componentAdded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ContainerEvent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ce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Menempatkan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komponen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pada container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17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14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componentRemoved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ContainerEvent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ce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Melepas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komponen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dari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container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0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componentMoved(ComponentEvent ce)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Menggerakkan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komponen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16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componentHidden(ComponentEvent ce)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Menyembunyikan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komponen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17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componentResized(ComponentEvent ce)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Mengubah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ukuran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komponen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50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18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componentShown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ComponentEvent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ce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Menampilkan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komponen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(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kebalikan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hidden)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40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19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addFocusListener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objekListener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Menambahkan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focus listener pada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komponen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2800" dirty="0" err="1"/>
              <a:t>Deskripsi</a:t>
            </a:r>
            <a:r>
              <a:rPr lang="en-US" sz="2800" dirty="0"/>
              <a:t> Method Handler</a:t>
            </a:r>
          </a:p>
        </p:txBody>
      </p:sp>
    </p:spTree>
    <p:extLst>
      <p:ext uri="{BB962C8B-B14F-4D97-AF65-F5344CB8AC3E}">
        <p14:creationId xmlns:p14="http://schemas.microsoft.com/office/powerpoint/2010/main" val="2280464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278010"/>
              </p:ext>
            </p:extLst>
          </p:nvPr>
        </p:nvGraphicFramePr>
        <p:xfrm>
          <a:off x="470517" y="1143000"/>
          <a:ext cx="11274640" cy="5213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3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87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No.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Method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  <a:cs typeface="Times New Roman"/>
                        </a:rPr>
                        <a:t>Reaksi</a:t>
                      </a: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 Standard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  <a:cs typeface="Times New Roman"/>
                        </a:rPr>
                        <a:t>Deskripsi</a:t>
                      </a: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  <a:cs typeface="Times New Roman"/>
                        </a:rPr>
                        <a:t>Reaksi</a:t>
                      </a:r>
                      <a:endParaRPr lang="en-US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20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focusGained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FocusEvent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fe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Memberi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fokus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ke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komponen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4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21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focusLost(FocusEvent fe)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Melepas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fokus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dari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komponen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6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22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textValueChanged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TextEvent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te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2000" b="0" dirty="0" err="1">
                          <a:latin typeface="Times New Roman"/>
                        </a:rPr>
                        <a:t>Mengubah</a:t>
                      </a:r>
                      <a:r>
                        <a:rPr lang="en-GB" sz="2000" b="0" dirty="0">
                          <a:latin typeface="Times New Roman"/>
                        </a:rPr>
                        <a:t> </a:t>
                      </a:r>
                      <a:r>
                        <a:rPr lang="en-GB" sz="2000" b="0" dirty="0" err="1">
                          <a:latin typeface="Times New Roman"/>
                        </a:rPr>
                        <a:t>teks</a:t>
                      </a:r>
                      <a:r>
                        <a:rPr lang="en-GB" sz="2000" b="0" dirty="0">
                          <a:latin typeface="Times New Roman"/>
                        </a:rPr>
                        <a:t> </a:t>
                      </a:r>
                      <a:r>
                        <a:rPr lang="en-GB" sz="2000" b="0" dirty="0" err="1">
                          <a:latin typeface="Times New Roman"/>
                        </a:rPr>
                        <a:t>pada</a:t>
                      </a:r>
                      <a:r>
                        <a:rPr lang="en-GB" sz="2000" b="0" dirty="0">
                          <a:latin typeface="Times New Roman"/>
                        </a:rPr>
                        <a:t> </a:t>
                      </a:r>
                      <a:r>
                        <a:rPr lang="en-GB" sz="2000" b="0" dirty="0" err="1">
                          <a:latin typeface="Times New Roman"/>
                        </a:rPr>
                        <a:t>komponen</a:t>
                      </a:r>
                      <a:r>
                        <a:rPr lang="en-GB" sz="2000" b="0" dirty="0">
                          <a:latin typeface="Times New Roman"/>
                        </a:rPr>
                        <a:t> </a:t>
                      </a:r>
                      <a:r>
                        <a:rPr lang="en-GB" sz="2000" b="0" dirty="0" err="1">
                          <a:latin typeface="Times New Roman"/>
                        </a:rPr>
                        <a:t>TextComponent</a:t>
                      </a:r>
                      <a:endParaRPr lang="en-US" sz="2000" b="0" dirty="0">
                        <a:latin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7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23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addKeyListener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objekListener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Menambahkan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key listener pada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komponen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7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24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keyPressed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keyEvent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ke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Menekan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tombol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keyboard (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belum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dilepas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87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keyReleased(keyEvent ke)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Melepas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tombol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keyboard (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setelah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ditekan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0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26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keyTyped(keyEvent ke)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Menekan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tombol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keyboard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87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27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addMouseListener(objekListener)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Menambahkan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mouse listener pada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komponen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2800" dirty="0" err="1"/>
              <a:t>Deskripsi</a:t>
            </a:r>
            <a:r>
              <a:rPr lang="en-US" sz="2800" dirty="0"/>
              <a:t> Method Handler</a:t>
            </a:r>
          </a:p>
        </p:txBody>
      </p:sp>
    </p:spTree>
    <p:extLst>
      <p:ext uri="{BB962C8B-B14F-4D97-AF65-F5344CB8AC3E}">
        <p14:creationId xmlns:p14="http://schemas.microsoft.com/office/powerpoint/2010/main" val="1891151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0615042"/>
              </p:ext>
            </p:extLst>
          </p:nvPr>
        </p:nvGraphicFramePr>
        <p:xfrm>
          <a:off x="461639" y="1134123"/>
          <a:ext cx="11461073" cy="5311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1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5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1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No.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Method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  <a:cs typeface="Times New Roman"/>
                        </a:rPr>
                        <a:t>Reaksi</a:t>
                      </a: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 Standard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  <a:cs typeface="Times New Roman"/>
                        </a:rPr>
                        <a:t>Deskripsi</a:t>
                      </a: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  <a:cs typeface="Times New Roman"/>
                        </a:rPr>
                        <a:t>Reaksi</a:t>
                      </a:r>
                      <a:endParaRPr lang="en-US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1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28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mousePressed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MouseEvent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me)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Mengklik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komponen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(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belum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dilepas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3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29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mouseReleased(MouseEvent me)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Melepas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klik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dari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komponen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30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mouseEntered(MouseEvent me)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Kursor mendekati dan memasuki komponen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4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31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mouseExited(MouseEvent me)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Kursor keluar dan menjauh dari komponen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54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32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mouseClicked(MouseEvent me)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Mengklik suatu komponen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54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33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addMouseMotionListener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objekListener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Menambahkan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mouse motion listener pada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komponen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2800" dirty="0" err="1"/>
              <a:t>Deskripsi</a:t>
            </a:r>
            <a:r>
              <a:rPr lang="en-US" sz="2800" dirty="0"/>
              <a:t> Method Handler</a:t>
            </a:r>
          </a:p>
        </p:txBody>
      </p:sp>
    </p:spTree>
    <p:extLst>
      <p:ext uri="{BB962C8B-B14F-4D97-AF65-F5344CB8AC3E}">
        <p14:creationId xmlns:p14="http://schemas.microsoft.com/office/powerpoint/2010/main" val="3949949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0976338"/>
              </p:ext>
            </p:extLst>
          </p:nvPr>
        </p:nvGraphicFramePr>
        <p:xfrm>
          <a:off x="488272" y="1142999"/>
          <a:ext cx="11487705" cy="53376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0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8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No.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Method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Reaksi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 Standard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Deskripsi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Reaksi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34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mouseDragged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MouseEvent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me)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Kursor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didrag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di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area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komponen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67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35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addAdjusmentListener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objekListener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Menambahkan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adjusment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listener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pada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suatu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komponen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76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36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adjustmentValueChanged(AdjustmentEvent ae)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Menggerakkan scroll bar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73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</a:rPr>
                        <a:t>37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</a:rPr>
                        <a:t>valueChanged(ListSelectionEvent lse)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Memilih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satu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/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lebih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item pada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</a:rPr>
                        <a:t>komponen</a:t>
                      </a: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 List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2800" dirty="0" err="1"/>
              <a:t>Deskripsi</a:t>
            </a:r>
            <a:r>
              <a:rPr lang="en-US" sz="2800" dirty="0"/>
              <a:t> Method Handler</a:t>
            </a:r>
          </a:p>
        </p:txBody>
      </p:sp>
    </p:spTree>
    <p:extLst>
      <p:ext uri="{BB962C8B-B14F-4D97-AF65-F5344CB8AC3E}">
        <p14:creationId xmlns:p14="http://schemas.microsoft.com/office/powerpoint/2010/main" val="2925149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1633077"/>
              </p:ext>
            </p:extLst>
          </p:nvPr>
        </p:nvGraphicFramePr>
        <p:xfrm>
          <a:off x="204186" y="809251"/>
          <a:ext cx="11833932" cy="5513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9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3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0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Class Event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</a:t>
                      </a:r>
                      <a:r>
                        <a:rPr lang="en-US" sz="18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Jenis</a:t>
                      </a: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Aksi</a:t>
                      </a: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Interface Listener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Method Standard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Handler (</a:t>
                      </a:r>
                      <a:r>
                        <a:rPr lang="en-US" sz="18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Jenis</a:t>
                      </a: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Reaksi</a:t>
                      </a: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Component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1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ActionEvent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ActionListener</a:t>
                      </a:r>
                      <a:endParaRPr lang="en-US" sz="18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addActionListener</a:t>
                      </a:r>
                      <a:r>
                        <a:rPr lang="en-US" sz="16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</a:t>
                      </a:r>
                      <a:r>
                        <a:rPr lang="en-US" sz="16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objekListener</a:t>
                      </a:r>
                      <a:r>
                        <a:rPr lang="en-US" sz="16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actionPerformed</a:t>
                      </a:r>
                      <a:r>
                        <a:rPr lang="en-US" sz="16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ActionEvent</a:t>
                      </a:r>
                      <a:r>
                        <a:rPr lang="en-US" sz="16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6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ae</a:t>
                      </a:r>
                      <a:r>
                        <a:rPr lang="en-US" sz="16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JButton</a:t>
                      </a:r>
                      <a:endParaRPr lang="en-US" sz="18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JMenuItem</a:t>
                      </a:r>
                      <a:endParaRPr lang="en-US" sz="18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JTextField</a:t>
                      </a:r>
                      <a:endParaRPr lang="en-US" sz="18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JMenuBar</a:t>
                      </a:r>
                      <a:r>
                        <a:rPr lang="en-US" sz="18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, </a:t>
                      </a:r>
                      <a:r>
                        <a:rPr lang="en-US" sz="18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Jmenu</a:t>
                      </a:r>
                      <a:r>
                        <a:rPr lang="en-US" sz="18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dan </a:t>
                      </a:r>
                      <a:r>
                        <a:rPr lang="en-US" sz="18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JMenuItem</a:t>
                      </a:r>
                      <a:endParaRPr lang="en-US" sz="18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6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ItemEvent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ItemListener</a:t>
                      </a:r>
                      <a:endParaRPr lang="en-US" sz="18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addItemListener</a:t>
                      </a:r>
                      <a:r>
                        <a:rPr lang="en-US" sz="16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</a:t>
                      </a:r>
                      <a:r>
                        <a:rPr lang="en-US" sz="16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objekListener</a:t>
                      </a:r>
                      <a:r>
                        <a:rPr lang="en-US" sz="16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itemStateChanged</a:t>
                      </a:r>
                      <a:r>
                        <a:rPr lang="en-US" sz="16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ItemEvent</a:t>
                      </a:r>
                      <a:r>
                        <a:rPr lang="en-US" sz="16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6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ie</a:t>
                      </a:r>
                      <a:r>
                        <a:rPr lang="en-US" sz="16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JCheckBox</a:t>
                      </a:r>
                      <a:endParaRPr lang="en-US" sz="18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JComboBox</a:t>
                      </a:r>
                      <a:endParaRPr lang="en-US" sz="18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JRadioButton</a:t>
                      </a:r>
                      <a:endParaRPr lang="en-US" sz="18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6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ContainerEvent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ContainerListener</a:t>
                      </a:r>
                      <a:endParaRPr lang="en-US" sz="18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componentAdded</a:t>
                      </a:r>
                      <a:r>
                        <a:rPr lang="en-US" sz="16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ContainerEvent</a:t>
                      </a:r>
                      <a:r>
                        <a:rPr lang="en-US" sz="16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6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ce</a:t>
                      </a:r>
                      <a:r>
                        <a:rPr lang="en-US" sz="16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componentRemoved</a:t>
                      </a:r>
                      <a:r>
                        <a:rPr lang="en-US" sz="16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ContainerEvent</a:t>
                      </a:r>
                      <a:r>
                        <a:rPr lang="en-US" sz="16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600" b="1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ce</a:t>
                      </a:r>
                      <a:r>
                        <a:rPr lang="en-US" sz="16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Container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6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WindowEvent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  <a:cs typeface="Times New Roman"/>
                        </a:rPr>
                        <a:t>WindowListener</a:t>
                      </a:r>
                      <a:endParaRPr lang="en-US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</a:rPr>
                        <a:t>addWindowListener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</a:rPr>
                        <a:t>objekListener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</a:rPr>
                        <a:t>windowClosing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WindowEvent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 we)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</a:rPr>
                        <a:t>windowOpened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WindowEvent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 we)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</a:rPr>
                        <a:t>windowIconified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WindowEvent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 we)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</a:rPr>
                        <a:t>windowDeiconified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WindowEvent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 we)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</a:rPr>
                        <a:t>windowClosed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WindowEvent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 we)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</a:rPr>
                        <a:t>windowActivated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WindowEvent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 we)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latin typeface="Times New Roman"/>
                          <a:ea typeface="Times New Roman"/>
                          <a:cs typeface="Times New Roman"/>
                        </a:rPr>
                        <a:t>windowDeactivated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WindowEvent</a:t>
                      </a: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 we)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  <a:cs typeface="Times New Roman"/>
                        </a:rPr>
                        <a:t>JWindow</a:t>
                      </a:r>
                      <a:endParaRPr lang="en-US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  <a:cs typeface="Times New Roman"/>
                        </a:rPr>
                        <a:t>JFrame</a:t>
                      </a:r>
                      <a:endParaRPr lang="en-US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52600" y="274638"/>
            <a:ext cx="8686800" cy="563562"/>
          </a:xfrm>
        </p:spPr>
        <p:txBody>
          <a:bodyPr>
            <a:normAutofit/>
          </a:bodyPr>
          <a:lstStyle/>
          <a:p>
            <a:pPr algn="ctr"/>
            <a:r>
              <a:rPr lang="en-US" sz="2600" dirty="0"/>
              <a:t>Class Event, Interface Listener, </a:t>
            </a:r>
            <a:r>
              <a:rPr lang="en-US" sz="2600" dirty="0" err="1"/>
              <a:t>dan</a:t>
            </a:r>
            <a:r>
              <a:rPr lang="en-US" sz="2600" dirty="0"/>
              <a:t> Method Handler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4880688"/>
              </p:ext>
            </p:extLst>
          </p:nvPr>
        </p:nvGraphicFramePr>
        <p:xfrm>
          <a:off x="115410" y="1143002"/>
          <a:ext cx="11984854" cy="509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0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3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5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6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Class Event (</a:t>
                      </a:r>
                      <a:r>
                        <a:rPr lang="en-US" sz="18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Jenis</a:t>
                      </a: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Aksi</a:t>
                      </a: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Interface Listener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Method Standard Handler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(</a:t>
                      </a:r>
                      <a:r>
                        <a:rPr lang="en-US" sz="18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Jenis</a:t>
                      </a: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Reaksi</a:t>
                      </a: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Component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375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ComponentEvent</a:t>
                      </a:r>
                      <a:endParaRPr lang="en-US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ComponentListener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componentMoved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ce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componentHidden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ce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componentResized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ce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componentShown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ce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37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FocusEvent</a:t>
                      </a:r>
                      <a:endParaRPr lang="en-US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FocusListener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addFocusListener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objekListener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focusGained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FocusEvent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fe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focusLost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FocusEvent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fe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Semua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komponen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Swing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3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TextEvent</a:t>
                      </a:r>
                      <a:endParaRPr lang="en-US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TextListener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textValueChanged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TextEvent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te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JText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78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KeyEvent</a:t>
                      </a:r>
                      <a:endParaRPr lang="en-US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KeyListener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addKeyListener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objekListener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keyPressed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KeyEvent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ke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keyReleased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KeyEvent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ke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keyTyped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KeyEvent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ke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Semua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komponen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Swing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52600" y="274638"/>
            <a:ext cx="8686800" cy="563562"/>
          </a:xfrm>
        </p:spPr>
        <p:txBody>
          <a:bodyPr>
            <a:normAutofit/>
          </a:bodyPr>
          <a:lstStyle/>
          <a:p>
            <a:pPr algn="ctr"/>
            <a:r>
              <a:rPr lang="en-US" sz="2600" dirty="0"/>
              <a:t>Class Event, Interface Listener, </a:t>
            </a:r>
            <a:r>
              <a:rPr lang="en-US" sz="2600" dirty="0" err="1"/>
              <a:t>dan</a:t>
            </a:r>
            <a:r>
              <a:rPr lang="en-US" sz="2600" dirty="0"/>
              <a:t> Method Handler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1728083"/>
              </p:ext>
            </p:extLst>
          </p:nvPr>
        </p:nvGraphicFramePr>
        <p:xfrm>
          <a:off x="248574" y="1143000"/>
          <a:ext cx="11736279" cy="47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Class Event (</a:t>
                      </a:r>
                      <a:r>
                        <a:rPr lang="en-US" sz="18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Jenis</a:t>
                      </a: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Aksi</a:t>
                      </a: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Interface Listener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Method Standard Handler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</a:t>
                      </a:r>
                      <a:r>
                        <a:rPr lang="en-US" sz="18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Jenis</a:t>
                      </a: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Reaksi</a:t>
                      </a: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Component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6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MouseEvent</a:t>
                      </a:r>
                      <a:endParaRPr lang="en-US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MouseAdapter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Times New Roman"/>
                          <a:ea typeface="Times New Roman"/>
                          <a:cs typeface="Times New Roman"/>
                        </a:rPr>
                        <a:t>MouseMotionAdapter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MouseListener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MouseMotionListner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addMouseListener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objekListener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mousePressed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MouseEvent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me)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mouseReleaseStandardd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MouseEvent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me)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mouseEntered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MouseEvent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me)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mouseExited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MouseEvent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me)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mouseClicked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MouseEvent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me)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addMouseMotionListener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objekListener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mouseDragged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MouseEvent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me)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Semua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komponen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Swing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95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AdjustmentEvent</a:t>
                      </a:r>
                      <a:endParaRPr lang="en-US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AdjustmentListener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addAdjustmentListener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objekListener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500" dirty="0" err="1">
                          <a:latin typeface="Times New Roman"/>
                          <a:ea typeface="Times New Roman"/>
                          <a:cs typeface="Times New Roman"/>
                        </a:rPr>
                        <a:t>adjustmentValueChanged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5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AdjusmentEvent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500" dirty="0" err="1">
                          <a:latin typeface="Times New Roman"/>
                          <a:ea typeface="Times New Roman"/>
                          <a:cs typeface="Times New Roman"/>
                        </a:rPr>
                        <a:t>ae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JScrollBar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5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ListSelectionEvent</a:t>
                      </a:r>
                      <a:endParaRPr lang="en-US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ListSelectionListener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addListSelectionListener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objekListener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valueChanged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ListSelectionEvent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lse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JList</a:t>
                      </a:r>
                      <a:endParaRPr lang="en-US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52600" y="274638"/>
            <a:ext cx="8686800" cy="563562"/>
          </a:xfrm>
        </p:spPr>
        <p:txBody>
          <a:bodyPr>
            <a:normAutofit/>
          </a:bodyPr>
          <a:lstStyle/>
          <a:p>
            <a:pPr algn="ctr"/>
            <a:r>
              <a:rPr lang="en-US" sz="2600" dirty="0"/>
              <a:t>Class Event, Interface Listener, </a:t>
            </a:r>
            <a:r>
              <a:rPr lang="en-US" sz="2600" dirty="0" err="1"/>
              <a:t>dan</a:t>
            </a:r>
            <a:r>
              <a:rPr lang="en-US" sz="2600" dirty="0"/>
              <a:t> Method Handler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52600" y="1219200"/>
            <a:ext cx="8686800" cy="5638800"/>
          </a:xfrm>
        </p:spPr>
        <p:txBody>
          <a:bodyPr>
            <a:normAutofit/>
          </a:bodyPr>
          <a:lstStyle/>
          <a:p>
            <a:r>
              <a:rPr lang="en-US" dirty="0"/>
              <a:t>class CListener.java</a:t>
            </a:r>
          </a:p>
          <a:p>
            <a:r>
              <a:rPr lang="en-US" sz="2000" dirty="0"/>
              <a:t>Output </a:t>
            </a:r>
            <a:r>
              <a:rPr lang="en-US" sz="2000" dirty="0" err="1"/>
              <a:t>dari</a:t>
            </a:r>
            <a:r>
              <a:rPr lang="en-US" sz="2000" dirty="0"/>
              <a:t> class </a:t>
            </a:r>
            <a:r>
              <a:rPr lang="en-US" sz="2000" dirty="0" err="1"/>
              <a:t>tersebut</a:t>
            </a:r>
            <a:r>
              <a:rPr lang="en-US" sz="2000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dirty="0" err="1"/>
              <a:t>Bila</a:t>
            </a:r>
            <a:r>
              <a:rPr lang="en-US" sz="2000" dirty="0"/>
              <a:t> frame </a:t>
            </a:r>
            <a:r>
              <a:rPr lang="en-US" sz="2000" dirty="0" err="1"/>
              <a:t>tersebut</a:t>
            </a:r>
            <a:r>
              <a:rPr lang="en-US" sz="2000" dirty="0"/>
              <a:t> </a:t>
            </a:r>
            <a:r>
              <a:rPr lang="en-US" sz="2000" dirty="0" err="1"/>
              <a:t>digerakkan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ukurannya</a:t>
            </a:r>
            <a:r>
              <a:rPr lang="en-US" sz="2000" dirty="0"/>
              <a:t> </a:t>
            </a:r>
            <a:r>
              <a:rPr lang="en-US" sz="2000" dirty="0" err="1"/>
              <a:t>diubah</a:t>
            </a:r>
            <a:r>
              <a:rPr lang="en-US" sz="2000" dirty="0"/>
              <a:t> </a:t>
            </a:r>
            <a:r>
              <a:rPr lang="en-US" sz="2000" dirty="0" err="1"/>
              <a:t>maka</a:t>
            </a:r>
            <a:r>
              <a:rPr lang="en-US" sz="2000" dirty="0"/>
              <a:t> handler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memberikan</a:t>
            </a:r>
            <a:r>
              <a:rPr lang="en-US" sz="2000" dirty="0"/>
              <a:t> </a:t>
            </a:r>
            <a:r>
              <a:rPr lang="en-US" sz="2000" dirty="0" err="1"/>
              <a:t>komentar</a:t>
            </a:r>
            <a:r>
              <a:rPr lang="en-US" sz="2000" dirty="0"/>
              <a:t>: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914400"/>
          </a:xfrm>
        </p:spPr>
        <p:txBody>
          <a:bodyPr>
            <a:normAutofit/>
          </a:bodyPr>
          <a:lstStyle/>
          <a:p>
            <a:pPr algn="ctr"/>
            <a:r>
              <a:rPr lang="en-US" sz="2800" dirty="0" err="1"/>
              <a:t>Contoh-contoh</a:t>
            </a:r>
            <a:r>
              <a:rPr lang="en-US" sz="2800" dirty="0"/>
              <a:t> </a:t>
            </a:r>
            <a:r>
              <a:rPr lang="en-US" sz="2800" dirty="0" err="1"/>
              <a:t>penggunaan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Event Listener </a:t>
            </a:r>
            <a:r>
              <a:rPr lang="en-US" sz="2800" dirty="0" err="1"/>
              <a:t>dan</a:t>
            </a:r>
            <a:r>
              <a:rPr lang="en-US" sz="2800" dirty="0"/>
              <a:t> Even Handler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1200" y="1676400"/>
            <a:ext cx="2667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1" y="3886200"/>
            <a:ext cx="3386875" cy="235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52600" y="1481328"/>
            <a:ext cx="8686800" cy="4690872"/>
          </a:xfrm>
        </p:spPr>
        <p:txBody>
          <a:bodyPr/>
          <a:lstStyle/>
          <a:p>
            <a:r>
              <a:rPr lang="en-US" dirty="0"/>
              <a:t>Class Comp.java</a:t>
            </a:r>
          </a:p>
          <a:p>
            <a:r>
              <a:rPr lang="en-US" dirty="0"/>
              <a:t>Class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menggerakkan</a:t>
            </a:r>
            <a:r>
              <a:rPr lang="en-US" dirty="0"/>
              <a:t> frame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ukurannya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sendirinya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program.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salah-satu</a:t>
            </a:r>
            <a:r>
              <a:rPr lang="en-US" dirty="0"/>
              <a:t> frame output </a:t>
            </a:r>
            <a:r>
              <a:rPr lang="en-US" dirty="0" err="1"/>
              <a:t>dari</a:t>
            </a:r>
            <a:r>
              <a:rPr lang="en-US" dirty="0"/>
              <a:t> class </a:t>
            </a:r>
            <a:r>
              <a:rPr lang="en-US" dirty="0" err="1"/>
              <a:t>tsb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err="1"/>
              <a:t>Contoh-contoh</a:t>
            </a:r>
            <a:r>
              <a:rPr lang="en-US" sz="2800" dirty="0"/>
              <a:t> </a:t>
            </a:r>
            <a:r>
              <a:rPr lang="en-US" sz="2800" dirty="0" err="1"/>
              <a:t>penggunaan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Event Listener </a:t>
            </a:r>
            <a:r>
              <a:rPr lang="en-US" sz="2800" dirty="0" err="1"/>
              <a:t>dan</a:t>
            </a:r>
            <a:r>
              <a:rPr lang="en-US" sz="2800" dirty="0"/>
              <a:t> Even Handler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1" y="3429001"/>
            <a:ext cx="4581659" cy="2622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52600" y="1295401"/>
            <a:ext cx="8686800" cy="4711891"/>
          </a:xfrm>
        </p:spPr>
        <p:txBody>
          <a:bodyPr>
            <a:normAutofit/>
          </a:bodyPr>
          <a:lstStyle/>
          <a:p>
            <a:r>
              <a:rPr lang="en-US" sz="2300" dirty="0"/>
              <a:t>class Focus.java</a:t>
            </a:r>
          </a:p>
          <a:p>
            <a:r>
              <a:rPr lang="en-US" sz="2300" dirty="0"/>
              <a:t>Output </a:t>
            </a:r>
            <a:r>
              <a:rPr lang="en-US" sz="2300" dirty="0" err="1"/>
              <a:t>contoh</a:t>
            </a:r>
            <a:r>
              <a:rPr lang="en-US" sz="2300" dirty="0"/>
              <a:t> program </a:t>
            </a:r>
            <a:r>
              <a:rPr lang="en-US" sz="2300" dirty="0" err="1"/>
              <a:t>ini</a:t>
            </a:r>
            <a:r>
              <a:rPr lang="en-US" sz="2300" dirty="0"/>
              <a:t>, focus cursor </a:t>
            </a:r>
            <a:r>
              <a:rPr lang="en-US" sz="2300" dirty="0" err="1"/>
              <a:t>diarahkan</a:t>
            </a:r>
            <a:r>
              <a:rPr lang="en-US" sz="2300" dirty="0"/>
              <a:t> </a:t>
            </a:r>
            <a:r>
              <a:rPr lang="en-US" sz="2300" dirty="0" err="1"/>
              <a:t>pada</a:t>
            </a:r>
            <a:r>
              <a:rPr lang="en-US" sz="2300" dirty="0"/>
              <a:t> </a:t>
            </a:r>
            <a:r>
              <a:rPr lang="en-US" sz="2300" dirty="0" err="1"/>
              <a:t>salah</a:t>
            </a:r>
            <a:r>
              <a:rPr lang="en-US" sz="2300" dirty="0"/>
              <a:t> </a:t>
            </a:r>
            <a:r>
              <a:rPr lang="en-US" sz="2300" dirty="0" err="1"/>
              <a:t>satu</a:t>
            </a:r>
            <a:r>
              <a:rPr lang="en-US" sz="2300" dirty="0"/>
              <a:t> </a:t>
            </a:r>
            <a:r>
              <a:rPr lang="en-US" sz="2300" dirty="0" err="1"/>
              <a:t>textfield</a:t>
            </a:r>
            <a:r>
              <a:rPr lang="en-US" sz="2300" dirty="0"/>
              <a:t>, </a:t>
            </a:r>
            <a:r>
              <a:rPr lang="en-US" sz="2300" dirty="0" err="1"/>
              <a:t>bila</a:t>
            </a:r>
            <a:r>
              <a:rPr lang="en-US" sz="2300" dirty="0"/>
              <a:t> cursor </a:t>
            </a:r>
            <a:r>
              <a:rPr lang="en-US" sz="2300" dirty="0" err="1"/>
              <a:t>didekatkan</a:t>
            </a:r>
            <a:r>
              <a:rPr lang="en-US" sz="2300" dirty="0"/>
              <a:t> </a:t>
            </a:r>
            <a:r>
              <a:rPr lang="en-US" sz="2300" dirty="0" err="1"/>
              <a:t>ke</a:t>
            </a:r>
            <a:r>
              <a:rPr lang="en-US" sz="2300" dirty="0"/>
              <a:t> </a:t>
            </a:r>
            <a:r>
              <a:rPr lang="en-US" sz="2300" dirty="0" err="1"/>
              <a:t>salah</a:t>
            </a:r>
            <a:r>
              <a:rPr lang="en-US" sz="2300" dirty="0"/>
              <a:t> </a:t>
            </a:r>
            <a:r>
              <a:rPr lang="en-US" sz="2300" dirty="0" err="1"/>
              <a:t>satu</a:t>
            </a:r>
            <a:r>
              <a:rPr lang="en-US" sz="2300" dirty="0"/>
              <a:t> button </a:t>
            </a:r>
            <a:r>
              <a:rPr lang="en-US" sz="2300" dirty="0" err="1"/>
              <a:t>maka</a:t>
            </a:r>
            <a:r>
              <a:rPr lang="en-US" sz="2300" dirty="0"/>
              <a:t> </a:t>
            </a:r>
            <a:r>
              <a:rPr lang="en-US" sz="2300" dirty="0" err="1"/>
              <a:t>akan</a:t>
            </a:r>
            <a:r>
              <a:rPr lang="en-US" sz="2300" dirty="0"/>
              <a:t> </a:t>
            </a:r>
            <a:r>
              <a:rPr lang="en-US" sz="2300" dirty="0" err="1"/>
              <a:t>tampil</a:t>
            </a:r>
            <a:r>
              <a:rPr lang="en-US" sz="2300" dirty="0"/>
              <a:t> </a:t>
            </a:r>
            <a:r>
              <a:rPr lang="en-US" sz="2300" dirty="0" err="1"/>
              <a:t>penjelasan</a:t>
            </a:r>
            <a:r>
              <a:rPr lang="en-US" sz="2300" dirty="0"/>
              <a:t> button </a:t>
            </a:r>
            <a:r>
              <a:rPr lang="en-US" sz="2300" dirty="0" err="1"/>
              <a:t>tersebut</a:t>
            </a:r>
            <a:r>
              <a:rPr lang="en-US" sz="2300" dirty="0"/>
              <a:t>.</a:t>
            </a:r>
          </a:p>
          <a:p>
            <a:r>
              <a:rPr lang="en-US" sz="2300" dirty="0" err="1"/>
              <a:t>Jika</a:t>
            </a:r>
            <a:r>
              <a:rPr lang="en-US" sz="2300" dirty="0"/>
              <a:t> </a:t>
            </a:r>
            <a:r>
              <a:rPr lang="en-US" sz="2300" dirty="0" err="1"/>
              <a:t>textfield</a:t>
            </a:r>
            <a:r>
              <a:rPr lang="en-US" sz="2300" dirty="0"/>
              <a:t> </a:t>
            </a:r>
            <a:r>
              <a:rPr lang="en-US" sz="2300" dirty="0" err="1"/>
              <a:t>diisi</a:t>
            </a:r>
            <a:r>
              <a:rPr lang="en-US" sz="2300" dirty="0"/>
              <a:t> </a:t>
            </a:r>
            <a:r>
              <a:rPr lang="en-US" sz="2300" dirty="0" err="1"/>
              <a:t>maka</a:t>
            </a:r>
            <a:r>
              <a:rPr lang="en-US" sz="2300" dirty="0"/>
              <a:t> caption </a:t>
            </a:r>
            <a:r>
              <a:rPr lang="en-US" sz="2300" dirty="0" err="1"/>
              <a:t>pada</a:t>
            </a:r>
            <a:r>
              <a:rPr lang="en-US" sz="2300" dirty="0"/>
              <a:t> button </a:t>
            </a:r>
            <a:r>
              <a:rPr lang="en-US" sz="2300" dirty="0" err="1"/>
              <a:t>di</a:t>
            </a:r>
            <a:r>
              <a:rPr lang="en-US" sz="2300" dirty="0"/>
              <a:t> </a:t>
            </a:r>
            <a:r>
              <a:rPr lang="en-US" sz="2300" dirty="0" err="1"/>
              <a:t>sampingnya</a:t>
            </a:r>
            <a:r>
              <a:rPr lang="en-US" sz="2300" dirty="0"/>
              <a:t> </a:t>
            </a:r>
            <a:r>
              <a:rPr lang="en-US" sz="2300" dirty="0" err="1"/>
              <a:t>akan</a:t>
            </a:r>
            <a:r>
              <a:rPr lang="en-US" sz="2300" dirty="0"/>
              <a:t> </a:t>
            </a:r>
            <a:r>
              <a:rPr lang="en-US" sz="2300" dirty="0" err="1"/>
              <a:t>diganti</a:t>
            </a:r>
            <a:r>
              <a:rPr lang="en-US" sz="2300" dirty="0"/>
              <a:t> </a:t>
            </a:r>
            <a:r>
              <a:rPr lang="en-US" sz="2300" dirty="0" err="1"/>
              <a:t>sesuai</a:t>
            </a:r>
            <a:r>
              <a:rPr lang="en-US" sz="2300" dirty="0"/>
              <a:t> </a:t>
            </a:r>
            <a:r>
              <a:rPr lang="en-US" sz="2300" dirty="0" err="1"/>
              <a:t>isi</a:t>
            </a:r>
            <a:r>
              <a:rPr lang="en-US" sz="2300" dirty="0"/>
              <a:t> </a:t>
            </a:r>
            <a:r>
              <a:rPr lang="en-US" sz="2300" dirty="0" err="1"/>
              <a:t>textfield</a:t>
            </a:r>
            <a:r>
              <a:rPr lang="en-US" sz="2300" dirty="0"/>
              <a:t> yang </a:t>
            </a:r>
            <a:r>
              <a:rPr lang="en-US" sz="2300" dirty="0" err="1"/>
              <a:t>baru</a:t>
            </a:r>
            <a:r>
              <a:rPr lang="en-US" sz="2300" dirty="0"/>
              <a:t>.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944562"/>
          </a:xfrm>
        </p:spPr>
        <p:txBody>
          <a:bodyPr>
            <a:normAutofit/>
          </a:bodyPr>
          <a:lstStyle/>
          <a:p>
            <a:pPr algn="ctr"/>
            <a:r>
              <a:rPr lang="en-US" sz="2800" dirty="0" err="1"/>
              <a:t>Contoh-contoh</a:t>
            </a:r>
            <a:r>
              <a:rPr lang="en-US" sz="2800" dirty="0"/>
              <a:t> </a:t>
            </a:r>
            <a:r>
              <a:rPr lang="en-US" sz="2800" dirty="0" err="1"/>
              <a:t>penggunaan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Event Listener </a:t>
            </a:r>
            <a:r>
              <a:rPr lang="en-US" sz="2800" dirty="0" err="1"/>
              <a:t>dan</a:t>
            </a:r>
            <a:r>
              <a:rPr lang="en-US" sz="2800" dirty="0"/>
              <a:t> Even Handler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3733800"/>
            <a:ext cx="38862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52600" y="1481329"/>
            <a:ext cx="8686800" cy="4525963"/>
          </a:xfrm>
        </p:spPr>
        <p:txBody>
          <a:bodyPr/>
          <a:lstStyle/>
          <a:p>
            <a:r>
              <a:rPr lang="en-US" sz="2400" dirty="0"/>
              <a:t>class MouseUtama.java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dua</a:t>
            </a:r>
            <a:r>
              <a:rPr lang="en-US" sz="2400" dirty="0"/>
              <a:t> class event listener </a:t>
            </a:r>
            <a:r>
              <a:rPr lang="en-US" sz="2400" dirty="0" err="1"/>
              <a:t>yaitu</a:t>
            </a:r>
            <a:r>
              <a:rPr lang="en-US" sz="2400" dirty="0"/>
              <a:t> MListener.java </a:t>
            </a:r>
            <a:r>
              <a:rPr lang="en-US" sz="2400" dirty="0" err="1"/>
              <a:t>dan</a:t>
            </a:r>
            <a:r>
              <a:rPr lang="en-US" sz="2400" dirty="0"/>
              <a:t> MotionListener.java.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err="1"/>
              <a:t>Contoh-contoh</a:t>
            </a:r>
            <a:r>
              <a:rPr lang="en-US" sz="2800" dirty="0"/>
              <a:t> </a:t>
            </a:r>
            <a:r>
              <a:rPr lang="en-US" sz="2800" dirty="0" err="1"/>
              <a:t>penggunaan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Event Listener </a:t>
            </a:r>
            <a:r>
              <a:rPr lang="en-US" sz="2800" dirty="0" err="1"/>
              <a:t>dan</a:t>
            </a:r>
            <a:r>
              <a:rPr lang="en-US" sz="2800" dirty="0"/>
              <a:t> Even Handler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7200" y="2362201"/>
            <a:ext cx="400050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52600" y="1481329"/>
            <a:ext cx="8686800" cy="4525963"/>
          </a:xfrm>
        </p:spPr>
        <p:txBody>
          <a:bodyPr/>
          <a:lstStyle/>
          <a:p>
            <a:r>
              <a:rPr lang="en-US" dirty="0"/>
              <a:t>class WListener1.java</a:t>
            </a:r>
          </a:p>
          <a:p>
            <a:r>
              <a:rPr lang="en-US" dirty="0" err="1"/>
              <a:t>Pada</a:t>
            </a:r>
            <a:r>
              <a:rPr lang="en-US" dirty="0"/>
              <a:t> class </a:t>
            </a:r>
            <a:r>
              <a:rPr lang="en-US" dirty="0" err="1"/>
              <a:t>ini</a:t>
            </a:r>
            <a:r>
              <a:rPr lang="en-US" dirty="0"/>
              <a:t>, window listener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b="1" dirty="0"/>
              <a:t>constructor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class WListener2.java windows listener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method </a:t>
            </a:r>
            <a:r>
              <a:rPr lang="en-US" b="1" dirty="0"/>
              <a:t>main()</a:t>
            </a:r>
            <a:r>
              <a:rPr lang="en-US" dirty="0"/>
              <a:t>, </a:t>
            </a:r>
            <a:r>
              <a:rPr lang="en-US" dirty="0" err="1"/>
              <a:t>penempatan</a:t>
            </a:r>
            <a:r>
              <a:rPr lang="en-US" dirty="0"/>
              <a:t> window listener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opsional</a:t>
            </a:r>
            <a:r>
              <a:rPr lang="en-US" dirty="0"/>
              <a:t>, yang </a:t>
            </a:r>
            <a:r>
              <a:rPr lang="en-US" dirty="0" err="1"/>
              <a:t>kedunya</a:t>
            </a:r>
            <a:r>
              <a:rPr lang="en-US" dirty="0"/>
              <a:t> </a:t>
            </a:r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gaya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yang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output yang </a:t>
            </a:r>
            <a:r>
              <a:rPr lang="en-US" dirty="0" err="1"/>
              <a:t>sama</a:t>
            </a:r>
            <a:r>
              <a:rPr lang="en-US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err="1"/>
              <a:t>Contoh-contoh</a:t>
            </a:r>
            <a:r>
              <a:rPr lang="en-US" sz="2800" dirty="0"/>
              <a:t> </a:t>
            </a:r>
            <a:r>
              <a:rPr lang="en-US" sz="2800" dirty="0" err="1"/>
              <a:t>penggunaan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Event Listener </a:t>
            </a:r>
            <a:r>
              <a:rPr lang="en-US" sz="2800" dirty="0" err="1"/>
              <a:t>dan</a:t>
            </a:r>
            <a:r>
              <a:rPr lang="en-US" sz="2800" dirty="0"/>
              <a:t> Even Handler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52600" y="1066801"/>
            <a:ext cx="8686800" cy="4525963"/>
          </a:xfrm>
        </p:spPr>
        <p:txBody>
          <a:bodyPr/>
          <a:lstStyle/>
          <a:p>
            <a:r>
              <a:rPr lang="en-US" dirty="0"/>
              <a:t>class WListener2.java</a:t>
            </a:r>
          </a:p>
          <a:p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windows </a:t>
            </a:r>
            <a:r>
              <a:rPr lang="en-US" sz="2400" dirty="0" err="1"/>
              <a:t>sebagai</a:t>
            </a:r>
            <a:r>
              <a:rPr lang="en-US" sz="2400" dirty="0"/>
              <a:t> output class </a:t>
            </a:r>
            <a:r>
              <a:rPr lang="en-US" sz="2400" dirty="0" err="1"/>
              <a:t>tersebut</a:t>
            </a:r>
            <a:r>
              <a:rPr lang="en-US" sz="2400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reaksi</a:t>
            </a:r>
            <a:r>
              <a:rPr lang="en-US" dirty="0"/>
              <a:t> program </a:t>
            </a:r>
            <a:r>
              <a:rPr lang="en-US" dirty="0" err="1"/>
              <a:t>jika</a:t>
            </a:r>
            <a:r>
              <a:rPr lang="en-US" dirty="0"/>
              <a:t> user </a:t>
            </a:r>
            <a:r>
              <a:rPr lang="en-US" dirty="0" err="1"/>
              <a:t>menstimulasi</a:t>
            </a:r>
            <a:r>
              <a:rPr lang="en-US" dirty="0"/>
              <a:t> window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: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838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 err="1"/>
              <a:t>Contoh-contoh</a:t>
            </a:r>
            <a:r>
              <a:rPr lang="en-US" sz="2800" dirty="0"/>
              <a:t> </a:t>
            </a:r>
            <a:r>
              <a:rPr lang="en-US" sz="2800" dirty="0" err="1"/>
              <a:t>penggunaan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Event Listener </a:t>
            </a:r>
            <a:r>
              <a:rPr lang="en-US" sz="2800" dirty="0" err="1"/>
              <a:t>dan</a:t>
            </a:r>
            <a:r>
              <a:rPr lang="en-US" sz="2800" dirty="0"/>
              <a:t> Even Handler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4400" y="1981200"/>
            <a:ext cx="19812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6824" y="3886200"/>
            <a:ext cx="2619376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3776" y="1188720"/>
            <a:ext cx="5413248" cy="540410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class ContohUTS_0708.java</a:t>
            </a: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javax.swing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java.awt.event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ContohUTS_0708 extends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implements ActionListener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tfTampilKota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rbJava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rbPHP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rbOracle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cbBold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b="1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55767"/>
            <a:ext cx="10515600" cy="85921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 err="1"/>
              <a:t>Contoh-contoh</a:t>
            </a:r>
            <a:r>
              <a:rPr lang="en-US" sz="2800" dirty="0"/>
              <a:t> </a:t>
            </a:r>
            <a:r>
              <a:rPr lang="en-US" sz="2800" dirty="0" err="1"/>
              <a:t>penggunaan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Event Listener </a:t>
            </a:r>
            <a:r>
              <a:rPr lang="en-US" sz="2800" dirty="0" err="1"/>
              <a:t>dan</a:t>
            </a:r>
            <a:r>
              <a:rPr lang="en-US" sz="2800" dirty="0"/>
              <a:t> Even Handler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06E8173-5F9F-8CF4-C754-BA607CBC68EA}"/>
              </a:ext>
            </a:extLst>
          </p:cNvPr>
          <p:cNvSpPr txBox="1">
            <a:spLocks/>
          </p:cNvSpPr>
          <p:nvPr/>
        </p:nvSpPr>
        <p:spPr>
          <a:xfrm>
            <a:off x="6284978" y="1655063"/>
            <a:ext cx="5724144" cy="4224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cbItalic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cbUpperCase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cbLowerCase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comboKota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panel1, panel2, 			panel3, panel4, panel5;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5F66E-8CC5-5541-ACCC-223AFE705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C552FD-C1C9-77C6-20E3-2CEA1ED6E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2" y="612328"/>
            <a:ext cx="11622026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public ContohUTS_0708()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super("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Jawaban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UTS PBO 2 2007/2008");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//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membuat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komponen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TextField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("Ini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komentar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asli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tfTampilKota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(20);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//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membuat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kompnen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RadioButton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rbJava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("Java");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rbPHP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("PHP");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rbOracle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("Oracle");</a:t>
            </a: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//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daftarkan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setiap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komponen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sebagai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anggota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group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ButtonGroup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rbgroup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ButtonGroup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rbgroup.add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rbJava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rbgroup.add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rbPHP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rbgroup.add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rbOracle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5EAB4B7-2D31-5EC4-CF2B-E631950B1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Lucida Bright" panose="02040602050505020304" pitchFamily="18" charset="0"/>
              </a:rPr>
              <a:t>ContohUTS_0708.java (2)</a:t>
            </a:r>
            <a:endParaRPr lang="en-US" sz="40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14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0E341-A8B5-E872-25B2-5532F7456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A66BDB-E017-93EF-859A-6D38178CF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2" y="612328"/>
            <a:ext cx="11622026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membuat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komponen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CheckBox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cbBold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("Bold");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cbItalic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("Italic");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cbUpperCase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UpperCase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cbLowerCase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LowerCase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US" sz="1800" b="1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//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membuat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komponen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ComboBox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comboKota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</a:t>
            </a: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String kota[] = {"Medan","Batam","Balikpapan","Semarang","Surabaya"};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for(int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0;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&lt;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kota.length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++)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comboKota.addItem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kota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]);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comboKota.setSelectedItem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("Batam");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//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membuat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komponen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Button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("Ok");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("Cancel");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FF71AE-5441-459B-FA69-63AD25E1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Lucida Bright" panose="02040602050505020304" pitchFamily="18" charset="0"/>
              </a:rPr>
              <a:t>ContohUTS_0708.java (3)</a:t>
            </a:r>
            <a:endParaRPr lang="en-US" sz="40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694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CE34C-D311-9440-05EE-E0FD162EB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01D4EC-88FF-D5DC-CABD-DA29B411B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2" y="612328"/>
            <a:ext cx="11622026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membuat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panel1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panel2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panel3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panel4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panel5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//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pilih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layout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untuk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panel1.setLayout(new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(1,1));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panel2.setLayout(new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(3,1));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panel3.setLayout(new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(1,1));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panel4.setLayout(new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(4,1));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panel5.setLayout(new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(1,3));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// letakkan komponen TextField ke panel1 dan panel3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panel1.add(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	panel3.add(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tfTampilKota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23D4AFD-0384-9280-F9AF-58175182B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Lucida Bright" panose="02040602050505020304" pitchFamily="18" charset="0"/>
              </a:rPr>
              <a:t>ContohUTS_0708.java (4)</a:t>
            </a:r>
            <a:endParaRPr lang="en-US" sz="40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224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6FC9-566A-BD5A-31EE-8A65F2EC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411F5C-0BE5-A052-0FDA-3F57884BD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87" y="749488"/>
            <a:ext cx="11622026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//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letakkan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komponen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panel2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panel2.setBorder(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BorderFactory.createTitledBorder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("Bhs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Pemrg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."));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panel2.add(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rbJava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panel2.add(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rbPHP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panel2.add(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rbOracle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	//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letakkan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komponen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panel4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panel4.setBorder(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BorderFactory.createTitledBorder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("Font Style"));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panel4.add(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cbBold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panel4.add(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cbItalic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panel4.add(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cbUpperCase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panel4.add(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cbLowerCase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// letakkan komponen ComboBox ke panel5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panel5.add(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comboKota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24F915-FB65-7CC3-7562-995DF09E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Lucida Bright" panose="02040602050505020304" pitchFamily="18" charset="0"/>
              </a:rPr>
              <a:t>ContohUTS_0708.java (5)</a:t>
            </a:r>
            <a:endParaRPr lang="en-US" sz="40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53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AB834-862E-A816-CC3B-BE6DE7C3A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6C2A58-A4DC-DFDB-B619-7A3972FA6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87" y="749488"/>
            <a:ext cx="11622026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nb-NO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letakkan dua komponen Button ke panel5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panel5.add(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panel5.add(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nb-NO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buat container dan hubungkan dengan Frame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Container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this.getContentPane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pilih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layout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untuk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Container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kontainer.setLayout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BorderLayout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letakkan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 pada Container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(panel1,"North");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(panel2, "West");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(panel3, "Center");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(panel4,"East");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(panel5, "South");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335B07-658D-D68F-5473-43AA19AD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Lucida Bright" panose="02040602050505020304" pitchFamily="18" charset="0"/>
              </a:rPr>
              <a:t>ContohUTS_0708.java (6)</a:t>
            </a:r>
            <a:endParaRPr lang="en-US" sz="40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928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86BF8-C775-147B-8A8F-5C4F141D9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ED3B2C-A741-DCFB-C17D-2856E2632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87" y="749488"/>
            <a:ext cx="11622026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nb-NO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//dua komponen Button memanggil event listaner dan event handler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bOk.addActionListener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(this);</a:t>
            </a:r>
            <a:endParaRPr lang="en-ID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ID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bCancel.addActionListener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(this);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nb-NO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//komponen RadioButton memanggil event listener dan event handler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RBListener rbl = new RBListener();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rbJava.addItemListener(rbl);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rbPHP.addItemListener(rbl);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rbOracle.addItemListener(rbl);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nb-NO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// komponen Checkbox memanggil event listener dan event handler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cbBold.addItemListener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cbItalic.addItemListener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cbUpperCase.addItemListener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cbLowerCase.addItemListener(cbl);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88906C-7456-5DEC-A202-DC11D54E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Lucida Bright" panose="02040602050505020304" pitchFamily="18" charset="0"/>
              </a:rPr>
              <a:t>ContohUTS_0708.java (7)</a:t>
            </a:r>
            <a:endParaRPr lang="en-US" sz="40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9945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CCDB0-B5A6-DA4F-8009-A778E0CA7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EB4BD9-B0C1-0789-47AC-0BAFF5BD5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87" y="749488"/>
            <a:ext cx="11622026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komponen ComboBox memanggil event listener dan event handler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comboKota.addItemListener(new ItemListener()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	public void itemStateChanged(ItemEvent event) {     		      				tfTampilKota.setText((String)comboKota.getSelectedItem());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});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this.pack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this.setVisible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(true);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this.setLocation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(200,100);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this.setDefaultCloseOperation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(EXIT_ON_CLOSE);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akhir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constructor</a:t>
            </a: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049356-C1C3-6023-6535-6B619F0A7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Lucida Bright" panose="02040602050505020304" pitchFamily="18" charset="0"/>
              </a:rPr>
              <a:t>ContohUTS_0708.java (8)</a:t>
            </a:r>
            <a:endParaRPr lang="en-US" sz="40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0357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9394F-C1BB-EC2A-2EBF-906BEDD02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6A5A6E-DF27-0755-A5A3-1D2142957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87" y="749488"/>
            <a:ext cx="11622026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method event handler untuk komponen Button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actionPerformed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event.getSource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JOptionPane.showMessageDialog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(this,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	</a:t>
            </a: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"Anda telah menekan tombol Ok,\n" +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	"terima kasih telah berpartisipasi", "message",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JOptionPane.INFORMATION_MESSAGE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System.exit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(0);  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}</a:t>
            </a: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event.getSource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tfTampilKota.setText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rbJava.setSelected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rbPHP.setSelected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cbBold.setSelected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BC0E48-98E3-4860-73F3-4288A6507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Lucida Bright" panose="02040602050505020304" pitchFamily="18" charset="0"/>
              </a:rPr>
              <a:t>ContohUTS_0708.java (9)</a:t>
            </a:r>
            <a:endParaRPr lang="en-US" sz="40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009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126D7-5966-5608-DC02-4A8BD70E5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0213EF-77FE-1B64-0C94-3DB1062A6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87" y="749488"/>
            <a:ext cx="11622026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cbItalic.setSelected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cbUpperCase.setSelected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cbLowerCase.setSelected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comboKota.setSelectedIndex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 </a:t>
            </a:r>
            <a:r>
              <a:rPr lang="en-ID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ID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akhir</a:t>
            </a:r>
            <a:r>
              <a:rPr lang="en-ID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method event handler </a:t>
            </a:r>
            <a:r>
              <a:rPr lang="en-ID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untuk</a:t>
            </a:r>
            <a:r>
              <a:rPr lang="en-ID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komponen</a:t>
            </a:r>
            <a:r>
              <a:rPr lang="en-ID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Button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Inner Class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untuk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 listener pada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RadioButton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class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implements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ItemListener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event handler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itemStateChanged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ItemEvent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  		 		</a:t>
            </a: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objEvent.getSource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rbJava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	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objEvent.getStateChange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ItemEvent.SELECTED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	</a:t>
            </a:r>
            <a:r>
              <a:rPr lang="en-ID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tfkomentar.setText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("Anda </a:t>
            </a:r>
            <a:r>
              <a:rPr lang="en-ID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memilih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Bahasa </a:t>
            </a:r>
            <a:r>
              <a:rPr lang="en-ID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Pemrograman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Java");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926DFA-907C-3360-5625-7D846E96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Lucida Bright" panose="02040602050505020304" pitchFamily="18" charset="0"/>
              </a:rPr>
              <a:t>ContohUTS_0708.java (10)</a:t>
            </a:r>
            <a:endParaRPr lang="en-US" sz="40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123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E8AB8-6CBB-83EA-A772-727225FA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63A43D-3482-A3AE-EC63-6FA296812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87" y="749488"/>
            <a:ext cx="11622026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objEvent.getSource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rbPHP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		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objEvent.getStateChange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ItemEvent.SELECTED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("Anda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memilih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Bahasa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Pemrograman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PHP");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 	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objEvent.getSource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rbOracle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	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objEvent.getStateChange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ItemEvent.SELECTED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	</a:t>
            </a:r>
            <a:r>
              <a:rPr lang="en-ID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tfkomentar.setText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("Anda </a:t>
            </a:r>
            <a:r>
              <a:rPr lang="en-ID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memilih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Bahasa </a:t>
            </a:r>
            <a:r>
              <a:rPr lang="en-ID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Pemrograman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       Oracle");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 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}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akhir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method event handler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}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akhir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class event listener</a:t>
            </a: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Inner Class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untuk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 listener pada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CheckBox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class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implements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ItemListener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private int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vBold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Font.PLAIN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	private int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vItalic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Font.PLAIN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FC720A-B94E-9B9E-1A66-3043684D8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Lucida Bright" panose="02040602050505020304" pitchFamily="18" charset="0"/>
              </a:rPr>
              <a:t>ContohUTS_0708.java (11)</a:t>
            </a:r>
            <a:endParaRPr lang="en-US" sz="40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894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C263D-26CC-8B6B-3C5E-A659F4A40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05668E-0626-332C-643E-47BF45CFF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87" y="749488"/>
            <a:ext cx="11622026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public String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vUpperCase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tfkomentar.getText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public String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vLowerCase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tfkomentar.getText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public String str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tfkomentar.getText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// method event handler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itemStateChanged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ItemEvent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objEvent.getSource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cbBold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	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objEvent.getStateChange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ItemEvent.SELECTED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vBold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Font.BOLD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		else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vBold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Font.PLAIN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} else 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objEvent.getSource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cbItalic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	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objEvent.getStateChange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ItemEvent.SELECTED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vItalic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Font.ITALIC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	else</a:t>
            </a:r>
            <a:r>
              <a:rPr lang="en-ID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vItalic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Font.PLAIN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C6B001-508A-90C9-B35F-B71A0411A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Lucida Bright" panose="02040602050505020304" pitchFamily="18" charset="0"/>
              </a:rPr>
              <a:t>ContohUTS_0708.java (12)</a:t>
            </a:r>
            <a:endParaRPr lang="en-US" sz="40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5530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A0D95-243E-DC14-E927-91D391676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F49BA0-E897-E2EF-6B8A-DCABCD8D4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87" y="749488"/>
            <a:ext cx="11622026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else 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objEvent.getSource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cbUpperCase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	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objEvent.getStateChange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ItemEvent.SELECTED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   	//String str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tfkomentar.getText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str.toUpperCase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 	}	else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vUpperCase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}</a:t>
            </a:r>
            <a:r>
              <a:rPr lang="en-ID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else 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objEvent.getSource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cbLowerCase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	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objEvent.getStateChange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ItemEvent.SELECTED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  		String str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tfkomentar.getText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str.toLowerCase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}</a:t>
            </a:r>
            <a:r>
              <a:rPr lang="en-ID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else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vLowerCase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tfkomentar.setFont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Font("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TimesRoman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vBold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+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vItalic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14));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}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akhir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method event handler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5AC332-10DF-C86B-DE69-DAF3DA74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Lucida Bright" panose="02040602050505020304" pitchFamily="18" charset="0"/>
              </a:rPr>
              <a:t>ContohUTS_0708.java (13)</a:t>
            </a:r>
            <a:endParaRPr lang="en-US" sz="40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710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4C049-3838-12F0-26CD-FDA56920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C62408-AF12-91AC-9C2B-D1EF3CE4F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87" y="950976"/>
            <a:ext cx="11622026" cy="5550407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} //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akhir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class event listener 	 	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5715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public static void main(String[]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5715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new ContohUTS_0708();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5715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342900" algn="l"/>
                <a:tab pos="457200" algn="l"/>
                <a:tab pos="5715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F9F63E-4D2C-0DC2-764B-6F86D355D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Lucida Bright" panose="02040602050505020304" pitchFamily="18" charset="0"/>
              </a:rPr>
              <a:t>ContohUTS_0708.java (14)</a:t>
            </a:r>
            <a:endParaRPr lang="en-US" sz="40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035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76400" y="1600200"/>
            <a:ext cx="8839200" cy="4724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/>
              <a:t>1. Level Menu</a:t>
            </a:r>
            <a:endParaRPr lang="en-US" sz="3200" b="1" i="1" dirty="0"/>
          </a:p>
          <a:p>
            <a:endParaRPr lang="en-US" sz="1000" b="1" i="1" dirty="0"/>
          </a:p>
          <a:p>
            <a:pPr>
              <a:buNone/>
            </a:pPr>
            <a:r>
              <a:rPr lang="en-US" sz="3200" b="1" dirty="0"/>
              <a:t>2. Event Handling </a:t>
            </a:r>
            <a:r>
              <a:rPr lang="en-US" sz="3200" b="1" dirty="0" err="1"/>
              <a:t>pada</a:t>
            </a:r>
            <a:r>
              <a:rPr lang="en-US" sz="3200" b="1" dirty="0"/>
              <a:t> Menu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err="1"/>
              <a:t>Sistem</a:t>
            </a:r>
            <a:r>
              <a:rPr lang="en-US" sz="4000" b="1" dirty="0"/>
              <a:t> Menu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77049" y="990600"/>
            <a:ext cx="11203619" cy="5257800"/>
          </a:xfrm>
        </p:spPr>
        <p:txBody>
          <a:bodyPr>
            <a:normAutofit/>
          </a:bodyPr>
          <a:lstStyle/>
          <a:p>
            <a:r>
              <a:rPr lang="en-US" sz="4000" dirty="0"/>
              <a:t>Menu yang </a:t>
            </a:r>
            <a:r>
              <a:rPr lang="en-US" sz="4000" dirty="0" err="1"/>
              <a:t>dicreate</a:t>
            </a:r>
            <a:r>
              <a:rPr lang="en-US" sz="4000" dirty="0"/>
              <a:t> java </a:t>
            </a:r>
            <a:r>
              <a:rPr lang="en-US" sz="4000" dirty="0" err="1"/>
              <a:t>adalah</a:t>
            </a:r>
            <a:r>
              <a:rPr lang="en-US" sz="4000" dirty="0"/>
              <a:t> </a:t>
            </a:r>
            <a:r>
              <a:rPr lang="en-US" sz="4000" dirty="0" err="1"/>
              <a:t>objek</a:t>
            </a:r>
            <a:r>
              <a:rPr lang="en-US" sz="4000" dirty="0"/>
              <a:t>.</a:t>
            </a:r>
          </a:p>
          <a:p>
            <a:endParaRPr lang="en-US" sz="4000" dirty="0"/>
          </a:p>
          <a:p>
            <a:r>
              <a:rPr lang="en-US" sz="4000" dirty="0" err="1"/>
              <a:t>Sistem</a:t>
            </a:r>
            <a:r>
              <a:rPr lang="en-US" sz="4000" dirty="0"/>
              <a:t> menu yang </a:t>
            </a:r>
            <a:r>
              <a:rPr lang="en-US" sz="4000" dirty="0" err="1"/>
              <a:t>dicreate</a:t>
            </a:r>
            <a:r>
              <a:rPr lang="en-US" sz="4000" dirty="0"/>
              <a:t> java </a:t>
            </a:r>
            <a:r>
              <a:rPr lang="en-US" sz="4000" dirty="0" err="1"/>
              <a:t>dibagi</a:t>
            </a:r>
            <a:r>
              <a:rPr lang="en-US" sz="4000" dirty="0"/>
              <a:t> </a:t>
            </a:r>
            <a:r>
              <a:rPr lang="en-US" sz="4000" dirty="0" err="1"/>
              <a:t>tiga</a:t>
            </a:r>
            <a:r>
              <a:rPr lang="en-US" sz="4000" dirty="0"/>
              <a:t> level:</a:t>
            </a:r>
          </a:p>
          <a:p>
            <a:r>
              <a:rPr lang="en-US" sz="4000" dirty="0"/>
              <a:t>1. </a:t>
            </a:r>
            <a:r>
              <a:rPr lang="en-US" sz="4000" dirty="0" err="1"/>
              <a:t>Objek</a:t>
            </a:r>
            <a:r>
              <a:rPr lang="en-US" sz="4000" dirty="0"/>
              <a:t> </a:t>
            </a:r>
            <a:r>
              <a:rPr lang="en-US" sz="4000" dirty="0" err="1"/>
              <a:t>dari</a:t>
            </a:r>
            <a:r>
              <a:rPr lang="en-US" sz="4000" dirty="0"/>
              <a:t> </a:t>
            </a:r>
            <a:r>
              <a:rPr lang="en-US" sz="4000" dirty="0" err="1"/>
              <a:t>instansiasi</a:t>
            </a:r>
            <a:r>
              <a:rPr lang="en-US" sz="4000" dirty="0"/>
              <a:t> class </a:t>
            </a:r>
            <a:r>
              <a:rPr lang="en-US" sz="4000" dirty="0" err="1"/>
              <a:t>JMenuBar</a:t>
            </a:r>
            <a:endParaRPr lang="en-US" sz="4000" dirty="0"/>
          </a:p>
          <a:p>
            <a:r>
              <a:rPr lang="en-US" sz="4000" dirty="0"/>
              <a:t>2. </a:t>
            </a:r>
            <a:r>
              <a:rPr lang="en-US" sz="4000" dirty="0" err="1"/>
              <a:t>Objek</a:t>
            </a:r>
            <a:r>
              <a:rPr lang="en-US" sz="4000" dirty="0"/>
              <a:t> </a:t>
            </a:r>
            <a:r>
              <a:rPr lang="en-US" sz="4000" dirty="0" err="1"/>
              <a:t>dari</a:t>
            </a:r>
            <a:r>
              <a:rPr lang="en-US" sz="4000" dirty="0"/>
              <a:t> </a:t>
            </a:r>
            <a:r>
              <a:rPr lang="en-US" sz="4000" dirty="0" err="1"/>
              <a:t>instansiasi</a:t>
            </a:r>
            <a:r>
              <a:rPr lang="en-US" sz="4000" dirty="0"/>
              <a:t> class </a:t>
            </a:r>
            <a:r>
              <a:rPr lang="en-US" sz="4000" dirty="0" err="1"/>
              <a:t>Jmenu</a:t>
            </a:r>
            <a:endParaRPr lang="en-US" sz="4000" dirty="0"/>
          </a:p>
          <a:p>
            <a:r>
              <a:rPr lang="en-US" sz="4000" dirty="0"/>
              <a:t>3. </a:t>
            </a:r>
            <a:r>
              <a:rPr lang="en-US" sz="4000" dirty="0" err="1"/>
              <a:t>Objek</a:t>
            </a:r>
            <a:r>
              <a:rPr lang="en-US" sz="4000" dirty="0"/>
              <a:t> </a:t>
            </a:r>
            <a:r>
              <a:rPr lang="en-US" sz="4000" dirty="0" err="1"/>
              <a:t>dari</a:t>
            </a:r>
            <a:r>
              <a:rPr lang="en-US" sz="4000" dirty="0"/>
              <a:t> </a:t>
            </a:r>
            <a:r>
              <a:rPr lang="en-US" sz="4000" dirty="0" err="1"/>
              <a:t>instansiasi</a:t>
            </a:r>
            <a:r>
              <a:rPr lang="en-US" sz="4000" dirty="0"/>
              <a:t> class </a:t>
            </a:r>
            <a:r>
              <a:rPr lang="en-US" sz="4000" dirty="0" err="1"/>
              <a:t>JMenuItem</a:t>
            </a:r>
            <a:endParaRPr lang="en-US" sz="4000" dirty="0"/>
          </a:p>
          <a:p>
            <a:endParaRPr lang="en-US" sz="1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609600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Level Menu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8272" y="990600"/>
            <a:ext cx="11354540" cy="5334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Level1: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penempatan</a:t>
            </a:r>
            <a:r>
              <a:rPr lang="en-US" dirty="0"/>
              <a:t> </a:t>
            </a:r>
            <a:r>
              <a:rPr lang="en-US" dirty="0" err="1"/>
              <a:t>MenuBar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Frame</a:t>
            </a:r>
          </a:p>
          <a:p>
            <a:r>
              <a:rPr lang="en-US" dirty="0" err="1"/>
              <a:t>JFrame</a:t>
            </a:r>
            <a:r>
              <a:rPr lang="en-US" dirty="0"/>
              <a:t> frame = new </a:t>
            </a:r>
            <a:r>
              <a:rPr lang="en-US" dirty="0" err="1"/>
              <a:t>Jframe</a:t>
            </a:r>
            <a:r>
              <a:rPr lang="en-US" dirty="0"/>
              <a:t>();          //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frame </a:t>
            </a:r>
            <a:r>
              <a:rPr lang="en-US" dirty="0" err="1"/>
              <a:t>seperti</a:t>
            </a:r>
            <a:r>
              <a:rPr lang="en-US" dirty="0"/>
              <a:t> langkah1</a:t>
            </a:r>
          </a:p>
          <a:p>
            <a:r>
              <a:rPr lang="en-US" dirty="0" err="1"/>
              <a:t>JMenuBar</a:t>
            </a:r>
            <a:r>
              <a:rPr lang="en-US" dirty="0"/>
              <a:t> bar = new </a:t>
            </a:r>
            <a:r>
              <a:rPr lang="en-US" dirty="0" err="1"/>
              <a:t>JMenuBar</a:t>
            </a:r>
            <a:r>
              <a:rPr lang="en-US" dirty="0"/>
              <a:t>(); //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bar</a:t>
            </a:r>
          </a:p>
          <a:p>
            <a:r>
              <a:rPr lang="en-US" dirty="0" err="1">
                <a:solidFill>
                  <a:srgbClr val="FF0000"/>
                </a:solidFill>
              </a:rPr>
              <a:t>frame</a:t>
            </a:r>
            <a:r>
              <a:rPr lang="en-US" dirty="0" err="1"/>
              <a:t>.setJMenuBar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bar</a:t>
            </a:r>
            <a:r>
              <a:rPr lang="en-US" dirty="0"/>
              <a:t>);                  //</a:t>
            </a:r>
            <a:r>
              <a:rPr lang="en-US" dirty="0" err="1"/>
              <a:t>menempatkan</a:t>
            </a:r>
            <a:r>
              <a:rPr lang="en-US" dirty="0"/>
              <a:t> bar pada frame</a:t>
            </a:r>
          </a:p>
          <a:p>
            <a:endParaRPr lang="en-US" sz="1200" dirty="0"/>
          </a:p>
          <a:p>
            <a:r>
              <a:rPr lang="en-US" dirty="0"/>
              <a:t>Level2: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penempatan</a:t>
            </a:r>
            <a:r>
              <a:rPr lang="en-US" dirty="0"/>
              <a:t> Menu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MenuBar</a:t>
            </a:r>
            <a:r>
              <a:rPr lang="en-US" dirty="0"/>
              <a:t>:</a:t>
            </a:r>
          </a:p>
          <a:p>
            <a:r>
              <a:rPr lang="en-US" dirty="0" err="1"/>
              <a:t>Jmenu</a:t>
            </a:r>
            <a:r>
              <a:rPr lang="en-US" dirty="0"/>
              <a:t> menu = new </a:t>
            </a:r>
            <a:r>
              <a:rPr lang="en-US" dirty="0" err="1"/>
              <a:t>Jmenu</a:t>
            </a:r>
            <a:r>
              <a:rPr lang="en-US" dirty="0"/>
              <a:t>(”</a:t>
            </a:r>
            <a:r>
              <a:rPr lang="en-US" dirty="0" err="1"/>
              <a:t>Peserta</a:t>
            </a:r>
            <a:r>
              <a:rPr lang="en-US" dirty="0"/>
              <a:t>”);   //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menu</a:t>
            </a:r>
          </a:p>
          <a:p>
            <a:r>
              <a:rPr lang="en-US" dirty="0" err="1">
                <a:solidFill>
                  <a:srgbClr val="FF0000"/>
                </a:solidFill>
              </a:rPr>
              <a:t>bar</a:t>
            </a:r>
            <a:r>
              <a:rPr lang="en-US" dirty="0" err="1"/>
              <a:t>.add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menu</a:t>
            </a:r>
            <a:r>
              <a:rPr lang="en-US" dirty="0"/>
              <a:t>);                                            //</a:t>
            </a:r>
            <a:r>
              <a:rPr lang="en-US" dirty="0" err="1"/>
              <a:t>menempatkan</a:t>
            </a:r>
            <a:r>
              <a:rPr lang="en-US" dirty="0"/>
              <a:t> menu pada bar</a:t>
            </a:r>
          </a:p>
          <a:p>
            <a:endParaRPr lang="en-US" sz="1000" dirty="0"/>
          </a:p>
          <a:p>
            <a:r>
              <a:rPr lang="en-US" sz="2600" dirty="0"/>
              <a:t>Level3: </a:t>
            </a:r>
            <a:r>
              <a:rPr lang="en-US" sz="2600" dirty="0" err="1"/>
              <a:t>Contoh</a:t>
            </a:r>
            <a:r>
              <a:rPr lang="en-US" sz="2600" dirty="0"/>
              <a:t> </a:t>
            </a:r>
            <a:r>
              <a:rPr lang="en-US" sz="2600" dirty="0" err="1"/>
              <a:t>penempatan</a:t>
            </a:r>
            <a:r>
              <a:rPr lang="en-US" sz="2600" dirty="0"/>
              <a:t> </a:t>
            </a:r>
            <a:r>
              <a:rPr lang="en-US" sz="2600" dirty="0" err="1"/>
              <a:t>MenuItem</a:t>
            </a:r>
            <a:r>
              <a:rPr lang="en-US" sz="2600" dirty="0"/>
              <a:t> </a:t>
            </a:r>
            <a:r>
              <a:rPr lang="en-US" sz="2600" dirty="0" err="1"/>
              <a:t>pada</a:t>
            </a:r>
            <a:r>
              <a:rPr lang="en-US" sz="2600" dirty="0"/>
              <a:t> Menu:</a:t>
            </a:r>
          </a:p>
          <a:p>
            <a:r>
              <a:rPr lang="en-US" sz="2600" dirty="0" err="1"/>
              <a:t>JMenuItem</a:t>
            </a:r>
            <a:r>
              <a:rPr lang="en-US" sz="2600" dirty="0"/>
              <a:t> item1 = new </a:t>
            </a:r>
            <a:r>
              <a:rPr lang="en-US" sz="2600" dirty="0" err="1"/>
              <a:t>JMenuItem</a:t>
            </a:r>
            <a:r>
              <a:rPr lang="en-US" sz="2600" dirty="0"/>
              <a:t>(”</a:t>
            </a:r>
            <a:r>
              <a:rPr lang="en-US" sz="2600" dirty="0" err="1"/>
              <a:t>Pendaftaran</a:t>
            </a:r>
            <a:r>
              <a:rPr lang="en-US" sz="2600" dirty="0"/>
              <a:t>”); //</a:t>
            </a:r>
            <a:r>
              <a:rPr lang="en-US" sz="2600" dirty="0" err="1"/>
              <a:t>membuat</a:t>
            </a:r>
            <a:r>
              <a:rPr lang="en-US" sz="2600" dirty="0"/>
              <a:t> item1</a:t>
            </a:r>
          </a:p>
          <a:p>
            <a:r>
              <a:rPr lang="en-US" sz="2600" dirty="0" err="1"/>
              <a:t>JMenuItem</a:t>
            </a:r>
            <a:r>
              <a:rPr lang="en-US" sz="2600" dirty="0"/>
              <a:t> item2 = new </a:t>
            </a:r>
            <a:r>
              <a:rPr lang="en-US" sz="2600" dirty="0" err="1"/>
              <a:t>JMenuItem</a:t>
            </a:r>
            <a:r>
              <a:rPr lang="en-US" sz="2600" dirty="0"/>
              <a:t>(”</a:t>
            </a:r>
            <a:r>
              <a:rPr lang="en-US" sz="2600" dirty="0" err="1"/>
              <a:t>Perubahan</a:t>
            </a:r>
            <a:r>
              <a:rPr lang="en-US" sz="2600" dirty="0"/>
              <a:t>”);   //</a:t>
            </a:r>
            <a:r>
              <a:rPr lang="en-US" sz="2600" dirty="0" err="1"/>
              <a:t>membuat</a:t>
            </a:r>
            <a:r>
              <a:rPr lang="en-US" sz="2600" dirty="0"/>
              <a:t> item2</a:t>
            </a:r>
          </a:p>
          <a:p>
            <a:r>
              <a:rPr lang="en-US" sz="2600" dirty="0" err="1"/>
              <a:t>JMenuItem</a:t>
            </a:r>
            <a:r>
              <a:rPr lang="en-US" sz="2600" dirty="0"/>
              <a:t> item3 = new </a:t>
            </a:r>
            <a:r>
              <a:rPr lang="en-US" sz="2600" dirty="0" err="1"/>
              <a:t>JMenuItem</a:t>
            </a:r>
            <a:r>
              <a:rPr lang="en-US" sz="2600" dirty="0"/>
              <a:t>(”</a:t>
            </a:r>
            <a:r>
              <a:rPr lang="en-US" sz="2600" dirty="0" err="1"/>
              <a:t>Pembatalan</a:t>
            </a:r>
            <a:r>
              <a:rPr lang="en-US" sz="2600" dirty="0"/>
              <a:t>”); //</a:t>
            </a:r>
            <a:r>
              <a:rPr lang="en-US" sz="2600" dirty="0" err="1"/>
              <a:t>membuat</a:t>
            </a:r>
            <a:r>
              <a:rPr lang="en-US" sz="2600" dirty="0"/>
              <a:t> item3</a:t>
            </a:r>
          </a:p>
          <a:p>
            <a:r>
              <a:rPr lang="en-US" sz="2600" dirty="0" err="1">
                <a:solidFill>
                  <a:srgbClr val="FF0000"/>
                </a:solidFill>
              </a:rPr>
              <a:t>menu</a:t>
            </a:r>
            <a:r>
              <a:rPr lang="en-US" sz="2600" dirty="0" err="1"/>
              <a:t>.add</a:t>
            </a:r>
            <a:r>
              <a:rPr lang="en-US" sz="2600" dirty="0"/>
              <a:t>(</a:t>
            </a:r>
            <a:r>
              <a:rPr lang="en-US" sz="2600" dirty="0">
                <a:solidFill>
                  <a:srgbClr val="FF0000"/>
                </a:solidFill>
              </a:rPr>
              <a:t>item1</a:t>
            </a:r>
            <a:r>
              <a:rPr lang="en-US" sz="2600" dirty="0"/>
              <a:t>);                                                              //</a:t>
            </a:r>
            <a:r>
              <a:rPr lang="en-US" sz="2600" dirty="0" err="1"/>
              <a:t>menempatkan</a:t>
            </a:r>
            <a:r>
              <a:rPr lang="en-US" sz="2600" dirty="0"/>
              <a:t> item1 pada menu</a:t>
            </a:r>
          </a:p>
          <a:p>
            <a:r>
              <a:rPr lang="en-US" sz="2600" dirty="0" err="1">
                <a:solidFill>
                  <a:srgbClr val="FF0000"/>
                </a:solidFill>
              </a:rPr>
              <a:t>menu</a:t>
            </a:r>
            <a:r>
              <a:rPr lang="en-US" sz="2600" dirty="0" err="1"/>
              <a:t>.add</a:t>
            </a:r>
            <a:r>
              <a:rPr lang="en-US" sz="2600" dirty="0"/>
              <a:t>(</a:t>
            </a:r>
            <a:r>
              <a:rPr lang="en-US" sz="2600" dirty="0">
                <a:solidFill>
                  <a:srgbClr val="FF0000"/>
                </a:solidFill>
              </a:rPr>
              <a:t>item2</a:t>
            </a:r>
            <a:r>
              <a:rPr lang="en-US" sz="2600" dirty="0"/>
              <a:t>);                                                              //</a:t>
            </a:r>
            <a:r>
              <a:rPr lang="en-US" sz="2600" dirty="0" err="1"/>
              <a:t>menempatkan</a:t>
            </a:r>
            <a:r>
              <a:rPr lang="en-US" sz="2600" dirty="0"/>
              <a:t> item2 pada menu                                                     </a:t>
            </a:r>
          </a:p>
          <a:p>
            <a:r>
              <a:rPr lang="en-US" sz="2600" dirty="0" err="1">
                <a:solidFill>
                  <a:srgbClr val="FF0000"/>
                </a:solidFill>
              </a:rPr>
              <a:t>menu</a:t>
            </a:r>
            <a:r>
              <a:rPr lang="en-US" sz="2600" dirty="0" err="1"/>
              <a:t>.add</a:t>
            </a:r>
            <a:r>
              <a:rPr lang="en-US" sz="2600" dirty="0"/>
              <a:t>(</a:t>
            </a:r>
            <a:r>
              <a:rPr lang="en-US" sz="2600" dirty="0">
                <a:solidFill>
                  <a:srgbClr val="FF0000"/>
                </a:solidFill>
              </a:rPr>
              <a:t>item3</a:t>
            </a:r>
            <a:r>
              <a:rPr lang="en-US" sz="2600" dirty="0"/>
              <a:t>);                                                              //</a:t>
            </a:r>
            <a:r>
              <a:rPr lang="en-US" sz="2600" dirty="0" err="1"/>
              <a:t>menempatkan</a:t>
            </a:r>
            <a:r>
              <a:rPr lang="en-US" sz="2600" dirty="0"/>
              <a:t> item3 pada menu</a:t>
            </a:r>
          </a:p>
          <a:p>
            <a:endParaRPr lang="en-US" sz="2600" dirty="0"/>
          </a:p>
          <a:p>
            <a:endParaRPr lang="en-US" sz="2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52600" y="274638"/>
            <a:ext cx="8686800" cy="639762"/>
          </a:xfrm>
        </p:spPr>
        <p:txBody>
          <a:bodyPr>
            <a:normAutofit/>
          </a:bodyPr>
          <a:lstStyle/>
          <a:p>
            <a:pPr algn="ctr"/>
            <a:r>
              <a:rPr lang="en-US" sz="3200" dirty="0" err="1"/>
              <a:t>Contoh</a:t>
            </a:r>
            <a:r>
              <a:rPr lang="en-US" sz="3200" dirty="0"/>
              <a:t> </a:t>
            </a:r>
            <a:r>
              <a:rPr lang="en-US" sz="3200" dirty="0" err="1"/>
              <a:t>penempatan</a:t>
            </a:r>
            <a:r>
              <a:rPr lang="en-US" sz="3200" dirty="0"/>
              <a:t> menu step by step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0719" y="1295401"/>
            <a:ext cx="11558726" cy="4711891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MenuItem</a:t>
            </a:r>
            <a:r>
              <a:rPr lang="en-US" dirty="0"/>
              <a:t> yang </a:t>
            </a:r>
            <a:r>
              <a:rPr lang="en-US" dirty="0" err="1"/>
              <a:t>dipilih</a:t>
            </a:r>
            <a:r>
              <a:rPr lang="en-US" dirty="0"/>
              <a:t> user (</a:t>
            </a:r>
            <a:r>
              <a:rPr lang="en-US" dirty="0" err="1"/>
              <a:t>aksi</a:t>
            </a:r>
            <a:r>
              <a:rPr lang="en-US" dirty="0"/>
              <a:t>)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didengar</a:t>
            </a:r>
            <a:r>
              <a:rPr lang="en-US" dirty="0"/>
              <a:t> oleh </a:t>
            </a:r>
            <a:r>
              <a:rPr lang="en-US" b="1" dirty="0"/>
              <a:t>ActionListener</a:t>
            </a:r>
            <a:r>
              <a:rPr lang="en-US" dirty="0"/>
              <a:t>.</a:t>
            </a:r>
          </a:p>
          <a:p>
            <a:r>
              <a:rPr lang="en-US" dirty="0"/>
              <a:t>Dari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level </a:t>
            </a:r>
            <a:r>
              <a:rPr lang="en-US" dirty="0" err="1"/>
              <a:t>ketiga</a:t>
            </a:r>
            <a:r>
              <a:rPr lang="en-US" dirty="0"/>
              <a:t> menu:</a:t>
            </a:r>
          </a:p>
          <a:p>
            <a:r>
              <a:rPr lang="en-US" b="1" dirty="0" err="1"/>
              <a:t>JMenuItem</a:t>
            </a:r>
            <a:r>
              <a:rPr lang="en-US" b="1" dirty="0"/>
              <a:t> </a:t>
            </a:r>
            <a:r>
              <a:rPr lang="en-US" b="1" dirty="0" err="1"/>
              <a:t>exitItem</a:t>
            </a:r>
            <a:r>
              <a:rPr lang="en-US" b="1" dirty="0"/>
              <a:t> = new </a:t>
            </a:r>
            <a:r>
              <a:rPr lang="en-US" b="1" dirty="0" err="1"/>
              <a:t>JMenuItem</a:t>
            </a:r>
            <a:r>
              <a:rPr lang="en-US" b="1" dirty="0"/>
              <a:t>(”Exit”);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menu</a:t>
            </a:r>
            <a:r>
              <a:rPr lang="en-US" b="1" dirty="0" err="1"/>
              <a:t>.add</a:t>
            </a:r>
            <a:r>
              <a:rPr lang="en-US" b="1" dirty="0"/>
              <a:t>(</a:t>
            </a:r>
            <a:r>
              <a:rPr lang="en-US" b="1" dirty="0" err="1">
                <a:solidFill>
                  <a:srgbClr val="FF0000"/>
                </a:solidFill>
              </a:rPr>
              <a:t>exitItem</a:t>
            </a:r>
            <a:r>
              <a:rPr lang="en-US" b="1" dirty="0"/>
              <a:t>);</a:t>
            </a:r>
          </a:p>
          <a:p>
            <a:r>
              <a:rPr lang="en-US" dirty="0" err="1"/>
              <a:t>Maka</a:t>
            </a:r>
            <a:r>
              <a:rPr lang="en-US" dirty="0"/>
              <a:t> event handling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:</a:t>
            </a:r>
          </a:p>
          <a:p>
            <a:r>
              <a:rPr lang="en-US" b="1" dirty="0" err="1"/>
              <a:t>exitItem.addActionListener</a:t>
            </a: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b="1" dirty="0"/>
              <a:t>new ActionListener() {   //class event listener</a:t>
            </a:r>
          </a:p>
          <a:p>
            <a:r>
              <a:rPr lang="en-US" b="1" dirty="0"/>
              <a:t>      public void </a:t>
            </a:r>
            <a:r>
              <a:rPr lang="en-US" b="1" dirty="0" err="1"/>
              <a:t>actionPerformed</a:t>
            </a:r>
            <a:r>
              <a:rPr lang="en-US" b="1" dirty="0"/>
              <a:t>(</a:t>
            </a:r>
            <a:r>
              <a:rPr lang="en-US" b="1" dirty="0" err="1"/>
              <a:t>ActionEvent</a:t>
            </a:r>
            <a:r>
              <a:rPr lang="en-US" b="1" dirty="0"/>
              <a:t> </a:t>
            </a:r>
            <a:r>
              <a:rPr lang="en-US" b="1" dirty="0" err="1"/>
              <a:t>ev</a:t>
            </a:r>
            <a:r>
              <a:rPr lang="en-US" b="1" dirty="0"/>
              <a:t>) {    //method event handler</a:t>
            </a:r>
          </a:p>
          <a:p>
            <a:r>
              <a:rPr lang="en-US" b="1" dirty="0"/>
              <a:t>            </a:t>
            </a:r>
            <a:r>
              <a:rPr lang="en-US" b="1" dirty="0" err="1"/>
              <a:t>System.exit</a:t>
            </a:r>
            <a:r>
              <a:rPr lang="en-US" b="1" dirty="0"/>
              <a:t>(0);</a:t>
            </a:r>
          </a:p>
          <a:p>
            <a:r>
              <a:rPr lang="en-US" b="1" dirty="0"/>
              <a:t>            ……..</a:t>
            </a:r>
          </a:p>
          <a:p>
            <a:r>
              <a:rPr lang="en-US" b="1" dirty="0"/>
              <a:t>      } </a:t>
            </a:r>
          </a:p>
          <a:p>
            <a:r>
              <a:rPr lang="en-US" b="1" dirty="0"/>
              <a:t>}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b="1" dirty="0"/>
              <a:t>;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pPr algn="ctr"/>
            <a:r>
              <a:rPr lang="en-US" sz="3200" dirty="0"/>
              <a:t>Event Handling </a:t>
            </a:r>
            <a:r>
              <a:rPr lang="en-US" sz="3200" dirty="0" err="1"/>
              <a:t>pada</a:t>
            </a:r>
            <a:r>
              <a:rPr lang="en-US" sz="3200" dirty="0"/>
              <a:t> Menu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2861" y="1066801"/>
            <a:ext cx="11603115" cy="4940491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lain:</a:t>
            </a:r>
          </a:p>
          <a:p>
            <a:r>
              <a:rPr lang="en-US" dirty="0"/>
              <a:t>ActionListener </a:t>
            </a:r>
            <a:r>
              <a:rPr lang="en-US" dirty="0" err="1"/>
              <a:t>objekListener</a:t>
            </a:r>
            <a:r>
              <a:rPr lang="en-US" dirty="0"/>
              <a:t> = new ActionListener() {    //class event listener</a:t>
            </a:r>
          </a:p>
          <a:p>
            <a:r>
              <a:rPr lang="en-US" dirty="0"/>
              <a:t>     </a:t>
            </a:r>
            <a:r>
              <a:rPr lang="en-US" sz="2500" dirty="0"/>
              <a:t>public void </a:t>
            </a:r>
            <a:r>
              <a:rPr lang="en-US" sz="2500" dirty="0" err="1"/>
              <a:t>actionPerformed</a:t>
            </a:r>
            <a:r>
              <a:rPr lang="en-US" sz="2500" dirty="0"/>
              <a:t>(</a:t>
            </a:r>
            <a:r>
              <a:rPr lang="en-US" sz="2500" dirty="0" err="1"/>
              <a:t>ActionEvent</a:t>
            </a:r>
            <a:r>
              <a:rPr lang="en-US" sz="2500" dirty="0"/>
              <a:t> event) {                 //method event handler</a:t>
            </a:r>
          </a:p>
          <a:p>
            <a:r>
              <a:rPr lang="en-US" sz="2500" dirty="0"/>
              <a:t>           if (</a:t>
            </a:r>
            <a:r>
              <a:rPr lang="en-US" sz="2500" dirty="0" err="1"/>
              <a:t>event.getSource</a:t>
            </a:r>
            <a:r>
              <a:rPr lang="en-US" sz="2500" dirty="0"/>
              <a:t>() == item1) {</a:t>
            </a:r>
          </a:p>
          <a:p>
            <a:r>
              <a:rPr lang="en-US" sz="2500" dirty="0"/>
              <a:t>              </a:t>
            </a:r>
            <a:r>
              <a:rPr lang="en-US" sz="2100" dirty="0"/>
              <a:t>//handling </a:t>
            </a:r>
            <a:r>
              <a:rPr lang="en-US" sz="2100" dirty="0" err="1"/>
              <a:t>objek</a:t>
            </a:r>
            <a:r>
              <a:rPr lang="en-US" sz="2100" dirty="0"/>
              <a:t> menuItem1 </a:t>
            </a:r>
            <a:r>
              <a:rPr lang="en-US" sz="2100" dirty="0" err="1"/>
              <a:t>dari</a:t>
            </a:r>
            <a:r>
              <a:rPr lang="en-US" sz="2100" dirty="0"/>
              <a:t> class </a:t>
            </a:r>
            <a:r>
              <a:rPr lang="en-US" sz="2100" dirty="0" err="1"/>
              <a:t>JMenuItem</a:t>
            </a:r>
            <a:r>
              <a:rPr lang="en-US" sz="2500" dirty="0"/>
              <a:t> </a:t>
            </a:r>
          </a:p>
          <a:p>
            <a:r>
              <a:rPr lang="en-US" sz="2500" dirty="0"/>
              <a:t>           }</a:t>
            </a:r>
          </a:p>
          <a:p>
            <a:r>
              <a:rPr lang="en-US" sz="2500" dirty="0"/>
              <a:t>           else if (…) </a:t>
            </a:r>
          </a:p>
          <a:p>
            <a:r>
              <a:rPr lang="en-US" sz="2500" dirty="0"/>
              <a:t>  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Event Handling </a:t>
            </a:r>
            <a:r>
              <a:rPr lang="en-US" sz="3200" dirty="0" err="1"/>
              <a:t>pada</a:t>
            </a:r>
            <a:r>
              <a:rPr lang="en-US" sz="3200" dirty="0"/>
              <a:t> Menu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2861" y="1490207"/>
            <a:ext cx="11443318" cy="4525963"/>
          </a:xfrm>
        </p:spPr>
        <p:txBody>
          <a:bodyPr>
            <a:normAutofit/>
          </a:bodyPr>
          <a:lstStyle/>
          <a:p>
            <a:r>
              <a:rPr lang="en-US" dirty="0" err="1"/>
              <a:t>Contoh</a:t>
            </a:r>
            <a:r>
              <a:rPr lang="en-US" dirty="0"/>
              <a:t> program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class </a:t>
            </a:r>
            <a:r>
              <a:rPr lang="en-US" b="1" dirty="0" err="1"/>
              <a:t>JCheckBoxMenuItem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b="1" dirty="0" err="1"/>
              <a:t>JRadioButtonMenuItem</a:t>
            </a:r>
            <a:endParaRPr lang="en-US" b="1" dirty="0"/>
          </a:p>
          <a:p>
            <a:endParaRPr lang="en-US" sz="1000" dirty="0"/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level </a:t>
            </a:r>
            <a:r>
              <a:rPr lang="en-US" dirty="0" err="1"/>
              <a:t>ketiga</a:t>
            </a:r>
            <a:r>
              <a:rPr lang="en-US" dirty="0"/>
              <a:t> menu </a:t>
            </a:r>
            <a:r>
              <a:rPr lang="en-US" dirty="0" err="1"/>
              <a:t>ditambahkan</a:t>
            </a:r>
            <a:r>
              <a:rPr lang="en-US" dirty="0"/>
              <a:t>: </a:t>
            </a:r>
          </a:p>
          <a:p>
            <a:r>
              <a:rPr lang="en-US" sz="1900" b="1" dirty="0" err="1"/>
              <a:t>JCheckBoxMenuItem</a:t>
            </a:r>
            <a:r>
              <a:rPr lang="en-US" sz="1900" b="1" dirty="0"/>
              <a:t> </a:t>
            </a:r>
            <a:r>
              <a:rPr lang="en-US" sz="1900" b="1" dirty="0" err="1"/>
              <a:t>ronly</a:t>
            </a:r>
            <a:r>
              <a:rPr lang="en-US" sz="1900" b="1" dirty="0"/>
              <a:t> = new </a:t>
            </a:r>
            <a:r>
              <a:rPr lang="en-US" sz="1900" b="1" dirty="0" err="1"/>
              <a:t>JCheckBoxMenuItem</a:t>
            </a:r>
            <a:r>
              <a:rPr lang="en-US" sz="1900" b="1" dirty="0"/>
              <a:t> (”Read Only”);</a:t>
            </a:r>
          </a:p>
          <a:p>
            <a:r>
              <a:rPr lang="en-US" sz="2400" b="1" dirty="0" err="1"/>
              <a:t>menu.add</a:t>
            </a:r>
            <a:r>
              <a:rPr lang="en-US" sz="2400" b="1" dirty="0"/>
              <a:t>(</a:t>
            </a:r>
            <a:r>
              <a:rPr lang="en-US" sz="2400" b="1" dirty="0" err="1"/>
              <a:t>ronly</a:t>
            </a:r>
            <a:r>
              <a:rPr lang="en-US" sz="2400" b="1" dirty="0"/>
              <a:t>);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2861" y="274638"/>
            <a:ext cx="11549849" cy="944562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/>
              <a:t>Contoh</a:t>
            </a:r>
            <a:r>
              <a:rPr lang="en-US" sz="2800" dirty="0"/>
              <a:t> Item Menu </a:t>
            </a:r>
            <a:r>
              <a:rPr lang="en-US" sz="2800" dirty="0" err="1"/>
              <a:t>berbentuk</a:t>
            </a:r>
            <a:r>
              <a:rPr lang="en-US" sz="2800" dirty="0"/>
              <a:t> checkbox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radiobutton</a:t>
            </a:r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2963" y="1295400"/>
            <a:ext cx="11540971" cy="48768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/>
              <a:t>ronly.addActionListener</a:t>
            </a: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b="1" dirty="0"/>
              <a:t>new ActionListener() {          //event listener</a:t>
            </a:r>
          </a:p>
          <a:p>
            <a:r>
              <a:rPr lang="en-US" b="1" dirty="0"/>
              <a:t>  	public void </a:t>
            </a:r>
            <a:r>
              <a:rPr lang="en-US" b="1" dirty="0" err="1"/>
              <a:t>actionPerformed</a:t>
            </a:r>
            <a:r>
              <a:rPr lang="en-US" b="1" dirty="0"/>
              <a:t>(</a:t>
            </a:r>
            <a:r>
              <a:rPr lang="en-US" b="1" dirty="0" err="1"/>
              <a:t>ActionEvent</a:t>
            </a:r>
            <a:r>
              <a:rPr lang="en-US" b="1" dirty="0"/>
              <a:t> </a:t>
            </a:r>
            <a:r>
              <a:rPr lang="en-US" b="1" dirty="0" err="1"/>
              <a:t>ev</a:t>
            </a:r>
            <a:r>
              <a:rPr lang="en-US" b="1" dirty="0"/>
              <a:t>) {  //event handler</a:t>
            </a:r>
          </a:p>
          <a:p>
            <a:r>
              <a:rPr lang="en-US" b="1" dirty="0"/>
              <a:t>   	    if (</a:t>
            </a:r>
            <a:r>
              <a:rPr lang="en-US" b="1" dirty="0" err="1"/>
              <a:t>ronly.getState</a:t>
            </a:r>
            <a:r>
              <a:rPr lang="en-US" b="1" dirty="0"/>
              <a:t>() )</a:t>
            </a:r>
          </a:p>
          <a:p>
            <a:r>
              <a:rPr lang="en-US" b="1" dirty="0"/>
              <a:t>     	       item2.setEnable(false);</a:t>
            </a:r>
          </a:p>
          <a:p>
            <a:r>
              <a:rPr lang="en-US" b="1" dirty="0"/>
              <a:t>     	    else</a:t>
            </a:r>
          </a:p>
          <a:p>
            <a:r>
              <a:rPr lang="en-US" b="1" dirty="0"/>
              <a:t>     	       item2.setEnable(true);</a:t>
            </a:r>
          </a:p>
          <a:p>
            <a:r>
              <a:rPr lang="en-US" b="1" dirty="0"/>
              <a:t>	}</a:t>
            </a:r>
          </a:p>
          <a:p>
            <a:r>
              <a:rPr lang="en-US" b="1" dirty="0"/>
              <a:t>}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b="1" dirty="0"/>
              <a:t>;</a:t>
            </a:r>
          </a:p>
          <a:p>
            <a:endParaRPr lang="en-US" dirty="0"/>
          </a:p>
          <a:p>
            <a:r>
              <a:rPr lang="en-US" dirty="0" err="1"/>
              <a:t>Jika</a:t>
            </a:r>
            <a:r>
              <a:rPr lang="en-US" dirty="0"/>
              <a:t> status checkbox </a:t>
            </a:r>
            <a:r>
              <a:rPr lang="en-US" dirty="0" err="1"/>
              <a:t>bernilai</a:t>
            </a:r>
            <a:r>
              <a:rPr lang="en-US" dirty="0"/>
              <a:t> true, </a:t>
            </a:r>
            <a:r>
              <a:rPr lang="en-US" dirty="0" err="1"/>
              <a:t>maka</a:t>
            </a:r>
            <a:r>
              <a:rPr lang="en-US" dirty="0"/>
              <a:t> item2 (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menuItem</a:t>
            </a:r>
            <a:r>
              <a:rPr lang="en-US" dirty="0"/>
              <a:t>)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disable, </a:t>
            </a:r>
          </a:p>
          <a:p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false </a:t>
            </a:r>
            <a:r>
              <a:rPr lang="en-US" dirty="0" err="1"/>
              <a:t>maka</a:t>
            </a:r>
            <a:r>
              <a:rPr lang="en-US" dirty="0"/>
              <a:t> item2 </a:t>
            </a:r>
            <a:r>
              <a:rPr lang="en-US" dirty="0" err="1"/>
              <a:t>menjadi</a:t>
            </a:r>
            <a:r>
              <a:rPr lang="en-US" dirty="0"/>
              <a:t> enable.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92963" y="274638"/>
            <a:ext cx="11647503" cy="868362"/>
          </a:xfrm>
        </p:spPr>
        <p:txBody>
          <a:bodyPr>
            <a:normAutofit/>
          </a:bodyPr>
          <a:lstStyle/>
          <a:p>
            <a:pPr algn="ctr"/>
            <a:r>
              <a:rPr lang="en-US" sz="2800" dirty="0" err="1"/>
              <a:t>Contoh</a:t>
            </a:r>
            <a:r>
              <a:rPr lang="en-US" sz="2800" dirty="0"/>
              <a:t> </a:t>
            </a:r>
            <a:r>
              <a:rPr lang="en-US" sz="2800" dirty="0" err="1"/>
              <a:t>cuplikan</a:t>
            </a:r>
            <a:r>
              <a:rPr lang="en-US" sz="2800" dirty="0"/>
              <a:t> program yang </a:t>
            </a:r>
            <a:r>
              <a:rPr lang="en-US" sz="2800" dirty="0" err="1"/>
              <a:t>menjelaskan</a:t>
            </a:r>
            <a:r>
              <a:rPr lang="en-US" sz="2800" dirty="0"/>
              <a:t> </a:t>
            </a:r>
            <a:r>
              <a:rPr lang="en-US" sz="2800" dirty="0" err="1"/>
              <a:t>penggunaan</a:t>
            </a:r>
            <a:r>
              <a:rPr lang="en-US" sz="2800" dirty="0"/>
              <a:t> </a:t>
            </a:r>
            <a:r>
              <a:rPr lang="en-US" sz="2800" dirty="0" err="1"/>
              <a:t>CheckBox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 err="1"/>
              <a:t>untuk</a:t>
            </a:r>
            <a:r>
              <a:rPr lang="en-US" sz="2800" dirty="0"/>
              <a:t> item menu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6616" y="1271016"/>
            <a:ext cx="11439144" cy="5513832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C00000"/>
                </a:solidFill>
                <a:latin typeface="Lucida Bright" panose="02040602050505020304" pitchFamily="18" charset="0"/>
              </a:rPr>
              <a:t>class AplikasiMenu.java</a:t>
            </a: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javax.swing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java.awt.event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java.awt.print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AplikasiMenu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extends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JMenuItem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editItem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JCheckBoxMenuItem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ronly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//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semua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program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ada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di constructor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public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AplikasiMenu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     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super("Menu Test");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JMenuBar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bar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JMenuBar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pt-BR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this.setJMenuBar(bar);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//untuk menu Peserta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JMenu menuPeserta = new JMenu("Peserta");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12648" y="128334"/>
            <a:ext cx="10853928" cy="959802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err="1"/>
              <a:t>Contoh</a:t>
            </a:r>
            <a:r>
              <a:rPr lang="en-US" sz="2400" b="1" dirty="0"/>
              <a:t> Program </a:t>
            </a:r>
            <a:r>
              <a:rPr lang="en-US" sz="2400" b="1" dirty="0" err="1"/>
              <a:t>Pengggunaan</a:t>
            </a:r>
            <a:r>
              <a:rPr lang="en-US" sz="2400" b="1" dirty="0"/>
              <a:t> </a:t>
            </a:r>
            <a:r>
              <a:rPr lang="en-US" sz="2400" b="1" dirty="0" err="1"/>
              <a:t>Objek-objek</a:t>
            </a:r>
            <a:r>
              <a:rPr lang="en-US" sz="2400" b="1" dirty="0"/>
              <a:t> </a:t>
            </a:r>
            <a:r>
              <a:rPr lang="en-US" sz="2400" b="1" dirty="0" err="1"/>
              <a:t>dari</a:t>
            </a:r>
            <a:r>
              <a:rPr lang="en-US" sz="2400" b="1" dirty="0"/>
              <a:t> </a:t>
            </a:r>
            <a:br>
              <a:rPr lang="en-US" sz="2400" b="1" dirty="0"/>
            </a:br>
            <a:r>
              <a:rPr lang="en-US" sz="2400" b="1" dirty="0"/>
              <a:t>Class </a:t>
            </a:r>
            <a:r>
              <a:rPr lang="en-US" sz="2400" b="1" dirty="0" err="1"/>
              <a:t>Jmenubar</a:t>
            </a:r>
            <a:r>
              <a:rPr lang="en-US" sz="2400" b="1" dirty="0"/>
              <a:t>, </a:t>
            </a:r>
            <a:r>
              <a:rPr lang="en-US" sz="2400" b="1" dirty="0" err="1"/>
              <a:t>Jmenu</a:t>
            </a:r>
            <a:r>
              <a:rPr lang="en-US" sz="2400" b="1" dirty="0"/>
              <a:t>, Dan </a:t>
            </a:r>
            <a:r>
              <a:rPr lang="en-US" sz="2400" b="1" dirty="0" err="1"/>
              <a:t>Jmenuitem</a:t>
            </a:r>
            <a:endParaRPr lang="en-US" sz="2400" b="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FCCFC-E648-B842-98ED-E9FF5BB1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692283-F555-0DA9-11B1-80D3A900C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5" y="749488"/>
            <a:ext cx="12095989" cy="5751895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nb-NO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//menggunakan hotkey alt-P, event-nya hanya membuka itemnya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menuPeserta.setMnemonic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KeyEvent.VK_P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JMenuItem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addItem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JMenuItem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Pendaftaran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nb-NO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//menggunakan hotkey ctrl-R beserta eventnya yg akan dipanggil addItem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addItem.setAccelerator(KeyStroke.getKeyStroke(KeyEvent.VK_R,</a:t>
            </a:r>
            <a:r>
              <a:rPr lang="en-ID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ActionEvent.CTRL_MASK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editItem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JMenuItem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Perubahan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editItem.setEnabled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ImageIcon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gbr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ImageIcon</a:t>
            </a:r>
            <a:r>
              <a:rPr lang="en-ID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("D:/BahanKuliah/ContohProgram/resources/open.gif");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</a:t>
            </a: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JMenuItem cancelItem = new JMenuItem("Pembatalan", gbr);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JMenuItem printItem = new JMenuItem("Print");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JMenuItem exitItem = new JMenuItem("Exit");</a:t>
            </a:r>
          </a:p>
          <a:p>
            <a:pPr marL="0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ronly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JCheckBoxMenuItem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("Read Only", true);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425B44-0DA3-4D49-FC0D-F5069202B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ucida Bright" panose="02040602050505020304" pitchFamily="18" charset="0"/>
              </a:rPr>
              <a:t>AplikasiMenu.java (2)</a:t>
            </a:r>
            <a:endParaRPr lang="en-US" sz="24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7176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43EB5-9700-B3AC-CD1D-2001CF615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B0AE8C-AF6D-E6B7-8BF0-2E414F0B6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5" y="749488"/>
            <a:ext cx="12095989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this.addWindowListener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WindowAdapter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	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windowClosing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WindowEvent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closeWindow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});</a:t>
            </a: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printItem.addActionListener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ActionListener()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actionPerformed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PrinterJob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objekCetak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PrinterJob.getPrinterJob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	// data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diletakkan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di class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DataKu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objekCetak.setPrintable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DataKu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objekCetak.printDialog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  			try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objekCetak.print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 	}</a:t>
            </a:r>
            <a:r>
              <a:rPr lang="en-ID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catch(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PrinterException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pe)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   	}}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}	});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A59D7B-1402-870F-A4F1-AED543167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ucida Bright" panose="02040602050505020304" pitchFamily="18" charset="0"/>
              </a:rPr>
              <a:t>AplikasiMenu.java (3)</a:t>
            </a:r>
            <a:endParaRPr lang="en-US" sz="24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3806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DC460-BA7A-566B-33D1-992B1E7A1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AE84E2-2E28-15B9-73DD-9B41A80F3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749488"/>
            <a:ext cx="11833098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exitItem.addActionListener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ActionListener()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actionPerformed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closeWindow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});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ronly.addActionListener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ActionListener()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actionPerformed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editItem.setEnabled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(!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ronly.getState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});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lanjutan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untuk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menu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Peserta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bar.add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menuPeserta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menuPeserta.add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addItem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menuPeserta.add(editItem);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menuPeserta.add(cancelItem);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A68F679-9AD8-F67E-A5B4-58849FFCD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ucida Bright" panose="02040602050505020304" pitchFamily="18" charset="0"/>
              </a:rPr>
              <a:t>AplikasiMenu.java (4)</a:t>
            </a:r>
            <a:endParaRPr lang="en-US" sz="24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5285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237A3-3FEC-5497-CA03-C8C65B96D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951F9D-ABCE-A95D-B593-FF2D958C5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749488"/>
            <a:ext cx="11833098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menuPeserta.addSeparator();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menuPeserta.add(ronly);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menuPeserta.addSeparator();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menuPeserta.add(printItem);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menuPeserta.addSeparator();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menuPeserta.add(exitItem);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untuk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menu Help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JMenu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menuHelp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JMenu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("Help");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menuHelp.setMnemonic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KeyEvent.VK_H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JMenuItem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about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JMenuItem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("About");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JMenu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submenuHelp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JMenu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("Help");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JMenuItem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daftarItem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JMenuItem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Pendaftaran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daftarItem.setAccelerator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KeyStroke.getKeyStroke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  					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KeyEvent.VK_D,ActionEvent.ALT_MASK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JMenuItem batalItem = new JMenuItem("Pembatalan");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16C8CEE-D6F9-17C2-1828-20F94B925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ucida Bright" panose="02040602050505020304" pitchFamily="18" charset="0"/>
              </a:rPr>
              <a:t>AplikasiMenu.java (5)</a:t>
            </a:r>
            <a:endParaRPr lang="en-US" sz="24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9268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1DF84-FA98-000A-3A68-664276DE3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77C867-BFDA-EC8B-04BD-41455C1D2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749488"/>
            <a:ext cx="11833098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bar.add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menuHelp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menuHelp.add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(about);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menuHelp.addSeparator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menuHelp.add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submenuHelp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18288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submenuHelp.add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daftarItem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submenuHelp.add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batalItem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about.addActionListener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ActionListener()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actionPerformed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aboutDialog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});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addItem.addActionListener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ActionListener()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actionPerformed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	new MyLayout5();}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7359EA-7500-D015-7820-2BC0C2562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ucida Bright" panose="02040602050505020304" pitchFamily="18" charset="0"/>
              </a:rPr>
              <a:t>AplikasiMenu.java (6)</a:t>
            </a:r>
            <a:endParaRPr lang="en-US" sz="24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8555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4339C-995E-4AAF-ECDA-6BB7A01CB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DB1443-656D-62EF-7888-025F5027A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749488"/>
            <a:ext cx="11833098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this.setDefaultCloseOperation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JFrame.DO_NOTHING_ON_CLOSE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this.setSize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(400, 100);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this.setLocation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(60, 60);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this.setVisible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(true);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} //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akhir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dari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constructor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AplikasiMneu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private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aboutDialog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JOptionPane.showMessageDialog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(this, "Program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Sederhana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private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closeWindow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switch(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JOptionPane.showConfirmDialog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this,"Yakin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untuk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exit?"))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	case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JOptionPane.YES_OPTION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("Yes!");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System.exit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(0);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break;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121123-3DC8-BBC7-F2D6-B91BB8972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ucida Bright" panose="02040602050505020304" pitchFamily="18" charset="0"/>
              </a:rPr>
              <a:t>AplikasiMenu.java (7)</a:t>
            </a:r>
            <a:endParaRPr lang="en-US" sz="24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2818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8BF71-FC8F-14CB-B883-5B9EE405E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930144-D302-716B-2697-9824F5685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749488"/>
            <a:ext cx="11833098" cy="5751895"/>
          </a:xfrm>
        </p:spPr>
        <p:txBody>
          <a:bodyPr>
            <a:no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case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JOptionPane.NO_OPTION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("No!");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		break;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case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JOptionPane.CANCEL_OPTION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("Cancel!");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		break;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case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JOptionPane.CLOSED_OPTION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ID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("Tidak </a:t>
            </a:r>
            <a:r>
              <a:rPr lang="en-ID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dijawab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!");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public static void main(String[]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AplikasiMenu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90EF17-B9B4-AB58-730E-FBACFECF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232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ucida Bright" panose="02040602050505020304" pitchFamily="18" charset="0"/>
              </a:rPr>
              <a:t>AplikasiMenu.java (7)</a:t>
            </a:r>
            <a:endParaRPr lang="en-US" sz="24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76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4841</Words>
  <Application>Microsoft Office PowerPoint</Application>
  <PresentationFormat>Widescreen</PresentationFormat>
  <Paragraphs>762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Calibri Light</vt:lpstr>
      <vt:lpstr>Courier New</vt:lpstr>
      <vt:lpstr>Lucida Bright</vt:lpstr>
      <vt:lpstr>Times New Roman</vt:lpstr>
      <vt:lpstr>Office Theme</vt:lpstr>
      <vt:lpstr>Event Handling dan Sistem Menu</vt:lpstr>
      <vt:lpstr>Cara menangani event listener pada komponen</vt:lpstr>
      <vt:lpstr>Cara menangani event pada komponen (Langkah ke-6)</vt:lpstr>
      <vt:lpstr>Template (Format standard) Langkah 6 Cara Kedua</vt:lpstr>
      <vt:lpstr>Class Event standard</vt:lpstr>
      <vt:lpstr>Deskripsi Method Standard Handler (Reaksi)</vt:lpstr>
      <vt:lpstr>Deskripsi Method Handler (terkait dengan komponen Window)</vt:lpstr>
      <vt:lpstr>Deskripsi Method Handler</vt:lpstr>
      <vt:lpstr>Deskripsi Method Handler</vt:lpstr>
      <vt:lpstr>Deskripsi Method Handler</vt:lpstr>
      <vt:lpstr>Deskripsi Method Handler</vt:lpstr>
      <vt:lpstr>Class Event, Interface Listener, dan Method Handler</vt:lpstr>
      <vt:lpstr>Class Event, Interface Listener, dan Method Handler</vt:lpstr>
      <vt:lpstr>Class Event, Interface Listener, dan Method Handler</vt:lpstr>
      <vt:lpstr>Contoh-contoh penggunaan  Event Listener dan Even Handler</vt:lpstr>
      <vt:lpstr>Contoh-contoh penggunaan  Event Listener dan Even Handler</vt:lpstr>
      <vt:lpstr>Contoh-contoh penggunaan  Event Listener dan Even Handler</vt:lpstr>
      <vt:lpstr>Contoh-contoh penggunaan  Event Listener dan Even Handler</vt:lpstr>
      <vt:lpstr>Contoh-contoh penggunaan  Event Listener dan Even Handler</vt:lpstr>
      <vt:lpstr>Contoh-contoh penggunaan  Event Listener dan Even Handler</vt:lpstr>
      <vt:lpstr>Contoh-contoh penggunaan  Event Listener dan Even Handler</vt:lpstr>
      <vt:lpstr>ContohUTS_0708.java (2)</vt:lpstr>
      <vt:lpstr>ContohUTS_0708.java (3)</vt:lpstr>
      <vt:lpstr>ContohUTS_0708.java (4)</vt:lpstr>
      <vt:lpstr>ContohUTS_0708.java (5)</vt:lpstr>
      <vt:lpstr>ContohUTS_0708.java (6)</vt:lpstr>
      <vt:lpstr>ContohUTS_0708.java (7)</vt:lpstr>
      <vt:lpstr>ContohUTS_0708.java (8)</vt:lpstr>
      <vt:lpstr>ContohUTS_0708.java (9)</vt:lpstr>
      <vt:lpstr>ContohUTS_0708.java (10)</vt:lpstr>
      <vt:lpstr>ContohUTS_0708.java (11)</vt:lpstr>
      <vt:lpstr>ContohUTS_0708.java (12)</vt:lpstr>
      <vt:lpstr>ContohUTS_0708.java (13)</vt:lpstr>
      <vt:lpstr>ContohUTS_0708.java (14)</vt:lpstr>
      <vt:lpstr>Sistem Menu</vt:lpstr>
      <vt:lpstr>Level Menu</vt:lpstr>
      <vt:lpstr>Contoh penempatan menu step by step</vt:lpstr>
      <vt:lpstr>Event Handling pada Menu</vt:lpstr>
      <vt:lpstr>Event Handling pada Menu</vt:lpstr>
      <vt:lpstr>Contoh Item Menu berbentuk checkbox atau radiobutton</vt:lpstr>
      <vt:lpstr>Contoh cuplikan program yang menjelaskan penggunaan CheckBox  untuk item menu</vt:lpstr>
      <vt:lpstr>Contoh Program Pengggunaan Objek-objek dari  Class Jmenubar, Jmenu, Dan Jmenuitem</vt:lpstr>
      <vt:lpstr>AplikasiMenu.java (2)</vt:lpstr>
      <vt:lpstr>AplikasiMenu.java (3)</vt:lpstr>
      <vt:lpstr>AplikasiMenu.java (4)</vt:lpstr>
      <vt:lpstr>AplikasiMenu.java (5)</vt:lpstr>
      <vt:lpstr>AplikasiMenu.java (6)</vt:lpstr>
      <vt:lpstr>AplikasiMenu.java (7)</vt:lpstr>
      <vt:lpstr>AplikasiMenu.java (7)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Handling dan Sistem Menu</dc:title>
  <dc:creator>HP</dc:creator>
  <cp:lastModifiedBy>Naurah Rifdah</cp:lastModifiedBy>
  <cp:revision>82</cp:revision>
  <dcterms:created xsi:type="dcterms:W3CDTF">2020-06-04T19:51:53Z</dcterms:created>
  <dcterms:modified xsi:type="dcterms:W3CDTF">2025-06-02T01:01:51Z</dcterms:modified>
</cp:coreProperties>
</file>