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32"/>
  </p:notesMasterIdLst>
  <p:handoutMasterIdLst>
    <p:handoutMasterId r:id="rId33"/>
  </p:handoutMasterIdLst>
  <p:sldIdLst>
    <p:sldId id="443" r:id="rId2"/>
    <p:sldId id="451" r:id="rId3"/>
    <p:sldId id="439" r:id="rId4"/>
    <p:sldId id="440" r:id="rId5"/>
    <p:sldId id="387" r:id="rId6"/>
    <p:sldId id="388" r:id="rId7"/>
    <p:sldId id="389" r:id="rId8"/>
    <p:sldId id="390" r:id="rId9"/>
    <p:sldId id="391" r:id="rId10"/>
    <p:sldId id="445" r:id="rId11"/>
    <p:sldId id="396" r:id="rId12"/>
    <p:sldId id="448" r:id="rId13"/>
    <p:sldId id="397" r:id="rId14"/>
    <p:sldId id="398" r:id="rId15"/>
    <p:sldId id="392" r:id="rId16"/>
    <p:sldId id="393" r:id="rId17"/>
    <p:sldId id="412" r:id="rId18"/>
    <p:sldId id="413" r:id="rId19"/>
    <p:sldId id="414" r:id="rId20"/>
    <p:sldId id="415" r:id="rId21"/>
    <p:sldId id="416" r:id="rId22"/>
    <p:sldId id="417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86466" autoAdjust="0"/>
  </p:normalViewPr>
  <p:slideViewPr>
    <p:cSldViewPr>
      <p:cViewPr varScale="1">
        <p:scale>
          <a:sx n="85" d="100"/>
          <a:sy n="85" d="100"/>
        </p:scale>
        <p:origin x="132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34123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D319E2-73F4-4F48-0A6F-0DB66D545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401469"/>
          </a:xfrm>
        </p:spPr>
        <p:txBody>
          <a:bodyPr>
            <a:normAutofit/>
          </a:bodyPr>
          <a:lstStyle/>
          <a:p>
            <a:r>
              <a:rPr lang="en-US" sz="3200" dirty="0" err="1"/>
              <a:t>Pemrograman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Terstruktur</a:t>
            </a:r>
            <a:r>
              <a:rPr lang="en-US" sz="3200" b="1" dirty="0">
                <a:solidFill>
                  <a:srgbClr val="FF0000"/>
                </a:solidFill>
              </a:rPr>
              <a:t>/</a:t>
            </a:r>
            <a:r>
              <a:rPr lang="en-US" sz="3200" b="1" dirty="0" err="1">
                <a:solidFill>
                  <a:srgbClr val="FF0000"/>
                </a:solidFill>
              </a:rPr>
              <a:t>Prosedural</a:t>
            </a:r>
            <a:r>
              <a:rPr lang="en-US" sz="3200" dirty="0"/>
              <a:t> </a:t>
            </a:r>
            <a:r>
              <a:rPr lang="en-US" sz="3200" dirty="0" err="1"/>
              <a:t>hanya</a:t>
            </a:r>
            <a:r>
              <a:rPr lang="en-US" sz="3200" dirty="0"/>
              <a:t>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struktur</a:t>
            </a:r>
            <a:r>
              <a:rPr lang="en-US" sz="3200" dirty="0"/>
              <a:t> </a:t>
            </a:r>
            <a:r>
              <a:rPr lang="en-US" sz="3200" dirty="0" err="1"/>
              <a:t>yaitu</a:t>
            </a:r>
            <a:r>
              <a:rPr lang="en-US" sz="3200" dirty="0"/>
              <a:t> anatomy.</a:t>
            </a:r>
          </a:p>
          <a:p>
            <a:endParaRPr lang="en-US" sz="1200" dirty="0"/>
          </a:p>
          <a:p>
            <a:r>
              <a:rPr lang="en-US" sz="3200" dirty="0"/>
              <a:t>OOP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dua </a:t>
            </a:r>
            <a:r>
              <a:rPr lang="en-US" sz="3200" b="1" dirty="0" err="1">
                <a:solidFill>
                  <a:srgbClr val="FF0000"/>
                </a:solidFill>
              </a:rPr>
              <a:t>struktur</a:t>
            </a:r>
            <a:r>
              <a:rPr lang="en-US" sz="3200" dirty="0"/>
              <a:t> </a:t>
            </a:r>
            <a:r>
              <a:rPr lang="en-US" sz="3200" dirty="0" err="1"/>
              <a:t>yaitu</a:t>
            </a:r>
            <a:r>
              <a:rPr lang="en-US" sz="3200" dirty="0"/>
              <a:t> Taxonomy (Gen-Spec) dan Anatomy (Whole-Part).</a:t>
            </a:r>
          </a:p>
          <a:p>
            <a:endParaRPr lang="en-US" sz="1200" dirty="0"/>
          </a:p>
          <a:p>
            <a:r>
              <a:rPr lang="en-US" sz="3200" dirty="0"/>
              <a:t>Project </a:t>
            </a:r>
            <a:r>
              <a:rPr lang="en-US" sz="3200" dirty="0" err="1"/>
              <a:t>sebagai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</a:t>
            </a:r>
            <a:r>
              <a:rPr lang="en-US" sz="3200" dirty="0" err="1"/>
              <a:t>solusi</a:t>
            </a:r>
            <a:r>
              <a:rPr lang="en-US" sz="3200" dirty="0"/>
              <a:t> OOP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suatu</a:t>
            </a:r>
            <a:r>
              <a:rPr lang="en-US" sz="3200" dirty="0"/>
              <a:t> </a:t>
            </a:r>
            <a:r>
              <a:rPr lang="en-US" sz="3200" dirty="0" err="1"/>
              <a:t>masalah</a:t>
            </a:r>
            <a:r>
              <a:rPr lang="en-US" sz="3200" dirty="0"/>
              <a:t> </a:t>
            </a:r>
            <a:r>
              <a:rPr lang="en-US" sz="3200" dirty="0" err="1"/>
              <a:t>tersusun</a:t>
            </a:r>
            <a:r>
              <a:rPr lang="en-US" sz="3200" dirty="0"/>
              <a:t> </a:t>
            </a:r>
            <a:r>
              <a:rPr lang="en-US" sz="3200" dirty="0" err="1"/>
              <a:t>atas</a:t>
            </a:r>
            <a:r>
              <a:rPr lang="en-US" sz="3200" dirty="0"/>
              <a:t> </a:t>
            </a:r>
            <a:r>
              <a:rPr lang="en-US" sz="3200" dirty="0" err="1"/>
              <a:t>struktur</a:t>
            </a:r>
            <a:r>
              <a:rPr lang="en-US" sz="3200" dirty="0"/>
              <a:t> Taxonomy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kumpulan</a:t>
            </a:r>
            <a:r>
              <a:rPr lang="en-US" sz="3200" dirty="0"/>
              <a:t> class.</a:t>
            </a:r>
            <a:r>
              <a:rPr lang="en-US" sz="4000" dirty="0"/>
              <a:t> 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1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A78C2-9284-2424-9DDD-66ECC0F8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AD749-591F-7A65-A594-836F1F61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DE5DA0-EA06-46FD-3A6A-B5A6F7D0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25304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STRUKTUR OOP (1)</a:t>
            </a:r>
          </a:p>
        </p:txBody>
      </p:sp>
    </p:spTree>
    <p:extLst>
      <p:ext uri="{BB962C8B-B14F-4D97-AF65-F5344CB8AC3E}">
        <p14:creationId xmlns:p14="http://schemas.microsoft.com/office/powerpoint/2010/main" val="41390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852898-271C-E5E3-3E79-CD0317205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0540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Class-class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satu</a:t>
            </a:r>
            <a:r>
              <a:rPr lang="en-US" sz="3200" dirty="0"/>
              <a:t> project </a:t>
            </a:r>
            <a:r>
              <a:rPr lang="en-US" sz="3200" dirty="0" err="1"/>
              <a:t>membentuk</a:t>
            </a:r>
            <a:r>
              <a:rPr lang="en-US" sz="3200" dirty="0"/>
              <a:t> </a:t>
            </a:r>
            <a:r>
              <a:rPr lang="en-US" sz="3200" dirty="0" err="1"/>
              <a:t>satu</a:t>
            </a:r>
            <a:r>
              <a:rPr lang="en-US" sz="3200" dirty="0"/>
              <a:t> </a:t>
            </a:r>
            <a:r>
              <a:rPr lang="en-US" sz="3200" dirty="0" err="1"/>
              <a:t>struktur</a:t>
            </a:r>
            <a:r>
              <a:rPr lang="en-US" sz="3200" dirty="0"/>
              <a:t> </a:t>
            </a:r>
            <a:r>
              <a:rPr lang="en-US" sz="3200" dirty="0" err="1"/>
              <a:t>pohon</a:t>
            </a:r>
            <a:r>
              <a:rPr lang="en-US" sz="3200" dirty="0"/>
              <a:t>/</a:t>
            </a:r>
            <a:r>
              <a:rPr lang="en-US" sz="3200" dirty="0" err="1"/>
              <a:t>hirarki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piramida</a:t>
            </a:r>
            <a:r>
              <a:rPr lang="en-US" sz="3200" b="1" dirty="0">
                <a:solidFill>
                  <a:srgbClr val="FF0000"/>
                </a:solidFill>
              </a:rPr>
              <a:t> taxonomy</a:t>
            </a:r>
            <a:r>
              <a:rPr lang="en-US" sz="3200" dirty="0"/>
              <a:t> </a:t>
            </a:r>
            <a:r>
              <a:rPr lang="en-US" sz="3200" dirty="0" err="1"/>
              <a:t>tersendiri</a:t>
            </a:r>
            <a:r>
              <a:rPr lang="en-US" sz="3200" dirty="0"/>
              <a:t> yg </a:t>
            </a:r>
            <a:r>
              <a:rPr lang="en-US" sz="3200" dirty="0" err="1"/>
              <a:t>khas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problem </a:t>
            </a:r>
            <a:r>
              <a:rPr lang="en-US" sz="3200" dirty="0" err="1"/>
              <a:t>tersebut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Setiap</a:t>
            </a:r>
            <a:r>
              <a:rPr lang="en-US" sz="3200" dirty="0"/>
              <a:t> class </a:t>
            </a:r>
            <a:r>
              <a:rPr lang="en-US" sz="3200" dirty="0" err="1"/>
              <a:t>memiliki</a:t>
            </a:r>
            <a:r>
              <a:rPr lang="en-US" sz="3200" dirty="0"/>
              <a:t> </a:t>
            </a:r>
            <a:r>
              <a:rPr lang="en-US" sz="3200" dirty="0" err="1"/>
              <a:t>struktur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anatomy</a:t>
            </a:r>
            <a:r>
              <a:rPr lang="en-US" sz="3200" dirty="0"/>
              <a:t> </a:t>
            </a:r>
            <a:r>
              <a:rPr lang="en-US" sz="3200" dirty="0" err="1"/>
              <a:t>tersendiri</a:t>
            </a:r>
            <a:r>
              <a:rPr lang="en-US" sz="3200" dirty="0"/>
              <a:t> yang </a:t>
            </a:r>
            <a:r>
              <a:rPr lang="en-US" sz="3200" dirty="0" err="1"/>
              <a:t>terdiri</a:t>
            </a:r>
            <a:r>
              <a:rPr lang="en-US" sz="3200" dirty="0"/>
              <a:t> </a:t>
            </a:r>
            <a:r>
              <a:rPr lang="en-US" sz="3200" dirty="0" err="1"/>
              <a:t>atas</a:t>
            </a:r>
            <a:r>
              <a:rPr lang="en-US" sz="3200" dirty="0"/>
              <a:t> </a:t>
            </a:r>
            <a:r>
              <a:rPr lang="en-US" sz="3200" dirty="0" err="1"/>
              <a:t>tiga</a:t>
            </a:r>
            <a:r>
              <a:rPr lang="en-US" sz="3200" dirty="0"/>
              <a:t> </a:t>
            </a:r>
            <a:r>
              <a:rPr lang="en-US" sz="3200" dirty="0" err="1"/>
              <a:t>komponen</a:t>
            </a:r>
            <a:r>
              <a:rPr lang="en-US" sz="3200" dirty="0"/>
              <a:t> </a:t>
            </a:r>
            <a:r>
              <a:rPr lang="en-US" sz="3200" dirty="0" err="1"/>
              <a:t>utama</a:t>
            </a:r>
            <a:r>
              <a:rPr lang="en-US" sz="3200" dirty="0"/>
              <a:t> </a:t>
            </a:r>
            <a:r>
              <a:rPr lang="en-US" sz="3200" dirty="0" err="1"/>
              <a:t>yaitu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70C0"/>
                </a:solidFill>
              </a:rPr>
              <a:t>attribute</a:t>
            </a:r>
            <a:r>
              <a:rPr lang="en-US" sz="3200" dirty="0"/>
              <a:t>, </a:t>
            </a:r>
            <a:r>
              <a:rPr lang="en-US" sz="3200" b="1" dirty="0">
                <a:solidFill>
                  <a:srgbClr val="0070C0"/>
                </a:solidFill>
              </a:rPr>
              <a:t>method()</a:t>
            </a:r>
            <a:r>
              <a:rPr lang="en-US" sz="3200" dirty="0"/>
              <a:t>, dan </a:t>
            </a:r>
            <a:r>
              <a:rPr lang="en-US" sz="3200" b="1" dirty="0">
                <a:solidFill>
                  <a:srgbClr val="0070C0"/>
                </a:solidFill>
              </a:rPr>
              <a:t>constructor()</a:t>
            </a:r>
            <a:r>
              <a:rPr lang="en-US" sz="3200" dirty="0"/>
              <a:t>, </a:t>
            </a:r>
            <a:r>
              <a:rPr lang="en-US" sz="3200" dirty="0" err="1"/>
              <a:t>komponen</a:t>
            </a:r>
            <a:r>
              <a:rPr lang="en-US" sz="3200" dirty="0"/>
              <a:t> lain </a:t>
            </a:r>
            <a:r>
              <a:rPr lang="en-US" sz="3200" dirty="0" err="1"/>
              <a:t>yaitu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0070C0"/>
                </a:solidFill>
              </a:rPr>
              <a:t>objek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0070C0"/>
                </a:solidFill>
              </a:rPr>
              <a:t>modifier</a:t>
            </a:r>
            <a:r>
              <a:rPr lang="en-US" sz="3200" dirty="0"/>
              <a:t>, dan </a:t>
            </a:r>
            <a:r>
              <a:rPr lang="en-US" sz="3200" dirty="0">
                <a:solidFill>
                  <a:srgbClr val="0070C0"/>
                </a:solidFill>
              </a:rPr>
              <a:t>inner-class</a:t>
            </a:r>
            <a:r>
              <a:rPr lang="en-US" sz="3200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7AADB-4307-1BE1-F21C-C8B99AD24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D4875-1A56-B974-940A-B6544032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A9D30B-5181-7E37-5268-1E3B7F52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607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/>
              <a:t>STRUKTUR OOP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7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147C36-5537-4D64-B901-4C0CA462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Satu editor </a:t>
            </a:r>
            <a:r>
              <a:rPr lang="en-US" sz="3000" dirty="0" err="1"/>
              <a:t>akan</a:t>
            </a:r>
            <a:r>
              <a:rPr lang="en-US" sz="3000" dirty="0"/>
              <a:t> </a:t>
            </a:r>
            <a:r>
              <a:rPr lang="en-US" sz="3000" dirty="0" err="1"/>
              <a:t>digunakan</a:t>
            </a:r>
            <a:r>
              <a:rPr lang="en-US" sz="3000" dirty="0"/>
              <a:t> </a:t>
            </a:r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dirty="0" err="1"/>
              <a:t>ngoding</a:t>
            </a:r>
            <a:r>
              <a:rPr lang="en-US" sz="3000" dirty="0"/>
              <a:t> </a:t>
            </a:r>
            <a:r>
              <a:rPr lang="en-US" sz="3000" dirty="0" err="1"/>
              <a:t>sebuah</a:t>
            </a:r>
            <a:r>
              <a:rPr lang="en-US" sz="3000" dirty="0"/>
              <a:t> class, </a:t>
            </a:r>
            <a:r>
              <a:rPr lang="en-US" sz="3000" dirty="0" err="1"/>
              <a:t>sehingga</a:t>
            </a:r>
            <a:r>
              <a:rPr lang="en-US" sz="3000" dirty="0"/>
              <a:t> class-class </a:t>
            </a:r>
            <a:r>
              <a:rPr lang="en-US" sz="3000" dirty="0" err="1"/>
              <a:t>dibangun</a:t>
            </a:r>
            <a:r>
              <a:rPr lang="en-US" sz="3000" dirty="0"/>
              <a:t>, compile dan run </a:t>
            </a:r>
            <a:r>
              <a:rPr lang="en-US" sz="3000" dirty="0" err="1"/>
              <a:t>satu</a:t>
            </a:r>
            <a:r>
              <a:rPr lang="en-US" sz="3000" dirty="0"/>
              <a:t> per </a:t>
            </a:r>
            <a:r>
              <a:rPr lang="en-US" sz="3000" dirty="0" err="1"/>
              <a:t>satu</a:t>
            </a:r>
            <a:r>
              <a:rPr lang="en-US" sz="3000" dirty="0"/>
              <a:t> (</a:t>
            </a:r>
            <a:r>
              <a:rPr lang="en-US" sz="3000" dirty="0" err="1"/>
              <a:t>tidak</a:t>
            </a:r>
            <a:r>
              <a:rPr lang="en-US" sz="3000" dirty="0"/>
              <a:t> </a:t>
            </a:r>
            <a:r>
              <a:rPr lang="en-US" sz="3000" dirty="0" err="1"/>
              <a:t>sekaligus</a:t>
            </a:r>
            <a:r>
              <a:rPr lang="en-US" sz="3000" dirty="0"/>
              <a:t> </a:t>
            </a:r>
            <a:r>
              <a:rPr lang="en-US" sz="3000" dirty="0" err="1"/>
              <a:t>satu</a:t>
            </a:r>
            <a:r>
              <a:rPr lang="en-US" sz="3000" dirty="0"/>
              <a:t> program/project </a:t>
            </a:r>
            <a:r>
              <a:rPr lang="en-US" sz="3000" dirty="0" err="1"/>
              <a:t>dalam</a:t>
            </a:r>
            <a:r>
              <a:rPr lang="en-US" sz="3000" dirty="0"/>
              <a:t> </a:t>
            </a:r>
            <a:r>
              <a:rPr lang="en-US" sz="3000" dirty="0" err="1"/>
              <a:t>satu</a:t>
            </a:r>
            <a:r>
              <a:rPr lang="en-US" sz="3000" dirty="0"/>
              <a:t> editor </a:t>
            </a:r>
            <a:r>
              <a:rPr lang="en-US" sz="3000" dirty="0" err="1"/>
              <a:t>seperti</a:t>
            </a:r>
            <a:r>
              <a:rPr lang="en-US" sz="3000" dirty="0"/>
              <a:t> </a:t>
            </a:r>
            <a:r>
              <a:rPr lang="en-US" sz="3000" dirty="0" err="1"/>
              <a:t>pemrograman</a:t>
            </a:r>
            <a:r>
              <a:rPr lang="en-US" sz="3000" dirty="0"/>
              <a:t> </a:t>
            </a:r>
            <a:r>
              <a:rPr lang="en-US" sz="3000" dirty="0" err="1"/>
              <a:t>terstruktur</a:t>
            </a:r>
            <a:r>
              <a:rPr lang="en-US" sz="3000" dirty="0"/>
              <a:t>).</a:t>
            </a:r>
          </a:p>
          <a:p>
            <a:r>
              <a:rPr lang="en-US" sz="900" dirty="0"/>
              <a:t> </a:t>
            </a:r>
          </a:p>
          <a:p>
            <a:r>
              <a:rPr lang="en-US" sz="3000" dirty="0" err="1"/>
              <a:t>Objek-objek</a:t>
            </a:r>
            <a:r>
              <a:rPr lang="en-US" sz="3000" dirty="0"/>
              <a:t> yang </a:t>
            </a:r>
            <a:r>
              <a:rPr lang="en-US" sz="3000" dirty="0" err="1"/>
              <a:t>dicetak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class yang </a:t>
            </a:r>
            <a:r>
              <a:rPr lang="en-US" sz="3000" dirty="0" err="1"/>
              <a:t>sama</a:t>
            </a:r>
            <a:r>
              <a:rPr lang="en-US" sz="3000" dirty="0"/>
              <a:t> </a:t>
            </a:r>
            <a:r>
              <a:rPr lang="en-US" sz="3000" dirty="0" err="1"/>
              <a:t>dapat</a:t>
            </a:r>
            <a:r>
              <a:rPr lang="en-US" sz="3000" dirty="0"/>
              <a:t> </a:t>
            </a:r>
            <a:r>
              <a:rPr lang="en-US" sz="3000" dirty="0" err="1"/>
              <a:t>memiliki</a:t>
            </a:r>
            <a:r>
              <a:rPr lang="en-US" sz="3000" dirty="0"/>
              <a:t> </a:t>
            </a:r>
            <a:r>
              <a:rPr lang="en-US" sz="3000" dirty="0" err="1"/>
              <a:t>ke</a:t>
            </a:r>
            <a:r>
              <a:rPr lang="en-US" sz="3000" b="1" dirty="0" err="1"/>
              <a:t>sama</a:t>
            </a:r>
            <a:r>
              <a:rPr lang="en-US" sz="3000" dirty="0" err="1"/>
              <a:t>an</a:t>
            </a:r>
            <a:r>
              <a:rPr lang="en-US" sz="3000" dirty="0"/>
              <a:t> </a:t>
            </a:r>
            <a:r>
              <a:rPr lang="en-US" sz="3000" b="1" dirty="0" err="1"/>
              <a:t>ciri</a:t>
            </a:r>
            <a:r>
              <a:rPr lang="en-US" sz="3000" b="1" dirty="0"/>
              <a:t> (attribute)</a:t>
            </a:r>
            <a:r>
              <a:rPr lang="en-US" sz="3000" dirty="0"/>
              <a:t> </a:t>
            </a:r>
            <a:r>
              <a:rPr lang="en-US" sz="3000" dirty="0" err="1"/>
              <a:t>misal</a:t>
            </a:r>
            <a:r>
              <a:rPr lang="en-US" sz="3000" dirty="0"/>
              <a:t> </a:t>
            </a:r>
            <a:r>
              <a:rPr lang="en-US" sz="3000" dirty="0" err="1"/>
              <a:t>sebagai</a:t>
            </a:r>
            <a:r>
              <a:rPr lang="en-US" sz="3000" dirty="0"/>
              <a:t> </a:t>
            </a:r>
            <a:r>
              <a:rPr lang="en-US" sz="3000" dirty="0" err="1"/>
              <a:t>Manusia</a:t>
            </a:r>
            <a:r>
              <a:rPr lang="en-US" sz="3000" dirty="0"/>
              <a:t> dan </a:t>
            </a:r>
            <a:r>
              <a:rPr lang="en-US" sz="3000" dirty="0" err="1"/>
              <a:t>ke</a:t>
            </a:r>
            <a:r>
              <a:rPr lang="en-US" sz="3000" b="1" dirty="0" err="1"/>
              <a:t>sama</a:t>
            </a:r>
            <a:r>
              <a:rPr lang="en-US" sz="3000" dirty="0" err="1"/>
              <a:t>an</a:t>
            </a:r>
            <a:r>
              <a:rPr lang="en-US" sz="3000" dirty="0"/>
              <a:t> </a:t>
            </a:r>
            <a:r>
              <a:rPr lang="en-US" sz="3000" b="1" dirty="0" err="1"/>
              <a:t>perilaku</a:t>
            </a:r>
            <a:r>
              <a:rPr lang="en-US" sz="3000" b="1" dirty="0"/>
              <a:t> yg </a:t>
            </a:r>
            <a:r>
              <a:rPr lang="en-US" sz="3000" b="1" dirty="0" err="1"/>
              <a:t>khas</a:t>
            </a:r>
            <a:r>
              <a:rPr lang="en-US" sz="3000" b="1" dirty="0"/>
              <a:t> (method)</a:t>
            </a:r>
            <a:r>
              <a:rPr lang="en-US" sz="3000" dirty="0"/>
              <a:t> </a:t>
            </a:r>
            <a:r>
              <a:rPr lang="en-US" sz="3000" dirty="0" err="1"/>
              <a:t>milik</a:t>
            </a:r>
            <a:r>
              <a:rPr lang="en-US" sz="3000" dirty="0"/>
              <a:t> class </a:t>
            </a:r>
            <a:r>
              <a:rPr lang="en-US" sz="3000" dirty="0" err="1"/>
              <a:t>Manusia</a:t>
            </a:r>
            <a:r>
              <a:rPr lang="en-US" sz="3000" dirty="0"/>
              <a:t> pada </a:t>
            </a:r>
            <a:r>
              <a:rPr lang="en-US" sz="3000" dirty="0" err="1"/>
              <a:t>umumnya</a:t>
            </a:r>
            <a:r>
              <a:rPr lang="en-US" sz="3000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8DBDB-FD05-4CA5-8E04-C3C9D89E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05578-2F47-44C4-8864-C0EEE329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9E5F2B-8E8D-4BAB-8B11-287B716E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STRUKTUR OOP (3)</a:t>
            </a:r>
          </a:p>
        </p:txBody>
      </p:sp>
    </p:spTree>
    <p:extLst>
      <p:ext uri="{BB962C8B-B14F-4D97-AF65-F5344CB8AC3E}">
        <p14:creationId xmlns:p14="http://schemas.microsoft.com/office/powerpoint/2010/main" val="333563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2EF921-E02A-4D3A-AF15-4CF9FBFCF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4940491"/>
          </a:xfrm>
        </p:spPr>
        <p:txBody>
          <a:bodyPr>
            <a:normAutofit/>
          </a:bodyPr>
          <a:lstStyle/>
          <a:p>
            <a:endParaRPr lang="en-US" sz="900" dirty="0"/>
          </a:p>
          <a:p>
            <a:r>
              <a:rPr lang="en-US" sz="3000" dirty="0" err="1"/>
              <a:t>Contoh</a:t>
            </a:r>
            <a:r>
              <a:rPr lang="en-US" sz="3000" dirty="0"/>
              <a:t> </a:t>
            </a:r>
            <a:r>
              <a:rPr lang="en-US" sz="3000" dirty="0" err="1"/>
              <a:t>hubungan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project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class</a:t>
            </a:r>
            <a:r>
              <a:rPr lang="en-US" sz="3000" dirty="0"/>
              <a:t> </a:t>
            </a:r>
            <a:r>
              <a:rPr lang="en-US" sz="3000" dirty="0" err="1"/>
              <a:t>seperti</a:t>
            </a:r>
            <a:r>
              <a:rPr lang="en-US" sz="3000" dirty="0"/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Tumbuhan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taxonomy </a:t>
            </a:r>
            <a:r>
              <a:rPr lang="en-US" sz="3000" b="1" dirty="0" err="1">
                <a:solidFill>
                  <a:srgbClr val="0070C0"/>
                </a:solidFill>
              </a:rPr>
              <a:t>Tumbuhan</a:t>
            </a:r>
            <a:r>
              <a:rPr lang="en-US" sz="3000" dirty="0"/>
              <a:t>, </a:t>
            </a:r>
            <a:r>
              <a:rPr lang="en-US" sz="3000" dirty="0" err="1"/>
              <a:t>seperti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Hewan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taxonomy Hewan</a:t>
            </a:r>
            <a:r>
              <a:rPr lang="en-US" sz="3000" b="1" dirty="0"/>
              <a:t>, </a:t>
            </a:r>
            <a:r>
              <a:rPr lang="en-US" sz="3000" b="1" dirty="0" err="1"/>
              <a:t>seperti</a:t>
            </a:r>
            <a:r>
              <a:rPr lang="en-US" sz="3000" b="1" dirty="0"/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Kendaraan</a:t>
            </a:r>
            <a:r>
              <a:rPr lang="en-US" sz="3000" b="1" dirty="0"/>
              <a:t> </a:t>
            </a:r>
            <a:r>
              <a:rPr lang="en-US" sz="3000" b="1" dirty="0" err="1"/>
              <a:t>dengan</a:t>
            </a:r>
            <a:r>
              <a:rPr lang="en-US" sz="3000" b="1" dirty="0"/>
              <a:t> </a:t>
            </a:r>
            <a:r>
              <a:rPr lang="en-US" sz="3000" b="1" dirty="0" err="1">
                <a:solidFill>
                  <a:srgbClr val="0070C0"/>
                </a:solidFill>
              </a:rPr>
              <a:t>jenis-jenis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000" b="1" dirty="0" err="1">
                <a:solidFill>
                  <a:srgbClr val="0070C0"/>
                </a:solidFill>
              </a:rPr>
              <a:t>Kendaraan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(motor, </a:t>
            </a:r>
            <a:r>
              <a:rPr lang="en-US" sz="3200" dirty="0" err="1"/>
              <a:t>mobil</a:t>
            </a:r>
            <a:r>
              <a:rPr lang="en-US" sz="3200" dirty="0"/>
              <a:t>, </a:t>
            </a:r>
            <a:r>
              <a:rPr lang="en-US" sz="3200" dirty="0" err="1"/>
              <a:t>truct</a:t>
            </a:r>
            <a:r>
              <a:rPr lang="en-US" sz="3200" dirty="0"/>
              <a:t>, bus)</a:t>
            </a:r>
            <a:r>
              <a:rPr lang="en-US" sz="3000" b="1" dirty="0"/>
              <a:t>.</a:t>
            </a:r>
            <a:endParaRPr lang="en-US" sz="3000" dirty="0"/>
          </a:p>
          <a:p>
            <a:r>
              <a:rPr lang="en-US" sz="900" dirty="0"/>
              <a:t> </a:t>
            </a:r>
          </a:p>
          <a:p>
            <a:r>
              <a:rPr lang="en-US" sz="3000" dirty="0" err="1"/>
              <a:t>Contoh</a:t>
            </a:r>
            <a:r>
              <a:rPr lang="en-US" sz="3000" dirty="0"/>
              <a:t> </a:t>
            </a:r>
            <a:r>
              <a:rPr lang="en-US" sz="3000" dirty="0" err="1"/>
              <a:t>struktur</a:t>
            </a:r>
            <a:r>
              <a:rPr lang="en-US" sz="3000" dirty="0"/>
              <a:t> anatomy </a:t>
            </a:r>
            <a:r>
              <a:rPr lang="en-US" sz="3000" dirty="0" err="1"/>
              <a:t>misal</a:t>
            </a:r>
            <a:r>
              <a:rPr lang="en-US" sz="3000" dirty="0"/>
              <a:t> </a:t>
            </a:r>
            <a:r>
              <a:rPr lang="en-US" sz="3000" dirty="0" err="1"/>
              <a:t>antara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FF0000"/>
                </a:solidFill>
              </a:rPr>
              <a:t>Mobil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spare-part</a:t>
            </a:r>
            <a:r>
              <a:rPr lang="en-US" sz="3000" dirty="0"/>
              <a:t> </a:t>
            </a:r>
            <a:r>
              <a:rPr lang="en-US" sz="3000" dirty="0" err="1"/>
              <a:t>nya</a:t>
            </a:r>
            <a:r>
              <a:rPr lang="en-US" sz="3000" dirty="0"/>
              <a:t>, </a:t>
            </a:r>
            <a:r>
              <a:rPr lang="en-US" sz="3000" dirty="0" err="1"/>
              <a:t>contoh</a:t>
            </a:r>
            <a:r>
              <a:rPr lang="en-US" sz="3000" dirty="0"/>
              <a:t> lain </a:t>
            </a:r>
            <a:r>
              <a:rPr lang="en-US" sz="3000" dirty="0" err="1"/>
              <a:t>antara</a:t>
            </a:r>
            <a:r>
              <a:rPr lang="en-US" sz="3000" dirty="0"/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Manusia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b="1" dirty="0">
                <a:solidFill>
                  <a:srgbClr val="0070C0"/>
                </a:solidFill>
              </a:rPr>
              <a:t>organ-organ </a:t>
            </a:r>
            <a:r>
              <a:rPr lang="en-US" sz="3000" b="1" dirty="0" err="1">
                <a:solidFill>
                  <a:srgbClr val="0070C0"/>
                </a:solidFill>
              </a:rPr>
              <a:t>tubuh</a:t>
            </a:r>
            <a:r>
              <a:rPr lang="en-US" sz="3000" dirty="0" err="1"/>
              <a:t>-nya</a:t>
            </a:r>
            <a:r>
              <a:rPr lang="en-US" sz="3000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2688A-655C-4DA4-A20F-C785595C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5BF6D-A26A-45F4-986F-12CEA881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BEA4BF-981A-48C1-A38E-FAABBF7D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576071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Contoh</a:t>
            </a:r>
            <a:r>
              <a:rPr lang="en-US" sz="3600" dirty="0"/>
              <a:t> </a:t>
            </a:r>
            <a:r>
              <a:rPr lang="en-US" sz="3600" dirty="0" err="1"/>
              <a:t>Struktur</a:t>
            </a:r>
            <a:r>
              <a:rPr lang="en-US" sz="3600" dirty="0"/>
              <a:t> OOP</a:t>
            </a:r>
          </a:p>
        </p:txBody>
      </p:sp>
    </p:spTree>
    <p:extLst>
      <p:ext uri="{BB962C8B-B14F-4D97-AF65-F5344CB8AC3E}">
        <p14:creationId xmlns:p14="http://schemas.microsoft.com/office/powerpoint/2010/main" val="178414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000" dirty="0"/>
              <a:t>1. attribute</a:t>
            </a:r>
          </a:p>
          <a:p>
            <a:pPr>
              <a:buNone/>
            </a:pPr>
            <a:r>
              <a:rPr lang="en-US" sz="4000" dirty="0"/>
              <a:t>2. method()</a:t>
            </a:r>
          </a:p>
          <a:p>
            <a:pPr>
              <a:buNone/>
            </a:pPr>
            <a:r>
              <a:rPr lang="en-US" sz="4000" dirty="0"/>
              <a:t>3. constructor()</a:t>
            </a:r>
          </a:p>
          <a:p>
            <a:pPr>
              <a:buNone/>
            </a:pPr>
            <a:r>
              <a:rPr lang="en-US" sz="4000" dirty="0"/>
              <a:t>4. </a:t>
            </a:r>
            <a:r>
              <a:rPr lang="en-US" sz="4000" dirty="0" err="1"/>
              <a:t>objek</a:t>
            </a:r>
            <a:endParaRPr lang="en-US" sz="4000" dirty="0"/>
          </a:p>
          <a:p>
            <a:pPr>
              <a:buNone/>
            </a:pPr>
            <a:r>
              <a:rPr lang="en-US" sz="4000" dirty="0"/>
              <a:t>5. modifier</a:t>
            </a:r>
          </a:p>
          <a:p>
            <a:pPr>
              <a:buNone/>
            </a:pPr>
            <a:r>
              <a:rPr lang="en-US" sz="4000" dirty="0"/>
              <a:t>6. inner-class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ffectLst/>
              </a:rPr>
              <a:t>Class dan Anatomy-</a:t>
            </a:r>
            <a:r>
              <a:rPr lang="en-US" dirty="0" err="1">
                <a:effectLst/>
              </a:rPr>
              <a:t>nya</a:t>
            </a:r>
            <a:endParaRPr lang="en-US" dirty="0">
              <a:effectLst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005681"/>
            <a:ext cx="8686800" cy="5547519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blue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print</a:t>
            </a:r>
            <a:r>
              <a:rPr lang="en-US" b="1" dirty="0">
                <a:solidFill>
                  <a:srgbClr val="0070C0"/>
                </a:solidFill>
              </a:rPr>
              <a:t> /template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benda-benda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homogen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yang </a:t>
            </a:r>
            <a:r>
              <a:rPr lang="en-US" b="1" dirty="0" err="1">
                <a:solidFill>
                  <a:srgbClr val="FF0000"/>
                </a:solidFill>
              </a:rPr>
              <a:t>dibendakan</a:t>
            </a:r>
            <a:r>
              <a:rPr lang="en-US" dirty="0"/>
              <a:t>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abstrak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mencetak</a:t>
            </a:r>
            <a:r>
              <a:rPr lang="en-US" dirty="0"/>
              <a:t> /</a:t>
            </a:r>
            <a:r>
              <a:rPr lang="en-US" dirty="0" err="1"/>
              <a:t>mewujudkan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suatu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dan </a:t>
            </a:r>
            <a:r>
              <a:rPr lang="en-US" dirty="0" err="1"/>
              <a:t>nyata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b="1" dirty="0"/>
              <a:t>class </a:t>
            </a:r>
            <a:r>
              <a:rPr lang="en-US" b="1" dirty="0" err="1"/>
              <a:t>Manusia</a:t>
            </a:r>
            <a:r>
              <a:rPr lang="en-US" dirty="0"/>
              <a:t> dan </a:t>
            </a:r>
            <a:r>
              <a:rPr lang="en-US" b="1" dirty="0" err="1"/>
              <a:t>objeknya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, </a:t>
            </a:r>
            <a:r>
              <a:rPr lang="en-US" dirty="0" err="1"/>
              <a:t>bambang</a:t>
            </a:r>
            <a:r>
              <a:rPr lang="en-US" dirty="0"/>
              <a:t>, </a:t>
            </a:r>
            <a:r>
              <a:rPr lang="en-US" dirty="0" err="1"/>
              <a:t>joko</a:t>
            </a:r>
            <a:r>
              <a:rPr lang="en-US" dirty="0"/>
              <a:t>, </a:t>
            </a:r>
            <a:r>
              <a:rPr lang="en-US" dirty="0" err="1"/>
              <a:t>dsb</a:t>
            </a:r>
            <a:r>
              <a:rPr lang="en-US" dirty="0"/>
              <a:t>. </a:t>
            </a:r>
          </a:p>
          <a:p>
            <a:r>
              <a:rPr lang="en-US" b="1" i="1" dirty="0"/>
              <a:t>a car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class,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b="1" i="1" dirty="0"/>
              <a:t>the car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 </a:t>
            </a:r>
          </a:p>
          <a:p>
            <a:r>
              <a:rPr lang="en-US" dirty="0" err="1"/>
              <a:t>Semua</a:t>
            </a:r>
            <a:r>
              <a:rPr lang="en-US" dirty="0"/>
              <a:t> Class </a:t>
            </a:r>
            <a:r>
              <a:rPr lang="en-US" b="1" dirty="0" err="1">
                <a:solidFill>
                  <a:srgbClr val="FF0000"/>
                </a:solidFill>
              </a:rPr>
              <a:t>dapat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dikompilasi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Class yg </a:t>
            </a:r>
            <a:r>
              <a:rPr lang="en-US" dirty="0" err="1"/>
              <a:t>memiliki</a:t>
            </a:r>
            <a:r>
              <a:rPr lang="en-US" dirty="0"/>
              <a:t> method main() </a:t>
            </a:r>
            <a:r>
              <a:rPr lang="en-US" b="1" dirty="0" err="1">
                <a:solidFill>
                  <a:srgbClr val="FF0000"/>
                </a:solidFill>
              </a:rPr>
              <a:t>dapat</a:t>
            </a:r>
            <a:r>
              <a:rPr lang="en-US" b="1" dirty="0">
                <a:solidFill>
                  <a:srgbClr val="FF0000"/>
                </a:solidFill>
              </a:rPr>
              <a:t> di run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program </a:t>
            </a:r>
            <a:r>
              <a:rPr lang="en-US" dirty="0" err="1"/>
              <a:t>tersendiri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sz="9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97815"/>
            <a:ext cx="8229600" cy="487362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effectLst/>
              </a:rPr>
              <a:t>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642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Contoh1: class </a:t>
            </a:r>
            <a:r>
              <a:rPr lang="en-US" dirty="0" err="1"/>
              <a:t>Buku</a:t>
            </a:r>
            <a:endParaRPr lang="en-US" dirty="0"/>
          </a:p>
          <a:p>
            <a:r>
              <a:rPr lang="en-US" dirty="0"/>
              <a:t>attribute </a:t>
            </a:r>
            <a:r>
              <a:rPr lang="en-US" dirty="0" err="1"/>
              <a:t>nya</a:t>
            </a:r>
            <a:r>
              <a:rPr lang="en-US" dirty="0"/>
              <a:t>: ISBN, </a:t>
            </a:r>
            <a:r>
              <a:rPr lang="en-US" dirty="0" err="1"/>
              <a:t>judul</a:t>
            </a:r>
            <a:r>
              <a:rPr lang="en-US" dirty="0"/>
              <a:t>, </a:t>
            </a:r>
            <a:r>
              <a:rPr lang="en-US" dirty="0" err="1"/>
              <a:t>harga</a:t>
            </a:r>
            <a:r>
              <a:rPr lang="en-US" dirty="0"/>
              <a:t>,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, </a:t>
            </a:r>
            <a:r>
              <a:rPr lang="en-US" b="1" dirty="0" err="1"/>
              <a:t>penulis</a:t>
            </a:r>
            <a:r>
              <a:rPr lang="en-US" b="1" dirty="0"/>
              <a:t>, </a:t>
            </a:r>
            <a:r>
              <a:rPr lang="en-US" b="1" dirty="0" err="1"/>
              <a:t>penerbit</a:t>
            </a:r>
            <a:r>
              <a:rPr lang="en-US" b="1" dirty="0"/>
              <a:t>?</a:t>
            </a:r>
          </a:p>
          <a:p>
            <a:r>
              <a:rPr lang="en-US" dirty="0"/>
              <a:t>method() </a:t>
            </a:r>
            <a:r>
              <a:rPr lang="en-US" dirty="0" err="1"/>
              <a:t>nya</a:t>
            </a:r>
            <a:r>
              <a:rPr lang="en-US" dirty="0"/>
              <a:t>: </a:t>
            </a:r>
            <a:r>
              <a:rPr lang="en-US" dirty="0" err="1"/>
              <a:t>diketik</a:t>
            </a:r>
            <a:r>
              <a:rPr lang="en-US" dirty="0"/>
              <a:t>(), </a:t>
            </a:r>
            <a:r>
              <a:rPr lang="en-US" dirty="0" err="1"/>
              <a:t>diedit</a:t>
            </a:r>
            <a:r>
              <a:rPr lang="en-US" dirty="0"/>
              <a:t>(), </a:t>
            </a:r>
            <a:r>
              <a:rPr lang="en-US" dirty="0" err="1"/>
              <a:t>dicetak</a:t>
            </a:r>
            <a:r>
              <a:rPr lang="en-US" dirty="0"/>
              <a:t>(), </a:t>
            </a:r>
            <a:r>
              <a:rPr lang="en-US" dirty="0" err="1"/>
              <a:t>diterbitkan</a:t>
            </a:r>
            <a:r>
              <a:rPr lang="en-US" dirty="0"/>
              <a:t>(), </a:t>
            </a:r>
            <a:r>
              <a:rPr lang="en-US" dirty="0" err="1"/>
              <a:t>dijual</a:t>
            </a:r>
            <a:r>
              <a:rPr lang="en-US" dirty="0"/>
              <a:t>().  </a:t>
            </a:r>
          </a:p>
          <a:p>
            <a:endParaRPr lang="en-US" sz="900" dirty="0"/>
          </a:p>
          <a:p>
            <a:r>
              <a:rPr lang="en-US" dirty="0"/>
              <a:t>Contoh2: class Mobil</a:t>
            </a:r>
          </a:p>
          <a:p>
            <a:r>
              <a:rPr lang="en-US" dirty="0"/>
              <a:t>attribute </a:t>
            </a:r>
            <a:r>
              <a:rPr lang="en-US" dirty="0" err="1"/>
              <a:t>nya</a:t>
            </a:r>
            <a:r>
              <a:rPr lang="en-US" dirty="0"/>
              <a:t>: </a:t>
            </a:r>
            <a:r>
              <a:rPr lang="en-US" dirty="0" err="1"/>
              <a:t>noSTNK</a:t>
            </a:r>
            <a:r>
              <a:rPr lang="en-US" dirty="0"/>
              <a:t>, </a:t>
            </a:r>
            <a:r>
              <a:rPr lang="en-US" dirty="0" err="1"/>
              <a:t>nopol</a:t>
            </a:r>
            <a:r>
              <a:rPr lang="en-US" dirty="0"/>
              <a:t>, merk, </a:t>
            </a:r>
            <a:r>
              <a:rPr lang="en-US" dirty="0" err="1"/>
              <a:t>warna</a:t>
            </a:r>
            <a:r>
              <a:rPr lang="en-US" dirty="0"/>
              <a:t>, </a:t>
            </a:r>
            <a:r>
              <a:rPr lang="en-US" dirty="0" err="1"/>
              <a:t>tahun</a:t>
            </a:r>
            <a:r>
              <a:rPr lang="en-US" dirty="0"/>
              <a:t>, </a:t>
            </a:r>
            <a:r>
              <a:rPr lang="en-US" dirty="0" err="1"/>
              <a:t>harga</a:t>
            </a:r>
            <a:r>
              <a:rPr lang="en-US" dirty="0"/>
              <a:t>.</a:t>
            </a:r>
          </a:p>
          <a:p>
            <a:r>
              <a:rPr lang="en-US" dirty="0"/>
              <a:t>method </a:t>
            </a:r>
            <a:r>
              <a:rPr lang="en-US" dirty="0" err="1"/>
              <a:t>nya</a:t>
            </a:r>
            <a:r>
              <a:rPr lang="en-US" dirty="0"/>
              <a:t>: </a:t>
            </a:r>
            <a:r>
              <a:rPr lang="en-US" dirty="0" err="1"/>
              <a:t>maju</a:t>
            </a:r>
            <a:r>
              <a:rPr lang="en-US" dirty="0"/>
              <a:t>(), </a:t>
            </a:r>
            <a:r>
              <a:rPr lang="en-US" dirty="0" err="1"/>
              <a:t>berhenti</a:t>
            </a:r>
            <a:r>
              <a:rPr lang="en-US" dirty="0"/>
              <a:t>(). </a:t>
            </a:r>
            <a:r>
              <a:rPr lang="en-US" dirty="0" err="1"/>
              <a:t>mundur</a:t>
            </a:r>
            <a:r>
              <a:rPr lang="en-US" dirty="0"/>
              <a:t>(), </a:t>
            </a:r>
            <a:r>
              <a:rPr lang="en-US" dirty="0" err="1"/>
              <a:t>belok</a:t>
            </a:r>
            <a:r>
              <a:rPr lang="en-US" dirty="0"/>
              <a:t>().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Mahasiswa</a:t>
            </a:r>
            <a:endParaRPr lang="en-US" dirty="0"/>
          </a:p>
          <a:p>
            <a:r>
              <a:rPr lang="en-US" dirty="0"/>
              <a:t>attribute </a:t>
            </a:r>
            <a:r>
              <a:rPr lang="en-US" dirty="0" err="1"/>
              <a:t>nya</a:t>
            </a:r>
            <a:r>
              <a:rPr lang="en-US" dirty="0"/>
              <a:t>?</a:t>
            </a:r>
          </a:p>
          <a:p>
            <a:r>
              <a:rPr lang="en-US" dirty="0"/>
              <a:t>method() </a:t>
            </a:r>
            <a:r>
              <a:rPr lang="en-US" dirty="0" err="1"/>
              <a:t>nya</a:t>
            </a:r>
            <a:r>
              <a:rPr lang="en-US" dirty="0"/>
              <a:t>?</a:t>
            </a:r>
          </a:p>
          <a:p>
            <a:endParaRPr lang="en-US" sz="800" dirty="0"/>
          </a:p>
          <a:p>
            <a:r>
              <a:rPr lang="en-US" dirty="0" err="1"/>
              <a:t>makan</a:t>
            </a:r>
            <a:r>
              <a:rPr lang="en-US" dirty="0"/>
              <a:t>(), </a:t>
            </a:r>
            <a:r>
              <a:rPr lang="en-US" dirty="0" err="1"/>
              <a:t>minum</a:t>
            </a:r>
            <a:r>
              <a:rPr lang="en-US" dirty="0"/>
              <a:t>(), </a:t>
            </a:r>
            <a:r>
              <a:rPr lang="en-US" dirty="0" err="1"/>
              <a:t>tidur</a:t>
            </a:r>
            <a:r>
              <a:rPr lang="en-US" dirty="0"/>
              <a:t>() </a:t>
            </a:r>
            <a:r>
              <a:rPr lang="en-US" dirty="0" err="1"/>
              <a:t>adalah</a:t>
            </a:r>
            <a:r>
              <a:rPr lang="en-US" dirty="0"/>
              <a:t> method() </a:t>
            </a:r>
            <a:r>
              <a:rPr lang="en-US" dirty="0" err="1"/>
              <a:t>milik</a:t>
            </a:r>
            <a:r>
              <a:rPr lang="en-US" dirty="0"/>
              <a:t> class </a:t>
            </a:r>
            <a:r>
              <a:rPr lang="en-US" dirty="0" err="1"/>
              <a:t>Mahasiswa</a:t>
            </a:r>
            <a:r>
              <a:rPr lang="en-US" dirty="0"/>
              <a:t>?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Latihan </a:t>
            </a:r>
            <a:r>
              <a:rPr lang="en-US" dirty="0" err="1">
                <a:effectLst/>
              </a:rPr>
              <a:t>membuat</a:t>
            </a:r>
            <a:r>
              <a:rPr lang="en-US" dirty="0">
                <a:effectLst/>
              </a:rPr>
              <a:t>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b="1" dirty="0"/>
              <a:t>standard</a:t>
            </a:r>
            <a:r>
              <a:rPr lang="en-US" dirty="0"/>
              <a:t> yg </a:t>
            </a:r>
            <a:r>
              <a:rPr lang="en-US" dirty="0" err="1"/>
              <a:t>disediakan</a:t>
            </a:r>
            <a:r>
              <a:rPr lang="en-US" dirty="0"/>
              <a:t> vendor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komunitas</a:t>
            </a:r>
            <a:r>
              <a:rPr lang="en-US" dirty="0"/>
              <a:t> yg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 err="1"/>
              <a:t>Aplication</a:t>
            </a:r>
            <a:r>
              <a:rPr lang="en-US" i="1" dirty="0"/>
              <a:t> Programming Interface</a:t>
            </a:r>
            <a:r>
              <a:rPr lang="en-US" dirty="0"/>
              <a:t> (API) dan </a:t>
            </a: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programmer.</a:t>
            </a:r>
          </a:p>
          <a:p>
            <a:endParaRPr lang="en-US" dirty="0"/>
          </a:p>
          <a:p>
            <a:pPr algn="just"/>
            <a:r>
              <a:rPr lang="en-US" dirty="0"/>
              <a:t>Class yg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oleh programmer </a:t>
            </a:r>
            <a:r>
              <a:rPr lang="en-US" dirty="0" err="1"/>
              <a:t>disebut</a:t>
            </a:r>
            <a:r>
              <a:rPr lang="en-US" dirty="0"/>
              <a:t> class </a:t>
            </a:r>
            <a:r>
              <a:rPr lang="en-US" b="1" dirty="0"/>
              <a:t>non standard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effectLst/>
              </a:rPr>
              <a:t>Dua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kelompok</a:t>
            </a:r>
            <a:r>
              <a:rPr lang="en-US" dirty="0">
                <a:effectLst/>
              </a:rPr>
              <a:t>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FF0000"/>
                </a:solidFill>
              </a:rPr>
              <a:t>[modifier1] [modifier2] class </a:t>
            </a:r>
            <a:r>
              <a:rPr lang="en-US" sz="2600" b="1" dirty="0" err="1">
                <a:solidFill>
                  <a:srgbClr val="FF0000"/>
                </a:solidFill>
              </a:rPr>
              <a:t>NamaClass</a:t>
            </a:r>
            <a:r>
              <a:rPr lang="en-US" sz="2600" b="1" dirty="0">
                <a:solidFill>
                  <a:srgbClr val="FF0000"/>
                </a:solidFill>
              </a:rPr>
              <a:t> [modifier3] {</a:t>
            </a:r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   //</a:t>
            </a:r>
            <a:r>
              <a:rPr lang="en-US" sz="2800" b="1" dirty="0" err="1">
                <a:solidFill>
                  <a:srgbClr val="FF0000"/>
                </a:solidFill>
              </a:rPr>
              <a:t>classbody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</a:p>
          <a:p>
            <a:pPr>
              <a:buNone/>
            </a:pPr>
            <a:r>
              <a:rPr lang="en-US" sz="2800" dirty="0"/>
              <a:t>   0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atau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1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atau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n</a:t>
            </a:r>
            <a:r>
              <a:rPr lang="en-US" sz="2800" dirty="0">
                <a:solidFill>
                  <a:srgbClr val="FF0000"/>
                </a:solidFill>
              </a:rPr>
              <a:t> attribute;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   </a:t>
            </a:r>
            <a:r>
              <a:rPr lang="en-US" sz="2800" dirty="0"/>
              <a:t>1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atau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n</a:t>
            </a:r>
            <a:r>
              <a:rPr lang="en-US" sz="2800" dirty="0">
                <a:solidFill>
                  <a:srgbClr val="FF0000"/>
                </a:solidFill>
              </a:rPr>
              <a:t> constructor();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   </a:t>
            </a:r>
            <a:r>
              <a:rPr lang="en-US" sz="2800" dirty="0"/>
              <a:t>1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atau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n</a:t>
            </a:r>
            <a:r>
              <a:rPr lang="en-US" sz="2800" dirty="0">
                <a:solidFill>
                  <a:srgbClr val="FF0000"/>
                </a:solidFill>
              </a:rPr>
              <a:t> method();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} </a:t>
            </a:r>
          </a:p>
          <a:p>
            <a:pPr>
              <a:buNone/>
            </a:pPr>
            <a:r>
              <a:rPr lang="en-US" sz="2800" dirty="0"/>
              <a:t>  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Modifier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anatomi</a:t>
            </a:r>
            <a:r>
              <a:rPr lang="en-US" sz="2800" dirty="0"/>
              <a:t> Class </a:t>
            </a:r>
            <a:r>
              <a:rPr lang="en-US" sz="2800" dirty="0" err="1"/>
              <a:t>sifatnya</a:t>
            </a:r>
            <a:r>
              <a:rPr lang="en-US" sz="2800" dirty="0"/>
              <a:t> </a:t>
            </a:r>
            <a:r>
              <a:rPr lang="en-US" sz="2800" dirty="0" err="1"/>
              <a:t>opsional</a:t>
            </a:r>
            <a:r>
              <a:rPr lang="en-US" sz="2800" dirty="0"/>
              <a:t>,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berdasarkan</a:t>
            </a:r>
            <a:r>
              <a:rPr lang="en-US" sz="2800" dirty="0"/>
              <a:t> </a:t>
            </a:r>
            <a:r>
              <a:rPr lang="en-US" sz="2800" dirty="0" err="1"/>
              <a:t>kebutuhan</a:t>
            </a:r>
            <a:r>
              <a:rPr lang="en-US" sz="28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/>
              </a:rPr>
              <a:t>Template </a:t>
            </a:r>
            <a:r>
              <a:rPr lang="en-US" sz="3200" dirty="0" err="1">
                <a:effectLst/>
              </a:rPr>
              <a:t>struktur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Anatomi</a:t>
            </a:r>
            <a:r>
              <a:rPr lang="en-US" sz="3200" dirty="0">
                <a:effectLst/>
              </a:rPr>
              <a:t>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599"/>
            <a:ext cx="8763000" cy="5416709"/>
          </a:xfrm>
        </p:spPr>
        <p:txBody>
          <a:bodyPr>
            <a:normAutofit/>
          </a:bodyPr>
          <a:lstStyle/>
          <a:p>
            <a:r>
              <a:rPr lang="en-US" sz="3600" dirty="0" err="1"/>
              <a:t>Apa</a:t>
            </a:r>
            <a:r>
              <a:rPr lang="en-US" sz="3600" dirty="0"/>
              <a:t> yang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diinformasikan</a:t>
            </a:r>
            <a:r>
              <a:rPr lang="en-US" sz="3600" dirty="0"/>
              <a:t> </a:t>
            </a:r>
            <a:r>
              <a:rPr lang="en-US" sz="3600" dirty="0" err="1"/>
              <a:t>mengenai</a:t>
            </a:r>
            <a:r>
              <a:rPr lang="en-US" sz="3600" dirty="0"/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identitas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ciri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khas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b="1" dirty="0" err="1">
                <a:solidFill>
                  <a:srgbClr val="00B050"/>
                </a:solidFill>
              </a:rPr>
              <a:t>kondisi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600" b="1" dirty="0" err="1">
                <a:solidFill>
                  <a:srgbClr val="00B050"/>
                </a:solidFill>
              </a:rPr>
              <a:t>khas</a:t>
            </a:r>
            <a:r>
              <a:rPr lang="en-US" sz="3600" dirty="0"/>
              <a:t> </a:t>
            </a:r>
            <a:r>
              <a:rPr lang="en-US" sz="3600" dirty="0" err="1"/>
              <a:t>seluruh</a:t>
            </a:r>
            <a:r>
              <a:rPr lang="en-US" sz="3600" dirty="0"/>
              <a:t>/</a:t>
            </a:r>
            <a:r>
              <a:rPr lang="en-US" sz="3600" dirty="0" err="1"/>
              <a:t>sebagian</a:t>
            </a:r>
            <a:r>
              <a:rPr lang="en-US" sz="3600" dirty="0"/>
              <a:t> </a:t>
            </a:r>
            <a:r>
              <a:rPr lang="en-US" sz="3600" dirty="0" err="1"/>
              <a:t>objek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Class. </a:t>
            </a:r>
            <a:r>
              <a:rPr lang="en-US" sz="3600" dirty="0" err="1"/>
              <a:t>Artinya</a:t>
            </a:r>
            <a:r>
              <a:rPr lang="en-US" sz="3600" dirty="0"/>
              <a:t> </a:t>
            </a:r>
            <a:r>
              <a:rPr lang="en-US" sz="3600" dirty="0" err="1"/>
              <a:t>suatu</a:t>
            </a:r>
            <a:r>
              <a:rPr lang="en-US" sz="3600" dirty="0"/>
              <a:t> attribute </a:t>
            </a:r>
            <a:r>
              <a:rPr lang="en-US" sz="3600" dirty="0" err="1">
                <a:solidFill>
                  <a:srgbClr val="FF0000"/>
                </a:solidFill>
              </a:rPr>
              <a:t>milik</a:t>
            </a:r>
            <a:r>
              <a:rPr lang="en-US" sz="3600" dirty="0"/>
              <a:t> class/</a:t>
            </a:r>
            <a:r>
              <a:rPr lang="en-US" sz="3600" dirty="0" err="1"/>
              <a:t>objek</a:t>
            </a:r>
            <a:r>
              <a:rPr lang="en-US" sz="3600" dirty="0"/>
              <a:t>.</a:t>
            </a:r>
          </a:p>
          <a:p>
            <a:endParaRPr lang="en-US" sz="900" dirty="0"/>
          </a:p>
          <a:p>
            <a:r>
              <a:rPr lang="en-US" sz="3600" dirty="0"/>
              <a:t>Attribute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D60093"/>
                </a:solidFill>
              </a:rPr>
              <a:t>diwariskan</a:t>
            </a:r>
            <a:r>
              <a:rPr lang="en-US" sz="3600" dirty="0"/>
              <a:t> dan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B0F0"/>
                </a:solidFill>
              </a:rPr>
              <a:t>diberi</a:t>
            </a:r>
            <a:r>
              <a:rPr lang="en-US" sz="3600" dirty="0">
                <a:solidFill>
                  <a:srgbClr val="00B0F0"/>
                </a:solidFill>
              </a:rPr>
              <a:t> modifier</a:t>
            </a:r>
            <a:r>
              <a:rPr lang="en-US" sz="3600" dirty="0"/>
              <a:t>.</a:t>
            </a:r>
          </a:p>
          <a:p>
            <a:endParaRPr lang="en-US" sz="900" dirty="0"/>
          </a:p>
          <a:p>
            <a:pPr marL="109728" indent="0">
              <a:buNone/>
            </a:pPr>
            <a:endParaRPr lang="en-US" sz="3100" b="1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effectLst/>
              </a:rPr>
              <a:t>attribute</a:t>
            </a:r>
          </a:p>
        </p:txBody>
      </p:sp>
    </p:spTree>
    <p:extLst>
      <p:ext uri="{BB962C8B-B14F-4D97-AF65-F5344CB8AC3E}">
        <p14:creationId xmlns:p14="http://schemas.microsoft.com/office/powerpoint/2010/main" val="163678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990599"/>
            <a:ext cx="9067800" cy="5416709"/>
          </a:xfrm>
        </p:spPr>
        <p:txBody>
          <a:bodyPr>
            <a:normAutofit/>
          </a:bodyPr>
          <a:lstStyle/>
          <a:p>
            <a:r>
              <a:rPr lang="en-US" sz="3100" dirty="0" err="1"/>
              <a:t>Deklarasi</a:t>
            </a:r>
            <a:r>
              <a:rPr lang="en-US" sz="3100" dirty="0"/>
              <a:t> attribute </a:t>
            </a:r>
            <a:r>
              <a:rPr lang="en-US" sz="3100" dirty="0" err="1"/>
              <a:t>diletakkan</a:t>
            </a:r>
            <a:r>
              <a:rPr lang="en-US" sz="3100" dirty="0"/>
              <a:t> di </a:t>
            </a:r>
            <a:r>
              <a:rPr lang="en-US" sz="3100" dirty="0" err="1"/>
              <a:t>dalam</a:t>
            </a:r>
            <a:r>
              <a:rPr lang="en-US" sz="3100" dirty="0"/>
              <a:t> </a:t>
            </a:r>
            <a:r>
              <a:rPr lang="en-US" sz="3100" dirty="0" err="1"/>
              <a:t>classbody</a:t>
            </a:r>
            <a:r>
              <a:rPr lang="en-US" sz="3100" dirty="0"/>
              <a:t> </a:t>
            </a:r>
            <a:r>
              <a:rPr lang="en-US" sz="3100" dirty="0" err="1"/>
              <a:t>namun</a:t>
            </a:r>
            <a:r>
              <a:rPr lang="en-US" sz="3100" dirty="0"/>
              <a:t> di </a:t>
            </a:r>
            <a:r>
              <a:rPr lang="en-US" sz="3100" dirty="0" err="1"/>
              <a:t>luar</a:t>
            </a:r>
            <a:r>
              <a:rPr lang="en-US" sz="3100" dirty="0"/>
              <a:t>/di </a:t>
            </a:r>
            <a:r>
              <a:rPr lang="en-US" sz="3100" dirty="0" err="1"/>
              <a:t>atas</a:t>
            </a:r>
            <a:r>
              <a:rPr lang="en-US" sz="3100" dirty="0"/>
              <a:t> method().</a:t>
            </a:r>
          </a:p>
          <a:p>
            <a:endParaRPr lang="en-US" sz="900" dirty="0">
              <a:solidFill>
                <a:srgbClr val="FFC000"/>
              </a:solidFill>
            </a:endParaRPr>
          </a:p>
          <a:p>
            <a:r>
              <a:rPr lang="en-US" sz="3100" dirty="0" err="1"/>
              <a:t>Bentuk</a:t>
            </a:r>
            <a:r>
              <a:rPr lang="en-US" sz="3100" dirty="0"/>
              <a:t> </a:t>
            </a:r>
            <a:r>
              <a:rPr lang="en-US" sz="3100" dirty="0" err="1"/>
              <a:t>umum</a:t>
            </a:r>
            <a:r>
              <a:rPr lang="en-US" sz="3100" dirty="0"/>
              <a:t> </a:t>
            </a:r>
            <a:r>
              <a:rPr lang="en-US" sz="3100" dirty="0" err="1"/>
              <a:t>deklarasi</a:t>
            </a:r>
            <a:r>
              <a:rPr lang="en-US" sz="3100" dirty="0"/>
              <a:t> attribute </a:t>
            </a:r>
            <a:r>
              <a:rPr lang="en-US" sz="3100" dirty="0" err="1"/>
              <a:t>ada</a:t>
            </a:r>
            <a:r>
              <a:rPr lang="en-US" sz="3100" dirty="0"/>
              <a:t> dua:</a:t>
            </a:r>
          </a:p>
          <a:p>
            <a:endParaRPr lang="en-US" sz="900" dirty="0"/>
          </a:p>
          <a:p>
            <a:r>
              <a:rPr lang="en-US" sz="2400" dirty="0">
                <a:solidFill>
                  <a:srgbClr val="FF0000"/>
                </a:solidFill>
              </a:rPr>
              <a:t>[modifier1] </a:t>
            </a:r>
            <a:r>
              <a:rPr lang="en-US" sz="2400" dirty="0" err="1">
                <a:solidFill>
                  <a:srgbClr val="FF0000"/>
                </a:solidFill>
              </a:rPr>
              <a:t>tipedata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namaAttribute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endParaRPr lang="en-US" sz="900" b="1" dirty="0"/>
          </a:p>
          <a:p>
            <a:r>
              <a:rPr lang="en-US" sz="2400" dirty="0">
                <a:solidFill>
                  <a:srgbClr val="FF0000"/>
                </a:solidFill>
              </a:rPr>
              <a:t>[public] [static] final </a:t>
            </a:r>
            <a:r>
              <a:rPr lang="en-US" sz="2400" dirty="0" err="1">
                <a:solidFill>
                  <a:srgbClr val="FF0000"/>
                </a:solidFill>
              </a:rPr>
              <a:t>tipedata</a:t>
            </a:r>
            <a:r>
              <a:rPr lang="en-US" sz="2400" dirty="0">
                <a:solidFill>
                  <a:srgbClr val="FF0000"/>
                </a:solidFill>
              </a:rPr>
              <a:t> NAMAKONSTANTA = literal;</a:t>
            </a:r>
          </a:p>
          <a:p>
            <a:endParaRPr lang="en-US" sz="3100" b="1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attribute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b="1" dirty="0">
                <a:solidFill>
                  <a:srgbClr val="FF0000"/>
                </a:solidFill>
              </a:rPr>
              <a:t> yang </a:t>
            </a:r>
            <a:r>
              <a:rPr lang="en-US" b="1" dirty="0" err="1">
                <a:solidFill>
                  <a:srgbClr val="FF0000"/>
                </a:solidFill>
              </a:rPr>
              <a:t>dapat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dilakukan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err="1"/>
              <a:t>atau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dialami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/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class,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pekerjaan</a:t>
            </a:r>
            <a:r>
              <a:rPr lang="en-US" b="1" dirty="0">
                <a:solidFill>
                  <a:srgbClr val="FF0000"/>
                </a:solidFill>
              </a:rPr>
              <a:t> yang </a:t>
            </a:r>
            <a:r>
              <a:rPr lang="en-US" b="1" dirty="0" err="1">
                <a:solidFill>
                  <a:srgbClr val="FF0000"/>
                </a:solidFill>
              </a:rPr>
              <a:t>khas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/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Class.</a:t>
            </a:r>
          </a:p>
          <a:p>
            <a:pPr algn="just"/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method()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b="1" i="1" dirty="0"/>
              <a:t>static</a:t>
            </a:r>
            <a:r>
              <a:rPr lang="en-US" dirty="0"/>
              <a:t> 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Class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Method </a:t>
            </a:r>
            <a:r>
              <a:rPr lang="en-US" dirty="0" err="1"/>
              <a:t>diletakkan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classbody</a:t>
            </a:r>
            <a:r>
              <a:rPr lang="en-US" dirty="0"/>
              <a:t>, </a:t>
            </a:r>
            <a:r>
              <a:rPr lang="en-US" dirty="0" err="1"/>
              <a:t>sebaiknya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diletakkan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method lain.</a:t>
            </a:r>
          </a:p>
          <a:p>
            <a:pPr algn="just"/>
            <a:r>
              <a:rPr lang="en-US" dirty="0"/>
              <a:t>Nama method()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kata </a:t>
            </a:r>
            <a:r>
              <a:rPr lang="en-US" b="1" dirty="0">
                <a:solidFill>
                  <a:srgbClr val="FF0000"/>
                </a:solidFill>
              </a:rPr>
              <a:t>verb-noun</a:t>
            </a:r>
            <a:r>
              <a:rPr lang="en-US" dirty="0"/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err="1"/>
              <a:t>atau</a:t>
            </a:r>
            <a:r>
              <a:rPr lang="en-US" b="1" dirty="0">
                <a:solidFill>
                  <a:srgbClr val="FF0000"/>
                </a:solidFill>
              </a:rPr>
              <a:t> verb </a:t>
            </a:r>
            <a:r>
              <a:rPr lang="en-US" dirty="0" err="1"/>
              <a:t>saja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0070C0"/>
                </a:solidFill>
              </a:rPr>
              <a:t>float </a:t>
            </a:r>
            <a:r>
              <a:rPr lang="en-US" b="1" dirty="0" err="1">
                <a:solidFill>
                  <a:srgbClr val="0070C0"/>
                </a:solidFill>
              </a:rPr>
              <a:t>getBalance</a:t>
            </a:r>
            <a:r>
              <a:rPr lang="en-US" b="1" dirty="0">
                <a:solidFill>
                  <a:srgbClr val="0070C0"/>
                </a:solidFill>
              </a:rPr>
              <a:t>()</a:t>
            </a:r>
            <a:r>
              <a:rPr lang="en-US" dirty="0">
                <a:solidFill>
                  <a:srgbClr val="0070C0"/>
                </a:solidFill>
              </a:rPr>
              <a:t>,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doCalculation</a:t>
            </a:r>
            <a:r>
              <a:rPr lang="en-US" b="1" dirty="0">
                <a:solidFill>
                  <a:srgbClr val="0070C0"/>
                </a:solidFill>
              </a:rPr>
              <a:t>()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hitungIPK</a:t>
            </a:r>
            <a:r>
              <a:rPr lang="en-US" b="1" dirty="0">
                <a:solidFill>
                  <a:srgbClr val="0070C0"/>
                </a:solidFill>
              </a:rPr>
              <a:t>(), </a:t>
            </a:r>
            <a:r>
              <a:rPr lang="en-US" b="1" dirty="0" err="1">
                <a:solidFill>
                  <a:srgbClr val="0070C0"/>
                </a:solidFill>
              </a:rPr>
              <a:t>setCustomerName</a:t>
            </a:r>
            <a:r>
              <a:rPr lang="en-US" b="1" dirty="0">
                <a:solidFill>
                  <a:srgbClr val="0070C0"/>
                </a:solidFill>
              </a:rPr>
              <a:t>(), display().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method()</a:t>
            </a:r>
          </a:p>
        </p:txBody>
      </p:sp>
    </p:spTree>
    <p:extLst>
      <p:ext uri="{BB962C8B-B14F-4D97-AF65-F5344CB8AC3E}">
        <p14:creationId xmlns:p14="http://schemas.microsoft.com/office/powerpoint/2010/main" val="835739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Ada dua </a:t>
            </a:r>
            <a:r>
              <a:rPr lang="en-US" dirty="0" err="1"/>
              <a:t>kelompok</a:t>
            </a:r>
            <a:r>
              <a:rPr lang="en-US" dirty="0"/>
              <a:t> method()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/>
              <a:t>standard</a:t>
            </a:r>
            <a:r>
              <a:rPr lang="en-US" dirty="0"/>
              <a:t> dan </a:t>
            </a:r>
            <a:r>
              <a:rPr lang="en-US" b="1" dirty="0"/>
              <a:t>non standard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Method yang </a:t>
            </a:r>
            <a:r>
              <a:rPr lang="en-US" b="1" dirty="0"/>
              <a:t>standard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bersamaan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class standard </a:t>
            </a:r>
            <a:r>
              <a:rPr lang="en-US" dirty="0" err="1"/>
              <a:t>oleh</a:t>
            </a:r>
            <a:r>
              <a:rPr lang="en-US" dirty="0"/>
              <a:t> vendor java. </a:t>
            </a:r>
            <a:r>
              <a:rPr lang="en-US" dirty="0" err="1"/>
              <a:t>Misal</a:t>
            </a:r>
            <a:r>
              <a:rPr lang="en-US" dirty="0"/>
              <a:t>: </a:t>
            </a:r>
            <a:r>
              <a:rPr lang="en-US" b="1" dirty="0"/>
              <a:t>setter()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b="1" dirty="0"/>
              <a:t>getter()</a:t>
            </a:r>
            <a:r>
              <a:rPr lang="en-US" dirty="0"/>
              <a:t>.</a:t>
            </a:r>
          </a:p>
          <a:p>
            <a:pPr algn="just">
              <a:buNone/>
            </a:pPr>
            <a:r>
              <a:rPr lang="en-US" dirty="0"/>
              <a:t>   Method </a:t>
            </a:r>
            <a:r>
              <a:rPr lang="en-US" b="1" dirty="0"/>
              <a:t>setter()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literal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attribute.</a:t>
            </a:r>
          </a:p>
          <a:p>
            <a:pPr algn="just">
              <a:buNone/>
            </a:pPr>
            <a:r>
              <a:rPr lang="en-US" dirty="0"/>
              <a:t>   Method </a:t>
            </a:r>
            <a:r>
              <a:rPr lang="en-US" b="1" dirty="0"/>
              <a:t>getter()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attribute.</a:t>
            </a:r>
          </a:p>
          <a:p>
            <a:pPr algn="just"/>
            <a:r>
              <a:rPr lang="en-US" dirty="0"/>
              <a:t>Method() yang </a:t>
            </a:r>
            <a:r>
              <a:rPr lang="en-US" b="1" dirty="0"/>
              <a:t>non standard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programmer. </a:t>
            </a:r>
          </a:p>
          <a:p>
            <a:pPr algn="just">
              <a:buNone/>
            </a:pPr>
            <a:r>
              <a:rPr lang="en-US" dirty="0"/>
              <a:t>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method()</a:t>
            </a:r>
          </a:p>
        </p:txBody>
      </p:sp>
    </p:spTree>
    <p:extLst>
      <p:ext uri="{BB962C8B-B14F-4D97-AF65-F5344CB8AC3E}">
        <p14:creationId xmlns:p14="http://schemas.microsoft.com/office/powerpoint/2010/main" val="1126097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838200"/>
            <a:ext cx="9067800" cy="5410200"/>
          </a:xfrm>
        </p:spPr>
        <p:txBody>
          <a:bodyPr>
            <a:normAutofit fontScale="70000" lnSpcReduction="20000"/>
          </a:bodyPr>
          <a:lstStyle/>
          <a:p>
            <a:r>
              <a:rPr lang="en-US" sz="2200" dirty="0"/>
              <a:t>[</a:t>
            </a:r>
            <a:r>
              <a:rPr lang="en-US" sz="2200" b="1" dirty="0">
                <a:solidFill>
                  <a:srgbClr val="FF0000"/>
                </a:solidFill>
              </a:rPr>
              <a:t>modifier1/2</a:t>
            </a:r>
            <a:r>
              <a:rPr lang="en-US" sz="2200" dirty="0"/>
              <a:t>] </a:t>
            </a:r>
            <a:r>
              <a:rPr lang="en-US" sz="2200" b="1" dirty="0" err="1">
                <a:solidFill>
                  <a:srgbClr val="0070C0"/>
                </a:solidFill>
              </a:rPr>
              <a:t>tipeReturnValue</a:t>
            </a:r>
            <a:r>
              <a:rPr lang="en-US" sz="2200" dirty="0"/>
              <a:t> </a:t>
            </a:r>
            <a:r>
              <a:rPr lang="en-US" sz="2200" b="1" dirty="0" err="1">
                <a:solidFill>
                  <a:srgbClr val="C00000"/>
                </a:solidFill>
              </a:rPr>
              <a:t>namaMethod</a:t>
            </a:r>
            <a:r>
              <a:rPr lang="en-US" sz="2200" dirty="0"/>
              <a:t>([</a:t>
            </a:r>
            <a:r>
              <a:rPr lang="en-US" sz="2200" b="1" dirty="0" err="1">
                <a:solidFill>
                  <a:srgbClr val="00B050"/>
                </a:solidFill>
              </a:rPr>
              <a:t>tipe</a:t>
            </a:r>
            <a:r>
              <a:rPr lang="en-US" sz="2200" dirty="0"/>
              <a:t>] [</a:t>
            </a:r>
            <a:r>
              <a:rPr lang="en-US" sz="2200" b="1" dirty="0">
                <a:solidFill>
                  <a:srgbClr val="D60093"/>
                </a:solidFill>
              </a:rPr>
              <a:t>parameter</a:t>
            </a:r>
            <a:r>
              <a:rPr lang="en-US" sz="2200" dirty="0"/>
              <a:t>]) [</a:t>
            </a:r>
            <a:r>
              <a:rPr lang="en-US" sz="2200" b="1" dirty="0">
                <a:solidFill>
                  <a:srgbClr val="7030A0"/>
                </a:solidFill>
              </a:rPr>
              <a:t>throws</a:t>
            </a:r>
            <a:r>
              <a:rPr lang="en-US" sz="2200" dirty="0"/>
              <a:t> </a:t>
            </a:r>
            <a:r>
              <a:rPr lang="en-US" sz="2200" b="1" dirty="0" err="1">
                <a:solidFill>
                  <a:srgbClr val="D60093"/>
                </a:solidFill>
              </a:rPr>
              <a:t>namaClassEksepsi</a:t>
            </a:r>
            <a:r>
              <a:rPr lang="en-US" sz="2200" dirty="0"/>
              <a:t>]</a:t>
            </a:r>
            <a:r>
              <a:rPr lang="en-US" sz="2200" b="1" dirty="0"/>
              <a:t> {</a:t>
            </a:r>
            <a:r>
              <a:rPr lang="en-US" sz="2200" dirty="0"/>
              <a:t> 	</a:t>
            </a:r>
          </a:p>
          <a:p>
            <a:r>
              <a:rPr lang="en-US" sz="2200" dirty="0"/>
              <a:t>      </a:t>
            </a:r>
            <a:r>
              <a:rPr lang="en-US" sz="2200" dirty="0" err="1"/>
              <a:t>methodBody</a:t>
            </a:r>
            <a:r>
              <a:rPr lang="en-US" sz="2200" dirty="0"/>
              <a:t>;                                    </a:t>
            </a:r>
          </a:p>
          <a:p>
            <a:r>
              <a:rPr lang="en-US" sz="2200" dirty="0"/>
              <a:t>}</a:t>
            </a:r>
          </a:p>
          <a:p>
            <a:endParaRPr lang="en-US" sz="2000" dirty="0"/>
          </a:p>
          <a:p>
            <a:r>
              <a:rPr lang="en-US" sz="2200" b="1" dirty="0">
                <a:solidFill>
                  <a:srgbClr val="FF0000"/>
                </a:solidFill>
              </a:rPr>
              <a:t>abstract</a:t>
            </a:r>
            <a:r>
              <a:rPr lang="en-US" sz="2200" dirty="0"/>
              <a:t> [</a:t>
            </a:r>
            <a:r>
              <a:rPr lang="en-US" sz="2200" b="1" dirty="0" err="1">
                <a:solidFill>
                  <a:srgbClr val="0070C0"/>
                </a:solidFill>
              </a:rPr>
              <a:t>tipeReturnValue</a:t>
            </a:r>
            <a:r>
              <a:rPr lang="en-US" sz="2200" b="1" dirty="0">
                <a:solidFill>
                  <a:srgbClr val="0070C0"/>
                </a:solidFill>
              </a:rPr>
              <a:t>]</a:t>
            </a:r>
            <a:r>
              <a:rPr lang="en-US" sz="2200" dirty="0"/>
              <a:t> </a:t>
            </a:r>
            <a:r>
              <a:rPr lang="en-US" sz="2200" b="1" dirty="0" err="1">
                <a:solidFill>
                  <a:srgbClr val="C00000"/>
                </a:solidFill>
              </a:rPr>
              <a:t>namaMethod</a:t>
            </a:r>
            <a:r>
              <a:rPr lang="en-US" sz="2200" dirty="0"/>
              <a:t>([</a:t>
            </a:r>
            <a:r>
              <a:rPr lang="en-US" sz="2200" b="1" dirty="0" err="1">
                <a:solidFill>
                  <a:srgbClr val="00B050"/>
                </a:solidFill>
              </a:rPr>
              <a:t>tipe</a:t>
            </a:r>
            <a:r>
              <a:rPr lang="en-US" sz="2200" dirty="0"/>
              <a:t>] [</a:t>
            </a:r>
            <a:r>
              <a:rPr lang="en-US" sz="2200" b="1" dirty="0">
                <a:solidFill>
                  <a:srgbClr val="D60093"/>
                </a:solidFill>
              </a:rPr>
              <a:t>parameter</a:t>
            </a:r>
            <a:r>
              <a:rPr lang="en-US" sz="2200" dirty="0"/>
              <a:t>])</a:t>
            </a:r>
            <a:r>
              <a:rPr lang="en-US" sz="2200" b="1" dirty="0"/>
              <a:t>;</a:t>
            </a:r>
          </a:p>
          <a:p>
            <a:endParaRPr lang="en-US" sz="2200" b="1" dirty="0"/>
          </a:p>
          <a:p>
            <a:r>
              <a:rPr lang="en-US" sz="2200" b="1" dirty="0"/>
              <a:t>abstract class </a:t>
            </a:r>
            <a:r>
              <a:rPr lang="en-US" sz="2200" b="1" dirty="0" err="1"/>
              <a:t>MahlukHidup</a:t>
            </a:r>
            <a:r>
              <a:rPr lang="en-US" sz="2200" b="1" dirty="0"/>
              <a:t> {</a:t>
            </a:r>
          </a:p>
          <a:p>
            <a:r>
              <a:rPr lang="en-US" sz="2200" b="1" dirty="0"/>
              <a:t>    abstract void </a:t>
            </a:r>
            <a:r>
              <a:rPr lang="en-US" sz="2200" b="1" dirty="0" err="1"/>
              <a:t>makan</a:t>
            </a:r>
            <a:r>
              <a:rPr lang="en-US" sz="2200" b="1" dirty="0"/>
              <a:t>();</a:t>
            </a:r>
            <a:br>
              <a:rPr lang="en-US" sz="2200" b="1" dirty="0"/>
            </a:br>
            <a:r>
              <a:rPr lang="en-US" sz="2200" b="1" dirty="0"/>
              <a:t>}</a:t>
            </a:r>
          </a:p>
          <a:p>
            <a:r>
              <a:rPr lang="en-US" sz="2200" b="1" dirty="0"/>
              <a:t>class </a:t>
            </a:r>
            <a:r>
              <a:rPr lang="en-US" sz="2200" b="1" dirty="0" err="1"/>
              <a:t>Manusia</a:t>
            </a:r>
            <a:r>
              <a:rPr lang="en-US" sz="2200" b="1" dirty="0"/>
              <a:t> extends </a:t>
            </a:r>
            <a:r>
              <a:rPr lang="en-US" sz="2200" b="1" dirty="0" err="1"/>
              <a:t>MahlukHidup</a:t>
            </a:r>
            <a:r>
              <a:rPr lang="en-US" sz="2200" b="1" dirty="0"/>
              <a:t> {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makan</a:t>
            </a:r>
            <a:r>
              <a:rPr lang="en-US" sz="2200" b="1" dirty="0"/>
              <a:t>() {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System.out.println</a:t>
            </a:r>
            <a:r>
              <a:rPr lang="en-US" sz="2200" b="1" dirty="0"/>
              <a:t>(“</a:t>
            </a:r>
            <a:r>
              <a:rPr lang="en-US" sz="2200" b="1" dirty="0" err="1"/>
              <a:t>cuci</a:t>
            </a:r>
            <a:r>
              <a:rPr lang="en-US" sz="2200" b="1" dirty="0"/>
              <a:t> </a:t>
            </a:r>
            <a:r>
              <a:rPr lang="en-US" sz="2200" b="1" dirty="0" err="1"/>
              <a:t>tangan</a:t>
            </a:r>
            <a:r>
              <a:rPr lang="en-US" sz="2200" b="1" dirty="0"/>
              <a:t> </a:t>
            </a:r>
            <a:r>
              <a:rPr lang="en-US" sz="2200" b="1" dirty="0" err="1"/>
              <a:t>dahulu</a:t>
            </a:r>
            <a:r>
              <a:rPr lang="en-US" sz="2200" b="1" dirty="0"/>
              <a:t>, </a:t>
            </a:r>
            <a:r>
              <a:rPr lang="en-US" sz="2200" b="1" dirty="0" err="1"/>
              <a:t>berdo’a</a:t>
            </a:r>
            <a:r>
              <a:rPr lang="en-US" sz="2200" b="1" dirty="0"/>
              <a:t>, </a:t>
            </a:r>
            <a:r>
              <a:rPr lang="en-US" sz="2200" b="1" dirty="0" err="1"/>
              <a:t>menggunakan</a:t>
            </a:r>
            <a:r>
              <a:rPr lang="en-US" sz="2200" b="1" dirty="0"/>
              <a:t> </a:t>
            </a:r>
            <a:r>
              <a:rPr lang="en-US" sz="2200" b="1" dirty="0" err="1"/>
              <a:t>tangan</a:t>
            </a:r>
            <a:r>
              <a:rPr lang="en-US" sz="2200" b="1" dirty="0"/>
              <a:t> </a:t>
            </a:r>
            <a:r>
              <a:rPr lang="en-US" sz="2200" b="1" dirty="0" err="1"/>
              <a:t>kanan</a:t>
            </a:r>
            <a:r>
              <a:rPr lang="en-US" sz="2200" b="1" dirty="0"/>
              <a:t>”);</a:t>
            </a:r>
          </a:p>
          <a:p>
            <a:r>
              <a:rPr lang="en-US" sz="2200" b="1" dirty="0"/>
              <a:t>    }</a:t>
            </a:r>
          </a:p>
          <a:p>
            <a:r>
              <a:rPr lang="en-US" sz="2200" b="1" dirty="0"/>
              <a:t>} </a:t>
            </a:r>
          </a:p>
          <a:p>
            <a:endParaRPr lang="en-US" sz="2000" dirty="0"/>
          </a:p>
          <a:p>
            <a:r>
              <a:rPr lang="en-US" sz="2400" dirty="0"/>
              <a:t>[</a:t>
            </a:r>
            <a:r>
              <a:rPr lang="en-US" sz="2400" b="1" dirty="0">
                <a:solidFill>
                  <a:srgbClr val="FF0000"/>
                </a:solidFill>
              </a:rPr>
              <a:t>modifier</a:t>
            </a:r>
            <a:r>
              <a:rPr lang="en-US" sz="2400" dirty="0"/>
              <a:t>] [</a:t>
            </a:r>
            <a:r>
              <a:rPr lang="en-US" sz="2400" b="1" dirty="0" err="1">
                <a:solidFill>
                  <a:srgbClr val="0070C0"/>
                </a:solidFill>
              </a:rPr>
              <a:t>tipeReturnValue</a:t>
            </a:r>
            <a:r>
              <a:rPr lang="en-US" sz="2400" b="1" dirty="0">
                <a:solidFill>
                  <a:srgbClr val="0070C0"/>
                </a:solidFill>
              </a:rPr>
              <a:t>]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main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00B050"/>
                </a:solidFill>
              </a:rPr>
              <a:t>String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D60093"/>
                </a:solidFill>
              </a:rPr>
              <a:t>args</a:t>
            </a:r>
            <a:r>
              <a:rPr lang="en-US" sz="2400" dirty="0"/>
              <a:t>) {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methodBody</a:t>
            </a:r>
            <a:r>
              <a:rPr lang="en-US" sz="2400" dirty="0"/>
              <a:t>;                                    </a:t>
            </a:r>
          </a:p>
          <a:p>
            <a:r>
              <a:rPr lang="en-US" sz="2400" dirty="0"/>
              <a:t>}</a:t>
            </a:r>
          </a:p>
          <a:p>
            <a:pPr>
              <a:buNone/>
            </a:pPr>
            <a:endParaRPr lang="en-US" sz="2000" dirty="0"/>
          </a:p>
          <a:p>
            <a:r>
              <a:rPr lang="en-US" sz="2400" dirty="0"/>
              <a:t>Modifier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(</a:t>
            </a:r>
            <a:r>
              <a:rPr lang="en-US" sz="2400" dirty="0" err="1"/>
              <a:t>dipisah</a:t>
            </a:r>
            <a:r>
              <a:rPr lang="en-US" sz="2400" dirty="0"/>
              <a:t> oleh </a:t>
            </a:r>
            <a:r>
              <a:rPr lang="en-US" sz="2400" dirty="0" err="1"/>
              <a:t>spasi</a:t>
            </a:r>
            <a:r>
              <a:rPr lang="en-US" sz="2400" dirty="0"/>
              <a:t>).</a:t>
            </a:r>
          </a:p>
          <a:p>
            <a:r>
              <a:rPr lang="en-US" sz="2400" dirty="0" err="1"/>
              <a:t>Pasangan</a:t>
            </a:r>
            <a:r>
              <a:rPr lang="en-US" sz="2400" dirty="0"/>
              <a:t> </a:t>
            </a:r>
            <a:r>
              <a:rPr lang="en-US" sz="2400" b="1" dirty="0" err="1"/>
              <a:t>tipe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b="1" dirty="0"/>
              <a:t>parameter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(</a:t>
            </a:r>
            <a:r>
              <a:rPr lang="en-US" sz="2400" dirty="0" err="1"/>
              <a:t>dipisah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koma</a:t>
            </a:r>
            <a:r>
              <a:rPr lang="en-US" sz="2400" dirty="0"/>
              <a:t>).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Template/</a:t>
            </a:r>
            <a:r>
              <a:rPr lang="en-US" sz="3200" dirty="0" err="1"/>
              <a:t>Bentuk</a:t>
            </a:r>
            <a:r>
              <a:rPr lang="en-US" sz="3200" dirty="0"/>
              <a:t> </a:t>
            </a:r>
            <a:r>
              <a:rPr lang="en-US" sz="3200" dirty="0" err="1"/>
              <a:t>Umum</a:t>
            </a:r>
            <a:r>
              <a:rPr lang="en-US" sz="3200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3646685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494049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dirty="0"/>
              <a:t>Modifier1 dan modifier2mengatur </a:t>
            </a:r>
            <a:r>
              <a:rPr lang="en-US" sz="2400" dirty="0" err="1"/>
              <a:t>penggunaan</a:t>
            </a:r>
            <a:r>
              <a:rPr lang="en-US" sz="2400" dirty="0"/>
              <a:t> Class/</a:t>
            </a:r>
            <a:r>
              <a:rPr lang="en-US" sz="2400" dirty="0" err="1"/>
              <a:t>komponennya</a:t>
            </a:r>
            <a:r>
              <a:rPr lang="en-US" sz="2400" dirty="0"/>
              <a:t> (</a:t>
            </a:r>
            <a:r>
              <a:rPr lang="en-US" sz="2400" dirty="0" err="1"/>
              <a:t>mengatur</a:t>
            </a:r>
            <a:r>
              <a:rPr lang="en-US" sz="2400" dirty="0"/>
              <a:t> Kerjasama </a:t>
            </a:r>
            <a:r>
              <a:rPr lang="en-US" sz="2400" dirty="0" err="1"/>
              <a:t>antar</a:t>
            </a:r>
            <a:r>
              <a:rPr lang="en-US" sz="2400" dirty="0"/>
              <a:t> class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project).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2400" dirty="0"/>
              <a:t>Modifier1: </a:t>
            </a:r>
          </a:p>
          <a:p>
            <a:pPr>
              <a:buNone/>
            </a:pPr>
            <a:r>
              <a:rPr lang="en-US" sz="2400" dirty="0"/>
              <a:t>   Yang </a:t>
            </a:r>
            <a:r>
              <a:rPr lang="en-US" sz="2400" dirty="0" err="1"/>
              <a:t>mengatur</a:t>
            </a:r>
            <a:r>
              <a:rPr lang="en-US" sz="24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hak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akses</a:t>
            </a:r>
            <a:r>
              <a:rPr lang="en-US" sz="2400" dirty="0"/>
              <a:t> </a:t>
            </a:r>
            <a:r>
              <a:rPr lang="en-US" sz="2400" b="1" u="sng" dirty="0"/>
              <a:t>Class </a:t>
            </a:r>
            <a:r>
              <a:rPr lang="en-US" sz="2400" b="1" u="sng" dirty="0" err="1"/>
              <a:t>pengguna</a:t>
            </a:r>
            <a:r>
              <a:rPr lang="en-US" sz="2400" dirty="0"/>
              <a:t>  </a:t>
            </a:r>
            <a:r>
              <a:rPr lang="en-US" sz="2400" dirty="0" err="1"/>
              <a:t>disebut</a:t>
            </a:r>
            <a:r>
              <a:rPr lang="en-US" sz="2400" dirty="0"/>
              <a:t> modifier </a:t>
            </a:r>
            <a:r>
              <a:rPr lang="en-US" sz="2400" dirty="0" err="1"/>
              <a:t>akses</a:t>
            </a:r>
            <a:r>
              <a:rPr lang="en-US" sz="2400" dirty="0"/>
              <a:t>. 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2400" dirty="0"/>
              <a:t>Ada dua </a:t>
            </a:r>
            <a:r>
              <a:rPr lang="en-US" sz="2400" dirty="0" err="1"/>
              <a:t>jenis</a:t>
            </a:r>
            <a:r>
              <a:rPr lang="en-US" sz="2400" dirty="0"/>
              <a:t> modifier1, yg </a:t>
            </a:r>
            <a:r>
              <a:rPr lang="en-US" sz="2400" dirty="0" err="1"/>
              <a:t>pertama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kelompok</a:t>
            </a:r>
            <a:r>
              <a:rPr lang="en-US" sz="2400" dirty="0"/>
              <a:t> modifier yg </a:t>
            </a:r>
            <a:r>
              <a:rPr lang="en-US" sz="2400" b="1" dirty="0" err="1">
                <a:solidFill>
                  <a:srgbClr val="FF0000"/>
                </a:solidFill>
              </a:rPr>
              <a:t>membuka</a:t>
            </a:r>
            <a:r>
              <a:rPr lang="en-US" sz="2400" dirty="0"/>
              <a:t> </a:t>
            </a:r>
            <a:r>
              <a:rPr lang="en-US" sz="2400" dirty="0" err="1"/>
              <a:t>hak</a:t>
            </a:r>
            <a:r>
              <a:rPr lang="en-US" sz="2400" dirty="0"/>
              <a:t> </a:t>
            </a:r>
            <a:r>
              <a:rPr lang="en-US" sz="2400" dirty="0" err="1"/>
              <a:t>akses</a:t>
            </a:r>
            <a:r>
              <a:rPr lang="en-US" sz="2400" dirty="0"/>
              <a:t> </a:t>
            </a:r>
            <a:r>
              <a:rPr lang="en-US" sz="2400" u="sng" dirty="0"/>
              <a:t>class </a:t>
            </a:r>
            <a:r>
              <a:rPr lang="en-US" sz="2400" u="sng" dirty="0" err="1"/>
              <a:t>pengguna</a:t>
            </a:r>
            <a:r>
              <a:rPr lang="en-US" sz="2400" dirty="0"/>
              <a:t> dan modifier yg </a:t>
            </a:r>
            <a:r>
              <a:rPr lang="en-US" sz="2400" b="1" dirty="0" err="1">
                <a:solidFill>
                  <a:srgbClr val="FF0000"/>
                </a:solidFill>
              </a:rPr>
              <a:t>menutup</a:t>
            </a:r>
            <a:r>
              <a:rPr lang="en-US" sz="2400" dirty="0"/>
              <a:t> </a:t>
            </a:r>
            <a:r>
              <a:rPr lang="en-US" sz="2400" dirty="0" err="1"/>
              <a:t>hak</a:t>
            </a:r>
            <a:r>
              <a:rPr lang="en-US" sz="2400" dirty="0"/>
              <a:t> </a:t>
            </a:r>
            <a:r>
              <a:rPr lang="en-US" sz="2400" dirty="0" err="1"/>
              <a:t>akses</a:t>
            </a:r>
            <a:r>
              <a:rPr lang="en-US" sz="2400" dirty="0"/>
              <a:t> </a:t>
            </a:r>
            <a:r>
              <a:rPr lang="en-US" sz="2400" u="sng" dirty="0"/>
              <a:t>class </a:t>
            </a:r>
            <a:r>
              <a:rPr lang="en-US" sz="2400" u="sng" dirty="0" err="1"/>
              <a:t>pengguna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2400" dirty="0"/>
              <a:t>Modifier1 pada </a:t>
            </a:r>
            <a:r>
              <a:rPr lang="en-US" sz="2400" dirty="0" err="1"/>
              <a:t>anatomi</a:t>
            </a:r>
            <a:r>
              <a:rPr lang="en-US" sz="2400" dirty="0"/>
              <a:t> class </a:t>
            </a:r>
            <a:r>
              <a:rPr lang="en-US" sz="2400" dirty="0" err="1"/>
              <a:t>ditempatkan</a:t>
            </a:r>
            <a:r>
              <a:rPr lang="en-US" sz="2400" dirty="0"/>
              <a:t> paling </a:t>
            </a:r>
            <a:r>
              <a:rPr lang="en-US" sz="2400" dirty="0" err="1"/>
              <a:t>kiri</a:t>
            </a:r>
            <a:r>
              <a:rPr lang="en-US" sz="2400" dirty="0"/>
              <a:t> </a:t>
            </a:r>
            <a:r>
              <a:rPr lang="en-US" sz="2400" dirty="0" err="1"/>
              <a:t>sebelum</a:t>
            </a:r>
            <a:r>
              <a:rPr lang="en-US" sz="2400" dirty="0"/>
              <a:t> modifier2.</a:t>
            </a:r>
          </a:p>
          <a:p>
            <a:pPr>
              <a:buNone/>
            </a:pPr>
            <a:r>
              <a:rPr lang="en-US" sz="2400" dirty="0"/>
              <a:t> </a:t>
            </a:r>
            <a:endParaRPr lang="en-US" sz="1100" dirty="0"/>
          </a:p>
          <a:p>
            <a:pPr>
              <a:buNone/>
            </a:pPr>
            <a:r>
              <a:rPr lang="en-US" sz="2400" dirty="0"/>
              <a:t>Modifier2 </a:t>
            </a:r>
            <a:r>
              <a:rPr lang="en-US" sz="2800" b="1" dirty="0" err="1">
                <a:solidFill>
                  <a:srgbClr val="FF0000"/>
                </a:solidFill>
              </a:rPr>
              <a:t>memberi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sifat</a:t>
            </a:r>
            <a:r>
              <a:rPr lang="en-US" sz="2400" dirty="0"/>
              <a:t> </a:t>
            </a:r>
            <a:r>
              <a:rPr lang="en-US" sz="2400" dirty="0" err="1"/>
              <a:t>kepada</a:t>
            </a:r>
            <a:r>
              <a:rPr lang="en-US" sz="2400" dirty="0"/>
              <a:t> </a:t>
            </a:r>
            <a:r>
              <a:rPr lang="en-US" sz="2400" b="1" dirty="0"/>
              <a:t>Class/</a:t>
            </a:r>
            <a:r>
              <a:rPr lang="en-US" sz="2400" b="1" dirty="0" err="1"/>
              <a:t>komponennya</a:t>
            </a:r>
            <a:r>
              <a:rPr lang="en-US" sz="2400" b="1" dirty="0"/>
              <a:t> </a:t>
            </a:r>
            <a:r>
              <a:rPr lang="en-US" sz="2400" dirty="0"/>
              <a:t>yang </a:t>
            </a:r>
            <a:r>
              <a:rPr lang="en-US" sz="2400" dirty="0" err="1"/>
              <a:t>disebut</a:t>
            </a:r>
            <a:r>
              <a:rPr lang="en-US" sz="2400" dirty="0"/>
              <a:t> modifier </a:t>
            </a:r>
            <a:r>
              <a:rPr lang="en-US" sz="2400" dirty="0" err="1"/>
              <a:t>sifat</a:t>
            </a:r>
            <a:r>
              <a:rPr lang="en-US" sz="2400" dirty="0"/>
              <a:t>/non </a:t>
            </a:r>
            <a:r>
              <a:rPr lang="en-US" sz="2400" dirty="0" err="1"/>
              <a:t>akses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1100" dirty="0"/>
          </a:p>
          <a:p>
            <a:pPr>
              <a:buNone/>
            </a:pPr>
            <a:r>
              <a:rPr lang="en-US" sz="2400" dirty="0"/>
              <a:t>Ada 4 keyword yang </a:t>
            </a:r>
            <a:r>
              <a:rPr lang="en-US" sz="2400" dirty="0" err="1"/>
              <a:t>digunakan</a:t>
            </a:r>
            <a:r>
              <a:rPr lang="en-US" sz="2400" dirty="0"/>
              <a:t> sebagai modifier1.</a:t>
            </a:r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effectLst/>
              </a:rPr>
              <a:t>Modifier1 dan Modifier2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Modifier1 yg </a:t>
            </a:r>
            <a:r>
              <a:rPr lang="en-US" b="1" dirty="0" err="1">
                <a:solidFill>
                  <a:srgbClr val="FF0000"/>
                </a:solidFill>
              </a:rPr>
              <a:t>membuka</a:t>
            </a:r>
            <a:r>
              <a:rPr lang="en-US" b="1" dirty="0"/>
              <a:t> </a:t>
            </a:r>
            <a:r>
              <a:rPr lang="en-US" b="1" dirty="0" err="1"/>
              <a:t>hak</a:t>
            </a:r>
            <a:r>
              <a:rPr lang="en-US" b="1" dirty="0"/>
              <a:t> </a:t>
            </a:r>
            <a:r>
              <a:rPr lang="en-US" b="1" dirty="0" err="1"/>
              <a:t>akses</a:t>
            </a:r>
            <a:r>
              <a:rPr lang="en-US" dirty="0"/>
              <a:t> class/</a:t>
            </a:r>
            <a:r>
              <a:rPr lang="en-US" dirty="0" err="1"/>
              <a:t>komponen</a:t>
            </a:r>
            <a:r>
              <a:rPr lang="en-US" dirty="0"/>
              <a:t> class </a:t>
            </a:r>
            <a:r>
              <a:rPr lang="en-US" dirty="0" err="1"/>
              <a:t>pengguna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public, protected, default</a:t>
            </a:r>
          </a:p>
          <a:p>
            <a:r>
              <a:rPr lang="en-US" dirty="0"/>
              <a:t>Modifier1 yg </a:t>
            </a:r>
            <a:r>
              <a:rPr lang="en-US" b="1" dirty="0" err="1">
                <a:solidFill>
                  <a:srgbClr val="FF0000"/>
                </a:solidFill>
              </a:rPr>
              <a:t>menutup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class/</a:t>
            </a:r>
            <a:r>
              <a:rPr lang="en-US" dirty="0" err="1"/>
              <a:t>komponen</a:t>
            </a:r>
            <a:r>
              <a:rPr lang="en-US" dirty="0"/>
              <a:t> class </a:t>
            </a:r>
            <a:r>
              <a:rPr lang="en-US" dirty="0" err="1"/>
              <a:t>pengguna</a:t>
            </a:r>
            <a:r>
              <a:rPr lang="en-US" dirty="0"/>
              <a:t>:</a:t>
            </a:r>
          </a:p>
          <a:p>
            <a:r>
              <a:rPr lang="en-US" dirty="0"/>
              <a:t>      	</a:t>
            </a:r>
            <a:r>
              <a:rPr lang="en-US" b="1" dirty="0">
                <a:solidFill>
                  <a:srgbClr val="0070C0"/>
                </a:solidFill>
              </a:rPr>
              <a:t>private</a:t>
            </a:r>
            <a:r>
              <a:rPr lang="en-US" dirty="0"/>
              <a:t> </a:t>
            </a:r>
          </a:p>
          <a:p>
            <a:endParaRPr lang="en-US" sz="900" dirty="0"/>
          </a:p>
          <a:p>
            <a:r>
              <a:rPr lang="en-US" dirty="0"/>
              <a:t>Modifier2 </a:t>
            </a:r>
            <a:r>
              <a:rPr lang="en-US" b="1" dirty="0" err="1"/>
              <a:t>memberi</a:t>
            </a:r>
            <a:r>
              <a:rPr lang="en-US" b="1" dirty="0"/>
              <a:t> </a:t>
            </a:r>
            <a:r>
              <a:rPr lang="en-US" b="1" dirty="0" err="1"/>
              <a:t>sifat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class/</a:t>
            </a:r>
            <a:r>
              <a:rPr lang="en-US" dirty="0" err="1"/>
              <a:t>komponennya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b="1" dirty="0"/>
              <a:t>final</a:t>
            </a:r>
          </a:p>
          <a:p>
            <a:pPr>
              <a:buNone/>
            </a:pPr>
            <a:r>
              <a:rPr lang="en-US" b="1" dirty="0"/>
              <a:t>		static</a:t>
            </a:r>
          </a:p>
          <a:p>
            <a:pPr>
              <a:buNone/>
            </a:pPr>
            <a:r>
              <a:rPr lang="en-US" b="1" dirty="0"/>
              <a:t>		abstract</a:t>
            </a:r>
          </a:p>
          <a:p>
            <a:pPr>
              <a:buNone/>
            </a:pPr>
            <a:r>
              <a:rPr lang="en-US" b="1" dirty="0"/>
              <a:t>         	super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		synchronized</a:t>
            </a:r>
          </a:p>
          <a:p>
            <a:pPr>
              <a:buNone/>
            </a:pPr>
            <a:r>
              <a:rPr lang="en-US" b="1" dirty="0"/>
              <a:t>		native</a:t>
            </a:r>
          </a:p>
          <a:p>
            <a:pPr>
              <a:buNone/>
            </a:pPr>
            <a:r>
              <a:rPr lang="en-US" b="1" dirty="0"/>
              <a:t>		storage, transient, volatile</a:t>
            </a:r>
          </a:p>
          <a:p>
            <a:pPr>
              <a:buNone/>
            </a:pPr>
            <a:endParaRPr lang="en-US" sz="900" dirty="0"/>
          </a:p>
          <a:p>
            <a:pPr>
              <a:buNone/>
            </a:pPr>
            <a:r>
              <a:rPr lang="en-US" dirty="0"/>
              <a:t>Modifier2 yang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b="1" dirty="0" err="1"/>
              <a:t>sifat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kontradiktif</a:t>
            </a:r>
            <a:r>
              <a:rPr lang="en-US" dirty="0"/>
              <a:t> 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b="1" dirty="0"/>
              <a:t>static</a:t>
            </a:r>
            <a:r>
              <a:rPr lang="en-US" dirty="0"/>
              <a:t> dan </a:t>
            </a:r>
            <a:r>
              <a:rPr lang="en-US" b="1" dirty="0"/>
              <a:t>abstract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bersamaan</a:t>
            </a:r>
            <a:r>
              <a:rPr lang="en-US" dirty="0"/>
              <a:t>.</a:t>
            </a:r>
          </a:p>
          <a:p>
            <a:pPr>
              <a:buNone/>
            </a:pPr>
            <a:endParaRPr lang="en-US" sz="900" dirty="0"/>
          </a:p>
          <a:p>
            <a:pPr>
              <a:buNone/>
            </a:pPr>
            <a:r>
              <a:rPr lang="en-US" sz="2600" dirty="0"/>
              <a:t>Keyword </a:t>
            </a:r>
            <a:r>
              <a:rPr lang="en-US" sz="2600" b="1" dirty="0"/>
              <a:t>static</a:t>
            </a:r>
            <a:r>
              <a:rPr lang="en-US" sz="2600" dirty="0"/>
              <a:t>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boleh</a:t>
            </a:r>
            <a:r>
              <a:rPr lang="en-US" sz="2600" dirty="0"/>
              <a:t> </a:t>
            </a:r>
            <a:r>
              <a:rPr lang="en-US" sz="2600" dirty="0" err="1"/>
              <a:t>memberi</a:t>
            </a:r>
            <a:r>
              <a:rPr lang="en-US" sz="2600" dirty="0"/>
              <a:t> </a:t>
            </a:r>
            <a:r>
              <a:rPr lang="en-US" sz="2600" dirty="0" err="1"/>
              <a:t>sifat</a:t>
            </a:r>
            <a:r>
              <a:rPr lang="en-US" sz="2600" dirty="0"/>
              <a:t> </a:t>
            </a:r>
            <a:r>
              <a:rPr lang="en-US" sz="2600" dirty="0" err="1"/>
              <a:t>pada</a:t>
            </a:r>
            <a:r>
              <a:rPr lang="en-US" sz="2600" dirty="0"/>
              <a:t> interface.</a:t>
            </a:r>
          </a:p>
          <a:p>
            <a:pPr>
              <a:buNone/>
            </a:pPr>
            <a:r>
              <a:rPr lang="en-US" sz="2400" dirty="0"/>
              <a:t>Keyword </a:t>
            </a:r>
            <a:r>
              <a:rPr lang="en-US" sz="2400" b="1" dirty="0"/>
              <a:t>super</a:t>
            </a:r>
            <a:r>
              <a:rPr lang="en-US" sz="2400" dirty="0"/>
              <a:t> </a:t>
            </a:r>
            <a:r>
              <a:rPr lang="en-US" sz="2400" dirty="0" err="1"/>
              <a:t>tdk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pada method() </a:t>
            </a:r>
            <a:r>
              <a:rPr lang="en-US" sz="2400" b="1" dirty="0"/>
              <a:t>static</a:t>
            </a:r>
            <a:r>
              <a:rPr lang="en-US" sz="2400" dirty="0"/>
              <a:t>. 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effectLst/>
              </a:rPr>
              <a:t>Keyword Modifier1 dan Modifier2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4711891"/>
          </a:xfrm>
        </p:spPr>
        <p:txBody>
          <a:bodyPr>
            <a:noAutofit/>
          </a:bodyPr>
          <a:lstStyle/>
          <a:p>
            <a:r>
              <a:rPr lang="en-US" sz="4000" dirty="0"/>
              <a:t>Modifier </a:t>
            </a:r>
            <a:r>
              <a:rPr lang="en-US" sz="4000" dirty="0" err="1"/>
              <a:t>ini</a:t>
            </a:r>
            <a:r>
              <a:rPr lang="en-US" sz="4000" dirty="0"/>
              <a:t>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menentukan</a:t>
            </a:r>
            <a:r>
              <a:rPr lang="en-US" sz="4000" dirty="0"/>
              <a:t> </a:t>
            </a:r>
            <a:r>
              <a:rPr lang="en-US" sz="4000" dirty="0" err="1"/>
              <a:t>luas</a:t>
            </a:r>
            <a:r>
              <a:rPr lang="en-US" sz="4000" dirty="0"/>
              <a:t> </a:t>
            </a:r>
            <a:r>
              <a:rPr lang="en-US" sz="4000" dirty="0" err="1"/>
              <a:t>hubungan</a:t>
            </a:r>
            <a:r>
              <a:rPr lang="en-US" sz="4000" dirty="0"/>
              <a:t> </a:t>
            </a:r>
            <a:r>
              <a:rPr lang="en-US" sz="4000" dirty="0" err="1"/>
              <a:t>suatu</a:t>
            </a:r>
            <a:r>
              <a:rPr lang="en-US" sz="4000" dirty="0"/>
              <a:t> Class/Interface/</a:t>
            </a:r>
            <a:r>
              <a:rPr lang="en-US" sz="4000" dirty="0" err="1"/>
              <a:t>komponen</a:t>
            </a:r>
            <a:r>
              <a:rPr lang="en-US" sz="4000" dirty="0"/>
              <a:t> Class yang </a:t>
            </a:r>
            <a:r>
              <a:rPr lang="en-US" sz="4000" b="1" dirty="0" err="1"/>
              <a:t>diakses</a:t>
            </a:r>
            <a:r>
              <a:rPr lang="en-US" sz="4000" dirty="0"/>
              <a:t> oleh class </a:t>
            </a:r>
            <a:r>
              <a:rPr lang="en-US" sz="4000" dirty="0" err="1"/>
              <a:t>pengguna</a:t>
            </a:r>
            <a:r>
              <a:rPr lang="en-US" sz="4000" dirty="0"/>
              <a:t> </a:t>
            </a:r>
            <a:r>
              <a:rPr lang="en-US" sz="4000" b="1" dirty="0"/>
              <a:t>yang </a:t>
            </a:r>
            <a:r>
              <a:rPr lang="en-US" sz="4000" b="1" dirty="0" err="1"/>
              <a:t>mengakses</a:t>
            </a:r>
            <a:r>
              <a:rPr lang="en-US" sz="4000" dirty="0"/>
              <a:t>.</a:t>
            </a:r>
          </a:p>
          <a:p>
            <a:endParaRPr lang="en-US" sz="1000" dirty="0"/>
          </a:p>
          <a:p>
            <a:r>
              <a:rPr lang="en-US" sz="4000" dirty="0" err="1"/>
              <a:t>Perhatikan</a:t>
            </a:r>
            <a:r>
              <a:rPr lang="en-US" sz="4000" dirty="0"/>
              <a:t> </a:t>
            </a:r>
            <a:r>
              <a:rPr lang="en-US" sz="4000" dirty="0" err="1"/>
              <a:t>luas</a:t>
            </a:r>
            <a:r>
              <a:rPr lang="en-US" sz="4000" dirty="0"/>
              <a:t> </a:t>
            </a:r>
            <a:r>
              <a:rPr lang="en-US" sz="4000" dirty="0" err="1"/>
              <a:t>wilayah</a:t>
            </a:r>
            <a:r>
              <a:rPr lang="en-US" sz="4000" dirty="0"/>
              <a:t> modifier </a:t>
            </a:r>
            <a:r>
              <a:rPr lang="en-US" sz="4000" dirty="0" err="1"/>
              <a:t>akses</a:t>
            </a:r>
            <a:r>
              <a:rPr lang="en-US" sz="4000" dirty="0"/>
              <a:t> </a:t>
            </a:r>
            <a:r>
              <a:rPr lang="en-US" sz="4000" dirty="0" err="1"/>
              <a:t>berikut</a:t>
            </a:r>
            <a:r>
              <a:rPr lang="en-US" sz="4000" dirty="0"/>
              <a:t> </a:t>
            </a:r>
            <a:r>
              <a:rPr lang="en-US" sz="4000" dirty="0" err="1"/>
              <a:t>ini</a:t>
            </a:r>
            <a:r>
              <a:rPr lang="en-US" sz="4000" dirty="0"/>
              <a:t>: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15962"/>
          </a:xfrm>
        </p:spPr>
        <p:txBody>
          <a:bodyPr>
            <a:noAutofit/>
          </a:bodyPr>
          <a:lstStyle/>
          <a:p>
            <a:pPr algn="ctr"/>
            <a:r>
              <a:rPr lang="en-US" sz="4500" dirty="0">
                <a:effectLst/>
              </a:rPr>
              <a:t>Modifier1 (</a:t>
            </a:r>
            <a:r>
              <a:rPr lang="en-US" sz="4500" dirty="0" err="1">
                <a:effectLst/>
              </a:rPr>
              <a:t>Hak</a:t>
            </a:r>
            <a:r>
              <a:rPr lang="en-US" sz="4500" dirty="0">
                <a:effectLst/>
              </a:rPr>
              <a:t> </a:t>
            </a:r>
            <a:r>
              <a:rPr lang="en-US" sz="4500" dirty="0" err="1">
                <a:effectLst/>
              </a:rPr>
              <a:t>Akses</a:t>
            </a:r>
            <a:r>
              <a:rPr lang="en-US" sz="4500" dirty="0">
                <a:effectLst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F62C439-861F-45D1-AED6-0B862EA2E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8425613"/>
              </p:ext>
            </p:extLst>
          </p:nvPr>
        </p:nvGraphicFramePr>
        <p:xfrm>
          <a:off x="228600" y="1143000"/>
          <a:ext cx="8686799" cy="5276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112">
                  <a:extLst>
                    <a:ext uri="{9D8B030D-6E8A-4147-A177-3AD203B41FA5}">
                      <a16:colId xmlns:a16="http://schemas.microsoft.com/office/drawing/2014/main" val="1602849918"/>
                    </a:ext>
                  </a:extLst>
                </a:gridCol>
                <a:gridCol w="1040234">
                  <a:extLst>
                    <a:ext uri="{9D8B030D-6E8A-4147-A177-3AD203B41FA5}">
                      <a16:colId xmlns:a16="http://schemas.microsoft.com/office/drawing/2014/main" val="2507793390"/>
                    </a:ext>
                  </a:extLst>
                </a:gridCol>
                <a:gridCol w="1444997">
                  <a:extLst>
                    <a:ext uri="{9D8B030D-6E8A-4147-A177-3AD203B41FA5}">
                      <a16:colId xmlns:a16="http://schemas.microsoft.com/office/drawing/2014/main" val="2853340921"/>
                    </a:ext>
                  </a:extLst>
                </a:gridCol>
                <a:gridCol w="1155728">
                  <a:extLst>
                    <a:ext uri="{9D8B030D-6E8A-4147-A177-3AD203B41FA5}">
                      <a16:colId xmlns:a16="http://schemas.microsoft.com/office/drawing/2014/main" val="3126793563"/>
                    </a:ext>
                  </a:extLst>
                </a:gridCol>
                <a:gridCol w="1155728">
                  <a:extLst>
                    <a:ext uri="{9D8B030D-6E8A-4147-A177-3AD203B41FA5}">
                      <a16:colId xmlns:a16="http://schemas.microsoft.com/office/drawing/2014/main" val="1721477692"/>
                    </a:ext>
                  </a:extLst>
                </a:gridCol>
              </a:tblGrid>
              <a:tr h="46359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Wilayah </a:t>
                      </a:r>
                      <a:r>
                        <a:rPr lang="en-US" sz="1600" dirty="0">
                          <a:solidFill>
                            <a:srgbClr val="FFFF00"/>
                          </a:solidFill>
                          <a:effectLst/>
                        </a:rPr>
                        <a:t>Class/Interface/method()</a:t>
                      </a:r>
                      <a:r>
                        <a:rPr lang="en-US" sz="1600" dirty="0">
                          <a:effectLst/>
                        </a:rPr>
                        <a:t> yang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effectLst/>
                        </a:rPr>
                        <a:t>mengakses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127" marR="83127" anchor="ctr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Keyword </a:t>
                      </a:r>
                      <a:r>
                        <a:rPr lang="en-US" sz="1800" dirty="0" err="1">
                          <a:effectLst/>
                        </a:rPr>
                        <a:t>dalam</a:t>
                      </a:r>
                      <a:r>
                        <a:rPr lang="en-US" sz="1800" dirty="0">
                          <a:effectLst/>
                        </a:rPr>
                        <a:t> modifier1 pada 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Class/Interface/method()</a:t>
                      </a:r>
                      <a:r>
                        <a:rPr lang="en-US" sz="1800" dirty="0">
                          <a:effectLst/>
                        </a:rPr>
                        <a:t> yang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</a:rPr>
                        <a:t>diakses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3127" marR="83127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844282"/>
                  </a:ext>
                </a:extLst>
              </a:tr>
              <a:tr h="7336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public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protected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default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Private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329048"/>
                  </a:ext>
                </a:extLst>
              </a:tr>
              <a:tr h="5339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di Class yang </a:t>
                      </a:r>
                      <a:r>
                        <a:rPr lang="en-US" sz="1800" b="1" dirty="0" err="1">
                          <a:effectLst/>
                        </a:rPr>
                        <a:t>sama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√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8652353"/>
                  </a:ext>
                </a:extLst>
              </a:tr>
              <a:tr h="7336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Beda Class,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di package yg </a:t>
                      </a:r>
                      <a:r>
                        <a:rPr lang="en-US" sz="1800" b="1" dirty="0" err="1">
                          <a:effectLst/>
                        </a:rPr>
                        <a:t>sama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2913"/>
                  </a:ext>
                </a:extLst>
              </a:tr>
              <a:tr h="12459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Beda Class,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beda</a:t>
                      </a:r>
                      <a:r>
                        <a:rPr lang="en-US" sz="1800" b="1" dirty="0">
                          <a:effectLst/>
                        </a:rPr>
                        <a:t> package,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di Class </a:t>
                      </a:r>
                      <a:r>
                        <a:rPr lang="en-US" sz="1800" b="1" dirty="0" err="1">
                          <a:effectLst/>
                        </a:rPr>
                        <a:t>turunan</a:t>
                      </a:r>
                      <a:r>
                        <a:rPr lang="en-US" sz="1800" b="1" dirty="0">
                          <a:effectLst/>
                        </a:rPr>
                        <a:t>/</a:t>
                      </a:r>
                      <a:r>
                        <a:rPr lang="en-US" sz="1800" b="1" dirty="0" err="1">
                          <a:effectLst/>
                        </a:rPr>
                        <a:t>implementasi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31987"/>
                  </a:ext>
                </a:extLst>
              </a:tr>
              <a:tr h="13183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Beda Class,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beda</a:t>
                      </a:r>
                      <a:r>
                        <a:rPr lang="en-US" sz="1800" b="1" dirty="0">
                          <a:effectLst/>
                        </a:rPr>
                        <a:t> package,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effectLst/>
                        </a:rPr>
                        <a:t>tidak</a:t>
                      </a:r>
                      <a:r>
                        <a:rPr lang="en-US" sz="1800" b="1" dirty="0">
                          <a:effectLst/>
                        </a:rPr>
                        <a:t> di Class </a:t>
                      </a:r>
                      <a:r>
                        <a:rPr lang="en-US" sz="1800" b="1" dirty="0" err="1">
                          <a:effectLst/>
                        </a:rPr>
                        <a:t>tururnan</a:t>
                      </a:r>
                      <a:r>
                        <a:rPr lang="en-US" sz="1800" b="1" dirty="0">
                          <a:effectLst/>
                        </a:rPr>
                        <a:t>     /</a:t>
                      </a:r>
                      <a:r>
                        <a:rPr lang="en-US" sz="1800" b="1" dirty="0" err="1">
                          <a:effectLst/>
                        </a:rPr>
                        <a:t>implementasi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√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46448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 err="1">
                <a:effectLst/>
              </a:rPr>
              <a:t>Daftar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wilayah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Akses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81328"/>
            <a:ext cx="8686800" cy="4525963"/>
          </a:xfrm>
        </p:spPr>
        <p:txBody>
          <a:bodyPr>
            <a:normAutofit/>
          </a:bodyPr>
          <a:lstStyle/>
          <a:p>
            <a:r>
              <a:rPr lang="en-US" sz="4000" dirty="0" err="1"/>
              <a:t>Menyatakan</a:t>
            </a:r>
            <a:r>
              <a:rPr lang="en-US" sz="4000" dirty="0"/>
              <a:t> </a:t>
            </a:r>
            <a:r>
              <a:rPr lang="en-US" sz="4000" dirty="0" err="1"/>
              <a:t>bahwa</a:t>
            </a:r>
            <a:r>
              <a:rPr lang="en-US" sz="4000" dirty="0"/>
              <a:t> class/interface/method() /attribute/inner class yang </a:t>
            </a:r>
            <a:r>
              <a:rPr lang="en-US" sz="4000" dirty="0" err="1"/>
              <a:t>ditandai</a:t>
            </a:r>
            <a:r>
              <a:rPr lang="en-US" sz="4000" dirty="0"/>
              <a:t> </a:t>
            </a:r>
            <a:r>
              <a:rPr lang="en-US" sz="4000" dirty="0" err="1"/>
              <a:t>dengan</a:t>
            </a:r>
            <a:r>
              <a:rPr lang="en-US" sz="4000" dirty="0"/>
              <a:t> keyword </a:t>
            </a:r>
            <a:r>
              <a:rPr lang="en-US" sz="4000" b="1" i="1" dirty="0"/>
              <a:t>public</a:t>
            </a:r>
            <a:r>
              <a:rPr lang="en-US" sz="4000" dirty="0"/>
              <a:t>  </a:t>
            </a:r>
            <a:r>
              <a:rPr lang="en-US" sz="4000" dirty="0" err="1"/>
              <a:t>boleh</a:t>
            </a:r>
            <a:r>
              <a:rPr lang="en-US" sz="4000" dirty="0"/>
              <a:t> </a:t>
            </a:r>
            <a:r>
              <a:rPr lang="en-US" sz="4000" b="1" i="1" dirty="0" err="1"/>
              <a:t>diakses</a:t>
            </a:r>
            <a:r>
              <a:rPr lang="en-US" sz="4000" b="1" i="1" dirty="0"/>
              <a:t>/</a:t>
            </a:r>
            <a:r>
              <a:rPr lang="en-US" sz="4000" b="1" i="1" dirty="0" err="1"/>
              <a:t>diimplementasikan</a:t>
            </a:r>
            <a:r>
              <a:rPr lang="en-US" sz="4000" b="1" i="1" dirty="0"/>
              <a:t> </a:t>
            </a:r>
            <a:r>
              <a:rPr lang="en-US" sz="4000" dirty="0"/>
              <a:t>class </a:t>
            </a:r>
            <a:r>
              <a:rPr lang="en-US" sz="4000" dirty="0" err="1"/>
              <a:t>pengguna</a:t>
            </a:r>
            <a:r>
              <a:rPr lang="en-US" sz="4000" dirty="0"/>
              <a:t> </a:t>
            </a:r>
            <a:r>
              <a:rPr lang="en-US" sz="4000" dirty="0" err="1">
                <a:solidFill>
                  <a:srgbClr val="FF0000"/>
                </a:solidFill>
              </a:rPr>
              <a:t>dimana</a:t>
            </a:r>
            <a:r>
              <a:rPr lang="en-US" sz="4000" dirty="0">
                <a:solidFill>
                  <a:srgbClr val="FF0000"/>
                </a:solidFill>
              </a:rPr>
              <a:t> pun</a:t>
            </a:r>
            <a:r>
              <a:rPr lang="en-US" sz="40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ffectLst/>
              </a:rPr>
              <a:t>public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81328"/>
            <a:ext cx="8686800" cy="4767072"/>
          </a:xfrm>
        </p:spPr>
        <p:txBody>
          <a:bodyPr>
            <a:normAutofit fontScale="92500" lnSpcReduction="20000"/>
          </a:bodyPr>
          <a:lstStyle/>
          <a:p>
            <a:r>
              <a:rPr lang="en-US" sz="4100" dirty="0" err="1"/>
              <a:t>Menyatakan</a:t>
            </a:r>
            <a:r>
              <a:rPr lang="en-US" sz="4100" dirty="0"/>
              <a:t> </a:t>
            </a:r>
            <a:r>
              <a:rPr lang="en-US" sz="4100" dirty="0" err="1"/>
              <a:t>bahwa</a:t>
            </a:r>
            <a:r>
              <a:rPr lang="en-US" sz="4100" dirty="0"/>
              <a:t> class/interface/method() /attribute/inner class yang </a:t>
            </a:r>
            <a:r>
              <a:rPr lang="en-US" sz="4100" dirty="0" err="1"/>
              <a:t>ditandai</a:t>
            </a:r>
            <a:r>
              <a:rPr lang="en-US" sz="4100" dirty="0"/>
              <a:t> </a:t>
            </a:r>
            <a:r>
              <a:rPr lang="en-US" sz="4100" dirty="0" err="1"/>
              <a:t>dengan</a:t>
            </a:r>
            <a:r>
              <a:rPr lang="en-US" sz="4100" dirty="0"/>
              <a:t> keyword </a:t>
            </a:r>
            <a:r>
              <a:rPr lang="en-US" sz="4100" b="1" i="1" dirty="0"/>
              <a:t>protected </a:t>
            </a:r>
            <a:r>
              <a:rPr lang="en-US" sz="4100" dirty="0"/>
              <a:t> </a:t>
            </a:r>
            <a:r>
              <a:rPr lang="en-US" sz="4100" dirty="0" err="1"/>
              <a:t>ini</a:t>
            </a:r>
            <a:r>
              <a:rPr lang="en-US" sz="4100" dirty="0"/>
              <a:t> </a:t>
            </a:r>
            <a:r>
              <a:rPr lang="en-US" sz="4100" dirty="0" err="1"/>
              <a:t>boleh</a:t>
            </a:r>
            <a:r>
              <a:rPr lang="en-US" sz="4100" dirty="0"/>
              <a:t> </a:t>
            </a:r>
            <a:r>
              <a:rPr lang="en-US" sz="4100" b="1" i="1" dirty="0" err="1"/>
              <a:t>diakses</a:t>
            </a:r>
            <a:r>
              <a:rPr lang="en-US" sz="4100" b="1" i="1" dirty="0"/>
              <a:t>/</a:t>
            </a:r>
            <a:r>
              <a:rPr lang="en-US" sz="4100" b="1" i="1" dirty="0" err="1"/>
              <a:t>diimplementasikan</a:t>
            </a:r>
            <a:r>
              <a:rPr lang="en-US" sz="4100" b="1" i="1" dirty="0"/>
              <a:t>     </a:t>
            </a:r>
            <a:r>
              <a:rPr lang="en-US" sz="4100" dirty="0"/>
              <a:t>oleh </a:t>
            </a:r>
            <a:r>
              <a:rPr lang="en-US" sz="4100" b="1" dirty="0">
                <a:solidFill>
                  <a:srgbClr val="FF0000"/>
                </a:solidFill>
              </a:rPr>
              <a:t>class </a:t>
            </a:r>
            <a:r>
              <a:rPr lang="en-US" sz="4100" b="1" dirty="0" err="1">
                <a:solidFill>
                  <a:srgbClr val="FF0000"/>
                </a:solidFill>
              </a:rPr>
              <a:t>pengguna</a:t>
            </a:r>
            <a:r>
              <a:rPr lang="en-US" sz="4100" dirty="0"/>
              <a:t> yang </a:t>
            </a:r>
            <a:r>
              <a:rPr lang="en-US" sz="4100" dirty="0" err="1"/>
              <a:t>berada</a:t>
            </a:r>
            <a:r>
              <a:rPr lang="en-US" sz="4100" dirty="0"/>
              <a:t> di </a:t>
            </a:r>
            <a:r>
              <a:rPr lang="en-US" sz="4100" dirty="0" err="1"/>
              <a:t>dalam</a:t>
            </a:r>
            <a:r>
              <a:rPr lang="en-US" sz="4100" dirty="0"/>
              <a:t> </a:t>
            </a:r>
            <a:r>
              <a:rPr lang="en-US" sz="4100" b="1" i="1" dirty="0"/>
              <a:t>package</a:t>
            </a:r>
            <a:r>
              <a:rPr lang="en-US" sz="4100" dirty="0"/>
              <a:t>  yang </a:t>
            </a:r>
            <a:r>
              <a:rPr lang="en-US" sz="4100" dirty="0" err="1"/>
              <a:t>sama</a:t>
            </a:r>
            <a:r>
              <a:rPr lang="en-US" sz="4100" dirty="0"/>
              <a:t> </a:t>
            </a:r>
            <a:r>
              <a:rPr lang="en-US" sz="4100" dirty="0" err="1"/>
              <a:t>atau</a:t>
            </a:r>
            <a:r>
              <a:rPr lang="en-US" sz="4100" dirty="0"/>
              <a:t> </a:t>
            </a:r>
            <a:r>
              <a:rPr lang="en-US" sz="4100" b="1" i="1" dirty="0" err="1"/>
              <a:t>turunannya</a:t>
            </a:r>
            <a:r>
              <a:rPr lang="en-US" sz="4100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effectLst/>
              </a:rPr>
              <a:t>protected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486400"/>
          </a:xfrm>
        </p:spPr>
        <p:txBody>
          <a:bodyPr>
            <a:noAutofit/>
          </a:bodyPr>
          <a:lstStyle/>
          <a:p>
            <a:r>
              <a:rPr lang="en-US" sz="4000" dirty="0" err="1"/>
              <a:t>Menyatakan</a:t>
            </a:r>
            <a:r>
              <a:rPr lang="en-US" sz="4000" dirty="0"/>
              <a:t> </a:t>
            </a:r>
            <a:r>
              <a:rPr lang="en-US" sz="4000" dirty="0" err="1"/>
              <a:t>bahwa</a:t>
            </a:r>
            <a:r>
              <a:rPr lang="en-US" sz="4000" dirty="0"/>
              <a:t> class/interface/method() /attribute/inner class yang </a:t>
            </a:r>
            <a:r>
              <a:rPr lang="en-US" sz="4000" b="1" i="1" dirty="0" err="1"/>
              <a:t>tidak</a:t>
            </a:r>
            <a:r>
              <a:rPr lang="en-US" sz="4000" dirty="0"/>
              <a:t> </a:t>
            </a:r>
            <a:r>
              <a:rPr lang="en-US" sz="4000" dirty="0" err="1"/>
              <a:t>ditandai</a:t>
            </a:r>
            <a:r>
              <a:rPr lang="en-US" sz="4000" dirty="0"/>
              <a:t> </a:t>
            </a:r>
            <a:r>
              <a:rPr lang="en-US" sz="4000" dirty="0" err="1"/>
              <a:t>dengan</a:t>
            </a:r>
            <a:r>
              <a:rPr lang="en-US" sz="4000" dirty="0"/>
              <a:t> keyword modifier </a:t>
            </a:r>
            <a:r>
              <a:rPr lang="en-US" sz="4000" dirty="0" err="1"/>
              <a:t>akses</a:t>
            </a:r>
            <a:r>
              <a:rPr lang="en-US" sz="4000" dirty="0"/>
              <a:t> </a:t>
            </a:r>
            <a:r>
              <a:rPr lang="en-US" sz="4000" dirty="0" err="1"/>
              <a:t>apa</a:t>
            </a:r>
            <a:r>
              <a:rPr lang="en-US" sz="4000" dirty="0"/>
              <a:t> pun </a:t>
            </a:r>
            <a:r>
              <a:rPr lang="en-US" sz="4000" dirty="0" err="1"/>
              <a:t>ini</a:t>
            </a:r>
            <a:r>
              <a:rPr lang="en-US" sz="4000" dirty="0"/>
              <a:t> </a:t>
            </a:r>
            <a:r>
              <a:rPr lang="en-US" sz="4000" dirty="0" err="1"/>
              <a:t>boleh</a:t>
            </a:r>
            <a:r>
              <a:rPr lang="en-US" sz="4000" dirty="0"/>
              <a:t> </a:t>
            </a:r>
            <a:r>
              <a:rPr lang="en-US" sz="4000" b="1" i="1" dirty="0" err="1"/>
              <a:t>diakses</a:t>
            </a:r>
            <a:r>
              <a:rPr lang="en-US" sz="4000" b="1" i="1" dirty="0"/>
              <a:t>/</a:t>
            </a:r>
            <a:r>
              <a:rPr lang="en-US" sz="4000" b="1" i="1" dirty="0" err="1"/>
              <a:t>diimplementasikan</a:t>
            </a:r>
            <a:r>
              <a:rPr lang="en-US" sz="4000" b="1" i="1" dirty="0"/>
              <a:t> </a:t>
            </a:r>
            <a:r>
              <a:rPr lang="en-US" sz="4000" dirty="0"/>
              <a:t>oleh </a:t>
            </a:r>
            <a:r>
              <a:rPr lang="en-US" sz="4000" dirty="0">
                <a:solidFill>
                  <a:srgbClr val="FF0000"/>
                </a:solidFill>
              </a:rPr>
              <a:t>class </a:t>
            </a:r>
            <a:r>
              <a:rPr lang="en-US" sz="4000" dirty="0" err="1">
                <a:solidFill>
                  <a:srgbClr val="FF0000"/>
                </a:solidFill>
              </a:rPr>
              <a:t>pengguna</a:t>
            </a:r>
            <a:r>
              <a:rPr lang="en-US" sz="4000" dirty="0"/>
              <a:t> yang </a:t>
            </a:r>
            <a:r>
              <a:rPr lang="en-US" sz="4000" dirty="0" err="1"/>
              <a:t>berada</a:t>
            </a:r>
            <a:r>
              <a:rPr lang="en-US" sz="4000" dirty="0"/>
              <a:t> di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b="1" i="1" dirty="0"/>
              <a:t>package</a:t>
            </a:r>
            <a:r>
              <a:rPr lang="en-US" sz="4000" dirty="0"/>
              <a:t> yang </a:t>
            </a:r>
            <a:r>
              <a:rPr lang="en-US" sz="4000" dirty="0" err="1"/>
              <a:t>sama</a:t>
            </a:r>
            <a:r>
              <a:rPr lang="en-US" sz="40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Autofit/>
          </a:bodyPr>
          <a:lstStyle/>
          <a:p>
            <a:pPr algn="ctr"/>
            <a:r>
              <a:rPr lang="en-US" sz="4500" dirty="0">
                <a:effectLst/>
              </a:rPr>
              <a:t>default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81328"/>
            <a:ext cx="8686800" cy="4525963"/>
          </a:xfrm>
        </p:spPr>
        <p:txBody>
          <a:bodyPr>
            <a:normAutofit/>
          </a:bodyPr>
          <a:lstStyle/>
          <a:p>
            <a:r>
              <a:rPr lang="en-US" sz="4000" dirty="0" err="1"/>
              <a:t>Menyatakan</a:t>
            </a:r>
            <a:r>
              <a:rPr lang="en-US" sz="4000" dirty="0"/>
              <a:t> </a:t>
            </a:r>
            <a:r>
              <a:rPr lang="en-US" sz="4000" dirty="0" err="1"/>
              <a:t>bahwa</a:t>
            </a:r>
            <a:r>
              <a:rPr lang="en-US" sz="4000" dirty="0"/>
              <a:t> </a:t>
            </a:r>
            <a:r>
              <a:rPr lang="en-US" sz="4000" b="1" dirty="0"/>
              <a:t>method()</a:t>
            </a:r>
            <a:r>
              <a:rPr lang="en-US" sz="4000" dirty="0"/>
              <a:t> </a:t>
            </a:r>
            <a:r>
              <a:rPr lang="en-US" sz="4000" dirty="0" err="1"/>
              <a:t>atau</a:t>
            </a:r>
            <a:r>
              <a:rPr lang="en-US" sz="4000" dirty="0"/>
              <a:t> </a:t>
            </a:r>
            <a:r>
              <a:rPr lang="en-US" sz="4000" b="1" dirty="0"/>
              <a:t>attribute</a:t>
            </a:r>
            <a:r>
              <a:rPr lang="en-US" sz="4000" dirty="0"/>
              <a:t> yang </a:t>
            </a:r>
            <a:r>
              <a:rPr lang="en-US" sz="4000" dirty="0" err="1"/>
              <a:t>ditandai</a:t>
            </a:r>
            <a:r>
              <a:rPr lang="en-US" sz="4000" dirty="0"/>
              <a:t> </a:t>
            </a:r>
            <a:r>
              <a:rPr lang="en-US" sz="4000" dirty="0" err="1"/>
              <a:t>dengan</a:t>
            </a:r>
            <a:r>
              <a:rPr lang="en-US" sz="4000" dirty="0"/>
              <a:t> keyword </a:t>
            </a:r>
            <a:r>
              <a:rPr lang="en-US" sz="4000" b="1" i="1" dirty="0"/>
              <a:t>private</a:t>
            </a:r>
            <a:r>
              <a:rPr lang="en-US" sz="4000" dirty="0"/>
              <a:t>  </a:t>
            </a:r>
            <a:r>
              <a:rPr lang="en-US" sz="4000" dirty="0" err="1"/>
              <a:t>ini</a:t>
            </a:r>
            <a:r>
              <a:rPr lang="en-US" sz="4000" dirty="0"/>
              <a:t> </a:t>
            </a:r>
            <a:r>
              <a:rPr lang="en-US" sz="4000" dirty="0" err="1"/>
              <a:t>boleh</a:t>
            </a:r>
            <a:r>
              <a:rPr lang="en-US" sz="4000" dirty="0"/>
              <a:t> </a:t>
            </a:r>
            <a:r>
              <a:rPr lang="en-US" sz="4000" b="1" i="1" dirty="0" err="1"/>
              <a:t>diakses</a:t>
            </a:r>
            <a:r>
              <a:rPr lang="en-US" sz="4000" b="1" i="1" dirty="0"/>
              <a:t>/</a:t>
            </a:r>
            <a:r>
              <a:rPr lang="en-US" sz="4000" b="1" i="1" dirty="0" err="1"/>
              <a:t>diimplementasikan</a:t>
            </a:r>
            <a:r>
              <a:rPr lang="en-US" sz="4000" b="1" i="1" dirty="0"/>
              <a:t>  </a:t>
            </a:r>
            <a:r>
              <a:rPr lang="en-US" sz="4000" b="1" dirty="0"/>
              <a:t>method()</a:t>
            </a:r>
            <a:r>
              <a:rPr lang="en-US" sz="4000" dirty="0"/>
              <a:t> yang </a:t>
            </a:r>
            <a:r>
              <a:rPr lang="en-US" sz="4000" dirty="0" err="1"/>
              <a:t>berada</a:t>
            </a:r>
            <a:r>
              <a:rPr lang="en-US" sz="4000" dirty="0"/>
              <a:t> </a:t>
            </a:r>
            <a:r>
              <a:rPr lang="en-US" sz="4000" dirty="0" err="1"/>
              <a:t>hanya</a:t>
            </a:r>
            <a:r>
              <a:rPr lang="en-US" sz="4000" dirty="0"/>
              <a:t> di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b="1" i="1" dirty="0"/>
              <a:t>Class </a:t>
            </a:r>
            <a:r>
              <a:rPr lang="en-US" sz="4000" dirty="0"/>
              <a:t> yang </a:t>
            </a:r>
            <a:r>
              <a:rPr lang="en-US" sz="4000" dirty="0" err="1"/>
              <a:t>sama</a:t>
            </a:r>
            <a:r>
              <a:rPr lang="en-US" sz="4000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ctr"/>
            <a:r>
              <a:rPr lang="en-US" sz="4800" dirty="0"/>
              <a:t>private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 err="1"/>
              <a:t>Setidaknya</a:t>
            </a:r>
            <a:r>
              <a:rPr lang="en-US" sz="3600" dirty="0"/>
              <a:t> </a:t>
            </a:r>
            <a:r>
              <a:rPr lang="en-US" sz="3600" dirty="0" err="1"/>
              <a:t>ada</a:t>
            </a:r>
            <a:r>
              <a:rPr lang="en-US" sz="3600" dirty="0"/>
              <a:t> </a:t>
            </a:r>
            <a:r>
              <a:rPr lang="en-US" sz="3600" dirty="0" err="1"/>
              <a:t>sembilan</a:t>
            </a:r>
            <a:r>
              <a:rPr lang="en-US" sz="3600" dirty="0"/>
              <a:t> keyword </a:t>
            </a:r>
            <a:r>
              <a:rPr lang="en-US" sz="3600" dirty="0" err="1"/>
              <a:t>penting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modifier2 yang </a:t>
            </a:r>
            <a:r>
              <a:rPr lang="en-US" sz="3600" dirty="0" err="1"/>
              <a:t>bertugas</a:t>
            </a:r>
            <a:r>
              <a:rPr lang="en-US" sz="3600" dirty="0"/>
              <a:t> </a:t>
            </a:r>
            <a:r>
              <a:rPr lang="en-US" sz="3600" b="1" dirty="0" err="1"/>
              <a:t>memberi</a:t>
            </a:r>
            <a:r>
              <a:rPr lang="en-US" sz="3600" b="1" dirty="0"/>
              <a:t> </a:t>
            </a:r>
            <a:r>
              <a:rPr lang="en-US" sz="3600" b="1" dirty="0" err="1"/>
              <a:t>sifat</a:t>
            </a:r>
            <a:r>
              <a:rPr lang="en-US" sz="3600" dirty="0"/>
              <a:t> pada </a:t>
            </a:r>
            <a:r>
              <a:rPr lang="en-US" sz="3600" dirty="0" err="1"/>
              <a:t>suatu</a:t>
            </a:r>
            <a:r>
              <a:rPr lang="en-US" sz="3600" dirty="0"/>
              <a:t> Class/</a:t>
            </a:r>
            <a:r>
              <a:rPr lang="en-US" sz="3600" dirty="0" err="1"/>
              <a:t>komponen</a:t>
            </a:r>
            <a:r>
              <a:rPr lang="en-US" sz="3600" dirty="0"/>
              <a:t> Class :</a:t>
            </a:r>
          </a:p>
          <a:p>
            <a:r>
              <a:rPr lang="en-US" sz="3600" b="1" dirty="0"/>
              <a:t>final, static, abstract, synchronized, native, transient, dan volatile</a:t>
            </a:r>
            <a:r>
              <a:rPr lang="en-US" sz="3600" dirty="0"/>
              <a:t>.</a:t>
            </a:r>
          </a:p>
          <a:p>
            <a:r>
              <a:rPr lang="en-US" sz="4000" dirty="0" err="1"/>
              <a:t>Secara</a:t>
            </a:r>
            <a:r>
              <a:rPr lang="en-US" sz="4000" dirty="0"/>
              <a:t> Bahasa </a:t>
            </a:r>
            <a:r>
              <a:rPr lang="en-US" sz="4000" dirty="0" err="1"/>
              <a:t>misal</a:t>
            </a:r>
            <a:r>
              <a:rPr lang="en-US" sz="4000" dirty="0"/>
              <a:t>: </a:t>
            </a:r>
          </a:p>
          <a:p>
            <a:r>
              <a:rPr lang="en-US" sz="4000" b="1" dirty="0"/>
              <a:t>small white home</a:t>
            </a:r>
          </a:p>
          <a:p>
            <a:r>
              <a:rPr lang="en-US" sz="4000" dirty="0" err="1"/>
              <a:t>Rumah</a:t>
            </a:r>
            <a:r>
              <a:rPr lang="en-US" sz="4000" dirty="0"/>
              <a:t> yang </a:t>
            </a:r>
            <a:r>
              <a:rPr lang="en-US" sz="4000" b="1" dirty="0" err="1"/>
              <a:t>kecil</a:t>
            </a:r>
            <a:r>
              <a:rPr lang="en-US" sz="4000" dirty="0"/>
              <a:t> dan </a:t>
            </a:r>
            <a:r>
              <a:rPr lang="en-US" sz="4000" dirty="0" err="1"/>
              <a:t>berwarna</a:t>
            </a:r>
            <a:r>
              <a:rPr lang="en-US" sz="4000" dirty="0"/>
              <a:t> </a:t>
            </a:r>
            <a:r>
              <a:rPr lang="en-US" sz="4000" b="1" dirty="0" err="1"/>
              <a:t>putih</a:t>
            </a:r>
            <a:r>
              <a:rPr lang="en-US" sz="4000" dirty="0"/>
              <a:t> </a:t>
            </a:r>
            <a:r>
              <a:rPr lang="en-US" sz="4000" dirty="0" err="1"/>
              <a:t>memberi</a:t>
            </a:r>
            <a:r>
              <a:rPr lang="en-US" sz="4000" dirty="0"/>
              <a:t> </a:t>
            </a:r>
            <a:r>
              <a:rPr lang="en-US" sz="4000" dirty="0" err="1"/>
              <a:t>sifat</a:t>
            </a:r>
            <a:r>
              <a:rPr lang="en-US" sz="4000" dirty="0"/>
              <a:t> pada </a:t>
            </a:r>
            <a:r>
              <a:rPr lang="en-US" sz="4000" dirty="0" err="1"/>
              <a:t>rumah</a:t>
            </a:r>
            <a:r>
              <a:rPr lang="en-US" sz="4000" dirty="0"/>
              <a:t>. 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algn="ctr"/>
            <a:r>
              <a:rPr lang="en-US" dirty="0"/>
              <a:t>Modifier2 (</a:t>
            </a:r>
            <a:r>
              <a:rPr lang="en-US" dirty="0" err="1"/>
              <a:t>sifat</a:t>
            </a:r>
            <a:r>
              <a:rPr lang="en-US" dirty="0"/>
              <a:t>/adjective)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1" y="990600"/>
            <a:ext cx="8746900" cy="5334000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Class</a:t>
            </a:r>
            <a:r>
              <a:rPr lang="en-US" sz="3200" dirty="0"/>
              <a:t> yang </a:t>
            </a:r>
            <a:r>
              <a:rPr lang="en-US" sz="3200" dirty="0" err="1"/>
              <a:t>diberi</a:t>
            </a:r>
            <a:r>
              <a:rPr lang="en-US" sz="3200" dirty="0"/>
              <a:t> keyword </a:t>
            </a:r>
            <a:r>
              <a:rPr lang="en-US" sz="3200" dirty="0" err="1"/>
              <a:t>sifat</a:t>
            </a:r>
            <a:r>
              <a:rPr lang="en-US" sz="3200" dirty="0"/>
              <a:t> </a:t>
            </a:r>
            <a:r>
              <a:rPr lang="en-US" sz="3200" b="1" dirty="0"/>
              <a:t>final</a:t>
            </a:r>
            <a:r>
              <a:rPr lang="en-US" sz="3200" dirty="0"/>
              <a:t>, </a:t>
            </a:r>
            <a:r>
              <a:rPr lang="en-US" sz="3200" dirty="0" err="1"/>
              <a:t>artinya</a:t>
            </a:r>
            <a:r>
              <a:rPr lang="en-US" sz="3200" dirty="0"/>
              <a:t> Class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sudah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menurunkan</a:t>
            </a:r>
            <a:r>
              <a:rPr lang="en-US" sz="3200" dirty="0"/>
              <a:t> class </a:t>
            </a:r>
            <a:r>
              <a:rPr lang="en-US" sz="3200" dirty="0" err="1"/>
              <a:t>pengguna</a:t>
            </a:r>
            <a:r>
              <a:rPr lang="en-US" sz="3200" dirty="0"/>
              <a:t>. </a:t>
            </a:r>
            <a:r>
              <a:rPr lang="en-US" sz="3200" dirty="0" err="1"/>
              <a:t>Dengan</a:t>
            </a:r>
            <a:r>
              <a:rPr lang="en-US" sz="3200" dirty="0"/>
              <a:t> kata lain </a:t>
            </a:r>
            <a:r>
              <a:rPr lang="en-US" sz="3200" dirty="0" err="1"/>
              <a:t>sudah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di </a:t>
            </a:r>
            <a:r>
              <a:rPr lang="en-US" sz="3200" b="1" dirty="0"/>
              <a:t>extends</a:t>
            </a:r>
            <a:r>
              <a:rPr lang="en-US" sz="3200" dirty="0"/>
              <a:t> sub class </a:t>
            </a:r>
            <a:r>
              <a:rPr lang="en-US" sz="3200" dirty="0" err="1"/>
              <a:t>sebagai</a:t>
            </a:r>
            <a:r>
              <a:rPr lang="en-US" sz="3200" dirty="0"/>
              <a:t> </a:t>
            </a:r>
            <a:r>
              <a:rPr lang="en-US" sz="3200" dirty="0" err="1"/>
              <a:t>pengguna</a:t>
            </a:r>
            <a:r>
              <a:rPr lang="en-US" sz="3200" dirty="0"/>
              <a:t>.</a:t>
            </a:r>
          </a:p>
          <a:p>
            <a:endParaRPr lang="en-US" sz="1000" dirty="0"/>
          </a:p>
          <a:p>
            <a:r>
              <a:rPr lang="en-US" sz="3200" b="1" dirty="0"/>
              <a:t>method()</a:t>
            </a:r>
            <a:r>
              <a:rPr lang="en-US" sz="3200" dirty="0"/>
              <a:t> yang </a:t>
            </a:r>
            <a:r>
              <a:rPr lang="en-US" sz="3200" dirty="0" err="1"/>
              <a:t>diberi</a:t>
            </a:r>
            <a:r>
              <a:rPr lang="en-US" sz="3200" dirty="0"/>
              <a:t> keyword </a:t>
            </a:r>
            <a:r>
              <a:rPr lang="en-US" sz="3200" b="1" dirty="0"/>
              <a:t>final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di override class </a:t>
            </a:r>
            <a:r>
              <a:rPr lang="en-US" sz="3200" dirty="0" err="1"/>
              <a:t>pengguna</a:t>
            </a:r>
            <a:r>
              <a:rPr lang="en-US" sz="3200" dirty="0"/>
              <a:t>.</a:t>
            </a:r>
          </a:p>
          <a:p>
            <a:endParaRPr lang="en-US" sz="1000" dirty="0"/>
          </a:p>
          <a:p>
            <a:r>
              <a:rPr lang="en-US" sz="3200" b="1" dirty="0"/>
              <a:t>attribute</a:t>
            </a:r>
            <a:r>
              <a:rPr lang="en-US" sz="3200" dirty="0"/>
              <a:t> yang </a:t>
            </a:r>
            <a:r>
              <a:rPr lang="en-US" sz="3200" dirty="0" err="1"/>
              <a:t>diberi</a:t>
            </a:r>
            <a:r>
              <a:rPr lang="en-US" sz="3200" dirty="0"/>
              <a:t> keyword f</a:t>
            </a:r>
            <a:r>
              <a:rPr lang="en-US" sz="3200" b="1" dirty="0"/>
              <a:t>inal</a:t>
            </a:r>
            <a:r>
              <a:rPr lang="en-US" sz="3200" dirty="0"/>
              <a:t> </a:t>
            </a:r>
            <a:r>
              <a:rPr lang="en-US" sz="3200" dirty="0" err="1"/>
              <a:t>maka</a:t>
            </a:r>
            <a:r>
              <a:rPr lang="en-US" sz="3200" dirty="0"/>
              <a:t> </a:t>
            </a:r>
            <a:r>
              <a:rPr lang="en-US" sz="3200" dirty="0" err="1"/>
              <a:t>isinya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diubah</a:t>
            </a:r>
            <a:r>
              <a:rPr lang="en-US" sz="3200" dirty="0"/>
              <a:t> </a:t>
            </a:r>
            <a:r>
              <a:rPr lang="en-US" sz="3200" dirty="0" err="1"/>
              <a:t>selama</a:t>
            </a:r>
            <a:r>
              <a:rPr lang="en-US" sz="3200" dirty="0"/>
              <a:t> </a:t>
            </a:r>
            <a:r>
              <a:rPr lang="en-US" sz="3200" dirty="0" err="1"/>
              <a:t>waktu</a:t>
            </a:r>
            <a:r>
              <a:rPr lang="en-US" sz="3200" dirty="0"/>
              <a:t> running.</a:t>
            </a:r>
            <a:r>
              <a:rPr lang="en-US" dirty="0"/>
              <a:t>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</a:rPr>
              <a:t>final (</a:t>
            </a:r>
            <a:r>
              <a:rPr lang="en-US" sz="2800" dirty="0" err="1">
                <a:effectLst/>
              </a:rPr>
              <a:t>untuk</a:t>
            </a:r>
            <a:r>
              <a:rPr lang="en-US" sz="2800" dirty="0">
                <a:effectLst/>
              </a:rPr>
              <a:t> class, method() dan attribute)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5715000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/>
              <a:t>Attribute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b="1" dirty="0"/>
              <a:t>method()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jenis</a:t>
            </a:r>
            <a:r>
              <a:rPr lang="en-US" sz="2400" dirty="0"/>
              <a:t>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Class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r>
              <a:rPr lang="en-US" sz="2400" b="1" dirty="0"/>
              <a:t>Attribute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b="1" dirty="0"/>
              <a:t>method()</a:t>
            </a:r>
            <a:r>
              <a:rPr lang="en-US" sz="2400" dirty="0"/>
              <a:t> yang </a:t>
            </a:r>
            <a:r>
              <a:rPr lang="en-US" sz="2400" b="1" i="1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diberi</a:t>
            </a:r>
            <a:r>
              <a:rPr lang="en-US" sz="2400" dirty="0"/>
              <a:t> keyword static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non static,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diakses</a:t>
            </a:r>
            <a:r>
              <a:rPr lang="en-US" sz="2400" dirty="0"/>
              <a:t> </a:t>
            </a:r>
            <a:r>
              <a:rPr lang="en-US" sz="2400" b="1" i="1" dirty="0" err="1"/>
              <a:t>hanya</a:t>
            </a:r>
            <a:r>
              <a:rPr lang="en-US" sz="2400" dirty="0"/>
              <a:t> 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objeknya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r>
              <a:rPr lang="en-US" sz="2400" b="1" dirty="0"/>
              <a:t>Attribute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b="1" dirty="0"/>
              <a:t>method()</a:t>
            </a:r>
            <a:r>
              <a:rPr lang="en-US" sz="2400" dirty="0"/>
              <a:t> yang </a:t>
            </a:r>
            <a:r>
              <a:rPr lang="en-US" sz="2400" dirty="0" err="1"/>
              <a:t>diberi</a:t>
            </a:r>
            <a:r>
              <a:rPr lang="en-US" sz="2400" dirty="0"/>
              <a:t> keyword static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Class,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diakses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b="1" dirty="0"/>
              <a:t>Class </a:t>
            </a:r>
            <a:r>
              <a:rPr lang="en-US" sz="2400" b="1" dirty="0" err="1"/>
              <a:t>nya</a:t>
            </a:r>
            <a:r>
              <a:rPr lang="en-US" sz="2400" b="1" dirty="0"/>
              <a:t> </a:t>
            </a:r>
            <a:r>
              <a:rPr lang="en-US" sz="2400" b="1" dirty="0" err="1"/>
              <a:t>tersebut</a:t>
            </a:r>
            <a:r>
              <a:rPr lang="en-US" sz="2400" dirty="0"/>
              <a:t>,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Class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sifat</a:t>
            </a:r>
            <a:r>
              <a:rPr lang="en-US" sz="2400" dirty="0"/>
              <a:t> yang </a:t>
            </a:r>
            <a:r>
              <a:rPr lang="en-US" sz="2400" dirty="0" err="1"/>
              <a:t>sama</a:t>
            </a:r>
            <a:r>
              <a:rPr lang="en-US" sz="2400" dirty="0"/>
              <a:t>. </a:t>
            </a:r>
          </a:p>
          <a:p>
            <a:endParaRPr lang="en-US" sz="1000" dirty="0"/>
          </a:p>
          <a:p>
            <a:r>
              <a:rPr lang="en-US" sz="2400" b="1" dirty="0"/>
              <a:t>Method()</a:t>
            </a:r>
            <a:r>
              <a:rPr lang="en-US" sz="2400" dirty="0"/>
              <a:t> yang static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override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b="1" dirty="0"/>
              <a:t>attribute</a:t>
            </a:r>
            <a:r>
              <a:rPr lang="en-US" sz="2400" dirty="0"/>
              <a:t> yang static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diinisialisasi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programmer, </a:t>
            </a:r>
            <a:r>
              <a:rPr lang="en-US" sz="2400" dirty="0" err="1"/>
              <a:t>namun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diberi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default </a:t>
            </a:r>
            <a:r>
              <a:rPr lang="en-US" sz="2400" dirty="0" err="1"/>
              <a:t>oleh</a:t>
            </a:r>
            <a:r>
              <a:rPr lang="en-US" sz="2400" dirty="0"/>
              <a:t> JVM.</a:t>
            </a:r>
          </a:p>
          <a:p>
            <a:endParaRPr lang="en-US" sz="2400" dirty="0"/>
          </a:p>
          <a:p>
            <a:pPr algn="just"/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method() yang </a:t>
            </a:r>
            <a:r>
              <a:rPr lang="en-US" sz="2400" b="1" i="1" dirty="0">
                <a:solidFill>
                  <a:srgbClr val="FF0000"/>
                </a:solidFill>
              </a:rPr>
              <a:t>non static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u="sng" dirty="0" err="1">
                <a:solidFill>
                  <a:srgbClr val="FF0000"/>
                </a:solidFill>
              </a:rPr>
              <a:t>tidak</a:t>
            </a:r>
            <a:r>
              <a:rPr lang="en-US" sz="2400" b="1" u="sng" dirty="0">
                <a:solidFill>
                  <a:srgbClr val="FF0000"/>
                </a:solidFill>
              </a:rPr>
              <a:t> </a:t>
            </a:r>
            <a:r>
              <a:rPr lang="en-US" sz="2400" b="1" u="sng" dirty="0" err="1">
                <a:solidFill>
                  <a:srgbClr val="FF0000"/>
                </a:solidFill>
              </a:rPr>
              <a:t>dapat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memanggil</a:t>
            </a:r>
            <a:r>
              <a:rPr lang="en-US" sz="2400" b="1" dirty="0">
                <a:solidFill>
                  <a:srgbClr val="FF0000"/>
                </a:solidFill>
              </a:rPr>
              <a:t> attribute </a:t>
            </a:r>
            <a:r>
              <a:rPr lang="en-US" sz="2400" b="1" dirty="0" err="1">
                <a:solidFill>
                  <a:srgbClr val="FF0000"/>
                </a:solidFill>
              </a:rPr>
              <a:t>atau</a:t>
            </a:r>
            <a:r>
              <a:rPr lang="en-US" sz="2400" b="1" dirty="0">
                <a:solidFill>
                  <a:srgbClr val="FF0000"/>
                </a:solidFill>
              </a:rPr>
              <a:t> method() yang </a:t>
            </a:r>
            <a:r>
              <a:rPr lang="en-US" sz="2400" b="1" i="1" dirty="0">
                <a:solidFill>
                  <a:srgbClr val="FF0000"/>
                </a:solidFill>
              </a:rPr>
              <a:t>static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sz="2400" dirty="0"/>
          </a:p>
          <a:p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kuliah</a:t>
            </a:r>
            <a:r>
              <a:rPr lang="en-US" sz="2400" dirty="0"/>
              <a:t>() dan </a:t>
            </a:r>
            <a:r>
              <a:rPr lang="en-US" sz="2400" dirty="0" err="1"/>
              <a:t>praktikum</a:t>
            </a:r>
            <a:r>
              <a:rPr lang="en-US" sz="2400" dirty="0"/>
              <a:t>() </a:t>
            </a:r>
            <a:r>
              <a:rPr lang="en-US" sz="2400" dirty="0" err="1"/>
              <a:t>adalah</a:t>
            </a:r>
            <a:r>
              <a:rPr lang="en-US" sz="2400" dirty="0"/>
              <a:t> method non static </a:t>
            </a:r>
            <a:r>
              <a:rPr lang="en-US" sz="2400" dirty="0" err="1"/>
              <a:t>berarti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Sebagian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,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perwalian</a:t>
            </a:r>
            <a:r>
              <a:rPr lang="en-US" sz="2400" dirty="0"/>
              <a:t>() </a:t>
            </a:r>
            <a:r>
              <a:rPr lang="en-US" sz="2400" dirty="0" err="1"/>
              <a:t>adalah</a:t>
            </a:r>
            <a:r>
              <a:rPr lang="en-US" sz="2400" dirty="0"/>
              <a:t> method static </a:t>
            </a:r>
            <a:r>
              <a:rPr lang="en-US" sz="2400" dirty="0" err="1"/>
              <a:t>berarti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milik</a:t>
            </a:r>
            <a:r>
              <a:rPr lang="en-US" sz="2400" dirty="0"/>
              <a:t> class </a:t>
            </a:r>
            <a:r>
              <a:rPr lang="en-US" sz="2400" dirty="0" err="1"/>
              <a:t>Mahasiswa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Contoh</a:t>
            </a:r>
            <a:r>
              <a:rPr lang="en-US" sz="2400" dirty="0"/>
              <a:t> lain </a:t>
            </a:r>
            <a:r>
              <a:rPr lang="en-US" sz="2400" dirty="0" err="1"/>
              <a:t>misal</a:t>
            </a:r>
            <a:r>
              <a:rPr lang="en-US" sz="2400" dirty="0"/>
              <a:t> method() standard </a:t>
            </a:r>
            <a:r>
              <a:rPr lang="en-US" sz="2400" dirty="0" err="1"/>
              <a:t>println</a:t>
            </a:r>
            <a:r>
              <a:rPr lang="en-US" sz="2400" dirty="0"/>
              <a:t>(): </a:t>
            </a:r>
            <a:r>
              <a:rPr lang="en-US" sz="2400" b="1" dirty="0" err="1">
                <a:solidFill>
                  <a:srgbClr val="FF0000"/>
                </a:solidFill>
              </a:rPr>
              <a:t>System</a:t>
            </a:r>
            <a:r>
              <a:rPr lang="en-US" sz="2400" b="1" dirty="0" err="1"/>
              <a:t>.out.println</a:t>
            </a:r>
            <a:r>
              <a:rPr lang="en-US" sz="2400" b="1" dirty="0"/>
              <a:t>();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static</a:t>
            </a:r>
            <a:r>
              <a:rPr lang="en-US" sz="2400" dirty="0"/>
              <a:t> (</a:t>
            </a:r>
            <a:r>
              <a:rPr lang="en-US" sz="2400" dirty="0" err="1"/>
              <a:t>sifat</a:t>
            </a:r>
            <a:r>
              <a:rPr lang="en-US" sz="2400" dirty="0"/>
              <a:t> pada attribute dan method())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0166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 yang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abstract</a:t>
            </a:r>
            <a:r>
              <a:rPr lang="en-US" dirty="0"/>
              <a:t> </a:t>
            </a:r>
            <a:r>
              <a:rPr lang="en-US" dirty="0" err="1"/>
              <a:t>artinya</a:t>
            </a:r>
            <a:r>
              <a:rPr lang="en-US" dirty="0"/>
              <a:t> Class </a:t>
            </a:r>
            <a:r>
              <a:rPr lang="en-US" dirty="0" err="1"/>
              <a:t>tsb</a:t>
            </a:r>
            <a:r>
              <a:rPr lang="en-US" dirty="0"/>
              <a:t> </a:t>
            </a:r>
            <a:r>
              <a:rPr lang="en-US" dirty="0" err="1"/>
              <a:t>murni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memiiki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diinstansiasi</a:t>
            </a:r>
            <a:r>
              <a:rPr lang="en-US" dirty="0"/>
              <a:t>. </a:t>
            </a:r>
          </a:p>
          <a:p>
            <a:r>
              <a:rPr lang="en-US" dirty="0"/>
              <a:t>Method yang </a:t>
            </a:r>
            <a:r>
              <a:rPr lang="en-US" b="1" dirty="0">
                <a:solidFill>
                  <a:srgbClr val="FF0000"/>
                </a:solidFill>
              </a:rPr>
              <a:t>abstract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Class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disempurnakan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Class </a:t>
            </a:r>
            <a:r>
              <a:rPr lang="en-US" dirty="0" err="1"/>
              <a:t>turunannya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override. </a:t>
            </a:r>
          </a:p>
          <a:p>
            <a:r>
              <a:rPr lang="en-US" dirty="0"/>
              <a:t>Class yang abstract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b="1" dirty="0"/>
              <a:t>root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Class-class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Class.</a:t>
            </a:r>
          </a:p>
          <a:p>
            <a:r>
              <a:rPr lang="en-US" dirty="0" err="1"/>
              <a:t>Konsekuensi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abstract:</a:t>
            </a:r>
          </a:p>
          <a:p>
            <a:r>
              <a:rPr lang="en-US" dirty="0"/>
              <a:t>1.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constructor </a:t>
            </a:r>
            <a:r>
              <a:rPr lang="en-US" dirty="0" err="1"/>
              <a:t>yg</a:t>
            </a:r>
            <a:r>
              <a:rPr lang="en-US" dirty="0"/>
              <a:t> abstract.</a:t>
            </a:r>
          </a:p>
          <a:p>
            <a:r>
              <a:rPr lang="en-US" dirty="0"/>
              <a:t>2.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b="1" dirty="0"/>
              <a:t>static</a:t>
            </a:r>
            <a:r>
              <a:rPr lang="en-US" dirty="0"/>
              <a:t>.</a:t>
            </a:r>
          </a:p>
          <a:p>
            <a:r>
              <a:rPr lang="en-US" dirty="0"/>
              <a:t>3.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b="1" dirty="0"/>
              <a:t>private</a:t>
            </a:r>
            <a:r>
              <a:rPr lang="en-US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abstract (</a:t>
            </a:r>
            <a:r>
              <a:rPr lang="en-US" sz="3200" dirty="0" err="1">
                <a:effectLst/>
              </a:rPr>
              <a:t>untuk</a:t>
            </a:r>
            <a:r>
              <a:rPr lang="en-US" sz="3200" dirty="0">
                <a:effectLst/>
              </a:rPr>
              <a:t> class dan method())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635691"/>
          </a:xfrm>
        </p:spPr>
        <p:txBody>
          <a:bodyPr>
            <a:normAutofit/>
          </a:bodyPr>
          <a:lstStyle/>
          <a:p>
            <a:r>
              <a:rPr lang="en-US" sz="3200" dirty="0" err="1"/>
              <a:t>Pada</a:t>
            </a:r>
            <a:r>
              <a:rPr lang="en-US" sz="3200" dirty="0"/>
              <a:t> </a:t>
            </a:r>
            <a:r>
              <a:rPr lang="en-US" sz="3200" dirty="0" err="1"/>
              <a:t>lingkungan</a:t>
            </a:r>
            <a:r>
              <a:rPr lang="en-US" sz="3200" dirty="0"/>
              <a:t> multithread, </a:t>
            </a:r>
            <a:r>
              <a:rPr lang="en-US" sz="3200" dirty="0" err="1"/>
              <a:t>dimungkinkan</a:t>
            </a:r>
            <a:r>
              <a:rPr lang="en-US" sz="3200" dirty="0"/>
              <a:t>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satu</a:t>
            </a:r>
            <a:r>
              <a:rPr lang="en-US" sz="3200" dirty="0"/>
              <a:t> </a:t>
            </a:r>
            <a:r>
              <a:rPr lang="en-US" sz="3200" dirty="0" err="1"/>
              <a:t>jalur</a:t>
            </a:r>
            <a:r>
              <a:rPr lang="en-US" sz="3200" dirty="0"/>
              <a:t> </a:t>
            </a:r>
            <a:r>
              <a:rPr lang="en-US" sz="3200" dirty="0" err="1"/>
              <a:t>eksekusi</a:t>
            </a:r>
            <a:r>
              <a:rPr lang="en-US" sz="3200" dirty="0"/>
              <a:t> yang </a:t>
            </a:r>
            <a:r>
              <a:rPr lang="en-US" sz="3200" dirty="0" err="1"/>
              <a:t>berjalan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project yang </a:t>
            </a:r>
            <a:r>
              <a:rPr lang="en-US" sz="3200" dirty="0" err="1"/>
              <a:t>sama</a:t>
            </a:r>
            <a:r>
              <a:rPr lang="en-US" sz="3200" dirty="0"/>
              <a:t>, </a:t>
            </a:r>
            <a:r>
              <a:rPr lang="en-US" sz="3200" dirty="0" err="1"/>
              <a:t>namun</a:t>
            </a:r>
            <a:r>
              <a:rPr lang="en-US" sz="3200" dirty="0"/>
              <a:t>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diatur</a:t>
            </a:r>
            <a:r>
              <a:rPr lang="en-US" sz="3200" dirty="0"/>
              <a:t> </a:t>
            </a:r>
            <a:r>
              <a:rPr lang="en-US" sz="3200" dirty="0" err="1"/>
              <a:t>bahwa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selang</a:t>
            </a:r>
            <a:r>
              <a:rPr lang="en-US" sz="3200" dirty="0"/>
              <a:t> </a:t>
            </a:r>
            <a:r>
              <a:rPr lang="en-US" sz="3200" dirty="0" err="1"/>
              <a:t>waktu</a:t>
            </a:r>
            <a:r>
              <a:rPr lang="en-US" sz="3200" dirty="0"/>
              <a:t> </a:t>
            </a:r>
            <a:r>
              <a:rPr lang="en-US" sz="3200" dirty="0" err="1"/>
              <a:t>tertentu</a:t>
            </a:r>
            <a:r>
              <a:rPr lang="en-US" sz="3200" dirty="0"/>
              <a:t> </a:t>
            </a:r>
            <a:r>
              <a:rPr lang="en-US" sz="3200" dirty="0" err="1"/>
              <a:t>hanya</a:t>
            </a:r>
            <a:r>
              <a:rPr lang="en-US" sz="3200" dirty="0"/>
              <a:t> </a:t>
            </a:r>
            <a:r>
              <a:rPr lang="en-US" sz="3200" dirty="0" err="1"/>
              <a:t>ada</a:t>
            </a:r>
            <a:r>
              <a:rPr lang="en-US" sz="3200" dirty="0"/>
              <a:t> </a:t>
            </a:r>
            <a:r>
              <a:rPr lang="en-US" sz="3200" dirty="0" err="1"/>
              <a:t>satu</a:t>
            </a:r>
            <a:r>
              <a:rPr lang="en-US" sz="3200" dirty="0"/>
              <a:t> </a:t>
            </a:r>
            <a:r>
              <a:rPr lang="en-US" sz="3200" dirty="0" err="1"/>
              <a:t>jalur</a:t>
            </a:r>
            <a:r>
              <a:rPr lang="en-US" sz="3200" dirty="0"/>
              <a:t> </a:t>
            </a:r>
            <a:r>
              <a:rPr lang="en-US" sz="3200" dirty="0" err="1"/>
              <a:t>eksekusi</a:t>
            </a:r>
            <a:r>
              <a:rPr lang="en-US" sz="3200" dirty="0"/>
              <a:t> yang </a:t>
            </a:r>
            <a:r>
              <a:rPr lang="en-US" sz="3200" dirty="0" err="1"/>
              <a:t>diijinkan</a:t>
            </a:r>
            <a:r>
              <a:rPr lang="en-US" sz="3200" dirty="0"/>
              <a:t> </a:t>
            </a:r>
            <a:r>
              <a:rPr lang="en-US" sz="3200" dirty="0" err="1"/>
              <a:t>di</a:t>
            </a:r>
            <a:r>
              <a:rPr lang="en-US" sz="3200" dirty="0"/>
              <a:t> </a:t>
            </a:r>
            <a:r>
              <a:rPr lang="en-US" sz="3200" b="1" dirty="0"/>
              <a:t>method</a:t>
            </a:r>
            <a:r>
              <a:rPr lang="en-US" sz="3200" dirty="0"/>
              <a:t> yang synchronized (</a:t>
            </a:r>
            <a:r>
              <a:rPr lang="en-US" sz="3200" dirty="0" err="1"/>
              <a:t>eksekusi</a:t>
            </a:r>
            <a:r>
              <a:rPr lang="en-US" sz="3200" dirty="0"/>
              <a:t> </a:t>
            </a:r>
            <a:r>
              <a:rPr lang="en-US" sz="3200" dirty="0" err="1"/>
              <a:t>dilakukan</a:t>
            </a:r>
            <a:r>
              <a:rPr lang="en-US" sz="3200" dirty="0"/>
              <a:t> </a:t>
            </a:r>
            <a:r>
              <a:rPr lang="en-US" sz="3200" dirty="0" err="1"/>
              <a:t>secara</a:t>
            </a:r>
            <a:r>
              <a:rPr lang="en-US" sz="3200" dirty="0"/>
              <a:t> mutual </a:t>
            </a:r>
            <a:r>
              <a:rPr lang="en-US" sz="3200" dirty="0" err="1"/>
              <a:t>ekslusive</a:t>
            </a:r>
            <a:r>
              <a:rPr lang="en-US" sz="3200" dirty="0"/>
              <a:t>).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synchronized (</a:t>
            </a:r>
            <a:r>
              <a:rPr lang="en-US" sz="3200" dirty="0" err="1">
                <a:effectLst/>
              </a:rPr>
              <a:t>khusus</a:t>
            </a:r>
            <a:r>
              <a:rPr lang="en-US" sz="3200" dirty="0">
                <a:effectLst/>
              </a:rPr>
              <a:t> modifier method)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/>
          <a:lstStyle/>
          <a:p>
            <a:r>
              <a:rPr lang="en-US" dirty="0"/>
              <a:t>Keyword modifier2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method (procedure </a:t>
            </a:r>
            <a:r>
              <a:rPr lang="en-US" dirty="0" err="1"/>
              <a:t>atau</a:t>
            </a:r>
            <a:r>
              <a:rPr lang="en-US" dirty="0"/>
              <a:t> pun function)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C++.</a:t>
            </a:r>
          </a:p>
          <a:p>
            <a:endParaRPr lang="en-US" dirty="0"/>
          </a:p>
          <a:p>
            <a:r>
              <a:rPr lang="en-US" dirty="0" err="1"/>
              <a:t>Seperti</a:t>
            </a:r>
            <a:r>
              <a:rPr lang="en-US" dirty="0"/>
              <a:t> method() yang abstract, method()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b="1" i="1" dirty="0"/>
              <a:t>native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prototype, </a:t>
            </a:r>
            <a:r>
              <a:rPr lang="en-US" dirty="0" err="1"/>
              <a:t>implementasi</a:t>
            </a:r>
            <a:r>
              <a:rPr lang="en-US" dirty="0"/>
              <a:t> method()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b="1" i="1" dirty="0"/>
              <a:t>native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di file external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package/folder yang </a:t>
            </a:r>
            <a:r>
              <a:rPr lang="en-US" dirty="0" err="1"/>
              <a:t>sama</a:t>
            </a:r>
            <a:r>
              <a:rPr lang="en-US" dirty="0"/>
              <a:t>.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effectLst/>
              </a:rPr>
              <a:t>native (</a:t>
            </a:r>
            <a:r>
              <a:rPr lang="en-US" sz="3600" dirty="0" err="1">
                <a:effectLst/>
              </a:rPr>
              <a:t>khusus</a:t>
            </a:r>
            <a:r>
              <a:rPr lang="en-US" sz="3600" dirty="0">
                <a:effectLst/>
              </a:rPr>
              <a:t> modifier method)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sz="2800" dirty="0" err="1"/>
              <a:t>Dalam</a:t>
            </a:r>
            <a:r>
              <a:rPr lang="en-US" sz="2800" dirty="0"/>
              <a:t> OOP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serialisasi</a:t>
            </a:r>
            <a:r>
              <a:rPr lang="en-US" sz="2800" dirty="0"/>
              <a:t> </a:t>
            </a:r>
            <a:r>
              <a:rPr lang="en-US" sz="2800" dirty="0" err="1"/>
              <a:t>yaitu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mentransformasikan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stream,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ditransfer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aplikasi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aplikasi</a:t>
            </a:r>
            <a:r>
              <a:rPr lang="en-US" sz="2800" dirty="0"/>
              <a:t> </a:t>
            </a:r>
            <a:r>
              <a:rPr lang="en-US" sz="2800" dirty="0" err="1"/>
              <a:t>lainnya</a:t>
            </a:r>
            <a:r>
              <a:rPr lang="en-US" sz="2800" dirty="0"/>
              <a:t>. </a:t>
            </a:r>
            <a:r>
              <a:rPr lang="en-US" sz="2800" dirty="0" err="1"/>
              <a:t>Prinsip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digunakan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aplikasi</a:t>
            </a:r>
            <a:r>
              <a:rPr lang="en-US" sz="2800" dirty="0"/>
              <a:t> client-server.</a:t>
            </a:r>
          </a:p>
          <a:p>
            <a:endParaRPr lang="en-US" sz="1100" dirty="0"/>
          </a:p>
          <a:p>
            <a:r>
              <a:rPr lang="en-US" sz="2800" dirty="0" err="1"/>
              <a:t>Salah</a:t>
            </a:r>
            <a:r>
              <a:rPr lang="en-US" sz="2800" dirty="0"/>
              <a:t> </a:t>
            </a:r>
            <a:r>
              <a:rPr lang="en-US" sz="2800" dirty="0" err="1"/>
              <a:t>satu</a:t>
            </a:r>
            <a:r>
              <a:rPr lang="en-US" sz="2800" dirty="0"/>
              <a:t> </a:t>
            </a:r>
            <a:r>
              <a:rPr lang="en-US" sz="2800" dirty="0" err="1"/>
              <a:t>ketentuan</a:t>
            </a:r>
            <a:r>
              <a:rPr lang="en-US" sz="2800" dirty="0"/>
              <a:t> </a:t>
            </a:r>
            <a:r>
              <a:rPr lang="en-US" sz="2800" dirty="0" err="1"/>
              <a:t>serialisasi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saat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 </a:t>
            </a:r>
            <a:r>
              <a:rPr lang="en-US" sz="2800" dirty="0" err="1"/>
              <a:t>sedang</a:t>
            </a:r>
            <a:r>
              <a:rPr lang="en-US" sz="2800" dirty="0"/>
              <a:t> </a:t>
            </a:r>
            <a:r>
              <a:rPr lang="en-US" sz="2800" dirty="0" err="1"/>
              <a:t>ditransformasikan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stream,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boleh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nilai</a:t>
            </a:r>
            <a:r>
              <a:rPr lang="en-US" sz="2800" dirty="0"/>
              <a:t> attribute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, </a:t>
            </a:r>
            <a:r>
              <a:rPr lang="en-US" sz="2800" dirty="0" err="1"/>
              <a:t>namun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bila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suatu</a:t>
            </a:r>
            <a:r>
              <a:rPr lang="en-US" sz="2800" dirty="0">
                <a:solidFill>
                  <a:srgbClr val="FF0000"/>
                </a:solidFill>
              </a:rPr>
              <a:t> attribute </a:t>
            </a:r>
            <a:r>
              <a:rPr lang="en-US" sz="2800" dirty="0" err="1">
                <a:solidFill>
                  <a:srgbClr val="FF0000"/>
                </a:solidFill>
              </a:rPr>
              <a:t>bersifat</a:t>
            </a:r>
            <a:r>
              <a:rPr lang="en-US" sz="2800" dirty="0">
                <a:solidFill>
                  <a:srgbClr val="FF0000"/>
                </a:solidFill>
              </a:rPr>
              <a:t> transient </a:t>
            </a:r>
            <a:r>
              <a:rPr lang="en-US" sz="2800" dirty="0" err="1">
                <a:solidFill>
                  <a:srgbClr val="FF0000"/>
                </a:solidFill>
              </a:rPr>
              <a:t>artinya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boleh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berubah</a:t>
            </a:r>
            <a:r>
              <a:rPr lang="en-US" sz="28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effectLst/>
              </a:rPr>
              <a:t>transient (</a:t>
            </a:r>
            <a:r>
              <a:rPr lang="en-US" sz="3200" dirty="0" err="1">
                <a:effectLst/>
              </a:rPr>
              <a:t>khusus</a:t>
            </a:r>
            <a:r>
              <a:rPr lang="en-US" sz="3200" dirty="0">
                <a:effectLst/>
              </a:rPr>
              <a:t> modifier attribute)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11891"/>
          </a:xfrm>
        </p:spPr>
        <p:txBody>
          <a:bodyPr>
            <a:normAutofit/>
          </a:bodyPr>
          <a:lstStyle/>
          <a:p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manajemen</a:t>
            </a:r>
            <a:r>
              <a:rPr lang="en-US" sz="2800" dirty="0"/>
              <a:t> thread, </a:t>
            </a:r>
            <a:r>
              <a:rPr lang="en-US" sz="2800" dirty="0" err="1"/>
              <a:t>nilai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attribute yang </a:t>
            </a:r>
            <a:r>
              <a:rPr lang="en-US" sz="2800" dirty="0" err="1"/>
              <a:t>sering</a:t>
            </a:r>
            <a:r>
              <a:rPr lang="en-US" sz="2800" dirty="0"/>
              <a:t> </a:t>
            </a:r>
            <a:r>
              <a:rPr lang="en-US" sz="2800" dirty="0" err="1"/>
              <a:t>diakses</a:t>
            </a:r>
            <a:r>
              <a:rPr lang="en-US" sz="2800" dirty="0"/>
              <a:t> thread,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disimpan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cache value,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perlu</a:t>
            </a:r>
            <a:r>
              <a:rPr lang="en-US" sz="2800" dirty="0"/>
              <a:t> </a:t>
            </a:r>
            <a:r>
              <a:rPr lang="en-US" sz="2800" dirty="0" err="1"/>
              <a:t>selalu</a:t>
            </a:r>
            <a:r>
              <a:rPr lang="en-US" sz="2800" dirty="0"/>
              <a:t> </a:t>
            </a:r>
            <a:r>
              <a:rPr lang="en-US" sz="2800" dirty="0" err="1"/>
              <a:t>merujuk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lokasi</a:t>
            </a:r>
            <a:r>
              <a:rPr lang="en-US" sz="2800" dirty="0"/>
              <a:t> </a:t>
            </a:r>
            <a:r>
              <a:rPr lang="en-US" sz="2800" dirty="0" err="1"/>
              <a:t>memori</a:t>
            </a:r>
            <a:r>
              <a:rPr lang="en-US" sz="2800" dirty="0"/>
              <a:t> </a:t>
            </a:r>
            <a:r>
              <a:rPr lang="en-US" sz="2800" dirty="0" err="1"/>
              <a:t>aslinya</a:t>
            </a:r>
            <a:r>
              <a:rPr lang="en-US" sz="2800" dirty="0"/>
              <a:t>.</a:t>
            </a:r>
          </a:p>
          <a:p>
            <a:endParaRPr lang="en-US" sz="1000" dirty="0"/>
          </a:p>
          <a:p>
            <a:r>
              <a:rPr lang="en-US" sz="2800" dirty="0" err="1"/>
              <a:t>Artinya</a:t>
            </a:r>
            <a:r>
              <a:rPr lang="en-US" sz="2800" dirty="0"/>
              <a:t> attribute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bersifat</a:t>
            </a:r>
            <a:r>
              <a:rPr lang="en-US" sz="2800" dirty="0"/>
              <a:t> </a:t>
            </a:r>
            <a:r>
              <a:rPr lang="en-US" sz="2800" b="1" i="1" dirty="0"/>
              <a:t>volatile</a:t>
            </a:r>
            <a:r>
              <a:rPr lang="en-US" sz="2800" dirty="0"/>
              <a:t>,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nilainya</a:t>
            </a:r>
            <a:r>
              <a:rPr lang="en-US" sz="2800" dirty="0"/>
              <a:t> </a:t>
            </a:r>
            <a:r>
              <a:rPr lang="en-US" sz="2800" dirty="0" err="1"/>
              <a:t>rentan</a:t>
            </a:r>
            <a:r>
              <a:rPr lang="en-US" sz="2800" dirty="0"/>
              <a:t> </a:t>
            </a:r>
            <a:r>
              <a:rPr lang="en-US" sz="2800" dirty="0" err="1"/>
              <a:t>berubah</a:t>
            </a:r>
            <a:r>
              <a:rPr lang="en-US" sz="2800" dirty="0"/>
              <a:t>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diakses</a:t>
            </a:r>
            <a:r>
              <a:rPr lang="en-US" sz="2800" dirty="0"/>
              <a:t> </a:t>
            </a:r>
            <a:r>
              <a:rPr lang="en-US" sz="2800" dirty="0" err="1"/>
              <a:t>oleh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satu</a:t>
            </a:r>
            <a:r>
              <a:rPr lang="en-US" sz="2800" dirty="0"/>
              <a:t> thread.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volatile (</a:t>
            </a:r>
            <a:r>
              <a:rPr lang="en-US" sz="3200" dirty="0" err="1">
                <a:effectLst/>
              </a:rPr>
              <a:t>khusus</a:t>
            </a:r>
            <a:r>
              <a:rPr lang="en-US" sz="3200" dirty="0">
                <a:effectLst/>
              </a:rPr>
              <a:t> modifier attribute)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24542</TotalTime>
  <Words>1884</Words>
  <Application>Microsoft Office PowerPoint</Application>
  <PresentationFormat>On-screen Show (4:3)</PresentationFormat>
  <Paragraphs>229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Lucida Sans Unicode</vt:lpstr>
      <vt:lpstr>Tahoma</vt:lpstr>
      <vt:lpstr>Times New Roman</vt:lpstr>
      <vt:lpstr>Verdana</vt:lpstr>
      <vt:lpstr>Wingdings 2</vt:lpstr>
      <vt:lpstr>Wingdings 3</vt:lpstr>
      <vt:lpstr>Concourse</vt:lpstr>
      <vt:lpstr>STRUKTUR OOP (1)</vt:lpstr>
      <vt:lpstr>STRUKTUR OOP (2)</vt:lpstr>
      <vt:lpstr>STRUKTUR OOP (3)</vt:lpstr>
      <vt:lpstr>Contoh Struktur OOP</vt:lpstr>
      <vt:lpstr>Class dan Anatomy-nya</vt:lpstr>
      <vt:lpstr>Class</vt:lpstr>
      <vt:lpstr>Latihan membuat Class</vt:lpstr>
      <vt:lpstr>Dua kelompok Class</vt:lpstr>
      <vt:lpstr>Template struktur Anatomi Class</vt:lpstr>
      <vt:lpstr>attribute</vt:lpstr>
      <vt:lpstr>attribute</vt:lpstr>
      <vt:lpstr>method()</vt:lpstr>
      <vt:lpstr>method()</vt:lpstr>
      <vt:lpstr>Template/Bentuk Umum method</vt:lpstr>
      <vt:lpstr>Modifier1 dan Modifier2</vt:lpstr>
      <vt:lpstr>Keyword Modifier1 dan Modifier2</vt:lpstr>
      <vt:lpstr>Modifier1 (Hak Akses)</vt:lpstr>
      <vt:lpstr>Daftar wilayah Akses</vt:lpstr>
      <vt:lpstr>public</vt:lpstr>
      <vt:lpstr>protected</vt:lpstr>
      <vt:lpstr>default</vt:lpstr>
      <vt:lpstr>private</vt:lpstr>
      <vt:lpstr>Modifier2 (sifat/adjective)</vt:lpstr>
      <vt:lpstr>final (untuk class, method() dan attribute) </vt:lpstr>
      <vt:lpstr>static (sifat pada attribute dan method())</vt:lpstr>
      <vt:lpstr>abstract (untuk class dan method())</vt:lpstr>
      <vt:lpstr>synchronized (khusus modifier method)</vt:lpstr>
      <vt:lpstr>native (khusus modifier method)</vt:lpstr>
      <vt:lpstr>transient (khusus modifier attribute)</vt:lpstr>
      <vt:lpstr>volatile (khusus modifier attribute)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453</cp:revision>
  <dcterms:created xsi:type="dcterms:W3CDTF">2001-04-26T04:38:43Z</dcterms:created>
  <dcterms:modified xsi:type="dcterms:W3CDTF">2026-02-23T02:22:18Z</dcterms:modified>
</cp:coreProperties>
</file>