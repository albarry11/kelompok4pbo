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27"/>
  </p:notesMasterIdLst>
  <p:handoutMasterIdLst>
    <p:handoutMasterId r:id="rId28"/>
  </p:handoutMasterIdLst>
  <p:sldIdLst>
    <p:sldId id="394" r:id="rId2"/>
    <p:sldId id="418" r:id="rId3"/>
    <p:sldId id="419" r:id="rId4"/>
    <p:sldId id="395" r:id="rId5"/>
    <p:sldId id="450" r:id="rId6"/>
    <p:sldId id="442" r:id="rId7"/>
    <p:sldId id="449" r:id="rId8"/>
    <p:sldId id="399" r:id="rId9"/>
    <p:sldId id="400" r:id="rId10"/>
    <p:sldId id="405" r:id="rId11"/>
    <p:sldId id="432" r:id="rId12"/>
    <p:sldId id="433" r:id="rId13"/>
    <p:sldId id="434" r:id="rId14"/>
    <p:sldId id="402" r:id="rId15"/>
    <p:sldId id="403" r:id="rId16"/>
    <p:sldId id="437" r:id="rId17"/>
    <p:sldId id="410" r:id="rId18"/>
    <p:sldId id="409" r:id="rId19"/>
    <p:sldId id="407" r:id="rId20"/>
    <p:sldId id="428" r:id="rId21"/>
    <p:sldId id="429" r:id="rId22"/>
    <p:sldId id="430" r:id="rId23"/>
    <p:sldId id="408" r:id="rId24"/>
    <p:sldId id="435" r:id="rId25"/>
    <p:sldId id="436" r:id="rId26"/>
  </p:sldIdLst>
  <p:sldSz cx="9144000" cy="6858000" type="screen4x3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FF0707"/>
    <a:srgbClr val="000000"/>
    <a:srgbClr val="CCFF33"/>
    <a:srgbClr val="66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797" autoAdjust="0"/>
    <p:restoredTop sz="86466" autoAdjust="0"/>
  </p:normalViewPr>
  <p:slideViewPr>
    <p:cSldViewPr>
      <p:cViewPr varScale="1">
        <p:scale>
          <a:sx n="87" d="100"/>
          <a:sy n="87" d="100"/>
        </p:scale>
        <p:origin x="-1277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58" y="341238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C86F193C-C289-4371-A97A-BE0216192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79314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1725" y="700088"/>
            <a:ext cx="4656138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24363"/>
            <a:ext cx="502920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6BB55178-6231-4D76-9FDA-850185061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80398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656" r:id="rId12"/>
    <p:sldLayoutId id="2147483666" r:id="rId13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5181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Modifier3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Class </a:t>
            </a:r>
            <a:r>
              <a:rPr lang="en-US" dirty="0" err="1"/>
              <a:t>atau</a:t>
            </a:r>
            <a:r>
              <a:rPr lang="en-US" dirty="0"/>
              <a:t> Interface </a:t>
            </a:r>
            <a:r>
              <a:rPr lang="en-US" dirty="0" err="1"/>
              <a:t>memanfaatkan</a:t>
            </a:r>
            <a:r>
              <a:rPr lang="en-US" dirty="0"/>
              <a:t> (</a:t>
            </a:r>
            <a:r>
              <a:rPr lang="en-US" b="1" dirty="0"/>
              <a:t>extends</a:t>
            </a:r>
            <a:r>
              <a:rPr lang="en-US" dirty="0"/>
              <a:t>) class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mengimplementasikan</a:t>
            </a:r>
            <a:r>
              <a:rPr lang="en-US" dirty="0"/>
              <a:t> (</a:t>
            </a:r>
            <a:r>
              <a:rPr lang="en-US" b="1" dirty="0"/>
              <a:t>implements</a:t>
            </a:r>
            <a:r>
              <a:rPr lang="en-US" dirty="0"/>
              <a:t>) Interface lain.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Merajut</a:t>
            </a:r>
            <a:r>
              <a:rPr lang="en-US" b="1" dirty="0">
                <a:solidFill>
                  <a:srgbClr val="FF0000"/>
                </a:solidFill>
              </a:rPr>
              <a:t> class-class yg </a:t>
            </a:r>
            <a:r>
              <a:rPr lang="en-US" b="1" dirty="0" err="1">
                <a:solidFill>
                  <a:srgbClr val="FF0000"/>
                </a:solidFill>
              </a:rPr>
              <a:t>membentuk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struktur</a:t>
            </a:r>
            <a:r>
              <a:rPr lang="en-US" b="1" dirty="0">
                <a:solidFill>
                  <a:srgbClr val="FF0000"/>
                </a:solidFill>
              </a:rPr>
              <a:t> taxonomy </a:t>
            </a:r>
            <a:r>
              <a:rPr lang="en-US" b="1" dirty="0" err="1">
                <a:solidFill>
                  <a:srgbClr val="FF0000"/>
                </a:solidFill>
              </a:rPr>
              <a:t>dalam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sebuah</a:t>
            </a:r>
            <a:r>
              <a:rPr lang="en-US" b="1" dirty="0">
                <a:solidFill>
                  <a:srgbClr val="FF0000"/>
                </a:solidFill>
              </a:rPr>
              <a:t> project.</a:t>
            </a:r>
          </a:p>
          <a:p>
            <a:endParaRPr lang="en-US" dirty="0"/>
          </a:p>
          <a:p>
            <a:r>
              <a:rPr lang="en-US" dirty="0"/>
              <a:t>Cara </a:t>
            </a:r>
            <a:r>
              <a:rPr lang="en-US" dirty="0" err="1"/>
              <a:t>memanfaatkan</a:t>
            </a:r>
            <a:r>
              <a:rPr lang="en-US" dirty="0"/>
              <a:t> Class </a:t>
            </a:r>
            <a:r>
              <a:rPr lang="en-US" dirty="0" err="1"/>
              <a:t>atau</a:t>
            </a:r>
            <a:r>
              <a:rPr lang="en-US" dirty="0"/>
              <a:t> Interface lain:</a:t>
            </a:r>
          </a:p>
          <a:p>
            <a:r>
              <a:rPr lang="en-US" dirty="0"/>
              <a:t>1.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 err="1"/>
              <a:t>instansiasi</a:t>
            </a:r>
            <a:r>
              <a:rPr lang="en-US" b="1" dirty="0"/>
              <a:t> </a:t>
            </a:r>
            <a:r>
              <a:rPr lang="en-US" b="1" dirty="0" err="1"/>
              <a:t>objek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class lain</a:t>
            </a:r>
          </a:p>
          <a:p>
            <a:r>
              <a:rPr lang="en-US" dirty="0"/>
              <a:t>2.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extends</a:t>
            </a:r>
            <a:r>
              <a:rPr lang="en-US" dirty="0"/>
              <a:t> class </a:t>
            </a:r>
            <a:r>
              <a:rPr lang="en-US" dirty="0" err="1"/>
              <a:t>pengguna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/>
              <a:t>implements</a:t>
            </a:r>
            <a:r>
              <a:rPr lang="en-US" dirty="0"/>
              <a:t> Interface lain</a:t>
            </a:r>
          </a:p>
          <a:p>
            <a:r>
              <a:rPr lang="en-US" dirty="0"/>
              <a:t>4. class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b="1" dirty="0" err="1"/>
              <a:t>tipe</a:t>
            </a:r>
            <a:r>
              <a:rPr lang="en-US" b="1" dirty="0"/>
              <a:t> data attribute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	    </a:t>
            </a:r>
            <a:r>
              <a:rPr lang="en-US" dirty="0" err="1"/>
              <a:t>pada</a:t>
            </a:r>
            <a:r>
              <a:rPr lang="en-US" dirty="0"/>
              <a:t> Class yang </a:t>
            </a:r>
            <a:r>
              <a:rPr lang="en-US" dirty="0" err="1"/>
              <a:t>memanfaatkan</a:t>
            </a:r>
            <a:r>
              <a:rPr lang="en-US" dirty="0"/>
              <a:t>.</a:t>
            </a:r>
          </a:p>
          <a:p>
            <a:r>
              <a:rPr lang="en-US" dirty="0"/>
              <a:t>5. class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b="1" dirty="0" err="1"/>
              <a:t>tipe</a:t>
            </a:r>
            <a:r>
              <a:rPr lang="en-US" b="1" dirty="0"/>
              <a:t> data parameter</a:t>
            </a:r>
            <a:r>
              <a:rPr lang="en-US" dirty="0"/>
              <a:t>  </a:t>
            </a:r>
          </a:p>
          <a:p>
            <a:pPr>
              <a:buNone/>
            </a:pPr>
            <a:r>
              <a:rPr lang="en-US" dirty="0"/>
              <a:t>	    </a:t>
            </a:r>
            <a:r>
              <a:rPr lang="en-US" dirty="0" err="1"/>
              <a:t>pada</a:t>
            </a:r>
            <a:r>
              <a:rPr lang="en-US" dirty="0"/>
              <a:t> Class yang </a:t>
            </a:r>
            <a:r>
              <a:rPr lang="en-US" dirty="0" err="1"/>
              <a:t>memanfaatkan</a:t>
            </a:r>
            <a:r>
              <a:rPr lang="en-US" dirty="0"/>
              <a:t>.  </a:t>
            </a:r>
          </a:p>
          <a:p>
            <a:pPr>
              <a:buNone/>
            </a:pPr>
            <a:r>
              <a:rPr lang="en-US" dirty="0"/>
              <a:t>	6. class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b="1" dirty="0" err="1"/>
              <a:t>tipe</a:t>
            </a:r>
            <a:r>
              <a:rPr lang="en-US" b="1" dirty="0"/>
              <a:t> data return value</a:t>
            </a:r>
          </a:p>
          <a:p>
            <a:pPr>
              <a:buNone/>
            </a:pPr>
            <a:r>
              <a:rPr lang="en-US" dirty="0"/>
              <a:t>       </a:t>
            </a:r>
            <a:r>
              <a:rPr lang="en-US" dirty="0" err="1"/>
              <a:t>pada</a:t>
            </a:r>
            <a:r>
              <a:rPr lang="en-US" dirty="0"/>
              <a:t> Class yang </a:t>
            </a:r>
            <a:r>
              <a:rPr lang="en-US" dirty="0" err="1"/>
              <a:t>memanfaatkan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Keyword Modifier3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pewarisan</a:t>
            </a:r>
            <a:r>
              <a:rPr lang="en-US" dirty="0"/>
              <a:t>, Class yang </a:t>
            </a:r>
            <a:r>
              <a:rPr lang="en-US" dirty="0" err="1"/>
              <a:t>mewariskan</a:t>
            </a:r>
            <a:r>
              <a:rPr lang="en-US" dirty="0"/>
              <a:t> method() dan </a:t>
            </a:r>
            <a:r>
              <a:rPr lang="en-US" dirty="0" err="1"/>
              <a:t>attributenya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super Class, </a:t>
            </a:r>
            <a:r>
              <a:rPr lang="en-US" dirty="0" err="1"/>
              <a:t>sedangkan</a:t>
            </a:r>
            <a:r>
              <a:rPr lang="en-US" dirty="0"/>
              <a:t> yang </a:t>
            </a:r>
            <a:r>
              <a:rPr lang="en-US" dirty="0" err="1"/>
              <a:t>diwariskan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subclass. </a:t>
            </a:r>
          </a:p>
          <a:p>
            <a:endParaRPr lang="en-US" dirty="0"/>
          </a:p>
          <a:p>
            <a:r>
              <a:rPr lang="en-US" dirty="0"/>
              <a:t>Ada method() dan/</a:t>
            </a:r>
            <a:r>
              <a:rPr lang="en-US" dirty="0" err="1"/>
              <a:t>atau</a:t>
            </a:r>
            <a:r>
              <a:rPr lang="en-US" dirty="0"/>
              <a:t> attribute yg </a:t>
            </a:r>
            <a:r>
              <a:rPr lang="en-US" dirty="0" err="1"/>
              <a:t>diwariskan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super class </a:t>
            </a:r>
            <a:r>
              <a:rPr lang="en-US" dirty="0" err="1"/>
              <a:t>ke</a:t>
            </a:r>
            <a:r>
              <a:rPr lang="en-US" dirty="0"/>
              <a:t> subclass. Subclass </a:t>
            </a:r>
            <a:r>
              <a:rPr lang="en-US" dirty="0" err="1"/>
              <a:t>menyatakan</a:t>
            </a:r>
            <a:r>
              <a:rPr lang="en-US" dirty="0"/>
              <a:t> salah-</a:t>
            </a:r>
            <a:r>
              <a:rPr lang="en-US" dirty="0" err="1"/>
              <a:t>satu</a:t>
            </a:r>
            <a:r>
              <a:rPr lang="en-US" dirty="0"/>
              <a:t> “</a:t>
            </a:r>
            <a:r>
              <a:rPr lang="en-US" dirty="0" err="1"/>
              <a:t>jenis</a:t>
            </a:r>
            <a:r>
              <a:rPr lang="en-US" dirty="0"/>
              <a:t>” </a:t>
            </a:r>
            <a:r>
              <a:rPr lang="en-US" dirty="0" err="1"/>
              <a:t>dari</a:t>
            </a:r>
            <a:r>
              <a:rPr lang="en-US" dirty="0"/>
              <a:t> superclass, </a:t>
            </a:r>
            <a:r>
              <a:rPr lang="en-US" dirty="0" err="1"/>
              <a:t>bukan</a:t>
            </a:r>
            <a:r>
              <a:rPr lang="en-US" dirty="0"/>
              <a:t> “</a:t>
            </a:r>
            <a:r>
              <a:rPr lang="en-US" dirty="0" err="1"/>
              <a:t>bagian</a:t>
            </a:r>
            <a:r>
              <a:rPr lang="en-US" dirty="0"/>
              <a:t>” </a:t>
            </a:r>
            <a:r>
              <a:rPr lang="en-US" dirty="0" err="1"/>
              <a:t>dari</a:t>
            </a:r>
            <a:r>
              <a:rPr lang="en-US" dirty="0"/>
              <a:t> superclass.  </a:t>
            </a:r>
          </a:p>
          <a:p>
            <a:endParaRPr lang="en-US" dirty="0"/>
          </a:p>
          <a:p>
            <a:r>
              <a:rPr lang="en-US" dirty="0"/>
              <a:t>Class yang </a:t>
            </a:r>
            <a:r>
              <a:rPr lang="en-US" dirty="0" err="1"/>
              <a:t>memiliki</a:t>
            </a:r>
            <a:r>
              <a:rPr lang="en-US" dirty="0"/>
              <a:t> modifier3 </a:t>
            </a:r>
            <a:r>
              <a:rPr lang="en-US" b="1" dirty="0"/>
              <a:t>extends</a:t>
            </a:r>
            <a:r>
              <a:rPr lang="en-US" dirty="0"/>
              <a:t> </a:t>
            </a:r>
            <a:r>
              <a:rPr lang="en-US" dirty="0" err="1"/>
              <a:t>artinya</a:t>
            </a:r>
            <a:r>
              <a:rPr lang="en-US" dirty="0"/>
              <a:t> subclass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super class.</a:t>
            </a:r>
          </a:p>
          <a:p>
            <a:endParaRPr lang="en-US" dirty="0"/>
          </a:p>
          <a:p>
            <a:pPr marL="109728" indent="0">
              <a:buNone/>
            </a:pPr>
            <a:r>
              <a:rPr lang="en-US" sz="2400" dirty="0"/>
              <a:t>import namaPackage.BidangDatar2D;</a:t>
            </a:r>
          </a:p>
          <a:p>
            <a:pPr>
              <a:buNone/>
            </a:pPr>
            <a:r>
              <a:rPr lang="en-US" sz="2200" b="1" i="1" dirty="0"/>
              <a:t>public class </a:t>
            </a:r>
            <a:r>
              <a:rPr lang="en-US" sz="2200" b="1" i="1" dirty="0" err="1"/>
              <a:t>PersegiPanjang</a:t>
            </a:r>
            <a:r>
              <a:rPr lang="en-US" sz="2200" b="1" i="1" dirty="0"/>
              <a:t> </a:t>
            </a:r>
            <a:r>
              <a:rPr lang="en-US" sz="2200" b="1" i="1" dirty="0">
                <a:solidFill>
                  <a:srgbClr val="FF0000"/>
                </a:solidFill>
              </a:rPr>
              <a:t>extends</a:t>
            </a:r>
            <a:r>
              <a:rPr lang="en-US" sz="2200" b="1" i="1" dirty="0"/>
              <a:t> BidangDatar2D {</a:t>
            </a:r>
          </a:p>
          <a:p>
            <a:r>
              <a:rPr lang="en-US" sz="2200" b="1" i="1" dirty="0"/>
              <a:t> </a:t>
            </a:r>
          </a:p>
          <a:p>
            <a:pPr>
              <a:buNone/>
            </a:pPr>
            <a:r>
              <a:rPr lang="en-US" sz="2200" b="1" i="1" dirty="0"/>
              <a:t>}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extends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399" y="1143000"/>
            <a:ext cx="8798417" cy="48642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 yang </a:t>
            </a:r>
            <a:r>
              <a:rPr lang="en-US" dirty="0" err="1"/>
              <a:t>memiliki</a:t>
            </a:r>
            <a:r>
              <a:rPr lang="en-US" dirty="0"/>
              <a:t> modifier3 </a:t>
            </a:r>
            <a:r>
              <a:rPr lang="en-US" dirty="0">
                <a:solidFill>
                  <a:srgbClr val="FF0000"/>
                </a:solidFill>
              </a:rPr>
              <a:t>implements</a:t>
            </a:r>
            <a:r>
              <a:rPr lang="en-US" dirty="0"/>
              <a:t> </a:t>
            </a:r>
            <a:r>
              <a:rPr lang="en-US" dirty="0" err="1"/>
              <a:t>artinya</a:t>
            </a:r>
            <a:r>
              <a:rPr lang="en-US" dirty="0"/>
              <a:t> class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mengimplementasikan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interface. </a:t>
            </a:r>
            <a:r>
              <a:rPr lang="en-US" dirty="0" err="1"/>
              <a:t>Bila</a:t>
            </a:r>
            <a:r>
              <a:rPr lang="en-US" dirty="0"/>
              <a:t> yang </a:t>
            </a:r>
            <a:r>
              <a:rPr lang="en-US" dirty="0" err="1"/>
              <a:t>diimplementasikan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interfce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koma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nama-nama</a:t>
            </a:r>
            <a:r>
              <a:rPr lang="en-US" dirty="0"/>
              <a:t> interface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pPr>
              <a:buNone/>
            </a:pPr>
            <a:endParaRPr lang="en-US" sz="1800" b="1" i="1" dirty="0"/>
          </a:p>
          <a:p>
            <a:pPr>
              <a:buNone/>
            </a:pPr>
            <a:r>
              <a:rPr lang="en-US" sz="1800" b="1" i="1" dirty="0"/>
              <a:t>[modifier1] class Robot </a:t>
            </a:r>
            <a:r>
              <a:rPr lang="en-US" sz="1800" b="1" i="1" dirty="0">
                <a:solidFill>
                  <a:srgbClr val="FF0000"/>
                </a:solidFill>
              </a:rPr>
              <a:t>implements </a:t>
            </a:r>
            <a:r>
              <a:rPr lang="en-US" sz="1800" b="1" i="1" dirty="0" err="1"/>
              <a:t>Manusia</a:t>
            </a:r>
            <a:r>
              <a:rPr lang="en-US" sz="1800" b="1" i="1" dirty="0"/>
              <a:t>, </a:t>
            </a:r>
            <a:r>
              <a:rPr lang="en-US" sz="1800" b="1" i="1" dirty="0" err="1"/>
              <a:t>Mesin</a:t>
            </a:r>
            <a:r>
              <a:rPr lang="en-US" sz="1800" b="1" i="1" dirty="0"/>
              <a:t> {</a:t>
            </a:r>
          </a:p>
          <a:p>
            <a:r>
              <a:rPr lang="en-US" sz="1800" b="1" i="1" dirty="0"/>
              <a:t>  </a:t>
            </a:r>
            <a:r>
              <a:rPr lang="en-US" sz="1800" b="1" i="1" dirty="0" err="1"/>
              <a:t>berpikir</a:t>
            </a:r>
            <a:r>
              <a:rPr lang="en-US" sz="1800" b="1" i="1" dirty="0"/>
              <a:t>() {……?}</a:t>
            </a:r>
          </a:p>
          <a:p>
            <a:r>
              <a:rPr lang="en-US" sz="1800" b="1" i="1" dirty="0"/>
              <a:t>  </a:t>
            </a:r>
            <a:r>
              <a:rPr lang="en-US" sz="1800" b="1" i="1" dirty="0" err="1"/>
              <a:t>menari</a:t>
            </a:r>
            <a:r>
              <a:rPr lang="en-US" sz="1800" b="1" i="1" dirty="0"/>
              <a:t>() {……?}</a:t>
            </a:r>
          </a:p>
          <a:p>
            <a:r>
              <a:rPr lang="en-US" sz="1800" b="1" i="1" dirty="0"/>
              <a:t>  </a:t>
            </a:r>
            <a:r>
              <a:rPr lang="en-US" sz="1800" b="1" i="1" dirty="0" err="1"/>
              <a:t>bekerjatanpakenallelah</a:t>
            </a:r>
            <a:r>
              <a:rPr lang="en-US" sz="1800" b="1" i="1" dirty="0"/>
              <a:t>() {…?}</a:t>
            </a:r>
          </a:p>
          <a:p>
            <a:pPr>
              <a:buNone/>
            </a:pPr>
            <a:r>
              <a:rPr lang="en-US" sz="1800" b="1" i="1" dirty="0"/>
              <a:t>}</a:t>
            </a:r>
          </a:p>
          <a:p>
            <a:pPr>
              <a:buNone/>
            </a:pPr>
            <a:r>
              <a:rPr lang="en-US" sz="1800" b="1" i="1" dirty="0"/>
              <a:t>interface </a:t>
            </a:r>
            <a:r>
              <a:rPr lang="en-US" sz="1800" b="1" i="1" dirty="0" err="1"/>
              <a:t>Manusia</a:t>
            </a:r>
            <a:r>
              <a:rPr lang="en-US" sz="1800" b="1" i="1" dirty="0"/>
              <a:t> {</a:t>
            </a:r>
          </a:p>
          <a:p>
            <a:pPr>
              <a:buNone/>
            </a:pPr>
            <a:r>
              <a:rPr lang="en-US" sz="1800" b="1" i="1" dirty="0"/>
              <a:t>       String </a:t>
            </a:r>
            <a:r>
              <a:rPr lang="en-US" sz="1800" b="1" i="1" dirty="0" err="1"/>
              <a:t>berpikir</a:t>
            </a:r>
            <a:r>
              <a:rPr lang="en-US" sz="1800" b="1" i="1" dirty="0"/>
              <a:t>(int x);</a:t>
            </a:r>
          </a:p>
          <a:p>
            <a:pPr>
              <a:buNone/>
            </a:pPr>
            <a:r>
              <a:rPr lang="en-US" sz="1800" b="1" i="1" dirty="0"/>
              <a:t>       </a:t>
            </a:r>
            <a:r>
              <a:rPr lang="en-US" sz="1800" b="1" i="1" dirty="0" err="1"/>
              <a:t>menari</a:t>
            </a:r>
            <a:r>
              <a:rPr lang="en-US" sz="1800" b="1" i="1" dirty="0"/>
              <a:t>();</a:t>
            </a:r>
          </a:p>
          <a:p>
            <a:pPr>
              <a:buNone/>
            </a:pPr>
            <a:r>
              <a:rPr lang="en-US" sz="1800" b="1" i="1" dirty="0"/>
              <a:t>}</a:t>
            </a:r>
          </a:p>
          <a:p>
            <a:pPr>
              <a:buNone/>
            </a:pPr>
            <a:r>
              <a:rPr lang="en-US" sz="1800" b="1" i="1" dirty="0"/>
              <a:t>interface </a:t>
            </a:r>
            <a:r>
              <a:rPr lang="en-US" sz="1800" b="1" i="1" dirty="0" err="1"/>
              <a:t>Mesin</a:t>
            </a:r>
            <a:r>
              <a:rPr lang="en-US" sz="1800" b="1" i="1" dirty="0"/>
              <a:t> {</a:t>
            </a:r>
          </a:p>
          <a:p>
            <a:pPr>
              <a:buNone/>
            </a:pPr>
            <a:r>
              <a:rPr lang="en-US" sz="1800" b="1" i="1" dirty="0"/>
              <a:t>       String </a:t>
            </a:r>
            <a:r>
              <a:rPr lang="en-US" sz="1800" b="1" i="1" dirty="0" err="1"/>
              <a:t>bekerjatanpakenallelah</a:t>
            </a:r>
            <a:r>
              <a:rPr lang="en-US" sz="1800" b="1" i="1" dirty="0"/>
              <a:t>(int x);</a:t>
            </a:r>
          </a:p>
          <a:p>
            <a:pPr>
              <a:buNone/>
            </a:pPr>
            <a:r>
              <a:rPr lang="en-US" sz="1800" b="1" i="1" dirty="0"/>
              <a:t>}</a:t>
            </a:r>
          </a:p>
          <a:p>
            <a:pPr>
              <a:buNone/>
            </a:pPr>
            <a:endParaRPr lang="en-US" sz="1800" b="1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algn="ctr"/>
            <a:r>
              <a:rPr lang="en-US" dirty="0">
                <a:effectLst/>
              </a:rPr>
              <a:t>implements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4940491"/>
          </a:xfrm>
        </p:spPr>
        <p:txBody>
          <a:bodyPr>
            <a:normAutofit/>
          </a:bodyPr>
          <a:lstStyle/>
          <a:p>
            <a:r>
              <a:rPr lang="en-US" sz="3200" dirty="0"/>
              <a:t>Bila Class yang </a:t>
            </a:r>
            <a:r>
              <a:rPr lang="en-US" sz="3200" dirty="0" err="1"/>
              <a:t>memanfaatkan</a:t>
            </a:r>
            <a:r>
              <a:rPr lang="en-US" sz="3200" dirty="0"/>
              <a:t> dan </a:t>
            </a:r>
            <a:r>
              <a:rPr lang="en-US" sz="3200" dirty="0" err="1"/>
              <a:t>menggunakan</a:t>
            </a:r>
            <a:r>
              <a:rPr lang="en-US" sz="3200" dirty="0"/>
              <a:t> class </a:t>
            </a:r>
            <a:r>
              <a:rPr lang="en-US" sz="3200" dirty="0" err="1"/>
              <a:t>pengguna</a:t>
            </a:r>
            <a:r>
              <a:rPr lang="en-US" sz="3200" dirty="0"/>
              <a:t>, </a:t>
            </a:r>
            <a:r>
              <a:rPr lang="en-US" sz="3200" b="1" dirty="0" err="1"/>
              <a:t>tidak</a:t>
            </a:r>
            <a:r>
              <a:rPr lang="en-US" sz="3200" b="1" dirty="0"/>
              <a:t> </a:t>
            </a:r>
            <a:r>
              <a:rPr lang="en-US" sz="3200" b="1" dirty="0" err="1"/>
              <a:t>berada</a:t>
            </a:r>
            <a:r>
              <a:rPr lang="en-US" sz="3200" b="1" dirty="0"/>
              <a:t> </a:t>
            </a:r>
            <a:r>
              <a:rPr lang="en-US" sz="3200" b="1" dirty="0" err="1"/>
              <a:t>dalam</a:t>
            </a:r>
            <a:r>
              <a:rPr lang="en-US" sz="3200" b="1" dirty="0"/>
              <a:t> </a:t>
            </a:r>
            <a:r>
              <a:rPr lang="en-US" sz="3200" b="1" dirty="0" err="1"/>
              <a:t>satu</a:t>
            </a:r>
            <a:r>
              <a:rPr lang="en-US" sz="3200" b="1" dirty="0"/>
              <a:t> package/directory/folder</a:t>
            </a:r>
            <a:r>
              <a:rPr lang="en-US" sz="3200" dirty="0"/>
              <a:t> </a:t>
            </a:r>
            <a:r>
              <a:rPr lang="en-US" sz="3200" dirty="0" err="1"/>
              <a:t>dengan</a:t>
            </a:r>
            <a:r>
              <a:rPr lang="en-US" sz="3200" dirty="0"/>
              <a:t> Class </a:t>
            </a:r>
            <a:r>
              <a:rPr lang="en-US" sz="3200" dirty="0" err="1"/>
              <a:t>atau</a:t>
            </a:r>
            <a:r>
              <a:rPr lang="en-US" sz="3200" dirty="0"/>
              <a:t> Interface yang </a:t>
            </a:r>
            <a:r>
              <a:rPr lang="en-US" sz="3200" dirty="0" err="1"/>
              <a:t>dimanfaatkan</a:t>
            </a:r>
            <a:r>
              <a:rPr lang="en-US" sz="3200" dirty="0"/>
              <a:t>, </a:t>
            </a:r>
          </a:p>
          <a:p>
            <a:r>
              <a:rPr lang="en-US" sz="3200" dirty="0" err="1"/>
              <a:t>maka</a:t>
            </a:r>
            <a:r>
              <a:rPr lang="en-US" sz="3200" dirty="0"/>
              <a:t> Class yang </a:t>
            </a:r>
            <a:r>
              <a:rPr lang="en-US" sz="3200" dirty="0" err="1"/>
              <a:t>memanfaatkan</a:t>
            </a:r>
            <a:r>
              <a:rPr lang="en-US" sz="3200" dirty="0"/>
              <a:t>/</a:t>
            </a:r>
            <a:r>
              <a:rPr lang="en-US" sz="3200" dirty="0" err="1"/>
              <a:t>menggunakan</a:t>
            </a:r>
            <a:r>
              <a:rPr lang="en-US" sz="3200" dirty="0"/>
              <a:t> </a:t>
            </a:r>
            <a:r>
              <a:rPr lang="en-US" sz="3200" dirty="0" err="1"/>
              <a:t>harus</a:t>
            </a:r>
            <a:r>
              <a:rPr lang="en-US" sz="3200" dirty="0"/>
              <a:t> </a:t>
            </a:r>
            <a:r>
              <a:rPr lang="en-US" sz="3200" dirty="0" err="1"/>
              <a:t>meng</a:t>
            </a:r>
            <a:r>
              <a:rPr lang="en-US" sz="3600" b="1" dirty="0" err="1"/>
              <a:t>import</a:t>
            </a:r>
            <a:r>
              <a:rPr lang="en-US" sz="3200" dirty="0"/>
              <a:t> Class </a:t>
            </a:r>
            <a:r>
              <a:rPr lang="en-US" sz="3200" dirty="0" err="1"/>
              <a:t>atau</a:t>
            </a:r>
            <a:r>
              <a:rPr lang="en-US" sz="3200" dirty="0"/>
              <a:t> Interface yang </a:t>
            </a:r>
            <a:r>
              <a:rPr lang="en-US" sz="3200" dirty="0" err="1"/>
              <a:t>dimanfaatkan</a:t>
            </a:r>
            <a:r>
              <a:rPr lang="en-US" sz="3200" dirty="0"/>
              <a:t>/</a:t>
            </a:r>
            <a:r>
              <a:rPr lang="en-US" sz="3200" dirty="0" err="1"/>
              <a:t>digunakan</a:t>
            </a:r>
            <a:r>
              <a:rPr lang="en-US" sz="32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Catatan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3EC8E5FF-BDFC-B136-A503-E31382E15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5778691"/>
          </a:xfrm>
        </p:spPr>
        <p:txBody>
          <a:bodyPr/>
          <a:lstStyle/>
          <a:p>
            <a:pPr marL="109728" indent="0">
              <a:buNone/>
            </a:pPr>
            <a:r>
              <a:rPr lang="en-US" dirty="0"/>
              <a:t>interface </a:t>
            </a:r>
            <a:r>
              <a:rPr lang="en-US" dirty="0" err="1"/>
              <a:t>Geometri</a:t>
            </a:r>
            <a:r>
              <a:rPr lang="en-US" dirty="0"/>
              <a:t> {</a:t>
            </a:r>
          </a:p>
          <a:p>
            <a:pPr marL="109728" indent="0">
              <a:buNone/>
            </a:pPr>
            <a:r>
              <a:rPr lang="en-US" dirty="0"/>
              <a:t>  public float </a:t>
            </a:r>
            <a:r>
              <a:rPr lang="en-US" dirty="0" err="1"/>
              <a:t>menghitungKelilingLingkaran</a:t>
            </a:r>
            <a:r>
              <a:rPr lang="en-US" dirty="0"/>
              <a:t>();</a:t>
            </a:r>
          </a:p>
          <a:p>
            <a:pPr marL="109728" indent="0">
              <a:buNone/>
            </a:pPr>
            <a:r>
              <a:rPr lang="en-US" dirty="0"/>
              <a:t>  public float </a:t>
            </a:r>
            <a:r>
              <a:rPr lang="en-US" dirty="0" err="1"/>
              <a:t>menghitungKelilingLingkaran</a:t>
            </a:r>
            <a:r>
              <a:rPr lang="en-US" dirty="0"/>
              <a:t>(float r); </a:t>
            </a:r>
          </a:p>
          <a:p>
            <a:pPr marL="109728" indent="0">
              <a:buNone/>
            </a:pPr>
            <a:r>
              <a:rPr lang="en-US" dirty="0"/>
              <a:t>  public float </a:t>
            </a:r>
            <a:r>
              <a:rPr lang="en-US" dirty="0" err="1"/>
              <a:t>menghitungLuasLingkaran</a:t>
            </a:r>
            <a:r>
              <a:rPr lang="en-US" dirty="0"/>
              <a:t>();</a:t>
            </a:r>
          </a:p>
          <a:p>
            <a:pPr marL="109728" indent="0">
              <a:buNone/>
            </a:pPr>
            <a:r>
              <a:rPr lang="en-US" dirty="0"/>
              <a:t>  public float </a:t>
            </a:r>
            <a:r>
              <a:rPr lang="en-US" dirty="0" err="1"/>
              <a:t>menghitungLuasLingkaran</a:t>
            </a:r>
            <a:r>
              <a:rPr lang="en-US" dirty="0"/>
              <a:t>(float r);</a:t>
            </a:r>
          </a:p>
          <a:p>
            <a:pPr marL="109728" indent="0">
              <a:buNone/>
            </a:pPr>
            <a:r>
              <a:rPr lang="en-US" dirty="0"/>
              <a:t>  public float </a:t>
            </a:r>
            <a:r>
              <a:rPr lang="en-US" dirty="0" err="1"/>
              <a:t>menghitungVolume</a:t>
            </a:r>
            <a:r>
              <a:rPr lang="en-US" dirty="0"/>
              <a:t>();</a:t>
            </a:r>
          </a:p>
          <a:p>
            <a:pPr marL="109728" indent="0">
              <a:buNone/>
            </a:pPr>
            <a:r>
              <a:rPr lang="en-US" dirty="0"/>
              <a:t>  public float </a:t>
            </a:r>
            <a:r>
              <a:rPr lang="en-US" dirty="0" err="1"/>
              <a:t>menghitungVolume</a:t>
            </a:r>
            <a:r>
              <a:rPr lang="en-US" dirty="0"/>
              <a:t>(float r); </a:t>
            </a:r>
          </a:p>
          <a:p>
            <a:pPr marL="109728" indent="0">
              <a:buNone/>
            </a:pPr>
            <a:r>
              <a:rPr lang="en-US" dirty="0"/>
              <a:t>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DEABAB2-90B6-B4AE-A661-66FEF949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0ABF106-FF71-188A-C28A-3A736BCE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87052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41FDC7CA-DE95-418E-ABF6-FC2DCE2F1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0"/>
            <a:ext cx="8686800" cy="6477000"/>
          </a:xfrm>
        </p:spPr>
        <p:txBody>
          <a:bodyPr>
            <a:noAutofit/>
          </a:bodyPr>
          <a:lstStyle/>
          <a:p>
            <a:r>
              <a:rPr lang="en-US" sz="1800" b="1" dirty="0"/>
              <a:t>public class </a:t>
            </a:r>
            <a:r>
              <a:rPr lang="en-US" sz="1800" b="1" dirty="0" err="1"/>
              <a:t>Lingkaran</a:t>
            </a:r>
            <a:r>
              <a:rPr lang="en-US" sz="1800" b="1" dirty="0"/>
              <a:t> implements </a:t>
            </a:r>
            <a:r>
              <a:rPr lang="en-US" sz="1800" b="1" dirty="0" err="1"/>
              <a:t>Geometri</a:t>
            </a:r>
            <a:r>
              <a:rPr lang="en-US" sz="1800" b="1" dirty="0"/>
              <a:t> {</a:t>
            </a:r>
          </a:p>
          <a:p>
            <a:r>
              <a:rPr lang="en-US" sz="1800" b="1" dirty="0"/>
              <a:t>    public static final double PI = 3.14159265359;</a:t>
            </a:r>
          </a:p>
          <a:p>
            <a:r>
              <a:rPr lang="en-US" sz="1800" b="1" dirty="0"/>
              <a:t>    public float </a:t>
            </a:r>
            <a:r>
              <a:rPr lang="en-US" sz="1800" b="1" dirty="0" err="1"/>
              <a:t>kelilingLingkaran</a:t>
            </a:r>
            <a:r>
              <a:rPr lang="en-US" sz="1800" b="1" dirty="0"/>
              <a:t>, </a:t>
            </a:r>
            <a:r>
              <a:rPr lang="en-US" sz="1800" b="1" dirty="0" err="1"/>
              <a:t>luasLingkaran</a:t>
            </a:r>
            <a:r>
              <a:rPr lang="en-US" sz="1800" b="1" dirty="0"/>
              <a:t>;</a:t>
            </a:r>
          </a:p>
          <a:p>
            <a:r>
              <a:rPr lang="en-US" sz="1800" b="1" dirty="0"/>
              <a:t>    public float </a:t>
            </a:r>
            <a:r>
              <a:rPr lang="en-US" sz="1800" b="1" dirty="0">
                <a:solidFill>
                  <a:srgbClr val="FF0000"/>
                </a:solidFill>
              </a:rPr>
              <a:t>r</a:t>
            </a:r>
            <a:r>
              <a:rPr lang="en-US" sz="1800" b="1" dirty="0"/>
              <a:t> = 5.0;</a:t>
            </a:r>
          </a:p>
          <a:p>
            <a:r>
              <a:rPr lang="en-US" sz="1800" b="1" dirty="0"/>
              <a:t>    public float </a:t>
            </a:r>
            <a:r>
              <a:rPr lang="en-US" sz="1800" b="1" dirty="0" err="1"/>
              <a:t>menghitungKelilingLingkaran</a:t>
            </a:r>
            <a:r>
              <a:rPr lang="en-US" sz="1800" b="1" dirty="0"/>
              <a:t>(){</a:t>
            </a:r>
          </a:p>
          <a:p>
            <a:r>
              <a:rPr lang="en-US" sz="1800" b="1" dirty="0"/>
              <a:t>        </a:t>
            </a:r>
            <a:r>
              <a:rPr lang="en-US" sz="1800" b="1" dirty="0" err="1"/>
              <a:t>kelilingLingkaran</a:t>
            </a:r>
            <a:r>
              <a:rPr lang="en-US" sz="1800" b="1" dirty="0"/>
              <a:t> = 2*PI*r;</a:t>
            </a:r>
          </a:p>
          <a:p>
            <a:r>
              <a:rPr lang="en-US" sz="1800" b="1" dirty="0"/>
              <a:t>        return </a:t>
            </a:r>
            <a:r>
              <a:rPr lang="en-US" sz="1800" b="1" dirty="0" err="1"/>
              <a:t>kelilingLingkaran</a:t>
            </a:r>
            <a:r>
              <a:rPr lang="en-US" sz="1800" b="1" dirty="0"/>
              <a:t>;</a:t>
            </a:r>
          </a:p>
          <a:p>
            <a:r>
              <a:rPr lang="en-US" sz="1800" b="1" dirty="0"/>
              <a:t>    </a:t>
            </a:r>
            <a:r>
              <a:rPr lang="en-US" sz="1800" b="1"/>
              <a:t>} </a:t>
            </a:r>
            <a:endParaRPr lang="en-US" sz="1800" b="1" dirty="0"/>
          </a:p>
          <a:p>
            <a:r>
              <a:rPr lang="en-US" sz="1800" b="1" dirty="0"/>
              <a:t>    public float </a:t>
            </a:r>
            <a:r>
              <a:rPr lang="en-US" sz="1800" b="1" dirty="0" err="1"/>
              <a:t>menghitungKelilingLingkaran</a:t>
            </a:r>
            <a:r>
              <a:rPr lang="en-US" sz="1800" b="1" dirty="0"/>
              <a:t>(float </a:t>
            </a:r>
            <a:r>
              <a:rPr lang="en-US" sz="1800" b="1" dirty="0">
                <a:solidFill>
                  <a:schemeClr val="accent1"/>
                </a:solidFill>
              </a:rPr>
              <a:t>r</a:t>
            </a:r>
            <a:r>
              <a:rPr lang="en-US" sz="1800" b="1" dirty="0"/>
              <a:t>) {</a:t>
            </a:r>
          </a:p>
          <a:p>
            <a:r>
              <a:rPr lang="en-US" sz="1800" b="1" dirty="0"/>
              <a:t>        //</a:t>
            </a:r>
            <a:r>
              <a:rPr lang="en-US" sz="1800" b="1" dirty="0" err="1"/>
              <a:t>this.</a:t>
            </a:r>
            <a:r>
              <a:rPr lang="en-US" sz="1800" b="1" dirty="0" err="1">
                <a:solidFill>
                  <a:srgbClr val="FF0000"/>
                </a:solidFill>
              </a:rPr>
              <a:t>r</a:t>
            </a:r>
            <a:r>
              <a:rPr lang="en-US" sz="1800" b="1" dirty="0"/>
              <a:t> = </a:t>
            </a:r>
            <a:r>
              <a:rPr lang="en-US" sz="1800" b="1" dirty="0">
                <a:solidFill>
                  <a:schemeClr val="accent1"/>
                </a:solidFill>
              </a:rPr>
              <a:t>r</a:t>
            </a:r>
            <a:r>
              <a:rPr lang="en-US" sz="1800" b="1" dirty="0"/>
              <a:t>;</a:t>
            </a:r>
          </a:p>
          <a:p>
            <a:r>
              <a:rPr lang="en-US" sz="1800" b="1" dirty="0"/>
              <a:t>        </a:t>
            </a:r>
            <a:r>
              <a:rPr lang="en-US" sz="1800" b="1" dirty="0" err="1"/>
              <a:t>kelilingLingkaran</a:t>
            </a:r>
            <a:r>
              <a:rPr lang="en-US" sz="1800" b="1" dirty="0"/>
              <a:t> = 2*PI*r;</a:t>
            </a:r>
          </a:p>
          <a:p>
            <a:r>
              <a:rPr lang="en-US" sz="1800" b="1" dirty="0"/>
              <a:t>        return </a:t>
            </a:r>
            <a:r>
              <a:rPr lang="en-US" sz="1800" b="1" dirty="0" err="1"/>
              <a:t>kelililingLingkaran</a:t>
            </a:r>
            <a:r>
              <a:rPr lang="en-US" sz="1800" b="1" dirty="0"/>
              <a:t>;</a:t>
            </a:r>
          </a:p>
          <a:p>
            <a:r>
              <a:rPr lang="en-US" sz="1800" b="1" dirty="0"/>
              <a:t>    }</a:t>
            </a:r>
          </a:p>
          <a:p>
            <a:r>
              <a:rPr lang="en-US" sz="1800" b="1" dirty="0"/>
              <a:t>    public float </a:t>
            </a:r>
            <a:r>
              <a:rPr lang="en-US" sz="1800" b="1" dirty="0" err="1"/>
              <a:t>menghitungLuasLingkaran</a:t>
            </a:r>
            <a:r>
              <a:rPr lang="en-US" sz="1800" b="1" dirty="0"/>
              <a:t>() {</a:t>
            </a:r>
          </a:p>
          <a:p>
            <a:r>
              <a:rPr lang="en-US" sz="1800" b="1" dirty="0"/>
              <a:t>        </a:t>
            </a:r>
            <a:r>
              <a:rPr lang="en-US" sz="1800" b="1" dirty="0" err="1"/>
              <a:t>luasLingkaran</a:t>
            </a:r>
            <a:r>
              <a:rPr lang="en-US" sz="1800" b="1" dirty="0"/>
              <a:t> = PI*r*r;</a:t>
            </a:r>
          </a:p>
          <a:p>
            <a:r>
              <a:rPr lang="en-US" sz="1800" b="1" dirty="0"/>
              <a:t>        return </a:t>
            </a:r>
            <a:r>
              <a:rPr lang="en-US" sz="1800" b="1" dirty="0" err="1"/>
              <a:t>luasLingkaran</a:t>
            </a:r>
            <a:r>
              <a:rPr lang="en-US" sz="1800" b="1" dirty="0"/>
              <a:t>;</a:t>
            </a:r>
          </a:p>
          <a:p>
            <a:r>
              <a:rPr lang="en-US" sz="1800" b="1" dirty="0"/>
              <a:t>    }</a:t>
            </a:r>
          </a:p>
          <a:p>
            <a:r>
              <a:rPr lang="en-US" sz="1800" b="1" dirty="0"/>
              <a:t>    public float </a:t>
            </a:r>
            <a:r>
              <a:rPr lang="en-US" sz="1800" b="1" dirty="0" err="1"/>
              <a:t>menghitungLuasLingkaran</a:t>
            </a:r>
            <a:r>
              <a:rPr lang="en-US" sz="1800" b="1" dirty="0"/>
              <a:t>(float r) {</a:t>
            </a:r>
          </a:p>
          <a:p>
            <a:r>
              <a:rPr lang="en-US" sz="1800" b="1" dirty="0"/>
              <a:t>                             //</a:t>
            </a:r>
            <a:r>
              <a:rPr lang="en-US" sz="1800" b="1" dirty="0" err="1"/>
              <a:t>this.r</a:t>
            </a:r>
            <a:r>
              <a:rPr lang="en-US" sz="1800" b="1" dirty="0"/>
              <a:t> = r;</a:t>
            </a:r>
          </a:p>
          <a:p>
            <a:r>
              <a:rPr lang="en-US" sz="1800" b="1" dirty="0"/>
              <a:t>                             return = PI*r*r;</a:t>
            </a:r>
          </a:p>
          <a:p>
            <a:r>
              <a:rPr lang="en-US" sz="1800" b="1" dirty="0"/>
              <a:t>    }  </a:t>
            </a:r>
          </a:p>
          <a:p>
            <a:r>
              <a:rPr lang="en-US" sz="1800" b="1" dirty="0"/>
              <a:t>}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B8FAE88-2124-40EF-9FA4-1CA6788C1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A7D44A3-E10D-45DE-A731-E9955F025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857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184B841-5BA5-B342-26E2-5D4153607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"/>
            <a:ext cx="9144000" cy="6553200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 dirty="0"/>
              <a:t>public class </a:t>
            </a:r>
            <a:r>
              <a:rPr lang="en-US" sz="1800" b="1" dirty="0" err="1"/>
              <a:t>Tabung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rgbClr val="FF0000"/>
                </a:solidFill>
              </a:rPr>
              <a:t>extends</a:t>
            </a:r>
            <a:r>
              <a:rPr lang="en-US" sz="1800" b="1" dirty="0"/>
              <a:t> </a:t>
            </a:r>
            <a:r>
              <a:rPr lang="en-US" sz="1800" b="1" dirty="0" err="1"/>
              <a:t>Lingkaran</a:t>
            </a:r>
            <a:r>
              <a:rPr lang="en-US" sz="1800" b="1" dirty="0"/>
              <a:t> (</a:t>
            </a:r>
          </a:p>
          <a:p>
            <a:r>
              <a:rPr lang="en-US" sz="1800" b="1" dirty="0"/>
              <a:t>     //public float r = 0;</a:t>
            </a:r>
          </a:p>
          <a:p>
            <a:r>
              <a:rPr lang="en-US" sz="1800" b="1" dirty="0"/>
              <a:t>     public double </a:t>
            </a:r>
            <a:r>
              <a:rPr lang="en-US" sz="1800" b="1" dirty="0" err="1"/>
              <a:t>tinggi</a:t>
            </a:r>
            <a:r>
              <a:rPr lang="en-US" sz="1800" b="1" dirty="0"/>
              <a:t> = 0;</a:t>
            </a:r>
          </a:p>
          <a:p>
            <a:r>
              <a:rPr lang="en-US" sz="1800" b="1" dirty="0"/>
              <a:t>     public double </a:t>
            </a:r>
            <a:r>
              <a:rPr lang="en-US" sz="1800" b="1" dirty="0" err="1"/>
              <a:t>luastabung</a:t>
            </a:r>
            <a:r>
              <a:rPr lang="en-US" sz="1800" b="1" dirty="0"/>
              <a:t> = 0;</a:t>
            </a:r>
          </a:p>
          <a:p>
            <a:r>
              <a:rPr lang="en-US" sz="1800" b="1" dirty="0"/>
              <a:t>     public double </a:t>
            </a:r>
            <a:r>
              <a:rPr lang="en-US" sz="1800" b="1" dirty="0" err="1"/>
              <a:t>volTabung</a:t>
            </a:r>
            <a:r>
              <a:rPr lang="en-US" sz="1800" b="1" dirty="0"/>
              <a:t> = 0;</a:t>
            </a:r>
          </a:p>
          <a:p>
            <a:r>
              <a:rPr lang="en-US" sz="1800" b="1" dirty="0"/>
              <a:t>    // </a:t>
            </a:r>
            <a:r>
              <a:rPr lang="en-US" sz="1800" b="1" dirty="0" err="1"/>
              <a:t>ada</a:t>
            </a:r>
            <a:r>
              <a:rPr lang="en-US" sz="1800" b="1" dirty="0"/>
              <a:t> 3 </a:t>
            </a:r>
            <a:r>
              <a:rPr lang="en-US" sz="1800" b="1" dirty="0" err="1"/>
              <a:t>cara</a:t>
            </a:r>
            <a:r>
              <a:rPr lang="en-US" sz="1800" b="1" dirty="0"/>
              <a:t> </a:t>
            </a:r>
            <a:r>
              <a:rPr lang="en-US" sz="1800" b="1" dirty="0" err="1"/>
              <a:t>untuk</a:t>
            </a:r>
            <a:r>
              <a:rPr lang="en-US" sz="1800" b="1" dirty="0"/>
              <a:t> </a:t>
            </a:r>
            <a:r>
              <a:rPr lang="en-US" sz="1800" b="1" dirty="0" err="1"/>
              <a:t>menghitung</a:t>
            </a:r>
            <a:r>
              <a:rPr lang="en-US" sz="1800" b="1" dirty="0"/>
              <a:t> </a:t>
            </a:r>
            <a:r>
              <a:rPr lang="en-US" sz="1800" b="1" dirty="0" err="1"/>
              <a:t>luas</a:t>
            </a:r>
            <a:r>
              <a:rPr lang="en-US" sz="1800" b="1" dirty="0"/>
              <a:t> dan volume </a:t>
            </a:r>
            <a:r>
              <a:rPr lang="en-US" sz="1800" b="1" dirty="0" err="1"/>
              <a:t>tabung</a:t>
            </a:r>
            <a:endParaRPr lang="en-US" sz="1800" b="1" dirty="0"/>
          </a:p>
          <a:p>
            <a:r>
              <a:rPr lang="en-US" sz="1800" b="1" dirty="0"/>
              <a:t>     public double </a:t>
            </a:r>
            <a:r>
              <a:rPr lang="en-US" sz="1800" b="1" dirty="0" err="1"/>
              <a:t>hitungLuasTabung</a:t>
            </a:r>
            <a:r>
              <a:rPr lang="en-US" sz="1800" b="1" dirty="0"/>
              <a:t>() {</a:t>
            </a:r>
          </a:p>
          <a:p>
            <a:r>
              <a:rPr lang="en-US" sz="1800" b="1" dirty="0"/>
              <a:t>           </a:t>
            </a:r>
            <a:r>
              <a:rPr lang="en-US" sz="1800" b="1" dirty="0" err="1"/>
              <a:t>Lingkaran</a:t>
            </a:r>
            <a:r>
              <a:rPr lang="en-US" sz="1800" b="1" dirty="0"/>
              <a:t> </a:t>
            </a:r>
            <a:r>
              <a:rPr lang="en-US" sz="1800" b="1" dirty="0" err="1"/>
              <a:t>jj</a:t>
            </a:r>
            <a:r>
              <a:rPr lang="en-US" sz="1800" b="1" dirty="0"/>
              <a:t> = new </a:t>
            </a:r>
            <a:r>
              <a:rPr lang="en-US" sz="1800" b="1" dirty="0" err="1"/>
              <a:t>Lingkaran</a:t>
            </a:r>
            <a:r>
              <a:rPr lang="en-US" sz="1800" b="1" dirty="0"/>
              <a:t>();</a:t>
            </a:r>
          </a:p>
          <a:p>
            <a:r>
              <a:rPr lang="en-US" sz="1800" b="1" dirty="0"/>
              <a:t>           </a:t>
            </a:r>
            <a:r>
              <a:rPr lang="en-US" sz="1800" b="1" dirty="0" err="1"/>
              <a:t>luasTabung</a:t>
            </a:r>
            <a:r>
              <a:rPr lang="en-US" sz="1800" b="1" dirty="0"/>
              <a:t> = 2*</a:t>
            </a:r>
            <a:r>
              <a:rPr lang="en-US" sz="1800" b="1" dirty="0" err="1"/>
              <a:t>Lingkaran.PI</a:t>
            </a:r>
            <a:r>
              <a:rPr lang="en-US" sz="1800" b="1" dirty="0"/>
              <a:t>*</a:t>
            </a:r>
            <a:r>
              <a:rPr lang="en-US" sz="1800" b="1" dirty="0" err="1"/>
              <a:t>jj.r</a:t>
            </a:r>
            <a:r>
              <a:rPr lang="en-US" sz="1800" b="1" dirty="0"/>
              <a:t>*</a:t>
            </a:r>
            <a:r>
              <a:rPr lang="en-US" sz="1800" b="1" dirty="0" err="1"/>
              <a:t>tinggi</a:t>
            </a:r>
            <a:r>
              <a:rPr lang="en-US" sz="1800" b="1" dirty="0"/>
              <a:t>;                                  //cara1a</a:t>
            </a:r>
          </a:p>
          <a:p>
            <a:r>
              <a:rPr lang="en-US" sz="1800" b="1" dirty="0"/>
              <a:t>           </a:t>
            </a:r>
            <a:r>
              <a:rPr lang="en-US" sz="1800" b="1" dirty="0" err="1"/>
              <a:t>luasTabung</a:t>
            </a:r>
            <a:r>
              <a:rPr lang="en-US" sz="1800" b="1" dirty="0"/>
              <a:t> = 2*</a:t>
            </a:r>
            <a:r>
              <a:rPr lang="en-US" sz="1800" b="1" dirty="0" err="1"/>
              <a:t>Lingkaran.PI</a:t>
            </a:r>
            <a:r>
              <a:rPr lang="en-US" sz="1800" b="1" dirty="0"/>
              <a:t>*</a:t>
            </a:r>
            <a:r>
              <a:rPr lang="en-US" sz="1800" b="1" dirty="0" err="1"/>
              <a:t>super.r</a:t>
            </a:r>
            <a:r>
              <a:rPr lang="en-US" sz="1800" b="1" dirty="0"/>
              <a:t>*</a:t>
            </a:r>
            <a:r>
              <a:rPr lang="en-US" sz="1800" b="1" dirty="0" err="1"/>
              <a:t>tinggi</a:t>
            </a:r>
            <a:r>
              <a:rPr lang="en-US" sz="1800" b="1" dirty="0"/>
              <a:t>;                           //cara1b</a:t>
            </a:r>
          </a:p>
          <a:p>
            <a:r>
              <a:rPr lang="en-US" sz="1800" b="1" dirty="0"/>
              <a:t>           </a:t>
            </a:r>
            <a:r>
              <a:rPr lang="en-US" sz="1800" b="1" dirty="0" err="1">
                <a:solidFill>
                  <a:srgbClr val="FF0000"/>
                </a:solidFill>
              </a:rPr>
              <a:t>luasTabung</a:t>
            </a:r>
            <a:r>
              <a:rPr lang="en-US" sz="1800" b="1" dirty="0">
                <a:solidFill>
                  <a:srgbClr val="FF0000"/>
                </a:solidFill>
              </a:rPr>
              <a:t> = </a:t>
            </a:r>
            <a:r>
              <a:rPr lang="en-US" sz="1800" b="1" dirty="0" err="1">
                <a:solidFill>
                  <a:srgbClr val="FF0000"/>
                </a:solidFill>
              </a:rPr>
              <a:t>super.menghitungKelilingLingkaran</a:t>
            </a:r>
            <a:r>
              <a:rPr lang="en-US" sz="1800" b="1" dirty="0">
                <a:solidFill>
                  <a:srgbClr val="FF0000"/>
                </a:solidFill>
              </a:rPr>
              <a:t>()*</a:t>
            </a:r>
            <a:r>
              <a:rPr lang="en-US" sz="1800" b="1" dirty="0" err="1">
                <a:solidFill>
                  <a:srgbClr val="FF0000"/>
                </a:solidFill>
              </a:rPr>
              <a:t>tinggi</a:t>
            </a:r>
            <a:r>
              <a:rPr lang="en-US" sz="1800" b="1" dirty="0">
                <a:solidFill>
                  <a:srgbClr val="FF0000"/>
                </a:solidFill>
              </a:rPr>
              <a:t>; </a:t>
            </a:r>
            <a:r>
              <a:rPr lang="en-US" sz="1800" b="1" dirty="0"/>
              <a:t>     //cara2a</a:t>
            </a:r>
          </a:p>
          <a:p>
            <a:r>
              <a:rPr lang="en-US" sz="1800" b="1" dirty="0"/>
              <a:t>           </a:t>
            </a:r>
            <a:r>
              <a:rPr lang="en-US" sz="1800" b="1" dirty="0" err="1"/>
              <a:t>luasTabung</a:t>
            </a:r>
            <a:r>
              <a:rPr lang="en-US" sz="1800" b="1" dirty="0"/>
              <a:t> = </a:t>
            </a:r>
            <a:r>
              <a:rPr lang="en-US" sz="1800" b="1" dirty="0" err="1"/>
              <a:t>super.menghitungKelilingLingkaran</a:t>
            </a:r>
            <a:r>
              <a:rPr lang="en-US" sz="1800" b="1" dirty="0"/>
              <a:t>(9.0)*</a:t>
            </a:r>
            <a:r>
              <a:rPr lang="en-US" sz="1800" b="1" dirty="0" err="1"/>
              <a:t>tinggi</a:t>
            </a:r>
            <a:r>
              <a:rPr lang="en-US" sz="1800" b="1" dirty="0"/>
              <a:t>; //cara2b</a:t>
            </a:r>
          </a:p>
          <a:p>
            <a:r>
              <a:rPr lang="en-US" sz="1800" b="1" dirty="0"/>
              <a:t>           </a:t>
            </a:r>
            <a:r>
              <a:rPr lang="en-US" sz="1800" b="1" dirty="0" err="1"/>
              <a:t>luasTabung</a:t>
            </a:r>
            <a:r>
              <a:rPr lang="en-US" sz="1800" b="1" dirty="0"/>
              <a:t> = </a:t>
            </a:r>
            <a:r>
              <a:rPr lang="en-US" sz="1800" b="1" dirty="0" err="1"/>
              <a:t>super.kelilingLingkaran</a:t>
            </a:r>
            <a:r>
              <a:rPr lang="en-US" sz="1800" b="1" dirty="0"/>
              <a:t>*</a:t>
            </a:r>
            <a:r>
              <a:rPr lang="en-US" sz="1800" b="1" dirty="0" err="1"/>
              <a:t>tinggi</a:t>
            </a:r>
            <a:r>
              <a:rPr lang="en-US" sz="1800" b="1" dirty="0"/>
              <a:t>;                           //cara3</a:t>
            </a:r>
          </a:p>
          <a:p>
            <a:r>
              <a:rPr lang="en-US" sz="1800" b="1" dirty="0"/>
              <a:t>     }</a:t>
            </a:r>
          </a:p>
          <a:p>
            <a:r>
              <a:rPr lang="en-US" sz="1800" b="1" dirty="0"/>
              <a:t>   </a:t>
            </a:r>
          </a:p>
          <a:p>
            <a:r>
              <a:rPr lang="en-US" sz="1800" b="1" dirty="0"/>
              <a:t>     public double </a:t>
            </a:r>
            <a:r>
              <a:rPr lang="en-US" sz="1800" b="1" dirty="0" err="1"/>
              <a:t>hitungVolumeTabung</a:t>
            </a:r>
            <a:r>
              <a:rPr lang="en-US" sz="1800" b="1" dirty="0"/>
              <a:t>() {</a:t>
            </a:r>
          </a:p>
          <a:p>
            <a:r>
              <a:rPr lang="en-US" sz="1800" b="1" dirty="0"/>
              <a:t>           </a:t>
            </a:r>
            <a:r>
              <a:rPr lang="en-US" sz="1800" b="1" dirty="0" err="1"/>
              <a:t>Lingkaran</a:t>
            </a:r>
            <a:r>
              <a:rPr lang="en-US" sz="1800" b="1" dirty="0"/>
              <a:t> </a:t>
            </a:r>
            <a:r>
              <a:rPr lang="en-US" sz="1800" b="1" dirty="0" err="1"/>
              <a:t>jj</a:t>
            </a:r>
            <a:r>
              <a:rPr lang="en-US" sz="1800" b="1" dirty="0"/>
              <a:t> = new </a:t>
            </a:r>
            <a:r>
              <a:rPr lang="en-US" sz="1800" b="1" dirty="0" err="1"/>
              <a:t>Lingkaran</a:t>
            </a:r>
            <a:r>
              <a:rPr lang="en-US" sz="1800" b="1" dirty="0"/>
              <a:t>();</a:t>
            </a:r>
          </a:p>
          <a:p>
            <a:r>
              <a:rPr lang="en-US" sz="1800" b="1" dirty="0"/>
              <a:t>           </a:t>
            </a:r>
            <a:r>
              <a:rPr lang="en-US" sz="1800" b="1" dirty="0" err="1"/>
              <a:t>volTabung</a:t>
            </a:r>
            <a:r>
              <a:rPr lang="en-US" sz="1800" b="1" dirty="0"/>
              <a:t> = </a:t>
            </a:r>
            <a:r>
              <a:rPr lang="en-US" sz="1800" b="1" dirty="0" err="1"/>
              <a:t>Lingkaran.PI</a:t>
            </a:r>
            <a:r>
              <a:rPr lang="en-US" sz="1800" b="1" dirty="0"/>
              <a:t>*</a:t>
            </a:r>
            <a:r>
              <a:rPr lang="en-US" sz="1800" b="1" dirty="0" err="1"/>
              <a:t>jj.r</a:t>
            </a:r>
            <a:r>
              <a:rPr lang="en-US" sz="1800" b="1" dirty="0"/>
              <a:t>*</a:t>
            </a:r>
            <a:r>
              <a:rPr lang="en-US" sz="1800" b="1" dirty="0" err="1"/>
              <a:t>jj.r</a:t>
            </a:r>
            <a:r>
              <a:rPr lang="en-US" sz="1800" b="1" dirty="0"/>
              <a:t>*</a:t>
            </a:r>
            <a:r>
              <a:rPr lang="en-US" sz="1800" b="1" dirty="0" err="1"/>
              <a:t>tinggi</a:t>
            </a:r>
            <a:r>
              <a:rPr lang="en-US" sz="1800" b="1" dirty="0"/>
              <a:t>;                           //cara1a</a:t>
            </a:r>
          </a:p>
          <a:p>
            <a:r>
              <a:rPr lang="en-US" sz="1800" b="1" dirty="0"/>
              <a:t>           </a:t>
            </a:r>
            <a:r>
              <a:rPr lang="en-US" sz="1800" b="1" dirty="0" err="1"/>
              <a:t>volTabung</a:t>
            </a:r>
            <a:r>
              <a:rPr lang="en-US" sz="1800" b="1" dirty="0"/>
              <a:t> = </a:t>
            </a:r>
            <a:r>
              <a:rPr lang="en-US" sz="1800" b="1" dirty="0" err="1"/>
              <a:t>Lingkaran.PI</a:t>
            </a:r>
            <a:r>
              <a:rPr lang="en-US" sz="1800" b="1" dirty="0"/>
              <a:t>*</a:t>
            </a:r>
            <a:r>
              <a:rPr lang="en-US" sz="1800" b="1" dirty="0" err="1"/>
              <a:t>super.r</a:t>
            </a:r>
            <a:r>
              <a:rPr lang="en-US" sz="1800" b="1" dirty="0"/>
              <a:t>*</a:t>
            </a:r>
            <a:r>
              <a:rPr lang="en-US" sz="1800" b="1" dirty="0" err="1"/>
              <a:t>super.r</a:t>
            </a:r>
            <a:r>
              <a:rPr lang="en-US" sz="1800" b="1" dirty="0"/>
              <a:t>*</a:t>
            </a:r>
            <a:r>
              <a:rPr lang="en-US" sz="1800" b="1" dirty="0" err="1"/>
              <a:t>tinggi</a:t>
            </a:r>
            <a:r>
              <a:rPr lang="en-US" sz="1800" b="1" dirty="0"/>
              <a:t>;              //cara1b          </a:t>
            </a:r>
          </a:p>
          <a:p>
            <a:r>
              <a:rPr lang="en-US" sz="1800" b="1" dirty="0"/>
              <a:t>          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volTabung</a:t>
            </a:r>
            <a:r>
              <a:rPr lang="en-US" sz="1800" b="1" dirty="0">
                <a:solidFill>
                  <a:srgbClr val="FF0000"/>
                </a:solidFill>
              </a:rPr>
              <a:t> = </a:t>
            </a:r>
            <a:r>
              <a:rPr lang="en-US" sz="1800" b="1" dirty="0" err="1">
                <a:solidFill>
                  <a:srgbClr val="FF0000"/>
                </a:solidFill>
              </a:rPr>
              <a:t>super.menghitungLuasLingkaran</a:t>
            </a:r>
            <a:r>
              <a:rPr lang="en-US" sz="1800" b="1" dirty="0">
                <a:solidFill>
                  <a:srgbClr val="FF0000"/>
                </a:solidFill>
              </a:rPr>
              <a:t>()*</a:t>
            </a:r>
            <a:r>
              <a:rPr lang="en-US" sz="1800" b="1" dirty="0" err="1">
                <a:solidFill>
                  <a:srgbClr val="FF0000"/>
                </a:solidFill>
              </a:rPr>
              <a:t>tinggi</a:t>
            </a:r>
            <a:r>
              <a:rPr lang="en-US" sz="1800" b="1" dirty="0">
                <a:solidFill>
                  <a:srgbClr val="FF0000"/>
                </a:solidFill>
              </a:rPr>
              <a:t>; </a:t>
            </a:r>
            <a:r>
              <a:rPr lang="en-US" sz="1800" b="1" dirty="0"/>
              <a:t>    //cara2a</a:t>
            </a:r>
          </a:p>
          <a:p>
            <a:r>
              <a:rPr lang="en-US" sz="1800" b="1" dirty="0"/>
              <a:t>           </a:t>
            </a:r>
            <a:r>
              <a:rPr lang="en-US" sz="1800" b="1" dirty="0" err="1"/>
              <a:t>volTabung</a:t>
            </a:r>
            <a:r>
              <a:rPr lang="en-US" sz="1800" b="1" dirty="0"/>
              <a:t> = </a:t>
            </a:r>
            <a:r>
              <a:rPr lang="en-US" sz="1800" b="1" dirty="0" err="1"/>
              <a:t>super.menghitungLuasLingkaran</a:t>
            </a:r>
            <a:r>
              <a:rPr lang="en-US" sz="1800" b="1" dirty="0"/>
              <a:t>(15)*</a:t>
            </a:r>
            <a:r>
              <a:rPr lang="en-US" sz="1800" b="1" dirty="0" err="1"/>
              <a:t>tinggi</a:t>
            </a:r>
            <a:r>
              <a:rPr lang="en-US" sz="1800" b="1" dirty="0"/>
              <a:t>; //cara2b</a:t>
            </a:r>
          </a:p>
          <a:p>
            <a:r>
              <a:rPr lang="en-US" sz="1800" b="1" dirty="0"/>
              <a:t>           </a:t>
            </a:r>
            <a:r>
              <a:rPr lang="en-US" sz="1800" b="1" dirty="0" err="1"/>
              <a:t>volTabung</a:t>
            </a:r>
            <a:r>
              <a:rPr lang="en-US" sz="1800" b="1" dirty="0"/>
              <a:t> = </a:t>
            </a:r>
            <a:r>
              <a:rPr lang="en-US" sz="1800" b="1" dirty="0" err="1"/>
              <a:t>super.luasLingkaran</a:t>
            </a:r>
            <a:r>
              <a:rPr lang="en-US" sz="1800" b="1" dirty="0"/>
              <a:t>*</a:t>
            </a:r>
            <a:r>
              <a:rPr lang="en-US" sz="1800" b="1" dirty="0" err="1"/>
              <a:t>tinggi</a:t>
            </a:r>
            <a:r>
              <a:rPr lang="en-US" sz="1800" b="1" dirty="0"/>
              <a:t>;                           //cara3</a:t>
            </a:r>
          </a:p>
          <a:p>
            <a:r>
              <a:rPr lang="en-US" sz="1800" b="1" dirty="0"/>
              <a:t>     }</a:t>
            </a:r>
          </a:p>
          <a:p>
            <a:r>
              <a:rPr lang="en-US" sz="1800" b="1" dirty="0"/>
              <a:t>}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6E26149-61FF-607D-2686-0AB721723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C003970-15F2-8C55-C354-3397B038D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10982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40362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en-US" sz="2200" b="1" dirty="0"/>
              <a:t>1.</a:t>
            </a:r>
            <a:r>
              <a:rPr lang="en-US" sz="2200" b="1" i="1" dirty="0"/>
              <a:t> </a:t>
            </a:r>
            <a:r>
              <a:rPr lang="en-US" sz="2200" b="1" dirty="0" err="1"/>
              <a:t>namaObjek.namaMethod</a:t>
            </a:r>
            <a:r>
              <a:rPr lang="en-US" sz="2200" b="1" dirty="0"/>
              <a:t>([</a:t>
            </a:r>
            <a:r>
              <a:rPr lang="en-US" sz="2200" b="1" dirty="0" err="1"/>
              <a:t>argumen</a:t>
            </a:r>
            <a:r>
              <a:rPr lang="en-US" sz="2200" b="1" dirty="0"/>
              <a:t>]);</a:t>
            </a:r>
          </a:p>
          <a:p>
            <a:pPr marL="109728" indent="0">
              <a:buNone/>
            </a:pPr>
            <a:r>
              <a:rPr lang="en-US" sz="2200" b="1" dirty="0"/>
              <a:t>2. </a:t>
            </a:r>
            <a:r>
              <a:rPr lang="en-US" sz="2200" b="1" dirty="0" err="1"/>
              <a:t>namaObjek.namaAttribute</a:t>
            </a:r>
            <a:r>
              <a:rPr lang="en-US" sz="2200" b="1" dirty="0"/>
              <a:t>;</a:t>
            </a:r>
          </a:p>
          <a:p>
            <a:pPr marL="109728" indent="0">
              <a:buNone/>
            </a:pPr>
            <a:endParaRPr lang="en-US" sz="800" dirty="0"/>
          </a:p>
          <a:p>
            <a:pPr>
              <a:buNone/>
            </a:pPr>
            <a:r>
              <a:rPr lang="en-US" sz="2200" dirty="0"/>
              <a:t>3. </a:t>
            </a:r>
            <a:r>
              <a:rPr lang="en-US" sz="2200" b="1" dirty="0" err="1"/>
              <a:t>namaClass.namaMethod</a:t>
            </a:r>
            <a:r>
              <a:rPr lang="en-US" sz="2200" b="1" dirty="0"/>
              <a:t>([</a:t>
            </a:r>
            <a:r>
              <a:rPr lang="en-US" sz="2200" b="1" dirty="0" err="1"/>
              <a:t>argumen</a:t>
            </a:r>
            <a:r>
              <a:rPr lang="en-US" sz="2200" b="1" dirty="0"/>
              <a:t>]);</a:t>
            </a:r>
          </a:p>
          <a:p>
            <a:pPr>
              <a:buNone/>
            </a:pPr>
            <a:r>
              <a:rPr lang="en-US" sz="2200" b="1" dirty="0"/>
              <a:t>4. </a:t>
            </a:r>
            <a:r>
              <a:rPr lang="en-US" sz="2200" b="1" dirty="0" err="1"/>
              <a:t>namaClass.namaAttribute</a:t>
            </a:r>
            <a:r>
              <a:rPr lang="en-US" sz="2200" b="1" dirty="0"/>
              <a:t>;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2200" dirty="0"/>
              <a:t>5. </a:t>
            </a:r>
            <a:r>
              <a:rPr lang="en-US" sz="2200" b="1" dirty="0" err="1"/>
              <a:t>super.namaMethod</a:t>
            </a:r>
            <a:r>
              <a:rPr lang="en-US" sz="2200" b="1" dirty="0"/>
              <a:t>([</a:t>
            </a:r>
            <a:r>
              <a:rPr lang="en-US" sz="2200" b="1" dirty="0" err="1"/>
              <a:t>argumen</a:t>
            </a:r>
            <a:r>
              <a:rPr lang="en-US" sz="2200" b="1" dirty="0"/>
              <a:t>]);</a:t>
            </a:r>
          </a:p>
          <a:p>
            <a:pPr>
              <a:buNone/>
            </a:pPr>
            <a:r>
              <a:rPr lang="en-US" sz="2200" b="1" dirty="0"/>
              <a:t>6. </a:t>
            </a:r>
            <a:r>
              <a:rPr lang="en-US" sz="2200" b="1" dirty="0" err="1"/>
              <a:t>super.namaAttribute</a:t>
            </a:r>
            <a:r>
              <a:rPr lang="en-US" sz="2200" b="1" dirty="0"/>
              <a:t>;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2200" dirty="0"/>
              <a:t>7. </a:t>
            </a:r>
            <a:r>
              <a:rPr lang="en-US" sz="2200" b="1" dirty="0" err="1"/>
              <a:t>this.namaMethod</a:t>
            </a:r>
            <a:r>
              <a:rPr lang="en-US" sz="2200" b="1" dirty="0"/>
              <a:t>([</a:t>
            </a:r>
            <a:r>
              <a:rPr lang="en-US" sz="2200" b="1" dirty="0" err="1"/>
              <a:t>argumen</a:t>
            </a:r>
            <a:r>
              <a:rPr lang="en-US" sz="2200" b="1" dirty="0"/>
              <a:t>]);</a:t>
            </a:r>
          </a:p>
          <a:p>
            <a:pPr>
              <a:buNone/>
            </a:pPr>
            <a:r>
              <a:rPr lang="en-US" sz="2200" b="1" dirty="0"/>
              <a:t>8. </a:t>
            </a:r>
            <a:r>
              <a:rPr lang="en-US" sz="2200" b="1" dirty="0" err="1"/>
              <a:t>this.namaAtribute</a:t>
            </a:r>
            <a:r>
              <a:rPr lang="en-US" sz="2200" b="1" dirty="0"/>
              <a:t>;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2200" dirty="0"/>
              <a:t>9. </a:t>
            </a:r>
            <a:r>
              <a:rPr lang="en-US" sz="2200" b="1" dirty="0" err="1"/>
              <a:t>namaMethod</a:t>
            </a:r>
            <a:r>
              <a:rPr lang="en-US" sz="2200" b="1" dirty="0"/>
              <a:t>([</a:t>
            </a:r>
            <a:r>
              <a:rPr lang="en-US" sz="2200" b="1" dirty="0" err="1"/>
              <a:t>argumen</a:t>
            </a:r>
            <a:r>
              <a:rPr lang="en-US" sz="2200" b="1" dirty="0"/>
              <a:t>]);</a:t>
            </a:r>
          </a:p>
          <a:p>
            <a:pPr>
              <a:buNone/>
            </a:pPr>
            <a:r>
              <a:rPr lang="en-US" sz="2200" b="1" dirty="0"/>
              <a:t>10. </a:t>
            </a:r>
            <a:r>
              <a:rPr lang="en-US" sz="2200" b="1" dirty="0" err="1"/>
              <a:t>namaAttribute</a:t>
            </a:r>
            <a:r>
              <a:rPr lang="en-US" sz="2200" b="1" dirty="0"/>
              <a:t>;</a:t>
            </a:r>
            <a:r>
              <a:rPr lang="en-US" sz="2200" dirty="0"/>
              <a:t>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</a:rPr>
              <a:t>Sepuluh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memanggil</a:t>
            </a:r>
            <a:r>
              <a:rPr lang="en-US" sz="2800" dirty="0"/>
              <a:t>/</a:t>
            </a:r>
            <a:r>
              <a:rPr lang="en-US" sz="2800" dirty="0" err="1"/>
              <a:t>mengakses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 err="1"/>
              <a:t>suatu</a:t>
            </a:r>
            <a:r>
              <a:rPr lang="en-US" sz="2800" dirty="0"/>
              <a:t> attribute/method() </a:t>
            </a:r>
            <a:r>
              <a:rPr lang="en-US" sz="2800" dirty="0" err="1"/>
              <a:t>milik</a:t>
            </a:r>
            <a:r>
              <a:rPr lang="en-US" sz="2800" dirty="0"/>
              <a:t> class </a:t>
            </a:r>
            <a:r>
              <a:rPr lang="en-US" sz="2800" dirty="0" err="1"/>
              <a:t>pengguna</a:t>
            </a:r>
            <a:r>
              <a:rPr lang="en-US" sz="2400" dirty="0"/>
              <a:t>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178491"/>
          </a:xfrm>
        </p:spPr>
        <p:txBody>
          <a:bodyPr>
            <a:normAutofit/>
          </a:bodyPr>
          <a:lstStyle/>
          <a:p>
            <a:r>
              <a:rPr lang="en-US" sz="3600" dirty="0" err="1"/>
              <a:t>Komponen</a:t>
            </a:r>
            <a:r>
              <a:rPr lang="en-US" sz="3600" dirty="0"/>
              <a:t> Class yg juga </a:t>
            </a:r>
            <a:r>
              <a:rPr lang="en-US" sz="3600" dirty="0" err="1"/>
              <a:t>disebut</a:t>
            </a:r>
            <a:r>
              <a:rPr lang="en-US" sz="3600" dirty="0"/>
              <a:t> “member” </a:t>
            </a:r>
            <a:r>
              <a:rPr lang="en-US" sz="3600" dirty="0" err="1"/>
              <a:t>yaitu</a:t>
            </a:r>
            <a:r>
              <a:rPr lang="en-US" sz="3600" dirty="0"/>
              <a:t> </a:t>
            </a:r>
            <a:r>
              <a:rPr lang="en-US" sz="3600" b="1" dirty="0"/>
              <a:t>Class </a:t>
            </a:r>
            <a:r>
              <a:rPr lang="en-US" sz="3600" b="1" dirty="0" err="1"/>
              <a:t>itu</a:t>
            </a:r>
            <a:r>
              <a:rPr lang="en-US" sz="3600" b="1" dirty="0"/>
              <a:t> </a:t>
            </a:r>
            <a:r>
              <a:rPr lang="en-US" sz="3600" b="1" dirty="0" err="1"/>
              <a:t>sendiri</a:t>
            </a:r>
            <a:r>
              <a:rPr lang="en-US" sz="3600" dirty="0"/>
              <a:t>, </a:t>
            </a:r>
            <a:r>
              <a:rPr lang="en-US" sz="3600" b="1" dirty="0"/>
              <a:t>attribute</a:t>
            </a:r>
            <a:r>
              <a:rPr lang="en-US" sz="3600" dirty="0"/>
              <a:t>, </a:t>
            </a:r>
            <a:r>
              <a:rPr lang="en-US" sz="3600" b="1" dirty="0"/>
              <a:t>constructor()</a:t>
            </a:r>
            <a:r>
              <a:rPr lang="en-US" sz="3600" dirty="0"/>
              <a:t>, </a:t>
            </a:r>
            <a:r>
              <a:rPr lang="en-US" sz="3600" b="1" dirty="0"/>
              <a:t>method()</a:t>
            </a:r>
            <a:r>
              <a:rPr lang="en-US" sz="3600" dirty="0"/>
              <a:t>,</a:t>
            </a:r>
            <a:r>
              <a:rPr lang="en-US" sz="3600" b="1" dirty="0"/>
              <a:t> </a:t>
            </a:r>
            <a:r>
              <a:rPr lang="en-US" sz="3600" dirty="0"/>
              <a:t>dan</a:t>
            </a:r>
            <a:r>
              <a:rPr lang="en-US" sz="3600" b="1" dirty="0"/>
              <a:t> inner Class</a:t>
            </a:r>
            <a:r>
              <a:rPr lang="en-US" sz="3600" dirty="0"/>
              <a:t>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diakses</a:t>
            </a:r>
            <a:r>
              <a:rPr lang="en-US" sz="3600" dirty="0"/>
              <a:t>/</a:t>
            </a:r>
            <a:r>
              <a:rPr lang="en-US" sz="3600" dirty="0" err="1"/>
              <a:t>dipanggil</a:t>
            </a:r>
            <a:r>
              <a:rPr lang="en-US" sz="3600" dirty="0"/>
              <a:t> method() lain, </a:t>
            </a:r>
            <a:r>
              <a:rPr lang="en-US" sz="3600" dirty="0" err="1"/>
              <a:t>dengan</a:t>
            </a:r>
            <a:r>
              <a:rPr lang="en-US" sz="3600" dirty="0"/>
              <a:t> salah-</a:t>
            </a:r>
            <a:r>
              <a:rPr lang="en-US" sz="3600" dirty="0" err="1"/>
              <a:t>satu</a:t>
            </a:r>
            <a:r>
              <a:rPr lang="en-US" sz="3600" dirty="0"/>
              <a:t> </a:t>
            </a:r>
            <a:r>
              <a:rPr lang="en-US" sz="3600" dirty="0" err="1"/>
              <a:t>dari</a:t>
            </a:r>
            <a:r>
              <a:rPr lang="en-US" sz="3600" dirty="0"/>
              <a:t> format sebagai </a:t>
            </a:r>
            <a:r>
              <a:rPr lang="en-US" sz="3600" dirty="0" err="1"/>
              <a:t>berikut</a:t>
            </a:r>
            <a:r>
              <a:rPr lang="en-US" sz="3600" dirty="0"/>
              <a:t>: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512375919"/>
              </p:ext>
            </p:extLst>
          </p:nvPr>
        </p:nvGraphicFramePr>
        <p:xfrm>
          <a:off x="152400" y="841765"/>
          <a:ext cx="8839200" cy="4960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22071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method() yang </a:t>
                      </a:r>
                      <a:r>
                        <a:rPr lang="en-US" sz="2400" b="1" dirty="0" err="1"/>
                        <a:t>diakses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method()</a:t>
                      </a:r>
                      <a:r>
                        <a:rPr lang="en-US" sz="2000" b="1" baseline="0" dirty="0"/>
                        <a:t> yang</a:t>
                      </a:r>
                      <a:r>
                        <a:rPr lang="en-US" sz="2400" b="1" baseline="0" dirty="0"/>
                        <a:t> </a:t>
                      </a:r>
                      <a:r>
                        <a:rPr lang="en-US" sz="2400" b="1" baseline="0" dirty="0" err="1"/>
                        <a:t>mengakses</a:t>
                      </a:r>
                      <a:endParaRPr lang="en-US" sz="2400" b="1" baseline="0" dirty="0"/>
                    </a:p>
                    <a:p>
                      <a:pPr algn="ctr"/>
                      <a:r>
                        <a:rPr lang="en-US" sz="2000" b="1" baseline="0" dirty="0" err="1"/>
                        <a:t>misal</a:t>
                      </a:r>
                      <a:r>
                        <a:rPr lang="en-US" sz="2000" b="1" baseline="0" dirty="0"/>
                        <a:t> </a:t>
                      </a:r>
                      <a:r>
                        <a:rPr lang="en-US" sz="2400" b="1" baseline="0" dirty="0"/>
                        <a:t>main()</a:t>
                      </a:r>
                      <a:endParaRPr 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617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solidFill>
                            <a:srgbClr val="FF0000"/>
                          </a:solidFill>
                        </a:rPr>
                        <a:t>Static: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 err="1"/>
                        <a:t>Menggunakan</a:t>
                      </a:r>
                      <a:r>
                        <a:rPr lang="en-US" sz="2000" b="1" i="1" dirty="0"/>
                        <a:t> class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1" dirty="0">
                          <a:solidFill>
                            <a:srgbClr val="FF0000"/>
                          </a:solidFill>
                        </a:rPr>
                        <a:t>Static </a:t>
                      </a:r>
                      <a:r>
                        <a:rPr lang="en-US" sz="2000" b="0" i="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US" sz="2000" b="1" i="1" dirty="0">
                          <a:solidFill>
                            <a:srgbClr val="FF0000"/>
                          </a:solidFill>
                        </a:rPr>
                        <a:t> Non static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lang="en-US" sz="2000" b="1" i="1" dirty="0">
                          <a:solidFill>
                            <a:srgbClr val="FF0000"/>
                          </a:solidFill>
                        </a:rPr>
                        <a:t>Non static:</a:t>
                      </a:r>
                    </a:p>
                    <a:p>
                      <a:pPr algn="l"/>
                      <a:r>
                        <a:rPr lang="en-US" sz="2000" b="1" dirty="0" err="1"/>
                        <a:t>Menggunakan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i="1" dirty="0" err="1"/>
                        <a:t>objek</a:t>
                      </a:r>
                      <a:endParaRPr lang="en-US" sz="2000" b="1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1" dirty="0">
                          <a:solidFill>
                            <a:srgbClr val="FF0000"/>
                          </a:solidFill>
                        </a:rPr>
                        <a:t>Static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611378">
                <a:tc>
                  <a:txBody>
                    <a:bodyPr/>
                    <a:lstStyle/>
                    <a:p>
                      <a:pPr algn="l"/>
                      <a:r>
                        <a:rPr lang="en-US" sz="2000" b="1" i="1" dirty="0">
                          <a:solidFill>
                            <a:srgbClr val="FF0000"/>
                          </a:solidFill>
                        </a:rPr>
                        <a:t>Non static:</a:t>
                      </a:r>
                    </a:p>
                    <a:p>
                      <a:pPr algn="l"/>
                      <a:r>
                        <a:rPr lang="en-US" sz="2000" b="1" dirty="0" err="1"/>
                        <a:t>Menggunakan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i="1" dirty="0" err="1"/>
                        <a:t>objek</a:t>
                      </a:r>
                      <a:endParaRPr lang="en-US" sz="2000" b="1" i="1" dirty="0"/>
                    </a:p>
                    <a:p>
                      <a:pPr algn="l"/>
                      <a:r>
                        <a:rPr lang="en-US" sz="2000" b="1" i="0" dirty="0" err="1"/>
                        <a:t>Menggunakan</a:t>
                      </a:r>
                      <a:r>
                        <a:rPr lang="en-US" sz="2000" b="1" i="0" dirty="0"/>
                        <a:t> </a:t>
                      </a:r>
                      <a:r>
                        <a:rPr lang="en-US" sz="2000" b="1" i="1" dirty="0"/>
                        <a:t>super</a:t>
                      </a:r>
                    </a:p>
                    <a:p>
                      <a:pPr algn="l"/>
                      <a:r>
                        <a:rPr lang="en-US" sz="1800" b="1" dirty="0" err="1"/>
                        <a:t>Menggunakan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i="1" dirty="0"/>
                        <a:t>this</a:t>
                      </a:r>
                      <a:r>
                        <a:rPr lang="en-US" sz="1800" b="1" i="0" dirty="0"/>
                        <a:t>/</a:t>
                      </a:r>
                      <a:r>
                        <a:rPr lang="en-US" sz="1800" b="1" i="0" dirty="0" err="1"/>
                        <a:t>langsung</a:t>
                      </a:r>
                      <a:endParaRPr lang="en-US" sz="1800" b="1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1" dirty="0">
                          <a:solidFill>
                            <a:srgbClr val="FF0000"/>
                          </a:solidFill>
                        </a:rPr>
                        <a:t>Non static:</a:t>
                      </a:r>
                    </a:p>
                    <a:p>
                      <a:pPr algn="l"/>
                      <a:r>
                        <a:rPr lang="en-US" sz="1800" b="1" dirty="0"/>
                        <a:t>Di </a:t>
                      </a:r>
                      <a:r>
                        <a:rPr lang="en-US" sz="1800" b="1" dirty="0" err="1"/>
                        <a:t>luar</a:t>
                      </a:r>
                      <a:r>
                        <a:rPr lang="en-US" sz="1800" b="1" dirty="0"/>
                        <a:t> class </a:t>
                      </a:r>
                      <a:r>
                        <a:rPr lang="en-US" sz="1800" b="1" dirty="0" err="1"/>
                        <a:t>yg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diakses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dan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di</a:t>
                      </a:r>
                      <a:r>
                        <a:rPr lang="en-US" sz="1800" b="1" baseline="0" dirty="0"/>
                        <a:t> </a:t>
                      </a:r>
                      <a:r>
                        <a:rPr lang="en-US" sz="1800" b="1" baseline="0" dirty="0" err="1"/>
                        <a:t>luar</a:t>
                      </a:r>
                      <a:r>
                        <a:rPr lang="en-US" sz="1800" b="1" baseline="0" dirty="0"/>
                        <a:t> sub class</a:t>
                      </a:r>
                      <a:endParaRPr lang="en-US" sz="1800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Di sub class</a:t>
                      </a:r>
                    </a:p>
                    <a:p>
                      <a:pPr algn="l"/>
                      <a:r>
                        <a:rPr lang="en-US" sz="2000" b="1" dirty="0"/>
                        <a:t>Di </a:t>
                      </a:r>
                      <a:r>
                        <a:rPr lang="en-US" sz="2000" b="1" dirty="0" err="1"/>
                        <a:t>dalam</a:t>
                      </a:r>
                      <a:r>
                        <a:rPr lang="en-US" sz="2000" b="1" dirty="0"/>
                        <a:t> class yg </a:t>
                      </a:r>
                      <a:r>
                        <a:rPr lang="en-US" sz="2000" b="1" dirty="0" err="1"/>
                        <a:t>sama</a:t>
                      </a:r>
                      <a:endParaRPr 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10973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Aturan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Mengakses</a:t>
            </a:r>
            <a:r>
              <a:rPr lang="en-US" sz="2800" dirty="0">
                <a:effectLst/>
              </a:rPr>
              <a:t> Member/</a:t>
            </a:r>
            <a:r>
              <a:rPr lang="en-US" sz="2800" dirty="0" err="1">
                <a:effectLst/>
              </a:rPr>
              <a:t>Komponen</a:t>
            </a:r>
            <a:r>
              <a:rPr lang="en-US" sz="2800" dirty="0">
                <a:effectLst/>
              </a:rPr>
              <a:t> class </a:t>
            </a:r>
            <a:r>
              <a:rPr lang="en-US" sz="2800" dirty="0" err="1">
                <a:effectLst/>
              </a:rPr>
              <a:t>pengguna</a:t>
            </a:r>
            <a:endParaRPr lang="en-US" sz="2800" dirty="0"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486400"/>
          </a:xfrm>
        </p:spPr>
        <p:txBody>
          <a:bodyPr>
            <a:normAutofit/>
          </a:bodyPr>
          <a:lstStyle/>
          <a:p>
            <a:r>
              <a:rPr lang="en-US" sz="2400" dirty="0"/>
              <a:t>Argument </a:t>
            </a:r>
            <a:r>
              <a:rPr lang="en-US" sz="2400" dirty="0" err="1"/>
              <a:t>adalah</a:t>
            </a:r>
            <a:r>
              <a:rPr lang="en-US" sz="2400" dirty="0"/>
              <a:t> literal/</a:t>
            </a:r>
            <a:r>
              <a:rPr lang="en-US" sz="2400" dirty="0" err="1"/>
              <a:t>nilai</a:t>
            </a:r>
            <a:r>
              <a:rPr lang="en-US" sz="2400" dirty="0"/>
              <a:t> yang </a:t>
            </a:r>
            <a:r>
              <a:rPr lang="en-US" sz="2400" dirty="0" err="1"/>
              <a:t>dimasukkan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mathod</a:t>
            </a:r>
            <a:r>
              <a:rPr lang="en-US" sz="2400" dirty="0"/>
              <a:t>() </a:t>
            </a:r>
            <a:r>
              <a:rPr lang="en-US" sz="2400" dirty="0" err="1"/>
              <a:t>atau</a:t>
            </a:r>
            <a:r>
              <a:rPr lang="en-US" sz="2400" dirty="0"/>
              <a:t> constructor() </a:t>
            </a:r>
            <a:r>
              <a:rPr lang="en-US" sz="2400" dirty="0" err="1"/>
              <a:t>ditampung</a:t>
            </a:r>
            <a:r>
              <a:rPr lang="en-US" sz="2400" dirty="0"/>
              <a:t> oleh parameter. </a:t>
            </a:r>
          </a:p>
          <a:p>
            <a:r>
              <a:rPr lang="en-US" sz="2400" dirty="0"/>
              <a:t>Parameter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tempat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menampung</a:t>
            </a:r>
            <a:r>
              <a:rPr lang="en-US" sz="2400" dirty="0"/>
              <a:t> argument </a:t>
            </a:r>
            <a:r>
              <a:rPr lang="en-US" sz="2400" dirty="0" err="1"/>
              <a:t>tersebut</a:t>
            </a:r>
            <a:r>
              <a:rPr lang="en-US" sz="2400" dirty="0"/>
              <a:t>.</a:t>
            </a:r>
          </a:p>
          <a:p>
            <a:r>
              <a:rPr lang="en-US" sz="2400" dirty="0"/>
              <a:t>Var-Arg </a:t>
            </a:r>
            <a:r>
              <a:rPr lang="en-US" sz="2400" dirty="0" err="1"/>
              <a:t>biasa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sebagai parameter </a:t>
            </a:r>
            <a:r>
              <a:rPr lang="en-US" sz="2400" dirty="0" err="1"/>
              <a:t>suatu</a:t>
            </a:r>
            <a:r>
              <a:rPr lang="en-US" sz="2400" dirty="0"/>
              <a:t> method() </a:t>
            </a:r>
            <a:r>
              <a:rPr lang="en-US" sz="2400" dirty="0" err="1"/>
              <a:t>ataupun</a:t>
            </a:r>
            <a:r>
              <a:rPr lang="en-US" sz="2400" dirty="0"/>
              <a:t> constructor() </a:t>
            </a:r>
            <a:r>
              <a:rPr lang="en-US" sz="2400" dirty="0" err="1"/>
              <a:t>namun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dimasuki</a:t>
            </a:r>
            <a:r>
              <a:rPr lang="en-US" sz="2400" dirty="0"/>
              <a:t> argument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kuantitas</a:t>
            </a:r>
            <a:r>
              <a:rPr lang="en-US" sz="2400" dirty="0"/>
              <a:t> yang </a:t>
            </a:r>
            <a:r>
              <a:rPr lang="en-US" sz="2400" dirty="0" err="1"/>
              <a:t>bervariasi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Batasan-batasan</a:t>
            </a:r>
            <a:r>
              <a:rPr lang="en-US" sz="2400" dirty="0"/>
              <a:t> </a:t>
            </a:r>
            <a:r>
              <a:rPr lang="en-US" sz="2400" dirty="0" err="1"/>
              <a:t>pengunaan</a:t>
            </a:r>
            <a:r>
              <a:rPr lang="en-US" sz="2400" dirty="0"/>
              <a:t> </a:t>
            </a:r>
            <a:r>
              <a:rPr lang="en-US" sz="2400" dirty="0" err="1"/>
              <a:t>Var-Arg</a:t>
            </a:r>
            <a:r>
              <a:rPr lang="en-US" sz="2400" dirty="0"/>
              <a:t>:</a:t>
            </a:r>
          </a:p>
          <a:p>
            <a:r>
              <a:rPr lang="en-US" sz="2400" dirty="0"/>
              <a:t>1.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1x </a:t>
            </a:r>
            <a:r>
              <a:rPr lang="en-US" sz="2400" dirty="0" err="1"/>
              <a:t>dalam</a:t>
            </a:r>
            <a:r>
              <a:rPr lang="en-US" sz="2400" dirty="0"/>
              <a:t> 1 method().</a:t>
            </a:r>
          </a:p>
          <a:p>
            <a:r>
              <a:rPr lang="en-US" sz="2400" dirty="0"/>
              <a:t>2.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dicampur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parameter lain,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endParaRPr lang="en-US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urutan</a:t>
            </a:r>
            <a:r>
              <a:rPr lang="en-US" sz="2400" dirty="0"/>
              <a:t> </a:t>
            </a:r>
            <a:r>
              <a:rPr lang="en-US" sz="2400" dirty="0" err="1"/>
              <a:t>terakhir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daftar</a:t>
            </a:r>
            <a:r>
              <a:rPr lang="en-US" sz="2400" dirty="0"/>
              <a:t> parameter.</a:t>
            </a:r>
          </a:p>
          <a:p>
            <a:r>
              <a:rPr lang="en-US" sz="2400" dirty="0"/>
              <a:t>3.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sebagai </a:t>
            </a:r>
            <a:r>
              <a:rPr lang="en-US" sz="2400" b="1" dirty="0" err="1"/>
              <a:t>tipe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attribute.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Parameter Var-Arg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486429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public void setData(String nama, String… </a:t>
            </a:r>
            <a:r>
              <a:rPr lang="en-US" b="1" dirty="0" err="1"/>
              <a:t>alamat</a:t>
            </a:r>
            <a:r>
              <a:rPr lang="en-US" b="1" dirty="0"/>
              <a:t>) {</a:t>
            </a:r>
          </a:p>
          <a:p>
            <a:r>
              <a:rPr lang="en-US" b="1" dirty="0"/>
              <a:t>   …</a:t>
            </a:r>
          </a:p>
          <a:p>
            <a:r>
              <a:rPr lang="en-US" b="1" dirty="0"/>
              <a:t>}</a:t>
            </a:r>
          </a:p>
          <a:p>
            <a:endParaRPr lang="en-US" dirty="0"/>
          </a:p>
          <a:p>
            <a:r>
              <a:rPr lang="en-US" b="1" dirty="0" err="1"/>
              <a:t>Pemanggilan</a:t>
            </a:r>
            <a:r>
              <a:rPr lang="en-US" dirty="0"/>
              <a:t> method()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:</a:t>
            </a:r>
          </a:p>
          <a:p>
            <a:r>
              <a:rPr lang="en-US" b="1" i="1" dirty="0"/>
              <a:t>setData(”</a:t>
            </a:r>
            <a:r>
              <a:rPr lang="en-US" b="1" i="1" dirty="0" err="1"/>
              <a:t>Anin</a:t>
            </a:r>
            <a:r>
              <a:rPr lang="en-US" b="1" i="1" dirty="0"/>
              <a:t>”,”</a:t>
            </a:r>
            <a:r>
              <a:rPr lang="en-US" b="1" i="1" dirty="0" err="1"/>
              <a:t>Yogyakarta”,”Denpasar”,”Bantul</a:t>
            </a:r>
            <a:r>
              <a:rPr lang="en-US" b="1" i="1" dirty="0"/>
              <a:t>”);</a:t>
            </a:r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method()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b="1" dirty="0"/>
              <a:t>parameter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b="1" dirty="0" err="1"/>
              <a:t>nama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b="1" dirty="0" err="1"/>
              <a:t>alamat</a:t>
            </a:r>
            <a:r>
              <a:rPr lang="en-US" dirty="0"/>
              <a:t> yang </a:t>
            </a:r>
            <a:r>
              <a:rPr lang="en-US" dirty="0" err="1"/>
              <a:t>masing-masing</a:t>
            </a:r>
            <a:r>
              <a:rPr lang="en-US" dirty="0"/>
              <a:t> </a:t>
            </a:r>
            <a:r>
              <a:rPr lang="en-US" dirty="0" err="1"/>
              <a:t>bertipe</a:t>
            </a:r>
            <a:r>
              <a:rPr lang="en-US" dirty="0"/>
              <a:t> String.</a:t>
            </a:r>
          </a:p>
          <a:p>
            <a:r>
              <a:rPr lang="en-US" dirty="0"/>
              <a:t>Parameter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b="1" dirty="0"/>
              <a:t>argument</a:t>
            </a:r>
            <a:r>
              <a:rPr lang="en-US" dirty="0"/>
              <a:t> ”</a:t>
            </a:r>
            <a:r>
              <a:rPr lang="en-US" dirty="0" err="1"/>
              <a:t>Anin</a:t>
            </a:r>
            <a:r>
              <a:rPr lang="en-US" dirty="0"/>
              <a:t>” </a:t>
            </a:r>
            <a:r>
              <a:rPr lang="en-US" dirty="0" err="1"/>
              <a:t>dan</a:t>
            </a:r>
            <a:r>
              <a:rPr lang="en-US" dirty="0"/>
              <a:t> ”Yogyakarta”.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639762"/>
          </a:xfrm>
        </p:spPr>
        <p:txBody>
          <a:bodyPr>
            <a:normAutofit/>
          </a:bodyPr>
          <a:lstStyle/>
          <a:p>
            <a:pPr algn="ctr"/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penggunaan</a:t>
            </a:r>
            <a:r>
              <a:rPr lang="en-US" sz="2800" dirty="0">
                <a:effectLst/>
              </a:rPr>
              <a:t> argument </a:t>
            </a:r>
            <a:r>
              <a:rPr lang="en-US" sz="2800" dirty="0" err="1">
                <a:effectLst/>
              </a:rPr>
              <a:t>dan</a:t>
            </a:r>
            <a:r>
              <a:rPr lang="en-US" sz="2800" dirty="0">
                <a:effectLst/>
              </a:rPr>
              <a:t> parameter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334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1.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Var-Arg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, </a:t>
            </a:r>
            <a:r>
              <a:rPr lang="en-US" dirty="0" err="1"/>
              <a:t>boleh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,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b="1" i="1" dirty="0" err="1"/>
              <a:t>tipe</a:t>
            </a:r>
            <a:r>
              <a:rPr lang="en-US" b="1" i="1" dirty="0"/>
              <a:t> data </a:t>
            </a:r>
            <a:r>
              <a:rPr lang="en-US" b="1" i="1" dirty="0" err="1"/>
              <a:t>primitif</a:t>
            </a:r>
            <a:r>
              <a:rPr lang="en-US" dirty="0"/>
              <a:t>,    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b="1" i="1" dirty="0"/>
              <a:t>class</a:t>
            </a:r>
            <a:r>
              <a:rPr lang="en-US" dirty="0"/>
              <a:t>,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b="1" i="1" dirty="0"/>
              <a:t>array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2. Format </a:t>
            </a:r>
            <a:r>
              <a:rPr lang="en-US" dirty="0" err="1"/>
              <a:t>sintaks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, parameter yang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var-arg</a:t>
            </a:r>
            <a:r>
              <a:rPr lang="en-US" dirty="0"/>
              <a:t>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memakai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”</a:t>
            </a:r>
            <a:r>
              <a:rPr lang="en-US" b="1" dirty="0">
                <a:solidFill>
                  <a:srgbClr val="FF0000"/>
                </a:solidFill>
              </a:rPr>
              <a:t>…</a:t>
            </a:r>
            <a:r>
              <a:rPr lang="en-US" dirty="0"/>
              <a:t>”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tepat</a:t>
            </a:r>
            <a:r>
              <a:rPr lang="en-US" dirty="0"/>
              <a:t> di </a:t>
            </a:r>
            <a:r>
              <a:rPr lang="en-US" dirty="0" err="1"/>
              <a:t>belakang</a:t>
            </a:r>
            <a:r>
              <a:rPr lang="en-US" dirty="0"/>
              <a:t> </a:t>
            </a:r>
            <a:r>
              <a:rPr lang="en-US" b="1" i="1" dirty="0" err="1"/>
              <a:t>tipe</a:t>
            </a:r>
            <a:r>
              <a:rPr lang="en-US" dirty="0"/>
              <a:t> parameter var-</a:t>
            </a:r>
            <a:r>
              <a:rPr lang="en-US" dirty="0" err="1"/>
              <a:t>arg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3.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var-arg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b="1" i="1" dirty="0" err="1"/>
              <a:t>dicampur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    parameter yang lain, </a:t>
            </a:r>
            <a:r>
              <a:rPr lang="en-US" dirty="0" err="1"/>
              <a:t>ditempatkan</a:t>
            </a:r>
            <a:r>
              <a:rPr lang="en-US" dirty="0"/>
              <a:t> paling </a:t>
            </a:r>
            <a:r>
              <a:rPr lang="en-US" dirty="0" err="1"/>
              <a:t>belakang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 setData(String</a:t>
            </a:r>
            <a:r>
              <a:rPr lang="en-US" b="1" dirty="0">
                <a:solidFill>
                  <a:srgbClr val="FF0000"/>
                </a:solidFill>
              </a:rPr>
              <a:t>…</a:t>
            </a:r>
            <a:r>
              <a:rPr lang="en-US" dirty="0"/>
              <a:t> x);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setArray</a:t>
            </a:r>
            <a:r>
              <a:rPr lang="en-US" dirty="0"/>
              <a:t>(String[]</a:t>
            </a:r>
            <a:r>
              <a:rPr lang="en-US" b="1" dirty="0">
                <a:solidFill>
                  <a:srgbClr val="FF0000"/>
                </a:solidFill>
              </a:rPr>
              <a:t>…</a:t>
            </a:r>
            <a:r>
              <a:rPr lang="en-US" dirty="0"/>
              <a:t> y);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namaMethod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, String</a:t>
            </a:r>
            <a:r>
              <a:rPr lang="en-US" dirty="0">
                <a:solidFill>
                  <a:srgbClr val="FF0000"/>
                </a:solidFill>
              </a:rPr>
              <a:t>…</a:t>
            </a:r>
            <a:r>
              <a:rPr lang="en-US" dirty="0"/>
              <a:t> z);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setTranskripNilai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nim</a:t>
            </a:r>
            <a:r>
              <a:rPr lang="en-US" dirty="0"/>
              <a:t>, String </a:t>
            </a:r>
            <a:r>
              <a:rPr lang="en-US" dirty="0" err="1"/>
              <a:t>nama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b="1" dirty="0">
                <a:solidFill>
                  <a:srgbClr val="FF0000"/>
                </a:solidFill>
              </a:rPr>
              <a:t>…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setTranskripNilai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… </a:t>
            </a:r>
            <a:r>
              <a:rPr lang="en-US" dirty="0" err="1"/>
              <a:t>nilai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nim</a:t>
            </a:r>
            <a:r>
              <a:rPr lang="en-US" dirty="0"/>
              <a:t>, String </a:t>
            </a:r>
            <a:r>
              <a:rPr lang="en-US" dirty="0" err="1"/>
              <a:t>nama</a:t>
            </a:r>
            <a:r>
              <a:rPr lang="en-US" dirty="0"/>
              <a:t>); //</a:t>
            </a:r>
            <a:r>
              <a:rPr lang="en-US" dirty="0" err="1"/>
              <a:t>salah</a:t>
            </a:r>
            <a:endParaRPr lang="en-US" dirty="0"/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setTranskripNilai</a:t>
            </a:r>
            <a:r>
              <a:rPr lang="en-US" dirty="0"/>
              <a:t>(String… </a:t>
            </a:r>
            <a:r>
              <a:rPr lang="en-US" dirty="0" err="1"/>
              <a:t>nim</a:t>
            </a:r>
            <a:r>
              <a:rPr lang="en-US" dirty="0"/>
              <a:t>, int </a:t>
            </a:r>
            <a:r>
              <a:rPr lang="en-US" dirty="0" err="1"/>
              <a:t>nilai</a:t>
            </a:r>
            <a:r>
              <a:rPr lang="en-US" dirty="0"/>
              <a:t>…); //salah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411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 err="1">
                <a:effectLst/>
              </a:rPr>
              <a:t>Aturan-aturan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Penggunaan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Var-Arg</a:t>
            </a:r>
            <a:endParaRPr lang="en-US" sz="2800" dirty="0">
              <a:effectLst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err="1">
                <a:effectLst/>
              </a:rPr>
              <a:t>contoh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seter</a:t>
            </a:r>
            <a:r>
              <a:rPr lang="en-US" sz="3200" dirty="0">
                <a:effectLst/>
              </a:rPr>
              <a:t>() </a:t>
            </a:r>
            <a:r>
              <a:rPr lang="en-US" sz="3200" dirty="0" err="1">
                <a:effectLst/>
              </a:rPr>
              <a:t>dan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geter</a:t>
            </a:r>
            <a:r>
              <a:rPr lang="en-US" sz="3200" dirty="0">
                <a:effectLst/>
              </a:rPr>
              <a:t>()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52400" y="6096000"/>
            <a:ext cx="4344988" cy="762000"/>
          </a:xfrm>
        </p:spPr>
        <p:txBody>
          <a:bodyPr>
            <a:noAutofit/>
          </a:bodyPr>
          <a:lstStyle/>
          <a:p>
            <a:r>
              <a:rPr lang="en-US" sz="2000" b="1" dirty="0" err="1"/>
              <a:t>setWeight</a:t>
            </a:r>
            <a:r>
              <a:rPr lang="en-US" sz="2000" b="1" dirty="0"/>
              <a:t>()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method </a:t>
            </a:r>
            <a:r>
              <a:rPr lang="en-US" sz="2000" dirty="0" err="1"/>
              <a:t>yg</a:t>
            </a:r>
            <a:r>
              <a:rPr lang="en-US" sz="2000" dirty="0"/>
              <a:t> </a:t>
            </a:r>
            <a:r>
              <a:rPr lang="en-US" sz="2000" b="1" dirty="0" err="1"/>
              <a:t>dipanggil</a:t>
            </a:r>
            <a:r>
              <a:rPr lang="en-US" sz="2000" dirty="0"/>
              <a:t> method main().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3"/>
          </p:nvPr>
        </p:nvSpPr>
        <p:spPr>
          <a:xfrm>
            <a:off x="4580138" y="6102189"/>
            <a:ext cx="4346574" cy="7620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main()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method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b="1" dirty="0" err="1"/>
              <a:t>memanggil</a:t>
            </a:r>
            <a:r>
              <a:rPr lang="en-US" dirty="0"/>
              <a:t> method </a:t>
            </a:r>
            <a:r>
              <a:rPr lang="en-US" dirty="0" err="1"/>
              <a:t>setWeigth</a:t>
            </a:r>
            <a:r>
              <a:rPr lang="en-US" dirty="0"/>
              <a:t>()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2"/>
          </p:nvPr>
        </p:nvSpPr>
        <p:spPr>
          <a:xfrm>
            <a:off x="152400" y="762000"/>
            <a:ext cx="4344988" cy="52428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b="1" dirty="0"/>
              <a:t>public class Cat {</a:t>
            </a:r>
          </a:p>
          <a:p>
            <a:pPr>
              <a:buNone/>
            </a:pPr>
            <a:r>
              <a:rPr lang="en-US" sz="1600" b="1" dirty="0"/>
              <a:t>    private String name;</a:t>
            </a:r>
          </a:p>
          <a:p>
            <a:pPr>
              <a:buNone/>
            </a:pPr>
            <a:r>
              <a:rPr lang="en-US" sz="1600" b="1" dirty="0"/>
              <a:t>    private int weight;</a:t>
            </a:r>
          </a:p>
          <a:p>
            <a:pPr>
              <a:buNone/>
            </a:pPr>
            <a:r>
              <a:rPr lang="en-US" sz="1600" b="1" dirty="0"/>
              <a:t>    private int height;</a:t>
            </a:r>
          </a:p>
          <a:p>
            <a:pPr>
              <a:buNone/>
            </a:pPr>
            <a:r>
              <a:rPr lang="en-US" sz="1600" b="1" dirty="0"/>
              <a:t>    private char </a:t>
            </a:r>
            <a:r>
              <a:rPr lang="en-US" sz="1600" b="1" dirty="0" err="1"/>
              <a:t>jk</a:t>
            </a:r>
            <a:r>
              <a:rPr lang="en-US" sz="1600" b="1" dirty="0"/>
              <a:t>;</a:t>
            </a:r>
          </a:p>
          <a:p>
            <a:pPr>
              <a:buNone/>
            </a:pPr>
            <a:r>
              <a:rPr lang="en-US" sz="1600" b="1" dirty="0"/>
              <a:t>    //</a:t>
            </a:r>
            <a:r>
              <a:rPr lang="en-US" sz="1600" b="1" dirty="0">
                <a:solidFill>
                  <a:srgbClr val="FF0000"/>
                </a:solidFill>
              </a:rPr>
              <a:t>int x;</a:t>
            </a:r>
          </a:p>
          <a:p>
            <a:pPr>
              <a:buNone/>
            </a:pPr>
            <a:r>
              <a:rPr lang="en-US" sz="1600" b="1" dirty="0"/>
              <a:t>    private int age;</a:t>
            </a:r>
          </a:p>
          <a:p>
            <a:pPr>
              <a:buNone/>
            </a:pPr>
            <a:r>
              <a:rPr lang="en-US" sz="1600" b="1" dirty="0"/>
              <a:t>    private byte </a:t>
            </a:r>
            <a:r>
              <a:rPr lang="en-US" sz="1600" b="1" dirty="0" err="1"/>
              <a:t>belang</a:t>
            </a:r>
            <a:r>
              <a:rPr lang="en-US" sz="1600" b="1" dirty="0"/>
              <a:t>;</a:t>
            </a:r>
          </a:p>
          <a:p>
            <a:pPr>
              <a:buNone/>
            </a:pPr>
            <a:r>
              <a:rPr lang="en-US" sz="1600" b="1" dirty="0"/>
              <a:t>    private String </a:t>
            </a:r>
            <a:r>
              <a:rPr lang="en-US" sz="1600" b="1" dirty="0" err="1"/>
              <a:t>ras</a:t>
            </a:r>
            <a:r>
              <a:rPr lang="en-US" sz="1600" b="1" dirty="0"/>
              <a:t>; </a:t>
            </a:r>
          </a:p>
          <a:p>
            <a:pPr>
              <a:buNone/>
            </a:pPr>
            <a:r>
              <a:rPr lang="en-US" sz="1600" b="1" dirty="0"/>
              <a:t>    public  void </a:t>
            </a:r>
            <a:r>
              <a:rPr lang="en-US" sz="1600" b="1" dirty="0" err="1"/>
              <a:t>setWeight</a:t>
            </a:r>
            <a:r>
              <a:rPr lang="en-US" sz="1600" b="1" dirty="0"/>
              <a:t>(int weight){</a:t>
            </a:r>
          </a:p>
          <a:p>
            <a:pPr>
              <a:buNone/>
            </a:pPr>
            <a:r>
              <a:rPr lang="en-US" sz="1600" b="1" dirty="0"/>
              <a:t>        //int x=5;</a:t>
            </a:r>
          </a:p>
          <a:p>
            <a:pPr>
              <a:buNone/>
            </a:pPr>
            <a:r>
              <a:rPr lang="en-US" sz="1600" b="1" dirty="0"/>
              <a:t>        //</a:t>
            </a:r>
            <a:r>
              <a:rPr lang="en-US" sz="1600" b="1" dirty="0" err="1">
                <a:solidFill>
                  <a:srgbClr val="FF0000"/>
                </a:solidFill>
              </a:rPr>
              <a:t>this.x</a:t>
            </a:r>
            <a:r>
              <a:rPr lang="en-US" sz="1600" b="1" dirty="0"/>
              <a:t>=x;</a:t>
            </a:r>
          </a:p>
          <a:p>
            <a:pPr>
              <a:buNone/>
            </a:pPr>
            <a:r>
              <a:rPr lang="en-US" sz="1600" b="1" dirty="0"/>
              <a:t>        </a:t>
            </a:r>
            <a:r>
              <a:rPr lang="en-US" sz="1600" b="1" dirty="0" err="1"/>
              <a:t>this.weight</a:t>
            </a:r>
            <a:r>
              <a:rPr lang="en-US" sz="1600" b="1" dirty="0"/>
              <a:t> = weight;</a:t>
            </a:r>
          </a:p>
          <a:p>
            <a:pPr>
              <a:buNone/>
            </a:pPr>
            <a:r>
              <a:rPr lang="en-US" sz="1600" b="1" dirty="0"/>
              <a:t>    }</a:t>
            </a:r>
          </a:p>
          <a:p>
            <a:pPr>
              <a:buNone/>
            </a:pPr>
            <a:r>
              <a:rPr lang="en-US" sz="1600" b="1" dirty="0"/>
              <a:t>    public static void </a:t>
            </a:r>
            <a:r>
              <a:rPr lang="en-US" sz="1600" b="1" dirty="0" err="1"/>
              <a:t>setAge</a:t>
            </a:r>
            <a:r>
              <a:rPr lang="en-US" sz="1600" b="1" dirty="0"/>
              <a:t>(int age){</a:t>
            </a:r>
          </a:p>
          <a:p>
            <a:pPr>
              <a:buNone/>
            </a:pPr>
            <a:r>
              <a:rPr lang="en-US" sz="1600" b="1" dirty="0"/>
              <a:t>        </a:t>
            </a:r>
            <a:r>
              <a:rPr lang="en-US" sz="1600" b="1" dirty="0" err="1"/>
              <a:t>this.age</a:t>
            </a:r>
            <a:r>
              <a:rPr lang="en-US" sz="1600" b="1" dirty="0"/>
              <a:t> = age;</a:t>
            </a:r>
          </a:p>
          <a:p>
            <a:pPr>
              <a:buNone/>
            </a:pPr>
            <a:r>
              <a:rPr lang="en-US" sz="1600" b="1" dirty="0"/>
              <a:t>    }</a:t>
            </a:r>
          </a:p>
          <a:p>
            <a:pPr>
              <a:buNone/>
            </a:pPr>
            <a:r>
              <a:rPr lang="en-US" sz="1600" b="1" dirty="0"/>
              <a:t>    public int </a:t>
            </a:r>
            <a:r>
              <a:rPr lang="en-US" sz="1600" b="1" dirty="0" err="1"/>
              <a:t>getWeight</a:t>
            </a:r>
            <a:r>
              <a:rPr lang="en-US" sz="1600" b="1" dirty="0"/>
              <a:t>() {</a:t>
            </a:r>
          </a:p>
          <a:p>
            <a:pPr>
              <a:buNone/>
            </a:pPr>
            <a:r>
              <a:rPr lang="en-US" sz="1600" b="1" dirty="0"/>
              <a:t>        return weight;</a:t>
            </a:r>
          </a:p>
          <a:p>
            <a:pPr>
              <a:buNone/>
            </a:pPr>
            <a:r>
              <a:rPr lang="en-US" sz="1600" b="1" dirty="0"/>
              <a:t>    }</a:t>
            </a:r>
          </a:p>
          <a:p>
            <a:pPr>
              <a:buNone/>
            </a:pPr>
            <a:r>
              <a:rPr lang="en-US" sz="1600" b="1" dirty="0"/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4419600" y="761366"/>
            <a:ext cx="4572001" cy="46246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400" b="1" dirty="0"/>
              <a:t>public class </a:t>
            </a:r>
            <a:r>
              <a:rPr lang="en-US" sz="1400" b="1" dirty="0" err="1"/>
              <a:t>TesCat</a:t>
            </a:r>
            <a:r>
              <a:rPr lang="en-US" sz="1400" b="1" dirty="0"/>
              <a:t>{</a:t>
            </a:r>
          </a:p>
          <a:p>
            <a:pPr>
              <a:buNone/>
            </a:pPr>
            <a:r>
              <a:rPr lang="en-US" sz="1400" b="1" dirty="0"/>
              <a:t>    public </a:t>
            </a:r>
            <a:r>
              <a:rPr lang="en-US" sz="1400" b="1" dirty="0">
                <a:solidFill>
                  <a:srgbClr val="FF0000"/>
                </a:solidFill>
              </a:rPr>
              <a:t>static</a:t>
            </a:r>
            <a:r>
              <a:rPr lang="en-US" sz="1400" b="1" dirty="0"/>
              <a:t> void main(String[] </a:t>
            </a:r>
            <a:r>
              <a:rPr lang="en-US" sz="1400" b="1" dirty="0" err="1"/>
              <a:t>args</a:t>
            </a:r>
            <a:r>
              <a:rPr lang="en-US" sz="1400" b="1" dirty="0"/>
              <a:t>) {</a:t>
            </a:r>
          </a:p>
          <a:p>
            <a:pPr>
              <a:buNone/>
            </a:pPr>
            <a:r>
              <a:rPr lang="en-US" sz="1400" b="1" dirty="0"/>
              <a:t>         Cat </a:t>
            </a:r>
            <a:r>
              <a:rPr lang="en-US" sz="1400" b="1" dirty="0" err="1"/>
              <a:t>jahil</a:t>
            </a:r>
            <a:r>
              <a:rPr lang="en-US" sz="1400" b="1" dirty="0"/>
              <a:t> = new Cat();</a:t>
            </a:r>
          </a:p>
          <a:p>
            <a:pPr>
              <a:buNone/>
            </a:pPr>
            <a:r>
              <a:rPr lang="en-US" sz="1400" b="1" dirty="0"/>
              <a:t>         </a:t>
            </a:r>
            <a:r>
              <a:rPr lang="en-US" sz="1400" b="1" dirty="0" err="1">
                <a:solidFill>
                  <a:srgbClr val="FF0000"/>
                </a:solidFill>
              </a:rPr>
              <a:t>jahil</a:t>
            </a:r>
            <a:r>
              <a:rPr lang="en-US" sz="1400" b="1" dirty="0" err="1"/>
              <a:t>.setWeight</a:t>
            </a:r>
            <a:r>
              <a:rPr lang="en-US" sz="1400" b="1" dirty="0"/>
              <a:t>(2000);//</a:t>
            </a:r>
            <a:r>
              <a:rPr lang="en-US" sz="1400" b="1" dirty="0" err="1"/>
              <a:t>dalam</a:t>
            </a:r>
            <a:r>
              <a:rPr lang="en-US" sz="1400" b="1" dirty="0"/>
              <a:t> gram</a:t>
            </a:r>
          </a:p>
          <a:p>
            <a:pPr>
              <a:buNone/>
            </a:pPr>
            <a:r>
              <a:rPr lang="en-US" sz="1400" b="1" dirty="0"/>
              <a:t>         </a:t>
            </a:r>
            <a:r>
              <a:rPr lang="en-US" sz="1400" b="1" dirty="0" err="1"/>
              <a:t>System.out.println</a:t>
            </a:r>
            <a:r>
              <a:rPr lang="en-US" sz="1400" b="1" dirty="0"/>
              <a:t>(“Cat’s weight is = ” </a:t>
            </a:r>
          </a:p>
          <a:p>
            <a:pPr>
              <a:buNone/>
            </a:pPr>
            <a:r>
              <a:rPr lang="en-US" sz="1400" b="1" dirty="0"/>
              <a:t>         +</a:t>
            </a:r>
            <a:r>
              <a:rPr lang="en-US" sz="1400" b="1" dirty="0" err="1">
                <a:solidFill>
                  <a:srgbClr val="FF0000"/>
                </a:solidFill>
              </a:rPr>
              <a:t>jahil.</a:t>
            </a:r>
            <a:r>
              <a:rPr lang="en-US" sz="1400" b="1" dirty="0" err="1"/>
              <a:t>getWeight</a:t>
            </a:r>
            <a:r>
              <a:rPr lang="en-US" sz="1400" b="1" dirty="0"/>
              <a:t>());</a:t>
            </a:r>
          </a:p>
          <a:p>
            <a:pPr>
              <a:buNone/>
            </a:pPr>
            <a:r>
              <a:rPr lang="en-US" sz="1400" b="1" dirty="0"/>
              <a:t>    }</a:t>
            </a:r>
          </a:p>
          <a:p>
            <a:pPr>
              <a:buNone/>
            </a:pPr>
            <a:r>
              <a:rPr lang="en-US" sz="1400" b="1" dirty="0"/>
              <a:t>}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b="1" i="1" dirty="0"/>
              <a:t>Overloading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method()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yg </a:t>
            </a:r>
            <a:r>
              <a:rPr lang="en-US" b="1" dirty="0" err="1">
                <a:solidFill>
                  <a:srgbClr val="FF0000"/>
                </a:solidFill>
              </a:rPr>
              <a:t>sama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class yang </a:t>
            </a:r>
            <a:r>
              <a:rPr lang="en-US" b="1" dirty="0" err="1">
                <a:solidFill>
                  <a:srgbClr val="FF0000"/>
                </a:solidFill>
              </a:rPr>
              <a:t>sama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memodifikasi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 parameter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pembeda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Method-method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b="1" i="1" dirty="0"/>
              <a:t>overloading</a:t>
            </a:r>
            <a:r>
              <a:rPr lang="en-US" dirty="0"/>
              <a:t>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class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salah-satunya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superclass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lain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subclass.</a:t>
            </a:r>
          </a:p>
          <a:p>
            <a:endParaRPr lang="en-US" dirty="0"/>
          </a:p>
          <a:p>
            <a:r>
              <a:rPr lang="en-US" b="1" i="1" dirty="0"/>
              <a:t>Overloading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OOP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overloading </a:t>
            </a:r>
            <a:r>
              <a:rPr lang="en-US" dirty="0" err="1"/>
              <a:t>terhadap</a:t>
            </a:r>
            <a:r>
              <a:rPr lang="en-US" dirty="0"/>
              <a:t> operator </a:t>
            </a:r>
            <a:r>
              <a:rPr lang="en-US" dirty="0" err="1"/>
              <a:t>di</a:t>
            </a:r>
            <a:r>
              <a:rPr lang="en-US" dirty="0"/>
              <a:t> C++.</a:t>
            </a:r>
          </a:p>
          <a:p>
            <a:endParaRPr lang="en-US" dirty="0"/>
          </a:p>
          <a:p>
            <a:r>
              <a:rPr lang="en-US" dirty="0"/>
              <a:t>Interpreter/compiler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method() mana yang </a:t>
            </a:r>
            <a:r>
              <a:rPr lang="en-US" dirty="0" err="1"/>
              <a:t>dieksekusi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mengenali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parameter yg </a:t>
            </a:r>
            <a:r>
              <a:rPr lang="en-US" dirty="0" err="1"/>
              <a:t>dilewatkan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mthod</a:t>
            </a:r>
            <a:r>
              <a:rPr lang="en-US" dirty="0"/>
              <a:t>() dan </a:t>
            </a:r>
            <a:r>
              <a:rPr lang="en-US" dirty="0" err="1"/>
              <a:t>mengenali</a:t>
            </a:r>
            <a:r>
              <a:rPr lang="en-US" dirty="0"/>
              <a:t> return </a:t>
            </a:r>
            <a:r>
              <a:rPr lang="en-US" dirty="0" err="1"/>
              <a:t>valuenya</a:t>
            </a:r>
            <a:r>
              <a:rPr lang="en-US" dirty="0"/>
              <a:t>.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i="1" dirty="0">
                <a:effectLst/>
              </a:rPr>
              <a:t>Overloading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terhadap</a:t>
            </a:r>
            <a:r>
              <a:rPr lang="en-US" sz="3200" dirty="0">
                <a:effectLst/>
              </a:rPr>
              <a:t> method()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089B659E-4C03-4AE5-9E2A-95132E295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6430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ContohOverloading</a:t>
            </a:r>
            <a:r>
              <a:rPr lang="en-US" dirty="0"/>
              <a:t> {</a:t>
            </a:r>
          </a:p>
          <a:p>
            <a:r>
              <a:rPr lang="en-US" dirty="0"/>
              <a:t>    </a:t>
            </a:r>
            <a:r>
              <a:rPr lang="en-US" dirty="0" err="1"/>
              <a:t>pangkat</a:t>
            </a:r>
            <a:r>
              <a:rPr lang="en-US" dirty="0"/>
              <a:t>(int a, int b) {</a:t>
            </a:r>
          </a:p>
          <a:p>
            <a:endParaRPr lang="en-US" dirty="0"/>
          </a:p>
          <a:p>
            <a:r>
              <a:rPr lang="en-US" dirty="0"/>
              <a:t>    {</a:t>
            </a:r>
          </a:p>
          <a:p>
            <a:r>
              <a:rPr lang="en-US" dirty="0"/>
              <a:t>    </a:t>
            </a:r>
            <a:r>
              <a:rPr lang="en-US" dirty="0" err="1"/>
              <a:t>pangkat</a:t>
            </a:r>
            <a:r>
              <a:rPr lang="en-US" dirty="0"/>
              <a:t>(int a, float b) {</a:t>
            </a:r>
          </a:p>
          <a:p>
            <a:endParaRPr lang="en-US" dirty="0"/>
          </a:p>
          <a:p>
            <a:r>
              <a:rPr lang="en-US" dirty="0"/>
              <a:t>    {</a:t>
            </a:r>
          </a:p>
          <a:p>
            <a:r>
              <a:rPr lang="en-US" dirty="0"/>
              <a:t>    </a:t>
            </a:r>
            <a:r>
              <a:rPr lang="en-US" dirty="0" err="1"/>
              <a:t>pangkat</a:t>
            </a:r>
            <a:r>
              <a:rPr lang="en-US" dirty="0"/>
              <a:t>(float a, int b) {</a:t>
            </a:r>
          </a:p>
          <a:p>
            <a:endParaRPr lang="en-US" dirty="0"/>
          </a:p>
          <a:p>
            <a:r>
              <a:rPr lang="en-US" dirty="0"/>
              <a:t>    { </a:t>
            </a:r>
          </a:p>
          <a:p>
            <a:r>
              <a:rPr lang="en-US" dirty="0"/>
              <a:t>    </a:t>
            </a:r>
            <a:r>
              <a:rPr lang="en-US" dirty="0" err="1"/>
              <a:t>pangkat</a:t>
            </a:r>
            <a:r>
              <a:rPr lang="en-US" dirty="0"/>
              <a:t>(float a, float b) {</a:t>
            </a:r>
          </a:p>
          <a:p>
            <a:endParaRPr lang="en-US" dirty="0"/>
          </a:p>
          <a:p>
            <a:r>
              <a:rPr lang="en-US" dirty="0"/>
              <a:t>    {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08B9212-1E85-43D1-8F4D-C142FCB3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FDC6620-6FE3-42BA-BAF7-EEBACD39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8CF01C95-CA7C-4DEE-83D0-07AE91AB6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Contoh</a:t>
            </a:r>
            <a:r>
              <a:rPr lang="en-US" dirty="0"/>
              <a:t> Overloading</a:t>
            </a:r>
          </a:p>
        </p:txBody>
      </p:sp>
    </p:spTree>
    <p:extLst>
      <p:ext uri="{BB962C8B-B14F-4D97-AF65-F5344CB8AC3E}">
        <p14:creationId xmlns:p14="http://schemas.microsoft.com/office/powerpoint/2010/main" xmlns="" val="1833615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4102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Keyword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method()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Baris-baris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program </a:t>
            </a:r>
            <a:r>
              <a:rPr lang="en-US" b="1" dirty="0" err="1"/>
              <a:t>setelah</a:t>
            </a:r>
            <a:r>
              <a:rPr lang="en-US" dirty="0"/>
              <a:t> keyword </a:t>
            </a:r>
            <a:r>
              <a:rPr lang="en-US" dirty="0" err="1"/>
              <a:t>ini</a:t>
            </a:r>
            <a:r>
              <a:rPr lang="en-US" dirty="0"/>
              <a:t> yang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mehod</a:t>
            </a:r>
            <a:r>
              <a:rPr lang="en-US" dirty="0"/>
              <a:t>()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akan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diabaikan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</a:t>
            </a:r>
            <a:r>
              <a:rPr lang="en-US" dirty="0" err="1"/>
              <a:t>dilanjutkan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penutup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method()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cuplikan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program:</a:t>
            </a:r>
          </a:p>
          <a:p>
            <a:r>
              <a:rPr lang="en-US" b="1" i="1" dirty="0" err="1"/>
              <a:t>int</a:t>
            </a:r>
            <a:r>
              <a:rPr lang="en-US" b="1" i="1" dirty="0"/>
              <a:t> abs(</a:t>
            </a:r>
            <a:r>
              <a:rPr lang="en-US" b="1" i="1" dirty="0" err="1"/>
              <a:t>int</a:t>
            </a:r>
            <a:r>
              <a:rPr lang="en-US" b="1" i="1" dirty="0"/>
              <a:t> x) {</a:t>
            </a:r>
          </a:p>
          <a:p>
            <a:r>
              <a:rPr lang="en-US" b="1" i="1" dirty="0"/>
              <a:t>    if (x &gt;= 0) {</a:t>
            </a:r>
          </a:p>
          <a:p>
            <a:r>
              <a:rPr lang="en-US" b="1" i="1" dirty="0"/>
              <a:t>         </a:t>
            </a:r>
          </a:p>
          <a:p>
            <a:r>
              <a:rPr lang="en-US" b="1" i="1" dirty="0"/>
              <a:t>        return x;</a:t>
            </a:r>
          </a:p>
          <a:p>
            <a:r>
              <a:rPr lang="en-US" b="1" i="1" dirty="0"/>
              <a:t>    else {</a:t>
            </a:r>
          </a:p>
          <a:p>
            <a:r>
              <a:rPr lang="en-US" b="1" i="1" dirty="0"/>
              <a:t>        return (-x);</a:t>
            </a:r>
          </a:p>
          <a:p>
            <a:r>
              <a:rPr lang="en-US" b="1" i="1" dirty="0"/>
              <a:t>        x *= 10;</a:t>
            </a:r>
          </a:p>
          <a:p>
            <a:r>
              <a:rPr lang="en-US" b="1" i="1" dirty="0"/>
              <a:t>    }</a:t>
            </a:r>
          </a:p>
          <a:p>
            <a:r>
              <a:rPr lang="en-US" b="1" i="1" dirty="0"/>
              <a:t>} 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………… </a:t>
            </a:r>
            <a:r>
              <a:rPr lang="en-US" b="1" i="1" dirty="0"/>
              <a:t>  </a:t>
            </a:r>
          </a:p>
          <a:p>
            <a:r>
              <a:rPr lang="en-US" dirty="0" err="1"/>
              <a:t>Catatan</a:t>
            </a:r>
            <a:r>
              <a:rPr lang="en-US" dirty="0"/>
              <a:t>: </a:t>
            </a:r>
            <a:r>
              <a:rPr lang="en-US" dirty="0" err="1"/>
              <a:t>coba</a:t>
            </a:r>
            <a:r>
              <a:rPr lang="en-US" dirty="0"/>
              <a:t> keyword </a:t>
            </a:r>
            <a:r>
              <a:rPr lang="en-US" b="1" i="1" dirty="0"/>
              <a:t>break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b="1" i="1" dirty="0"/>
              <a:t>continue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Keyword return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494049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prinsipnya</a:t>
            </a:r>
            <a:r>
              <a:rPr lang="en-US" dirty="0"/>
              <a:t>:</a:t>
            </a:r>
          </a:p>
          <a:p>
            <a:pPr marL="624078" indent="-514350">
              <a:buNone/>
            </a:pPr>
            <a:r>
              <a:rPr lang="en-US" dirty="0"/>
              <a:t>Constructor() </a:t>
            </a:r>
            <a:r>
              <a:rPr lang="en-US" dirty="0" err="1"/>
              <a:t>adalah</a:t>
            </a:r>
            <a:r>
              <a:rPr lang="en-US" dirty="0"/>
              <a:t> method() yang </a:t>
            </a:r>
            <a:r>
              <a:rPr lang="en-US" dirty="0" err="1"/>
              <a:t>tergolong</a:t>
            </a:r>
            <a:r>
              <a:rPr lang="en-US" dirty="0"/>
              <a:t> setter(() yang </a:t>
            </a:r>
            <a:r>
              <a:rPr lang="en-US" dirty="0" err="1"/>
              <a:t>dieksekusi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instansiasi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dan </a:t>
            </a:r>
            <a:r>
              <a:rPr lang="en-US" dirty="0" err="1"/>
              <a:t>inisialisasi</a:t>
            </a:r>
            <a:r>
              <a:rPr lang="en-US" dirty="0"/>
              <a:t> yang </a:t>
            </a:r>
            <a:r>
              <a:rPr lang="en-US" dirty="0" err="1"/>
              <a:t>diperlukan</a:t>
            </a:r>
            <a:r>
              <a:rPr lang="en-US" dirty="0"/>
              <a:t>.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implisit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instant </a:t>
            </a:r>
            <a:r>
              <a:rPr lang="en-US" dirty="0" err="1"/>
              <a:t>dari</a:t>
            </a:r>
            <a:r>
              <a:rPr lang="en-US" dirty="0"/>
              <a:t> class </a:t>
            </a:r>
            <a:r>
              <a:rPr lang="en-US" dirty="0" err="1"/>
              <a:t>nya</a:t>
            </a:r>
            <a:r>
              <a:rPr lang="en-US" dirty="0"/>
              <a:t>.</a:t>
            </a:r>
          </a:p>
          <a:p>
            <a:pPr marL="624078" indent="-514350">
              <a:buNone/>
            </a:pPr>
            <a:r>
              <a:rPr lang="en-US" dirty="0" err="1"/>
              <a:t>Nama</a:t>
            </a:r>
            <a:r>
              <a:rPr lang="en-US" dirty="0"/>
              <a:t> constructor()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sama</a:t>
            </a:r>
            <a:r>
              <a:rPr lang="en-US" dirty="0"/>
              <a:t> </a:t>
            </a:r>
            <a:r>
              <a:rPr lang="en-US" dirty="0" err="1"/>
              <a:t>dgn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class-</a:t>
            </a:r>
            <a:r>
              <a:rPr lang="en-US" dirty="0" err="1"/>
              <a:t>nya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modifier </a:t>
            </a:r>
            <a:r>
              <a:rPr lang="en-US" dirty="0" err="1"/>
              <a:t>akses</a:t>
            </a:r>
            <a:r>
              <a:rPr lang="en-US" dirty="0"/>
              <a:t> (public, protected, default, private) </a:t>
            </a:r>
            <a:r>
              <a:rPr lang="en-US" dirty="0" err="1"/>
              <a:t>sebagaimana</a:t>
            </a:r>
            <a:r>
              <a:rPr lang="en-US" dirty="0"/>
              <a:t> method() </a:t>
            </a:r>
            <a:r>
              <a:rPr lang="en-US" dirty="0" err="1"/>
              <a:t>biasa</a:t>
            </a:r>
            <a:r>
              <a:rPr lang="en-US" dirty="0"/>
              <a:t>.</a:t>
            </a:r>
          </a:p>
          <a:p>
            <a:pPr marL="624078" indent="-514350">
              <a:buNone/>
            </a:pPr>
            <a:endParaRPr lang="en-US" dirty="0"/>
          </a:p>
          <a:p>
            <a:pPr marL="624078" indent="-514350">
              <a:buNone/>
            </a:pPr>
            <a:r>
              <a:rPr lang="en-US" b="1" i="1" dirty="0"/>
              <a:t>[modifier1] </a:t>
            </a:r>
            <a:r>
              <a:rPr lang="en-US" b="1" i="1" dirty="0" err="1"/>
              <a:t>NamaConstructor</a:t>
            </a:r>
            <a:r>
              <a:rPr lang="en-US" b="1" i="1" dirty="0"/>
              <a:t>([type </a:t>
            </a:r>
            <a:r>
              <a:rPr lang="en-US" b="1" i="1" dirty="0" err="1"/>
              <a:t>namaParameter</a:t>
            </a:r>
            <a:r>
              <a:rPr lang="en-US" b="1" i="1" dirty="0"/>
              <a:t>]) {</a:t>
            </a:r>
          </a:p>
          <a:p>
            <a:pPr marL="624078" indent="-514350">
              <a:buNone/>
            </a:pPr>
            <a:r>
              <a:rPr lang="en-US" b="1" i="1" dirty="0"/>
              <a:t>     </a:t>
            </a:r>
            <a:r>
              <a:rPr lang="en-US" b="1" i="1" dirty="0" err="1"/>
              <a:t>constructorBody</a:t>
            </a:r>
            <a:r>
              <a:rPr lang="en-US" b="1" i="1" dirty="0"/>
              <a:t>;</a:t>
            </a:r>
          </a:p>
          <a:p>
            <a:pPr marL="624078" indent="-514350">
              <a:buNone/>
            </a:pPr>
            <a:r>
              <a:rPr lang="en-US" b="1" i="1" dirty="0"/>
              <a:t>}</a:t>
            </a:r>
            <a:r>
              <a:rPr lang="en-US" dirty="0"/>
              <a:t> 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constructor()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88091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instansiasi</a:t>
            </a:r>
            <a:r>
              <a:rPr lang="en-US" dirty="0"/>
              <a:t> (</a:t>
            </a:r>
            <a:r>
              <a:rPr lang="en-US" dirty="0" err="1"/>
              <a:t>perwujudan</a:t>
            </a:r>
            <a:r>
              <a:rPr lang="en-US" dirty="0"/>
              <a:t>) </a:t>
            </a:r>
            <a:r>
              <a:rPr lang="en-US" dirty="0" err="1"/>
              <a:t>suatu</a:t>
            </a:r>
            <a:r>
              <a:rPr lang="en-US" dirty="0"/>
              <a:t> class.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dideklarasikan</a:t>
            </a:r>
            <a:r>
              <a:rPr lang="en-US" dirty="0"/>
              <a:t>,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/</a:t>
            </a:r>
            <a:r>
              <a:rPr lang="en-US" b="1" dirty="0" err="1">
                <a:solidFill>
                  <a:srgbClr val="FF0000"/>
                </a:solidFill>
              </a:rPr>
              <a:t>diujudkan</a:t>
            </a:r>
            <a:r>
              <a:rPr lang="en-US" dirty="0"/>
              <a:t>,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digunakan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dihancurkan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:</a:t>
            </a:r>
          </a:p>
          <a:p>
            <a:r>
              <a:rPr lang="en-US" b="1" dirty="0" err="1"/>
              <a:t>Mahasiswa</a:t>
            </a:r>
            <a:r>
              <a:rPr lang="en-US" b="1" dirty="0"/>
              <a:t> m;</a:t>
            </a:r>
            <a:r>
              <a:rPr lang="en-US" dirty="0"/>
              <a:t>                         </a:t>
            </a:r>
            <a:r>
              <a:rPr lang="en-US" dirty="0" err="1"/>
              <a:t>Mahasiswa</a:t>
            </a:r>
            <a:endParaRPr lang="en-US" dirty="0"/>
          </a:p>
          <a:p>
            <a:r>
              <a:rPr lang="en-US" dirty="0"/>
              <a:t>                                                      </a:t>
            </a:r>
          </a:p>
          <a:p>
            <a:r>
              <a:rPr lang="en-US" dirty="0" err="1"/>
              <a:t>Ditentukan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m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,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, m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pointer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menunjuk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memori</a:t>
            </a:r>
            <a:r>
              <a:rPr lang="en-US" dirty="0"/>
              <a:t>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dirty="0" err="1">
                <a:effectLst/>
              </a:rPr>
              <a:t>Deklarasi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Objek</a:t>
            </a:r>
            <a:endParaRPr lang="en-US" dirty="0"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26935" y="4114800"/>
            <a:ext cx="402465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71872"/>
          </a:xfrm>
        </p:spPr>
        <p:txBody>
          <a:bodyPr/>
          <a:lstStyle/>
          <a:p>
            <a:pPr>
              <a:buNone/>
            </a:pPr>
            <a:r>
              <a:rPr lang="en-US" dirty="0"/>
              <a:t>    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                         </a:t>
            </a:r>
          </a:p>
          <a:p>
            <a:pPr>
              <a:buNone/>
            </a:pPr>
            <a:r>
              <a:rPr lang="en-US" b="1" dirty="0"/>
              <a:t>m = new </a:t>
            </a:r>
            <a:r>
              <a:rPr lang="en-US" b="1" dirty="0" err="1"/>
              <a:t>Mahasiswa</a:t>
            </a:r>
            <a:r>
              <a:rPr lang="en-US" b="1" dirty="0"/>
              <a:t>();</a:t>
            </a:r>
            <a:r>
              <a:rPr lang="en-US" dirty="0"/>
              <a:t>                    </a:t>
            </a:r>
          </a:p>
          <a:p>
            <a:pPr>
              <a:buNone/>
            </a:pPr>
            <a:r>
              <a:rPr lang="en-US" dirty="0"/>
              <a:t>          </a:t>
            </a:r>
          </a:p>
          <a:p>
            <a:pPr>
              <a:buNone/>
            </a:pPr>
            <a:r>
              <a:rPr lang="en-US" dirty="0"/>
              <a:t>        m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dirty="0" err="1">
                <a:effectLst/>
              </a:rPr>
              <a:t>Instansiasi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Objek</a:t>
            </a:r>
            <a:endParaRPr lang="en-US" dirty="0"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26335" y="3429000"/>
            <a:ext cx="478665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048000" y="3505200"/>
            <a:ext cx="2438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Mahasiswa</a:t>
            </a:r>
            <a:endParaRPr lang="en-US" dirty="0"/>
          </a:p>
          <a:p>
            <a:endParaRPr lang="en-US" dirty="0"/>
          </a:p>
          <a:p>
            <a:r>
              <a:rPr lang="en-US" dirty="0"/>
              <a:t>-attrbt1 : int</a:t>
            </a:r>
          </a:p>
          <a:p>
            <a:r>
              <a:rPr lang="en-US" dirty="0"/>
              <a:t>-attrbt2 : String</a:t>
            </a:r>
          </a:p>
          <a:p>
            <a:endParaRPr lang="en-US" dirty="0"/>
          </a:p>
          <a:p>
            <a:r>
              <a:rPr lang="en-US" dirty="0"/>
              <a:t>+method1: </a:t>
            </a:r>
            <a:r>
              <a:rPr lang="en-US" dirty="0" err="1"/>
              <a:t>int</a:t>
            </a:r>
            <a:endParaRPr lang="en-US" dirty="0"/>
          </a:p>
          <a:p>
            <a:r>
              <a:rPr lang="en-US" dirty="0"/>
              <a:t>+method2: void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048000" y="4113212"/>
            <a:ext cx="2438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048000" y="5180012"/>
            <a:ext cx="2362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048000" y="3429000"/>
            <a:ext cx="2438400" cy="2819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676400" y="35814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334000"/>
          </a:xfrm>
        </p:spPr>
        <p:txBody>
          <a:bodyPr>
            <a:normAutofit fontScale="70000" lnSpcReduction="20000"/>
          </a:bodyPr>
          <a:lstStyle/>
          <a:p>
            <a:r>
              <a:rPr lang="en-US" sz="4000" b="1" dirty="0" err="1">
                <a:solidFill>
                  <a:srgbClr val="0070C0"/>
                </a:solidFill>
              </a:rPr>
              <a:t>tipedata</a:t>
            </a:r>
            <a:r>
              <a:rPr lang="en-US" sz="4000" b="1" dirty="0">
                <a:solidFill>
                  <a:srgbClr val="0070C0"/>
                </a:solidFill>
              </a:rPr>
              <a:t>  </a:t>
            </a:r>
            <a:r>
              <a:rPr lang="en-US" sz="4000" b="1" dirty="0" err="1">
                <a:solidFill>
                  <a:srgbClr val="0070C0"/>
                </a:solidFill>
              </a:rPr>
              <a:t>variabel</a:t>
            </a:r>
            <a:r>
              <a:rPr lang="en-US" sz="4000" b="1" dirty="0">
                <a:solidFill>
                  <a:srgbClr val="0070C0"/>
                </a:solidFill>
              </a:rPr>
              <a:t>;</a:t>
            </a:r>
          </a:p>
          <a:p>
            <a:r>
              <a:rPr lang="en-US" sz="2600" dirty="0"/>
              <a:t>Cara1:</a:t>
            </a:r>
          </a:p>
          <a:p>
            <a:r>
              <a:rPr lang="en-US" sz="2600" dirty="0" err="1">
                <a:solidFill>
                  <a:srgbClr val="0070C0"/>
                </a:solidFill>
              </a:rPr>
              <a:t>NamaClass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 err="1">
                <a:solidFill>
                  <a:srgbClr val="0070C0"/>
                </a:solidFill>
              </a:rPr>
              <a:t>namaObjek</a:t>
            </a:r>
            <a:r>
              <a:rPr lang="en-US" sz="2600" dirty="0">
                <a:solidFill>
                  <a:srgbClr val="0070C0"/>
                </a:solidFill>
              </a:rPr>
              <a:t>;</a:t>
            </a:r>
            <a:r>
              <a:rPr lang="en-US" sz="2600" b="1" dirty="0"/>
              <a:t>  </a:t>
            </a:r>
            <a:r>
              <a:rPr lang="en-US" sz="2600" dirty="0">
                <a:solidFill>
                  <a:srgbClr val="FF0000"/>
                </a:solidFill>
              </a:rPr>
              <a:t>//</a:t>
            </a:r>
            <a:r>
              <a:rPr lang="en-US" sz="2600" dirty="0" err="1">
                <a:solidFill>
                  <a:srgbClr val="FF0000"/>
                </a:solidFill>
              </a:rPr>
              <a:t>deklarasi</a:t>
            </a:r>
            <a:endParaRPr lang="en-US" sz="2600" dirty="0">
              <a:solidFill>
                <a:srgbClr val="FF0000"/>
              </a:solidFill>
            </a:endParaRPr>
          </a:p>
          <a:p>
            <a:r>
              <a:rPr lang="en-US" sz="2600" b="1" dirty="0" err="1">
                <a:solidFill>
                  <a:srgbClr val="FF0000"/>
                </a:solidFill>
              </a:rPr>
              <a:t>namaObjek</a:t>
            </a:r>
            <a:r>
              <a:rPr lang="en-US" sz="2600" b="1" dirty="0">
                <a:solidFill>
                  <a:srgbClr val="FF0000"/>
                </a:solidFill>
              </a:rPr>
              <a:t> = new </a:t>
            </a:r>
            <a:r>
              <a:rPr lang="en-US" sz="2600" b="1" dirty="0" err="1">
                <a:solidFill>
                  <a:srgbClr val="FF0000"/>
                </a:solidFill>
              </a:rPr>
              <a:t>NamaConstructor</a:t>
            </a:r>
            <a:r>
              <a:rPr lang="en-US" sz="2600" b="1" dirty="0">
                <a:solidFill>
                  <a:srgbClr val="FF0000"/>
                </a:solidFill>
              </a:rPr>
              <a:t>([parameter]);</a:t>
            </a:r>
            <a:r>
              <a:rPr lang="en-US" sz="2600" b="1" dirty="0"/>
              <a:t>  </a:t>
            </a:r>
            <a:r>
              <a:rPr lang="en-US" sz="2600" b="1" dirty="0">
                <a:solidFill>
                  <a:srgbClr val="0070C0"/>
                </a:solidFill>
              </a:rPr>
              <a:t>//</a:t>
            </a:r>
            <a:r>
              <a:rPr lang="en-US" sz="2600" b="1" dirty="0" err="1">
                <a:solidFill>
                  <a:srgbClr val="0070C0"/>
                </a:solidFill>
              </a:rPr>
              <a:t>instansiasi</a:t>
            </a:r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sz="2600" dirty="0"/>
              <a:t>Statement </a:t>
            </a:r>
            <a:r>
              <a:rPr lang="en-US" sz="2600" dirty="0" err="1"/>
              <a:t>deklarasi</a:t>
            </a:r>
            <a:r>
              <a:rPr lang="en-US" sz="2600" dirty="0"/>
              <a:t> dan </a:t>
            </a:r>
            <a:r>
              <a:rPr lang="en-US" sz="2600" dirty="0" err="1"/>
              <a:t>instansiasi</a:t>
            </a:r>
            <a:r>
              <a:rPr lang="en-US" sz="2600" dirty="0"/>
              <a:t> </a:t>
            </a:r>
            <a:r>
              <a:rPr lang="en-US" sz="2600" dirty="0" err="1"/>
              <a:t>suatu</a:t>
            </a:r>
            <a:r>
              <a:rPr lang="en-US" sz="2600" dirty="0"/>
              <a:t> </a:t>
            </a:r>
            <a:r>
              <a:rPr lang="en-US" sz="2600" dirty="0" err="1"/>
              <a:t>objek</a:t>
            </a:r>
            <a:r>
              <a:rPr lang="en-US" sz="2600" dirty="0"/>
              <a:t> </a:t>
            </a:r>
            <a:r>
              <a:rPr lang="en-US" sz="2600" dirty="0" err="1"/>
              <a:t>boleh</a:t>
            </a:r>
            <a:r>
              <a:rPr lang="en-US" sz="2600" dirty="0"/>
              <a:t> </a:t>
            </a:r>
            <a:r>
              <a:rPr lang="en-US" sz="2600" dirty="0" err="1"/>
              <a:t>dipisah</a:t>
            </a:r>
            <a:r>
              <a:rPr lang="en-US" sz="2600" dirty="0"/>
              <a:t>, </a:t>
            </a:r>
            <a:r>
              <a:rPr lang="en-US" sz="2600" dirty="0" err="1"/>
              <a:t>bahkan</a:t>
            </a:r>
            <a:r>
              <a:rPr lang="en-US" sz="2600" dirty="0"/>
              <a:t> </a:t>
            </a:r>
            <a:r>
              <a:rPr lang="en-US" sz="2600" dirty="0" err="1"/>
              <a:t>boleh</a:t>
            </a:r>
            <a:r>
              <a:rPr lang="en-US" sz="2600" dirty="0"/>
              <a:t> </a:t>
            </a:r>
            <a:r>
              <a:rPr lang="en-US" sz="2600" dirty="0" err="1"/>
              <a:t>ditempatkan</a:t>
            </a:r>
            <a:r>
              <a:rPr lang="en-US" sz="2600" dirty="0"/>
              <a:t> di class yang </a:t>
            </a:r>
            <a:r>
              <a:rPr lang="en-US" sz="2600" dirty="0" err="1"/>
              <a:t>berbeda</a:t>
            </a:r>
            <a:r>
              <a:rPr lang="en-US" sz="2600" dirty="0"/>
              <a:t>. </a:t>
            </a:r>
          </a:p>
          <a:p>
            <a:endParaRPr lang="en-US" sz="2400" dirty="0"/>
          </a:p>
          <a:p>
            <a:r>
              <a:rPr lang="en-US" sz="2600" dirty="0"/>
              <a:t>Cara2:</a:t>
            </a:r>
          </a:p>
          <a:p>
            <a:r>
              <a:rPr lang="en-US" sz="2600" b="1" dirty="0" err="1">
                <a:solidFill>
                  <a:srgbClr val="0070C0"/>
                </a:solidFill>
              </a:rPr>
              <a:t>NamaClass</a:t>
            </a:r>
            <a:r>
              <a:rPr lang="en-US" sz="2600" b="1" dirty="0">
                <a:solidFill>
                  <a:srgbClr val="0070C0"/>
                </a:solidFill>
              </a:rPr>
              <a:t> </a:t>
            </a:r>
            <a:r>
              <a:rPr lang="en-US" sz="2600" b="1" dirty="0" err="1">
                <a:solidFill>
                  <a:srgbClr val="0070C0"/>
                </a:solidFill>
              </a:rPr>
              <a:t>namaObjek</a:t>
            </a:r>
            <a:r>
              <a:rPr lang="en-US" sz="2600" b="1" dirty="0">
                <a:solidFill>
                  <a:srgbClr val="0070C0"/>
                </a:solidFill>
              </a:rPr>
              <a:t> = new </a:t>
            </a:r>
            <a:r>
              <a:rPr lang="en-US" sz="2600" b="1" dirty="0" err="1">
                <a:solidFill>
                  <a:srgbClr val="0070C0"/>
                </a:solidFill>
              </a:rPr>
              <a:t>NamaConstructor</a:t>
            </a:r>
            <a:r>
              <a:rPr lang="en-US" sz="2600" b="1" dirty="0">
                <a:solidFill>
                  <a:srgbClr val="0070C0"/>
                </a:solidFill>
              </a:rPr>
              <a:t>([parameter]);</a:t>
            </a:r>
          </a:p>
          <a:p>
            <a:endParaRPr lang="en-US" sz="2600" b="1" dirty="0"/>
          </a:p>
          <a:p>
            <a:r>
              <a:rPr lang="en-US" sz="2900" dirty="0"/>
              <a:t>Cara 3:</a:t>
            </a:r>
          </a:p>
          <a:p>
            <a:r>
              <a:rPr lang="en-US" sz="2900" b="1" dirty="0"/>
              <a:t>new </a:t>
            </a:r>
            <a:r>
              <a:rPr lang="en-US" sz="2900" b="1" dirty="0" err="1"/>
              <a:t>NamaConstructor</a:t>
            </a:r>
            <a:r>
              <a:rPr lang="en-US" sz="2900" b="1" dirty="0"/>
              <a:t>([parameter]);</a:t>
            </a:r>
            <a:endParaRPr lang="en-US" sz="2900" dirty="0"/>
          </a:p>
          <a:p>
            <a:r>
              <a:rPr lang="en-US" sz="2900" dirty="0"/>
              <a:t>Cara </a:t>
            </a:r>
            <a:r>
              <a:rPr lang="en-US" sz="2900" dirty="0" err="1"/>
              <a:t>ini</a:t>
            </a:r>
            <a:r>
              <a:rPr lang="en-US" sz="2900" dirty="0"/>
              <a:t> </a:t>
            </a:r>
            <a:r>
              <a:rPr lang="en-US" sz="2900" dirty="0" err="1"/>
              <a:t>objek</a:t>
            </a:r>
            <a:r>
              <a:rPr lang="en-US" sz="2900" dirty="0"/>
              <a:t> </a:t>
            </a:r>
            <a:r>
              <a:rPr lang="en-US" sz="2900" dirty="0" err="1"/>
              <a:t>diinstansiasi</a:t>
            </a:r>
            <a:r>
              <a:rPr lang="en-US" sz="2900" dirty="0"/>
              <a:t> </a:t>
            </a:r>
            <a:r>
              <a:rPr lang="en-US" sz="2900" dirty="0" err="1"/>
              <a:t>tanpa</a:t>
            </a:r>
            <a:r>
              <a:rPr lang="en-US" sz="2900" dirty="0"/>
              <a:t> </a:t>
            </a:r>
            <a:r>
              <a:rPr lang="en-US" sz="2900" dirty="0" err="1"/>
              <a:t>nama</a:t>
            </a:r>
            <a:r>
              <a:rPr lang="en-US" sz="2900" dirty="0"/>
              <a:t>, </a:t>
            </a:r>
            <a:r>
              <a:rPr lang="en-US" sz="2900" dirty="0" err="1"/>
              <a:t>tujuannya</a:t>
            </a:r>
            <a:r>
              <a:rPr lang="en-US" sz="2900" dirty="0"/>
              <a:t> </a:t>
            </a:r>
            <a:r>
              <a:rPr lang="en-US" sz="2900" dirty="0" err="1"/>
              <a:t>hanya</a:t>
            </a:r>
            <a:r>
              <a:rPr lang="en-US" sz="2900" dirty="0"/>
              <a:t> </a:t>
            </a:r>
            <a:r>
              <a:rPr lang="en-US" sz="2900" dirty="0" err="1"/>
              <a:t>untuk</a:t>
            </a:r>
            <a:r>
              <a:rPr lang="en-US" sz="2900" dirty="0"/>
              <a:t> </a:t>
            </a:r>
            <a:r>
              <a:rPr lang="en-US" sz="2900" dirty="0" err="1"/>
              <a:t>memanggil</a:t>
            </a:r>
            <a:r>
              <a:rPr lang="en-US" sz="2900" dirty="0"/>
              <a:t> constructor()/method().</a:t>
            </a:r>
          </a:p>
          <a:p>
            <a:endParaRPr lang="en-US" sz="2400" dirty="0"/>
          </a:p>
          <a:p>
            <a:r>
              <a:rPr lang="en-US" sz="2900" dirty="0"/>
              <a:t>Cara4:</a:t>
            </a:r>
          </a:p>
          <a:p>
            <a:r>
              <a:rPr lang="en-US" sz="2900" b="1" dirty="0"/>
              <a:t>new </a:t>
            </a:r>
            <a:r>
              <a:rPr lang="en-US" sz="2900" b="1" dirty="0" err="1"/>
              <a:t>NamaConstructor</a:t>
            </a:r>
            <a:r>
              <a:rPr lang="en-US" sz="2900" b="1" dirty="0"/>
              <a:t>([parameter]).</a:t>
            </a:r>
            <a:r>
              <a:rPr lang="en-US" sz="2900" b="1" dirty="0" err="1"/>
              <a:t>namaMethod</a:t>
            </a:r>
            <a:r>
              <a:rPr lang="en-US" sz="2900" b="1" dirty="0"/>
              <a:t>();</a:t>
            </a:r>
          </a:p>
          <a:p>
            <a:r>
              <a:rPr lang="en-US" sz="2600" dirty="0"/>
              <a:t>Cara </a:t>
            </a:r>
            <a:r>
              <a:rPr lang="en-US" sz="2600" dirty="0" err="1"/>
              <a:t>ini</a:t>
            </a:r>
            <a:r>
              <a:rPr lang="en-US" sz="2600" dirty="0"/>
              <a:t> </a:t>
            </a:r>
            <a:r>
              <a:rPr lang="en-US" sz="2600" dirty="0" err="1"/>
              <a:t>objek</a:t>
            </a:r>
            <a:r>
              <a:rPr lang="en-US" sz="2600" dirty="0"/>
              <a:t> </a:t>
            </a:r>
            <a:r>
              <a:rPr lang="en-US" sz="2600" dirty="0" err="1"/>
              <a:t>diinstansiasi</a:t>
            </a:r>
            <a:r>
              <a:rPr lang="en-US" sz="2600" dirty="0"/>
              <a:t> </a:t>
            </a:r>
            <a:r>
              <a:rPr lang="en-US" sz="2600" dirty="0" err="1"/>
              <a:t>tanpa</a:t>
            </a:r>
            <a:r>
              <a:rPr lang="en-US" sz="2600" dirty="0"/>
              <a:t> nama dan </a:t>
            </a:r>
            <a:r>
              <a:rPr lang="en-US" sz="2600" dirty="0" err="1"/>
              <a:t>langsung</a:t>
            </a:r>
            <a:r>
              <a:rPr lang="en-US" sz="2600" dirty="0"/>
              <a:t> </a:t>
            </a:r>
            <a:r>
              <a:rPr lang="en-US" sz="2600" dirty="0" err="1"/>
              <a:t>digunakan</a:t>
            </a:r>
            <a:r>
              <a:rPr lang="en-US" sz="2600" dirty="0"/>
              <a:t> </a:t>
            </a:r>
            <a:r>
              <a:rPr lang="en-US" sz="2600" dirty="0" err="1"/>
              <a:t>untuk</a:t>
            </a:r>
            <a:r>
              <a:rPr lang="en-US" sz="2600" dirty="0"/>
              <a:t> </a:t>
            </a:r>
            <a:r>
              <a:rPr lang="en-US" sz="2600" dirty="0" err="1"/>
              <a:t>memanggil</a:t>
            </a:r>
            <a:r>
              <a:rPr lang="en-US" sz="2600" dirty="0"/>
              <a:t> </a:t>
            </a:r>
            <a:r>
              <a:rPr lang="en-US" sz="2600" dirty="0" err="1"/>
              <a:t>suatu</a:t>
            </a:r>
            <a:r>
              <a:rPr lang="en-US" sz="2600" dirty="0"/>
              <a:t> method() yg non static.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 err="1"/>
              <a:t>Empat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coding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 err="1"/>
              <a:t>Deklarasi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Instansiasi</a:t>
            </a:r>
            <a:r>
              <a:rPr lang="en-US" sz="2800" dirty="0"/>
              <a:t> </a:t>
            </a:r>
            <a:r>
              <a:rPr lang="en-US" sz="2800" dirty="0" err="1"/>
              <a:t>Objek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memanggil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constructor() dan </a:t>
            </a:r>
            <a:r>
              <a:rPr lang="en-US" dirty="0" err="1"/>
              <a:t>menginisialisasinya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memanggil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b="1" dirty="0"/>
              <a:t>method([</a:t>
            </a:r>
            <a:r>
              <a:rPr lang="en-US" b="1" dirty="0" err="1"/>
              <a:t>daftarNilaiParameter</a:t>
            </a:r>
            <a:r>
              <a:rPr lang="en-US" b="1" dirty="0"/>
              <a:t>])</a:t>
            </a:r>
            <a:r>
              <a:rPr lang="en-US" dirty="0"/>
              <a:t> yang </a:t>
            </a:r>
            <a:r>
              <a:rPr lang="en-US" dirty="0">
                <a:solidFill>
                  <a:srgbClr val="FF0000"/>
                </a:solidFill>
              </a:rPr>
              <a:t>non static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/>
              <a:t>Teknik yang </a:t>
            </a:r>
            <a:r>
              <a:rPr lang="en-US" dirty="0" err="1"/>
              <a:t>digunakan</a:t>
            </a:r>
            <a:r>
              <a:rPr lang="en-US" dirty="0"/>
              <a:t> java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menangani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i="1" dirty="0"/>
              <a:t>garbage collection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Objek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terdeteksi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JVM,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dihancurkan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i="1" dirty="0"/>
              <a:t>garbage collector</a:t>
            </a:r>
            <a:r>
              <a:rPr lang="en-US" dirty="0"/>
              <a:t> (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programmer).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0" dirty="0" err="1">
                <a:effectLst/>
              </a:rPr>
              <a:t>Penggunaan</a:t>
            </a:r>
            <a:r>
              <a:rPr lang="en-US" sz="3200" b="0" dirty="0">
                <a:effectLst/>
              </a:rPr>
              <a:t> </a:t>
            </a:r>
            <a:r>
              <a:rPr lang="en-US" sz="3200" b="0" dirty="0" err="1">
                <a:effectLst/>
              </a:rPr>
              <a:t>dan</a:t>
            </a:r>
            <a:r>
              <a:rPr lang="en-US" sz="3200" b="0" dirty="0">
                <a:effectLst/>
              </a:rPr>
              <a:t> </a:t>
            </a:r>
            <a:r>
              <a:rPr lang="en-US" sz="3200" b="0" dirty="0" err="1">
                <a:effectLst/>
              </a:rPr>
              <a:t>Penghancuran</a:t>
            </a:r>
            <a:r>
              <a:rPr lang="en-US" sz="3200" b="0" dirty="0">
                <a:effectLst/>
              </a:rPr>
              <a:t> </a:t>
            </a:r>
            <a:r>
              <a:rPr lang="en-US" sz="3200" b="0" dirty="0" err="1">
                <a:effectLst/>
              </a:rPr>
              <a:t>Objek</a:t>
            </a:r>
            <a:endParaRPr lang="en-US" sz="3200" b="0" dirty="0">
              <a:effectLst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Keyword </a:t>
            </a:r>
            <a:r>
              <a:rPr lang="en-US" b="1" dirty="0">
                <a:solidFill>
                  <a:srgbClr val="FF0000"/>
                </a:solidFill>
              </a:rPr>
              <a:t>this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standard </a:t>
            </a:r>
            <a:r>
              <a:rPr lang="en-US" dirty="0" err="1"/>
              <a:t>milik</a:t>
            </a:r>
            <a:r>
              <a:rPr lang="en-US" dirty="0"/>
              <a:t> class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this()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constructor standard class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</a:t>
            </a:r>
          </a:p>
          <a:p>
            <a:r>
              <a:rPr lang="en-US" b="1" dirty="0"/>
              <a:t>this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didahului</a:t>
            </a:r>
            <a:r>
              <a:rPr lang="en-US" dirty="0"/>
              <a:t> proses </a:t>
            </a:r>
            <a:r>
              <a:rPr lang="en-US" dirty="0" err="1"/>
              <a:t>deklarasi</a:t>
            </a:r>
            <a:r>
              <a:rPr lang="en-US" dirty="0"/>
              <a:t> dan </a:t>
            </a:r>
            <a:r>
              <a:rPr lang="en-US" dirty="0" err="1"/>
              <a:t>instansiasi</a:t>
            </a:r>
            <a:r>
              <a:rPr lang="en-US" dirty="0"/>
              <a:t>.</a:t>
            </a:r>
          </a:p>
          <a:p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standard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b="1" i="1" dirty="0"/>
              <a:t>attribute non static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class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b="1" dirty="0" err="1"/>
              <a:t>diakses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method() yang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class yang </a:t>
            </a:r>
            <a:r>
              <a:rPr lang="en-US" b="1" dirty="0" err="1">
                <a:solidFill>
                  <a:srgbClr val="FF0000"/>
                </a:solidFill>
              </a:rPr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atrribute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attribute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b="1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parameter yang </a:t>
            </a:r>
            <a:r>
              <a:rPr lang="en-US" dirty="0" err="1"/>
              <a:t>dilewatkan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method() yang </a:t>
            </a:r>
            <a:r>
              <a:rPr lang="en-US" dirty="0" err="1"/>
              <a:t>mengakses</a:t>
            </a:r>
            <a:r>
              <a:rPr lang="en-US" dirty="0"/>
              <a:t>.</a:t>
            </a:r>
          </a:p>
          <a:p>
            <a:r>
              <a:rPr lang="en-US" b="1" dirty="0"/>
              <a:t>this</a:t>
            </a:r>
            <a:r>
              <a:rPr lang="en-US" dirty="0"/>
              <a:t> juga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memanggil</a:t>
            </a:r>
            <a:r>
              <a:rPr lang="en-US" dirty="0"/>
              <a:t> method() </a:t>
            </a:r>
            <a:r>
              <a:rPr lang="en-US" b="1" dirty="0"/>
              <a:t>non static</a:t>
            </a:r>
            <a:r>
              <a:rPr lang="en-US" dirty="0"/>
              <a:t> pada </a:t>
            </a:r>
            <a:r>
              <a:rPr lang="en-US" b="1" dirty="0">
                <a:solidFill>
                  <a:srgbClr val="FF0000"/>
                </a:solidFill>
              </a:rPr>
              <a:t>class yang </a:t>
            </a:r>
            <a:r>
              <a:rPr lang="en-US" b="1" dirty="0" err="1">
                <a:solidFill>
                  <a:srgbClr val="FF0000"/>
                </a:solidFill>
              </a:rPr>
              <a:t>sama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Keyword this </a:t>
            </a:r>
            <a:br>
              <a:rPr lang="en-US" dirty="0"/>
            </a:br>
            <a:r>
              <a:rPr lang="en-US" sz="2200" dirty="0"/>
              <a:t>sebagai </a:t>
            </a:r>
            <a:r>
              <a:rPr lang="en-US" sz="2200" dirty="0" err="1"/>
              <a:t>Objek</a:t>
            </a:r>
            <a:r>
              <a:rPr lang="en-US" sz="2200" dirty="0"/>
              <a:t> standard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Dalam</a:t>
            </a:r>
            <a:r>
              <a:rPr lang="en-US" dirty="0"/>
              <a:t> OOP </a:t>
            </a:r>
            <a:r>
              <a:rPr lang="en-US" dirty="0" err="1"/>
              <a:t>dibolehkan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class </a:t>
            </a:r>
            <a:r>
              <a:rPr lang="en-US" b="1" dirty="0" err="1"/>
              <a:t>disisipkan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b="1" dirty="0"/>
              <a:t>class </a:t>
            </a:r>
            <a:r>
              <a:rPr lang="en-US" b="1" dirty="0" err="1"/>
              <a:t>penggunanya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method </a:t>
            </a:r>
            <a:r>
              <a:rPr lang="en-US" b="1" dirty="0"/>
              <a:t>main()</a:t>
            </a:r>
            <a:r>
              <a:rPr lang="en-US" dirty="0"/>
              <a:t>. </a:t>
            </a:r>
          </a:p>
          <a:p>
            <a:r>
              <a:rPr lang="en-US" dirty="0"/>
              <a:t>Class yang </a:t>
            </a:r>
            <a:r>
              <a:rPr lang="en-US" dirty="0" err="1"/>
              <a:t>disisipkan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sebagai </a:t>
            </a:r>
            <a:r>
              <a:rPr lang="en-US" b="1" dirty="0"/>
              <a:t>class Inner</a:t>
            </a:r>
            <a:r>
              <a:rPr lang="en-US" dirty="0"/>
              <a:t>. </a:t>
            </a:r>
          </a:p>
          <a:p>
            <a:r>
              <a:rPr lang="en-US" dirty="0"/>
              <a:t>Class Inner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b="1" dirty="0"/>
              <a:t>Anonymous class</a:t>
            </a:r>
            <a:r>
              <a:rPr lang="en-US" dirty="0"/>
              <a:t>. </a:t>
            </a:r>
          </a:p>
          <a:p>
            <a:r>
              <a:rPr lang="en-US" dirty="0"/>
              <a:t>Class sebagai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disisipi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b="1" dirty="0"/>
              <a:t>class Outer</a:t>
            </a:r>
            <a:r>
              <a:rPr lang="en-US" dirty="0"/>
              <a:t>.</a:t>
            </a:r>
          </a:p>
          <a:p>
            <a:r>
              <a:rPr lang="en-US" dirty="0"/>
              <a:t>Class yang </a:t>
            </a:r>
            <a:r>
              <a:rPr lang="en-US" dirty="0" err="1"/>
              <a:t>disisipkan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method main() </a:t>
            </a:r>
            <a:r>
              <a:rPr lang="en-US" dirty="0" err="1"/>
              <a:t>disebut</a:t>
            </a:r>
            <a:r>
              <a:rPr lang="en-US" dirty="0"/>
              <a:t> juga </a:t>
            </a:r>
            <a:r>
              <a:rPr lang="en-US" b="1" dirty="0"/>
              <a:t>local class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3 </a:t>
            </a:r>
            <a:r>
              <a:rPr lang="en-US" dirty="0" err="1"/>
              <a:t>jenis</a:t>
            </a:r>
            <a:r>
              <a:rPr lang="en-US" dirty="0"/>
              <a:t> class Inner,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b="1" dirty="0"/>
              <a:t>nested class</a:t>
            </a:r>
            <a:r>
              <a:rPr lang="en-US" dirty="0"/>
              <a:t>, </a:t>
            </a:r>
            <a:r>
              <a:rPr lang="en-US" b="1" dirty="0"/>
              <a:t>local class</a:t>
            </a:r>
            <a:r>
              <a:rPr lang="en-US" dirty="0"/>
              <a:t>, </a:t>
            </a:r>
            <a:r>
              <a:rPr lang="en-US" b="1" dirty="0"/>
              <a:t>anonymous class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Inner Class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685800"/>
            <a:ext cx="8915400" cy="56388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1. Class Outer yang </a:t>
            </a:r>
            <a:r>
              <a:rPr lang="en-US" dirty="0" err="1"/>
              <a:t>mengandung</a:t>
            </a:r>
            <a:r>
              <a:rPr lang="en-US" dirty="0"/>
              <a:t> class Inner, </a:t>
            </a:r>
            <a:r>
              <a:rPr lang="en-US" dirty="0" err="1"/>
              <a:t>bila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dikompilasi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file *.class, </a:t>
            </a:r>
            <a:r>
              <a:rPr lang="en-US" dirty="0" err="1"/>
              <a:t>yaitu</a:t>
            </a:r>
            <a:r>
              <a:rPr lang="en-US" dirty="0"/>
              <a:t>   </a:t>
            </a:r>
          </a:p>
          <a:p>
            <a:pPr>
              <a:buNone/>
            </a:pPr>
            <a:r>
              <a:rPr lang="en-US" b="1" dirty="0"/>
              <a:t>    </a:t>
            </a:r>
            <a:r>
              <a:rPr lang="en-US" b="1" dirty="0" err="1"/>
              <a:t>Outer.class</a:t>
            </a:r>
            <a:r>
              <a:rPr lang="en-US" dirty="0"/>
              <a:t> dan </a:t>
            </a:r>
            <a:r>
              <a:rPr lang="en-US" b="1" dirty="0" err="1"/>
              <a:t>Outer$Inner.class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2. Class Inner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modifier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b="1" dirty="0"/>
              <a:t>public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b="1" dirty="0"/>
              <a:t>protected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b="1" dirty="0"/>
              <a:t>default</a:t>
            </a:r>
            <a:r>
              <a:rPr lang="en-US" dirty="0"/>
              <a:t>, </a:t>
            </a:r>
            <a:r>
              <a:rPr lang="en-US" dirty="0" err="1"/>
              <a:t>ataupun</a:t>
            </a:r>
            <a:r>
              <a:rPr lang="en-US" dirty="0"/>
              <a:t> </a:t>
            </a:r>
            <a:r>
              <a:rPr lang="en-US" b="1" dirty="0"/>
              <a:t>private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3.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b="1" dirty="0"/>
              <a:t>this</a:t>
            </a:r>
            <a:r>
              <a:rPr lang="en-US" dirty="0"/>
              <a:t> pada class Outer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digunakan</a:t>
            </a:r>
            <a:r>
              <a:rPr lang="en-US" dirty="0"/>
              <a:t> format: </a:t>
            </a:r>
            <a:r>
              <a:rPr lang="en-US" b="1" dirty="0" err="1"/>
              <a:t>NamaClassOuter.this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4. Class Outer </a:t>
            </a:r>
            <a:r>
              <a:rPr lang="en-US" dirty="0" err="1"/>
              <a:t>ikut</a:t>
            </a:r>
            <a:r>
              <a:rPr lang="en-US" dirty="0"/>
              <a:t> </a:t>
            </a:r>
            <a:r>
              <a:rPr lang="en-US" dirty="0" err="1"/>
              <a:t>bertanggung-jawab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instansiasi</a:t>
            </a:r>
            <a:r>
              <a:rPr lang="en-US" dirty="0"/>
              <a:t>  </a:t>
            </a:r>
            <a:r>
              <a:rPr lang="en-US" dirty="0" err="1"/>
              <a:t>objek</a:t>
            </a:r>
            <a:r>
              <a:rPr lang="en-US" dirty="0"/>
              <a:t> pada</a:t>
            </a:r>
          </a:p>
          <a:p>
            <a:pPr>
              <a:buNone/>
            </a:pPr>
            <a:r>
              <a:rPr lang="en-US" dirty="0"/>
              <a:t>    class Inner yang </a:t>
            </a:r>
            <a:r>
              <a:rPr lang="en-US" b="1" dirty="0"/>
              <a:t>non-static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misal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class Outer </a:t>
            </a:r>
            <a:r>
              <a:rPr lang="en-US" dirty="0" err="1"/>
              <a:t>adalah</a:t>
            </a:r>
            <a:r>
              <a:rPr lang="en-US" dirty="0"/>
              <a:t> a.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class Inner </a:t>
            </a:r>
            <a:r>
              <a:rPr lang="en-US" dirty="0" err="1"/>
              <a:t>adalah</a:t>
            </a:r>
            <a:r>
              <a:rPr lang="en-US" dirty="0"/>
              <a:t> b, </a:t>
            </a:r>
          </a:p>
          <a:p>
            <a:r>
              <a:rPr lang="en-US" dirty="0"/>
              <a:t>         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sintaks</a:t>
            </a:r>
            <a:r>
              <a:rPr lang="en-US" dirty="0"/>
              <a:t> </a:t>
            </a:r>
            <a:r>
              <a:rPr lang="en-US" dirty="0" err="1"/>
              <a:t>instansiasi</a:t>
            </a:r>
            <a:r>
              <a:rPr lang="en-US" dirty="0"/>
              <a:t> yang 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r>
              <a:rPr lang="en-US" dirty="0"/>
              <a:t>          </a:t>
            </a:r>
            <a:r>
              <a:rPr lang="en-US" b="1" dirty="0"/>
              <a:t>Outer a = new Outer();</a:t>
            </a:r>
          </a:p>
          <a:p>
            <a:r>
              <a:rPr lang="en-US" b="1" dirty="0"/>
              <a:t>          </a:t>
            </a:r>
            <a:r>
              <a:rPr lang="en-US" b="1" dirty="0" err="1"/>
              <a:t>Outer.Inner</a:t>
            </a:r>
            <a:r>
              <a:rPr lang="en-US" b="1" dirty="0"/>
              <a:t> b = </a:t>
            </a:r>
            <a:r>
              <a:rPr lang="en-US" b="1" dirty="0" err="1"/>
              <a:t>a.new</a:t>
            </a:r>
            <a:r>
              <a:rPr lang="en-US" b="1" dirty="0"/>
              <a:t> Inner(); //non static</a:t>
            </a:r>
          </a:p>
          <a:p>
            <a:pPr>
              <a:buNone/>
            </a:pPr>
            <a:r>
              <a:rPr lang="en-US" dirty="0"/>
              <a:t>5. Jika class Inner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b="1" dirty="0"/>
              <a:t>static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milik</a:t>
            </a:r>
            <a:r>
              <a:rPr lang="en-US" dirty="0"/>
              <a:t> class Inner </a:t>
            </a:r>
            <a:r>
              <a:rPr lang="en-US" dirty="0" err="1"/>
              <a:t>tsb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melibatkan</a:t>
            </a:r>
            <a:r>
              <a:rPr lang="en-US" dirty="0"/>
              <a:t> class Outer </a:t>
            </a:r>
            <a:r>
              <a:rPr lang="en-US" dirty="0" err="1"/>
              <a:t>nya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b="1" dirty="0"/>
              <a:t>Inner b = new Inner(); //static</a:t>
            </a:r>
          </a:p>
          <a:p>
            <a:pPr>
              <a:buNone/>
            </a:pPr>
            <a:r>
              <a:rPr lang="en-US" dirty="0"/>
              <a:t>6. Class Inner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attribute </a:t>
            </a:r>
            <a:r>
              <a:rPr lang="en-US" dirty="0" err="1"/>
              <a:t>atau</a:t>
            </a:r>
            <a:r>
              <a:rPr lang="en-US" dirty="0"/>
              <a:t> method() </a:t>
            </a:r>
            <a:r>
              <a:rPr lang="en-US" b="1" dirty="0"/>
              <a:t>non static</a:t>
            </a:r>
            <a:r>
              <a:rPr lang="en-US" dirty="0"/>
              <a:t>  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milik</a:t>
            </a:r>
            <a:r>
              <a:rPr lang="en-US" dirty="0"/>
              <a:t> class Outer </a:t>
            </a:r>
            <a:r>
              <a:rPr lang="en-US" dirty="0" err="1"/>
              <a:t>nya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>
                <a:effectLst/>
              </a:rPr>
              <a:t>Ketentuan</a:t>
            </a:r>
            <a:r>
              <a:rPr lang="en-US" sz="3200" dirty="0">
                <a:effectLst/>
              </a:rPr>
              <a:t> class Inner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24240</TotalTime>
  <Words>2036</Words>
  <Application>Microsoft Office PowerPoint</Application>
  <PresentationFormat>On-screen Show (4:3)</PresentationFormat>
  <Paragraphs>327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Concourse</vt:lpstr>
      <vt:lpstr>Keyword Modifier3</vt:lpstr>
      <vt:lpstr>extends</vt:lpstr>
      <vt:lpstr>implements</vt:lpstr>
      <vt:lpstr>Catatan</vt:lpstr>
      <vt:lpstr>Slide 5</vt:lpstr>
      <vt:lpstr>Slide 6</vt:lpstr>
      <vt:lpstr>Slide 7</vt:lpstr>
      <vt:lpstr>Sepuluh cara memanggil/mengakses  suatu attribute/method() milik class pengguna:</vt:lpstr>
      <vt:lpstr>Tidak semua cara akses  dapat dilakukan</vt:lpstr>
      <vt:lpstr>Aturan Mengakses Member/Komponen class pengguna</vt:lpstr>
      <vt:lpstr>Parameter Var-Arg</vt:lpstr>
      <vt:lpstr>Contoh penggunaan argument dan parameter</vt:lpstr>
      <vt:lpstr>Aturan-aturan Penggunaan Var-Arg</vt:lpstr>
      <vt:lpstr>contoh seter() dan geter() </vt:lpstr>
      <vt:lpstr>Overloading terhadap method()</vt:lpstr>
      <vt:lpstr>Contoh Overloading</vt:lpstr>
      <vt:lpstr>Keyword return </vt:lpstr>
      <vt:lpstr>constructor()</vt:lpstr>
      <vt:lpstr>Deklarasi Objek</vt:lpstr>
      <vt:lpstr>Instansiasi Objek</vt:lpstr>
      <vt:lpstr>Empat cara coding untuk  Deklarasi dan Instansiasi Objek</vt:lpstr>
      <vt:lpstr>Penggunaan dan Penghancuran Objek</vt:lpstr>
      <vt:lpstr>Keyword this  sebagai Objek standard</vt:lpstr>
      <vt:lpstr>Inner Class</vt:lpstr>
      <vt:lpstr>Ketentuan class Inner</vt:lpstr>
    </vt:vector>
  </TitlesOfParts>
  <Company>Columbia University Computer Science Department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Models</dc:title>
  <dc:creator>Valued Sony Customer</dc:creator>
  <cp:lastModifiedBy>Novrido</cp:lastModifiedBy>
  <cp:revision>448</cp:revision>
  <dcterms:created xsi:type="dcterms:W3CDTF">2001-04-26T04:38:43Z</dcterms:created>
  <dcterms:modified xsi:type="dcterms:W3CDTF">2025-03-20T03:03:03Z</dcterms:modified>
</cp:coreProperties>
</file>