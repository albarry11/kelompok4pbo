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75" r:id="rId1"/>
  </p:sldMasterIdLst>
  <p:notesMasterIdLst>
    <p:notesMasterId r:id="rId23"/>
  </p:notesMasterIdLst>
  <p:handoutMasterIdLst>
    <p:handoutMasterId r:id="rId24"/>
  </p:handoutMasterIdLst>
  <p:sldIdLst>
    <p:sldId id="437" r:id="rId2"/>
    <p:sldId id="438" r:id="rId3"/>
    <p:sldId id="439" r:id="rId4"/>
    <p:sldId id="443" r:id="rId5"/>
    <p:sldId id="446" r:id="rId6"/>
    <p:sldId id="441" r:id="rId7"/>
    <p:sldId id="448" r:id="rId8"/>
    <p:sldId id="444" r:id="rId9"/>
    <p:sldId id="442" r:id="rId10"/>
    <p:sldId id="440" r:id="rId11"/>
    <p:sldId id="449" r:id="rId12"/>
    <p:sldId id="459" r:id="rId13"/>
    <p:sldId id="452" r:id="rId14"/>
    <p:sldId id="458" r:id="rId15"/>
    <p:sldId id="457" r:id="rId16"/>
    <p:sldId id="453" r:id="rId17"/>
    <p:sldId id="454" r:id="rId18"/>
    <p:sldId id="455" r:id="rId19"/>
    <p:sldId id="450" r:id="rId20"/>
    <p:sldId id="451" r:id="rId21"/>
    <p:sldId id="447" r:id="rId22"/>
  </p:sldIdLst>
  <p:sldSz cx="9144000" cy="6858000" type="screen4x3"/>
  <p:notesSz cx="6858000" cy="9313863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Arial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Arial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Arial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Arial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Arial" charset="0"/>
        <a:ea typeface="+mn-ea"/>
        <a:cs typeface="+mn-cs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Arial" charset="0"/>
        <a:ea typeface="+mn-ea"/>
        <a:cs typeface="+mn-cs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Arial" charset="0"/>
        <a:ea typeface="+mn-ea"/>
        <a:cs typeface="+mn-cs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Arial" charset="0"/>
        <a:ea typeface="+mn-ea"/>
        <a:cs typeface="+mn-cs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Arial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D60093"/>
    <a:srgbClr val="FF0707"/>
    <a:srgbClr val="000000"/>
    <a:srgbClr val="CCFF33"/>
    <a:srgbClr val="6699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517" autoAdjust="0"/>
    <p:restoredTop sz="94608" autoAdjust="0"/>
  </p:normalViewPr>
  <p:slideViewPr>
    <p:cSldViewPr>
      <p:cViewPr varScale="1">
        <p:scale>
          <a:sx n="80" d="100"/>
          <a:sy n="80" d="100"/>
        </p:scale>
        <p:origin x="1526" y="48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9293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handoutMaster" Target="handoutMasters/handout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notesMaster" Target="notesMasters/notesMaster1.xml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heme" Target="theme/theme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95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63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2354" tIns="46177" rIns="92354" bIns="46177" numCol="1" anchor="t" anchorCtr="0" compatLnSpc="1">
            <a:prstTxWarp prst="textNoShape">
              <a:avLst/>
            </a:prstTxWarp>
          </a:bodyPr>
          <a:lstStyle>
            <a:lvl1pPr defTabSz="923925">
              <a:defRPr sz="1200" smtClean="0">
                <a:latin typeface="Tahoma" pitchFamily="34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25955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886200" y="0"/>
            <a:ext cx="2971800" cy="463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2354" tIns="46177" rIns="92354" bIns="46177" numCol="1" anchor="t" anchorCtr="0" compatLnSpc="1">
            <a:prstTxWarp prst="textNoShape">
              <a:avLst/>
            </a:prstTxWarp>
          </a:bodyPr>
          <a:lstStyle>
            <a:lvl1pPr algn="r" defTabSz="923925">
              <a:defRPr sz="1200" smtClean="0">
                <a:latin typeface="Tahoma" pitchFamily="34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25956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8850313"/>
            <a:ext cx="2971800" cy="463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2354" tIns="46177" rIns="92354" bIns="46177" numCol="1" anchor="b" anchorCtr="0" compatLnSpc="1">
            <a:prstTxWarp prst="textNoShape">
              <a:avLst/>
            </a:prstTxWarp>
          </a:bodyPr>
          <a:lstStyle>
            <a:lvl1pPr defTabSz="923925">
              <a:defRPr sz="1200" smtClean="0">
                <a:latin typeface="Tahoma" pitchFamily="34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25957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886200" y="8850313"/>
            <a:ext cx="2971800" cy="463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2354" tIns="46177" rIns="92354" bIns="46177" numCol="1" anchor="b" anchorCtr="0" compatLnSpc="1">
            <a:prstTxWarp prst="textNoShape">
              <a:avLst/>
            </a:prstTxWarp>
          </a:bodyPr>
          <a:lstStyle>
            <a:lvl1pPr algn="r" defTabSz="923925">
              <a:defRPr sz="1200" smtClean="0">
                <a:latin typeface="Tahoma" pitchFamily="34" charset="0"/>
              </a:defRPr>
            </a:lvl1pPr>
          </a:lstStyle>
          <a:p>
            <a:pPr>
              <a:defRPr/>
            </a:pPr>
            <a:fld id="{C86F193C-C289-4371-A97A-BE0216192A8D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79314982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282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63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2354" tIns="46177" rIns="92354" bIns="46177" numCol="1" anchor="t" anchorCtr="0" compatLnSpc="1">
            <a:prstTxWarp prst="textNoShape">
              <a:avLst/>
            </a:prstTxWarp>
          </a:bodyPr>
          <a:lstStyle>
            <a:lvl1pPr defTabSz="923925">
              <a:defRPr sz="1200" smtClean="0">
                <a:latin typeface="Tahoma" pitchFamily="34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7283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86200" y="0"/>
            <a:ext cx="2971800" cy="463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2354" tIns="46177" rIns="92354" bIns="46177" numCol="1" anchor="t" anchorCtr="0" compatLnSpc="1">
            <a:prstTxWarp prst="textNoShape">
              <a:avLst/>
            </a:prstTxWarp>
          </a:bodyPr>
          <a:lstStyle>
            <a:lvl1pPr algn="r" defTabSz="923925">
              <a:defRPr sz="1200" smtClean="0">
                <a:latin typeface="Tahoma" pitchFamily="34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27652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101725" y="700088"/>
            <a:ext cx="4656138" cy="34925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97285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14400" y="4424363"/>
            <a:ext cx="5029200" cy="41894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2354" tIns="46177" rIns="92354" bIns="46177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97286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850313"/>
            <a:ext cx="2971800" cy="463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2354" tIns="46177" rIns="92354" bIns="46177" numCol="1" anchor="b" anchorCtr="0" compatLnSpc="1">
            <a:prstTxWarp prst="textNoShape">
              <a:avLst/>
            </a:prstTxWarp>
          </a:bodyPr>
          <a:lstStyle>
            <a:lvl1pPr defTabSz="923925">
              <a:defRPr sz="1200" smtClean="0">
                <a:latin typeface="Tahoma" pitchFamily="34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7287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6200" y="8850313"/>
            <a:ext cx="2971800" cy="463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2354" tIns="46177" rIns="92354" bIns="46177" numCol="1" anchor="b" anchorCtr="0" compatLnSpc="1">
            <a:prstTxWarp prst="textNoShape">
              <a:avLst/>
            </a:prstTxWarp>
          </a:bodyPr>
          <a:lstStyle>
            <a:lvl1pPr algn="r" defTabSz="923925">
              <a:defRPr sz="1200" smtClean="0">
                <a:latin typeface="Tahoma" pitchFamily="34" charset="0"/>
              </a:defRPr>
            </a:lvl1pPr>
          </a:lstStyle>
          <a:p>
            <a:pPr>
              <a:defRPr/>
            </a:pPr>
            <a:fld id="{6BB55178-6231-4D76-9FDA-850185061430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80398178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ight Triangle 9"/>
          <p:cNvSpPr/>
          <p:nvPr/>
        </p:nvSpPr>
        <p:spPr>
          <a:xfrm>
            <a:off x="-2" y="4664147"/>
            <a:ext cx="9151089" cy="0"/>
          </a:xfrm>
          <a:prstGeom prst="rtTriangle">
            <a:avLst/>
          </a:prstGeom>
          <a:gradFill flip="none" rotWithShape="1">
            <a:gsLst>
              <a:gs pos="0">
                <a:schemeClr val="accent1">
                  <a:shade val="35000"/>
                  <a:satMod val="170000"/>
                  <a:alpha val="100000"/>
                </a:schemeClr>
              </a:gs>
              <a:gs pos="55000">
                <a:schemeClr val="accent1">
                  <a:tint val="90000"/>
                  <a:satMod val="150000"/>
                  <a:alpha val="100000"/>
                </a:schemeClr>
              </a:gs>
              <a:gs pos="100000">
                <a:schemeClr val="accent1">
                  <a:shade val="35000"/>
                  <a:satMod val="170000"/>
                  <a:alpha val="100000"/>
                </a:schemeClr>
              </a:gs>
            </a:gsLst>
            <a:lin ang="3000000" scaled="1"/>
            <a:tileRect/>
          </a:gradFill>
          <a:ln w="127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9" name="Title 8"/>
          <p:cNvSpPr>
            <a:spLocks noGrp="1"/>
          </p:cNvSpPr>
          <p:nvPr>
            <p:ph type="ctrTitle"/>
          </p:nvPr>
        </p:nvSpPr>
        <p:spPr>
          <a:xfrm>
            <a:off x="685800" y="1752601"/>
            <a:ext cx="7772400" cy="1829761"/>
          </a:xfrm>
        </p:spPr>
        <p:txBody>
          <a:bodyPr vert="horz" anchor="b">
            <a:normAutofit/>
            <a:scene3d>
              <a:camera prst="orthographicFront"/>
              <a:lightRig rig="soft" dir="t"/>
            </a:scene3d>
            <a:sp3d prstMaterial="softEdge">
              <a:bevelT w="25400" h="25400"/>
            </a:sp3d>
          </a:bodyPr>
          <a:lstStyle>
            <a:lvl1pPr algn="r">
              <a:defRPr sz="4800" b="1">
                <a:solidFill>
                  <a:schemeClr val="tx2"/>
                </a:solidFill>
                <a:effectLst>
                  <a:outerShdw blurRad="31750" dist="25400" dir="540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extLst/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17" name="Subtitle 16"/>
          <p:cNvSpPr>
            <a:spLocks noGrp="1"/>
          </p:cNvSpPr>
          <p:nvPr>
            <p:ph type="subTitle" idx="1"/>
          </p:nvPr>
        </p:nvSpPr>
        <p:spPr>
          <a:xfrm>
            <a:off x="685800" y="3611607"/>
            <a:ext cx="7772400" cy="1199704"/>
          </a:xfrm>
        </p:spPr>
        <p:txBody>
          <a:bodyPr lIns="45720" rIns="45720"/>
          <a:lstStyle>
            <a:lvl1pPr marL="0" marR="64008" indent="0" algn="r">
              <a:buNone/>
              <a:defRPr>
                <a:solidFill>
                  <a:schemeClr val="tx2"/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  <a:extLst/>
          </a:lstStyle>
          <a:p>
            <a:r>
              <a:rPr kumimoji="0" lang="en-US"/>
              <a:t>Click to edit Master subtitle style</a:t>
            </a:r>
          </a:p>
        </p:txBody>
      </p:sp>
      <p:grpSp>
        <p:nvGrpSpPr>
          <p:cNvPr id="2" name="Group 1"/>
          <p:cNvGrpSpPr/>
          <p:nvPr/>
        </p:nvGrpSpPr>
        <p:grpSpPr>
          <a:xfrm>
            <a:off x="-3765" y="4953000"/>
            <a:ext cx="9147765" cy="1912088"/>
            <a:chOff x="-3765" y="4832896"/>
            <a:chExt cx="9147765" cy="2032192"/>
          </a:xfrm>
        </p:grpSpPr>
        <p:sp>
          <p:nvSpPr>
            <p:cNvPr id="7" name="Freeform 6"/>
            <p:cNvSpPr>
              <a:spLocks/>
            </p:cNvSpPr>
            <p:nvPr/>
          </p:nvSpPr>
          <p:spPr bwMode="auto">
            <a:xfrm>
              <a:off x="1687513" y="4832896"/>
              <a:ext cx="7456487" cy="518816"/>
            </a:xfrm>
            <a:custGeom>
              <a:avLst>
                <a:gd name="A1" fmla="val 0"/>
                <a:gd name="A2" fmla="val 0"/>
                <a:gd name="A3" fmla="val 0"/>
                <a:gd name="A4" fmla="val 0"/>
                <a:gd name="A5" fmla="val 0"/>
                <a:gd name="A6" fmla="val 0"/>
                <a:gd name="A7" fmla="val 0"/>
                <a:gd name="A8" fmla="val 0"/>
              </a:avLst>
              <a:gdLst/>
              <a:ahLst/>
              <a:cxnLst>
                <a:cxn ang="0">
                  <a:pos x="4697" y="0"/>
                </a:cxn>
                <a:cxn ang="0">
                  <a:pos x="4697" y="367"/>
                </a:cxn>
                <a:cxn ang="0">
                  <a:pos x="0" y="218"/>
                </a:cxn>
                <a:cxn ang="0">
                  <a:pos x="4697" y="0"/>
                </a:cxn>
              </a:cxnLst>
              <a:rect l="0" t="0" r="0" b="0"/>
              <a:pathLst>
                <a:path w="4697" h="367">
                  <a:moveTo>
                    <a:pt x="4697" y="0"/>
                  </a:moveTo>
                  <a:lnTo>
                    <a:pt x="4697" y="367"/>
                  </a:lnTo>
                  <a:lnTo>
                    <a:pt x="0" y="218"/>
                  </a:lnTo>
                  <a:lnTo>
                    <a:pt x="4697" y="0"/>
                  </a:lnTo>
                  <a:close/>
                </a:path>
              </a:pathLst>
            </a:custGeom>
            <a:solidFill>
              <a:schemeClr val="accent1">
                <a:tint val="65000"/>
                <a:satMod val="115000"/>
                <a:alpha val="40000"/>
              </a:schemeClr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anchor="t" compatLnSpc="1"/>
            <a:lstStyle/>
            <a:p>
              <a:endParaRPr kumimoji="0" lang="en-US"/>
            </a:p>
          </p:txBody>
        </p:sp>
        <p:sp>
          <p:nvSpPr>
            <p:cNvPr id="8" name="Freeform 7"/>
            <p:cNvSpPr>
              <a:spLocks/>
            </p:cNvSpPr>
            <p:nvPr/>
          </p:nvSpPr>
          <p:spPr bwMode="auto">
            <a:xfrm>
              <a:off x="35443" y="5135526"/>
              <a:ext cx="9108557" cy="838200"/>
            </a:xfrm>
            <a:custGeom>
              <a:avLst>
                <a:gd name="A1" fmla="val 0"/>
                <a:gd name="A2" fmla="val 0"/>
                <a:gd name="A3" fmla="val 0"/>
                <a:gd name="A4" fmla="val 0"/>
                <a:gd name="A5" fmla="val 0"/>
                <a:gd name="A6" fmla="val 0"/>
                <a:gd name="A7" fmla="val 0"/>
                <a:gd name="A8" fmla="val 0"/>
              </a:avLst>
              <a:gdLst/>
              <a:ahLst/>
              <a:cxnLst>
                <a:cxn ang="0">
                  <a:pos x="0" y="0"/>
                </a:cxn>
                <a:cxn ang="0">
                  <a:pos x="5760" y="0"/>
                </a:cxn>
                <a:cxn ang="0">
                  <a:pos x="5760" y="528"/>
                </a:cxn>
                <a:cxn ang="0">
                  <a:pos x="48" y="0"/>
                </a:cxn>
              </a:cxnLst>
              <a:rect l="0" t="0" r="0" b="0"/>
              <a:pathLst>
                <a:path w="5760" h="528">
                  <a:moveTo>
                    <a:pt x="0" y="0"/>
                  </a:moveTo>
                  <a:lnTo>
                    <a:pt x="5760" y="0"/>
                  </a:lnTo>
                  <a:lnTo>
                    <a:pt x="5760" y="528"/>
                  </a:lnTo>
                  <a:lnTo>
                    <a:pt x="48" y="0"/>
                  </a:lnTo>
                </a:path>
              </a:pathLst>
            </a:custGeom>
            <a:solidFill>
              <a:srgbClr val="000000">
                <a:alpha val="100000"/>
              </a:srgbClr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anchor="t" compatLnSpc="1"/>
            <a:lstStyle/>
            <a:p>
              <a:endParaRPr kumimoji="0" lang="en-US"/>
            </a:p>
          </p:txBody>
        </p:sp>
        <p:sp>
          <p:nvSpPr>
            <p:cNvPr id="11" name="Freeform 10"/>
            <p:cNvSpPr>
              <a:spLocks/>
            </p:cNvSpPr>
            <p:nvPr/>
          </p:nvSpPr>
          <p:spPr bwMode="auto">
            <a:xfrm>
              <a:off x="0" y="4883888"/>
              <a:ext cx="9144000" cy="1981200"/>
            </a:xfrm>
            <a:custGeom>
              <a:avLst>
                <a:gd name="A1" fmla="val 0"/>
                <a:gd name="A2" fmla="val 0"/>
                <a:gd name="A3" fmla="val 0"/>
                <a:gd name="A4" fmla="val 0"/>
                <a:gd name="A5" fmla="val 0"/>
                <a:gd name="A6" fmla="val 0"/>
                <a:gd name="A7" fmla="val 0"/>
                <a:gd name="A8" fmla="val 0"/>
              </a:avLst>
              <a:gdLst/>
              <a:ahLst/>
              <a:cxnLst>
                <a:cxn ang="0">
                  <a:pos x="0" y="0"/>
                </a:cxn>
                <a:cxn ang="0">
                  <a:pos x="0" y="1248"/>
                </a:cxn>
                <a:cxn ang="0">
                  <a:pos x="5760" y="1248"/>
                </a:cxn>
                <a:cxn ang="0">
                  <a:pos x="5760" y="528"/>
                </a:cxn>
                <a:cxn ang="0">
                  <a:pos x="0" y="0"/>
                </a:cxn>
              </a:cxnLst>
              <a:rect l="0" t="0" r="0" b="0"/>
              <a:pathLst>
                <a:path w="5760" h="1248">
                  <a:moveTo>
                    <a:pt x="0" y="0"/>
                  </a:moveTo>
                  <a:lnTo>
                    <a:pt x="0" y="1248"/>
                  </a:lnTo>
                  <a:lnTo>
                    <a:pt x="5760" y="1248"/>
                  </a:lnTo>
                  <a:lnTo>
                    <a:pt x="5760" y="52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 cstate="print">
                <a:alphaModFix amt="50000"/>
              </a:blip>
              <a:tile tx="0" ty="0" sx="50000" sy="50000" flip="none" algn="t"/>
            </a:blipFill>
            <a:ln w="12700" cap="rnd" cmpd="thickThin" algn="ctr">
              <a:noFill/>
              <a:prstDash val="solid"/>
            </a:ln>
            <a:effectLst>
              <a:fillOverlay blend="mult">
                <a:gradFill flip="none" rotWithShape="1">
                  <a:gsLst>
                    <a:gs pos="0">
                      <a:schemeClr val="accent1">
                        <a:shade val="20000"/>
                        <a:satMod val="176000"/>
                        <a:alpha val="100000"/>
                      </a:schemeClr>
                    </a:gs>
                    <a:gs pos="18000">
                      <a:schemeClr val="accent1">
                        <a:shade val="48000"/>
                        <a:satMod val="153000"/>
                        <a:alpha val="100000"/>
                      </a:schemeClr>
                    </a:gs>
                    <a:gs pos="43000">
                      <a:schemeClr val="accent1">
                        <a:tint val="86000"/>
                        <a:satMod val="149000"/>
                        <a:alpha val="100000"/>
                      </a:schemeClr>
                    </a:gs>
                    <a:gs pos="45000">
                      <a:schemeClr val="accent1">
                        <a:tint val="85000"/>
                        <a:satMod val="150000"/>
                        <a:alpha val="100000"/>
                      </a:schemeClr>
                    </a:gs>
                    <a:gs pos="50000">
                      <a:schemeClr val="accent1">
                        <a:tint val="86000"/>
                        <a:satMod val="149000"/>
                        <a:alpha val="100000"/>
                      </a:schemeClr>
                    </a:gs>
                    <a:gs pos="79000">
                      <a:schemeClr val="accent1">
                        <a:shade val="53000"/>
                        <a:satMod val="150000"/>
                        <a:alpha val="100000"/>
                      </a:schemeClr>
                    </a:gs>
                    <a:gs pos="100000">
                      <a:schemeClr val="accent1">
                        <a:shade val="25000"/>
                        <a:satMod val="170000"/>
                        <a:alpha val="100000"/>
                      </a:schemeClr>
                    </a:gs>
                  </a:gsLst>
                  <a:lin ang="450000" scaled="1"/>
                  <a:tileRect/>
                </a:gradFill>
              </a:fillOverlay>
            </a:effectLst>
          </p:spPr>
          <p:style>
            <a:lnRef idx="3">
              <a:schemeClr val="lt1"/>
            </a:lnRef>
            <a:fillRef idx="1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  <p:txBody>
            <a:bodyPr vert="horz" wrap="square" lIns="91440" tIns="45720" rIns="91440" bIns="45720" anchor="ctr" compatLnSpc="1"/>
            <a:lstStyle/>
            <a:p>
              <a:pPr algn="ctr" eaLnBrk="1" latinLnBrk="0" hangingPunct="1"/>
              <a:endParaRPr kumimoji="0" lang="en-US"/>
            </a:p>
          </p:txBody>
        </p:sp>
        <p:cxnSp>
          <p:nvCxnSpPr>
            <p:cNvPr id="12" name="Straight Connector 11"/>
            <p:cNvCxnSpPr/>
            <p:nvPr/>
          </p:nvCxnSpPr>
          <p:spPr>
            <a:xfrm>
              <a:off x="-3765" y="4880373"/>
              <a:ext cx="9147765" cy="839943"/>
            </a:xfrm>
            <a:prstGeom prst="line">
              <a:avLst/>
            </a:prstGeom>
            <a:noFill/>
            <a:ln w="12065" cap="flat" cmpd="sng" algn="ctr">
              <a:gradFill>
                <a:gsLst>
                  <a:gs pos="45000">
                    <a:schemeClr val="accent1">
                      <a:tint val="70000"/>
                      <a:satMod val="110000"/>
                    </a:schemeClr>
                  </a:gs>
                  <a:gs pos="15000">
                    <a:schemeClr val="accent1">
                      <a:shade val="40000"/>
                      <a:satMod val="110000"/>
                    </a:schemeClr>
                  </a:gs>
                </a:gsLst>
                <a:lin ang="5400000" scaled="1"/>
              </a:gradFill>
              <a:prstDash val="solid"/>
              <a:miter lim="800000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0" name="Date Placeholder 29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  <a:extLst/>
          </a:lstStyle>
          <a:p>
            <a:pPr>
              <a:defRPr/>
            </a:pPr>
            <a:endParaRPr lang="en-US" dirty="0"/>
          </a:p>
        </p:txBody>
      </p:sp>
      <p:sp>
        <p:nvSpPr>
          <p:cNvPr id="19" name="Footer Placeholder 18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accent1">
                    <a:tint val="20000"/>
                  </a:schemeClr>
                </a:solidFill>
              </a:defRPr>
            </a:lvl1pPr>
            <a:extLst/>
          </a:lstStyle>
          <a:p>
            <a:pPr>
              <a:defRPr/>
            </a:pPr>
            <a:endParaRPr lang="en-US" dirty="0"/>
          </a:p>
        </p:txBody>
      </p:sp>
      <p:sp>
        <p:nvSpPr>
          <p:cNvPr id="27" name="Slide Number Placeholder 2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  <a:extLst/>
          </a:lstStyle>
          <a:p>
            <a:pPr>
              <a:defRPr/>
            </a:pPr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endParaRPr lang="en-US" dirty="0"/>
          </a:p>
        </p:txBody>
      </p:sp>
      <p:sp>
        <p:nvSpPr>
          <p:cNvPr id="7" name="Title 6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r>
              <a:rPr kumimoji="0" lang="en-US"/>
              <a:t>Click to edit Master title style</a:t>
            </a: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bg>
      <p:bgRef idx="1002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76" y="1059712"/>
            <a:ext cx="7772400" cy="1828800"/>
          </a:xfrm>
        </p:spPr>
        <p:txBody>
          <a:bodyPr vert="horz" anchor="b">
            <a:normAutofit/>
            <a:scene3d>
              <a:camera prst="orthographicFront"/>
              <a:lightRig rig="soft" dir="t"/>
            </a:scene3d>
            <a:sp3d prstMaterial="softEdge">
              <a:bevelT w="25400" h="25400"/>
            </a:sp3d>
          </a:bodyPr>
          <a:lstStyle>
            <a:lvl1pPr algn="r">
              <a:buNone/>
              <a:defRPr sz="4800" b="1" cap="none" baseline="0">
                <a:effectLst>
                  <a:outerShdw blurRad="31750" dist="25400" dir="540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extLst/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922713" y="2931712"/>
            <a:ext cx="4572000" cy="1454888"/>
          </a:xfrm>
        </p:spPr>
        <p:txBody>
          <a:bodyPr lIns="91440" rIns="91440" anchor="t"/>
          <a:lstStyle>
            <a:lvl1pPr marL="0" indent="0" algn="l">
              <a:buNone/>
              <a:defRPr sz="2300">
                <a:solidFill>
                  <a:schemeClr val="tx1"/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extLst/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endParaRPr lang="en-US" dirty="0"/>
          </a:p>
        </p:txBody>
      </p:sp>
      <p:sp>
        <p:nvSpPr>
          <p:cNvPr id="7" name="Chevron 6"/>
          <p:cNvSpPr/>
          <p:nvPr/>
        </p:nvSpPr>
        <p:spPr>
          <a:xfrm>
            <a:off x="3636680" y="3005472"/>
            <a:ext cx="182880" cy="228600"/>
          </a:xfrm>
          <a:prstGeom prst="chevron">
            <a:avLst>
              <a:gd name="adj" fmla="val 50000"/>
            </a:avLst>
          </a:prstGeom>
          <a:gradFill flip="none" rotWithShape="1">
            <a:gsLst>
              <a:gs pos="0">
                <a:schemeClr val="accent1">
                  <a:shade val="60000"/>
                  <a:satMod val="125000"/>
                </a:schemeClr>
              </a:gs>
              <a:gs pos="72000">
                <a:schemeClr val="accent1">
                  <a:tint val="90000"/>
                  <a:satMod val="138000"/>
                </a:schemeClr>
              </a:gs>
              <a:gs pos="100000">
                <a:schemeClr val="accent1">
                  <a:tint val="76000"/>
                  <a:satMod val="136000"/>
                </a:schemeClr>
              </a:gs>
            </a:gsLst>
            <a:lin ang="16200000" scaled="0"/>
          </a:gradFill>
          <a:ln w="3175" cap="rnd" cmpd="sng" algn="ctr">
            <a:solidFill>
              <a:schemeClr val="accent1">
                <a:shade val="50000"/>
              </a:schemeClr>
            </a:solidFill>
            <a:prstDash val="solid"/>
          </a:ln>
          <a:effectLst>
            <a:outerShdw blurRad="50800" dist="25400" dir="5400000">
              <a:srgbClr val="000000">
                <a:alpha val="4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l" eaLnBrk="1" latinLnBrk="0" hangingPunct="1"/>
            <a:endParaRPr kumimoji="0" lang="en-US"/>
          </a:p>
        </p:txBody>
      </p:sp>
      <p:sp>
        <p:nvSpPr>
          <p:cNvPr id="8" name="Chevron 7"/>
          <p:cNvSpPr/>
          <p:nvPr/>
        </p:nvSpPr>
        <p:spPr>
          <a:xfrm>
            <a:off x="3450264" y="3005472"/>
            <a:ext cx="182880" cy="228600"/>
          </a:xfrm>
          <a:prstGeom prst="chevron">
            <a:avLst>
              <a:gd name="adj" fmla="val 50000"/>
            </a:avLst>
          </a:prstGeom>
          <a:gradFill flip="none" rotWithShape="1">
            <a:gsLst>
              <a:gs pos="0">
                <a:schemeClr val="accent1">
                  <a:shade val="60000"/>
                  <a:satMod val="125000"/>
                </a:schemeClr>
              </a:gs>
              <a:gs pos="72000">
                <a:schemeClr val="accent1">
                  <a:tint val="90000"/>
                  <a:satMod val="138000"/>
                </a:schemeClr>
              </a:gs>
              <a:gs pos="100000">
                <a:schemeClr val="accent1">
                  <a:tint val="76000"/>
                  <a:satMod val="136000"/>
                </a:schemeClr>
              </a:gs>
            </a:gsLst>
            <a:lin ang="16200000" scaled="0"/>
          </a:gradFill>
          <a:ln w="3175" cap="rnd" cmpd="sng" algn="ctr">
            <a:solidFill>
              <a:schemeClr val="accent1">
                <a:shade val="50000"/>
              </a:schemeClr>
            </a:solidFill>
            <a:prstDash val="solid"/>
          </a:ln>
          <a:effectLst>
            <a:outerShdw blurRad="50800" dist="25400" dir="5400000">
              <a:srgbClr val="000000">
                <a:alpha val="4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l" eaLnBrk="1" latinLnBrk="0" hangingPunct="1"/>
            <a:endParaRPr kumimoji="0" 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bg>
      <p:bgRef idx="1002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481328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extLst/>
          </a:lstStyle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481328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extLst/>
          </a:lstStyle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endParaRPr lang="en-US" dirty="0"/>
          </a:p>
        </p:txBody>
      </p:sp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r>
              <a:rPr kumimoji="0" lang="en-US"/>
              <a:t>Click to edit Master title style</a:t>
            </a:r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TxTwoObj" preserve="1">
  <p:cSld name="Comparison"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8229600" cy="1143000"/>
          </a:xfrm>
        </p:spPr>
        <p:txBody>
          <a:bodyPr anchor="ctr"/>
          <a:lstStyle>
            <a:lvl1pPr>
              <a:defRPr/>
            </a:lvl1pPr>
            <a:extLst/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5410200"/>
            <a:ext cx="4040188" cy="762000"/>
          </a:xfrm>
          <a:solidFill>
            <a:schemeClr val="accent1"/>
          </a:solidFill>
          <a:ln w="9652">
            <a:solidFill>
              <a:schemeClr val="accent1"/>
            </a:solidFill>
            <a:miter lim="800000"/>
          </a:ln>
        </p:spPr>
        <p:txBody>
          <a:bodyPr lIns="182880" anchor="ctr"/>
          <a:lstStyle>
            <a:lvl1pPr marL="0" indent="0">
              <a:buNone/>
              <a:defRPr sz="2400" b="0">
                <a:solidFill>
                  <a:schemeClr val="bg1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  <a:extLst/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3"/>
          </p:nvPr>
        </p:nvSpPr>
        <p:spPr>
          <a:xfrm>
            <a:off x="4645026" y="5410200"/>
            <a:ext cx="4041775" cy="762000"/>
          </a:xfrm>
          <a:solidFill>
            <a:schemeClr val="accent1"/>
          </a:solidFill>
          <a:ln w="9652">
            <a:solidFill>
              <a:schemeClr val="accent1"/>
            </a:solidFill>
            <a:miter lim="800000"/>
          </a:ln>
        </p:spPr>
        <p:txBody>
          <a:bodyPr lIns="182880" anchor="ctr"/>
          <a:lstStyle>
            <a:lvl1pPr marL="0" indent="0">
              <a:buNone/>
              <a:defRPr sz="2400" b="0">
                <a:solidFill>
                  <a:schemeClr val="bg1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  <a:extLst/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sz="quarter" idx="2"/>
          </p:nvPr>
        </p:nvSpPr>
        <p:spPr>
          <a:xfrm>
            <a:off x="457200" y="1444294"/>
            <a:ext cx="4040188" cy="3941763"/>
          </a:xfrm>
          <a:ln>
            <a:noFill/>
            <a:prstDash val="sysDash"/>
            <a:miter lim="800000"/>
          </a:ln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extLst/>
          </a:lstStyle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1444294"/>
            <a:ext cx="4041775" cy="3941763"/>
          </a:xfrm>
          <a:ln>
            <a:noFill/>
            <a:prstDash val="sysDash"/>
            <a:miter lim="800000"/>
          </a:ln>
        </p:spPr>
        <p:txBody>
          <a:bodyPr/>
          <a:lstStyle>
            <a:lvl1pPr>
              <a:spcBef>
                <a:spcPts val="0"/>
              </a:spcBef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extLst/>
          </a:lstStyle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endParaRPr lang="en-US" dirty="0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bg>
      <p:bgRef idx="1002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endParaRPr lang="en-US" dirty="0"/>
          </a:p>
        </p:txBody>
      </p:sp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r>
              <a:rPr kumimoji="0" lang="en-US"/>
              <a:t>Click to edit Master title style</a:t>
            </a:r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4876800"/>
            <a:ext cx="7481776" cy="457200"/>
          </a:xfrm>
        </p:spPr>
        <p:txBody>
          <a:bodyPr vert="horz" anchor="t">
            <a:noAutofit/>
            <a:sp3d prstMaterial="softEdge">
              <a:bevelT w="0" h="0"/>
            </a:sp3d>
          </a:bodyPr>
          <a:lstStyle>
            <a:lvl1pPr algn="r">
              <a:buNone/>
              <a:defRPr sz="2500" b="0">
                <a:solidFill>
                  <a:schemeClr val="accent1"/>
                </a:solidFill>
                <a:effectLst/>
              </a:defRPr>
            </a:lvl1pPr>
            <a:extLst/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2"/>
          </p:nvPr>
        </p:nvSpPr>
        <p:spPr>
          <a:xfrm>
            <a:off x="4419600" y="5355102"/>
            <a:ext cx="3974592" cy="914400"/>
          </a:xfrm>
        </p:spPr>
        <p:txBody>
          <a:bodyPr/>
          <a:lstStyle>
            <a:lvl1pPr marL="0" indent="0" algn="r">
              <a:buNone/>
              <a:defRPr sz="1600"/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  <a:extLst/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1"/>
          </p:nvPr>
        </p:nvSpPr>
        <p:spPr>
          <a:xfrm>
            <a:off x="914400" y="274320"/>
            <a:ext cx="7479792" cy="4572000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extLst/>
          </a:lstStyle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6727032" y="6407944"/>
            <a:ext cx="1920240" cy="365760"/>
          </a:xfrm>
        </p:spPr>
        <p:txBody>
          <a:bodyPr/>
          <a:lstStyle/>
          <a:p>
            <a:pPr>
              <a:defRPr/>
            </a:pPr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endParaRPr lang="en-US" dirty="0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bg>
      <p:bgRef idx="1002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232" y="5443402"/>
            <a:ext cx="7162800" cy="648232"/>
          </a:xfrm>
          <a:noFill/>
        </p:spPr>
        <p:txBody>
          <a:bodyPr lIns="91440" tIns="0" rIns="91440" anchor="t"/>
          <a:lstStyle>
            <a:lvl1pPr marL="0" marR="18288" indent="0" algn="r">
              <a:buNone/>
              <a:defRPr sz="1400"/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  <a:extLst/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28600" y="189968"/>
            <a:ext cx="8686800" cy="4389120"/>
          </a:xfrm>
          <a:prstGeom prst="rect">
            <a:avLst/>
          </a:prstGeom>
          <a:solidFill>
            <a:schemeClr val="bg2"/>
          </a:solidFill>
          <a:ln>
            <a:solidFill>
              <a:schemeClr val="bg1"/>
            </a:solidFill>
          </a:ln>
          <a:effectLst>
            <a:innerShdw blurRad="95250">
              <a:srgbClr val="000000"/>
            </a:innerShdw>
          </a:effectLst>
        </p:spPr>
        <p:txBody>
          <a:bodyPr/>
          <a:lstStyle>
            <a:lvl1pPr marL="0" indent="0">
              <a:buNone/>
              <a:defRPr sz="3200"/>
            </a:lvl1pPr>
            <a:extLst/>
          </a:lstStyle>
          <a:p>
            <a:r>
              <a:rPr kumimoji="0" lang="en-US"/>
              <a:t>Click icon to add picture</a:t>
            </a:r>
            <a:endParaRPr kumimoji="0"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extLst/>
          </a:lstStyle>
          <a:p>
            <a:pPr>
              <a:defRPr/>
            </a:pPr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380072" y="6407944"/>
            <a:ext cx="2350681" cy="365125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extLst/>
          </a:lstStyle>
          <a:p>
            <a:pPr>
              <a:defRPr/>
            </a:pP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extLst/>
          </a:lstStyle>
          <a:p>
            <a:pPr>
              <a:defRPr/>
            </a:pPr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8600" y="4865122"/>
            <a:ext cx="8075432" cy="562672"/>
          </a:xfrm>
          <a:noFill/>
        </p:spPr>
        <p:txBody>
          <a:bodyPr anchor="t">
            <a:sp3d prstMaterial="softEdge"/>
          </a:bodyPr>
          <a:lstStyle>
            <a:lvl1pPr marR="0" algn="r">
              <a:buNone/>
              <a:defRPr sz="3000" b="0">
                <a:solidFill>
                  <a:schemeClr val="accent1"/>
                </a:solidFill>
                <a:effectLst>
                  <a:outerShdw blurRad="50800" dist="25000" dir="5400000" algn="t" rotWithShape="0">
                    <a:prstClr val="black">
                      <a:alpha val="45000"/>
                    </a:prstClr>
                  </a:outerShdw>
                </a:effectLst>
              </a:defRPr>
            </a:lvl1pPr>
            <a:extLst/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8" name="Freeform 7"/>
          <p:cNvSpPr>
            <a:spLocks/>
          </p:cNvSpPr>
          <p:nvPr/>
        </p:nvSpPr>
        <p:spPr bwMode="auto">
          <a:xfrm>
            <a:off x="499273" y="5944936"/>
            <a:ext cx="4940624" cy="921076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5760" y="0"/>
              </a:cxn>
              <a:cxn ang="0">
                <a:pos x="5760" y="528"/>
              </a:cxn>
              <a:cxn ang="0">
                <a:pos x="48" y="0"/>
              </a:cxn>
            </a:cxnLst>
            <a:rect l="0" t="0" r="0" b="0"/>
            <a:pathLst>
              <a:path w="7485" h="337">
                <a:moveTo>
                  <a:pt x="0" y="2"/>
                </a:moveTo>
                <a:lnTo>
                  <a:pt x="7485" y="337"/>
                </a:lnTo>
                <a:lnTo>
                  <a:pt x="5558" y="337"/>
                </a:lnTo>
                <a:lnTo>
                  <a:pt x="1" y="0"/>
                </a:lnTo>
              </a:path>
            </a:pathLst>
          </a:custGeom>
          <a:solidFill>
            <a:schemeClr val="accent1">
              <a:tint val="65000"/>
              <a:satMod val="115000"/>
              <a:alpha val="40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9" name="Freeform 8"/>
          <p:cNvSpPr>
            <a:spLocks/>
          </p:cNvSpPr>
          <p:nvPr/>
        </p:nvSpPr>
        <p:spPr bwMode="auto">
          <a:xfrm>
            <a:off x="485717" y="5939011"/>
            <a:ext cx="3690451" cy="933450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5760" y="0"/>
              </a:cxn>
              <a:cxn ang="0">
                <a:pos x="5760" y="528"/>
              </a:cxn>
              <a:cxn ang="0">
                <a:pos x="48" y="0"/>
              </a:cxn>
            </a:cxnLst>
            <a:rect l="0" t="0" r="0" b="0"/>
            <a:pathLst>
              <a:path w="5591" h="588">
                <a:moveTo>
                  <a:pt x="0" y="0"/>
                </a:moveTo>
                <a:lnTo>
                  <a:pt x="5591" y="585"/>
                </a:lnTo>
                <a:lnTo>
                  <a:pt x="4415" y="588"/>
                </a:lnTo>
                <a:lnTo>
                  <a:pt x="12" y="4"/>
                </a:lnTo>
              </a:path>
            </a:pathLst>
          </a:custGeom>
          <a:solidFill>
            <a:srgbClr val="000000">
              <a:alpha val="100000"/>
            </a:srgb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0" name="Right Triangle 9"/>
          <p:cNvSpPr>
            <a:spLocks/>
          </p:cNvSpPr>
          <p:nvPr/>
        </p:nvSpPr>
        <p:spPr bwMode="auto">
          <a:xfrm>
            <a:off x="-6042" y="5791253"/>
            <a:ext cx="3402314" cy="1080868"/>
          </a:xfrm>
          <a:prstGeom prst="rtTriangle">
            <a:avLst/>
          </a:prstGeom>
          <a:blipFill>
            <a:blip r:embed="rId2" cstate="print">
              <a:alphaModFix amt="50000"/>
            </a:blip>
            <a:tile tx="0" ty="0" sx="50000" sy="50000" flip="none" algn="t"/>
          </a:blipFill>
          <a:ln w="12700" cap="rnd" cmpd="thickThin" algn="ctr">
            <a:noFill/>
            <a:prstDash val="solid"/>
          </a:ln>
          <a:effectLst>
            <a:fillOverlay blend="mult">
              <a:gradFill flip="none" rotWithShape="1">
                <a:gsLst>
                  <a:gs pos="0">
                    <a:schemeClr val="accent1">
                      <a:shade val="20000"/>
                      <a:satMod val="176000"/>
                      <a:alpha val="100000"/>
                    </a:schemeClr>
                  </a:gs>
                  <a:gs pos="18000">
                    <a:schemeClr val="accent1">
                      <a:shade val="48000"/>
                      <a:satMod val="153000"/>
                      <a:alpha val="100000"/>
                    </a:schemeClr>
                  </a:gs>
                  <a:gs pos="43000">
                    <a:schemeClr val="accent1">
                      <a:tint val="86000"/>
                      <a:satMod val="149000"/>
                      <a:alpha val="100000"/>
                    </a:schemeClr>
                  </a:gs>
                  <a:gs pos="45000">
                    <a:schemeClr val="accent1">
                      <a:tint val="85000"/>
                      <a:satMod val="150000"/>
                      <a:alpha val="100000"/>
                    </a:schemeClr>
                  </a:gs>
                  <a:gs pos="50000">
                    <a:schemeClr val="accent1">
                      <a:tint val="86000"/>
                      <a:satMod val="149000"/>
                      <a:alpha val="100000"/>
                    </a:schemeClr>
                  </a:gs>
                  <a:gs pos="79000">
                    <a:schemeClr val="accent1">
                      <a:shade val="53000"/>
                      <a:satMod val="150000"/>
                      <a:alpha val="100000"/>
                    </a:schemeClr>
                  </a:gs>
                  <a:gs pos="100000">
                    <a:schemeClr val="accent1">
                      <a:shade val="25000"/>
                      <a:satMod val="170000"/>
                      <a:alpha val="100000"/>
                    </a:schemeClr>
                  </a:gs>
                </a:gsLst>
                <a:lin ang="450000" scaled="1"/>
                <a:tileRect/>
              </a:gradFill>
            </a:fillOverlay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vert="horz" wrap="square" lIns="91440" tIns="45720" rIns="91440" bIns="45720" anchor="ctr" compatLnSpc="1"/>
          <a:lstStyle/>
          <a:p>
            <a:pPr algn="ctr" eaLnBrk="1" latinLnBrk="0" hangingPunct="1"/>
            <a:endParaRPr kumimoji="0" lang="en-US"/>
          </a:p>
        </p:txBody>
      </p:sp>
      <p:cxnSp>
        <p:nvCxnSpPr>
          <p:cNvPr id="11" name="Straight Connector 10"/>
          <p:cNvCxnSpPr/>
          <p:nvPr/>
        </p:nvCxnSpPr>
        <p:spPr>
          <a:xfrm>
            <a:off x="-9237" y="5787738"/>
            <a:ext cx="3405509" cy="1084383"/>
          </a:xfrm>
          <a:prstGeom prst="line">
            <a:avLst/>
          </a:prstGeom>
          <a:noFill/>
          <a:ln w="12065" cap="flat" cmpd="sng" algn="ctr">
            <a:gradFill>
              <a:gsLst>
                <a:gs pos="45000">
                  <a:schemeClr val="accent1">
                    <a:tint val="70000"/>
                    <a:satMod val="110000"/>
                  </a:schemeClr>
                </a:gs>
                <a:gs pos="15000">
                  <a:schemeClr val="accent1">
                    <a:shade val="40000"/>
                    <a:satMod val="110000"/>
                  </a:schemeClr>
                </a:gs>
              </a:gsLst>
              <a:lin ang="5400000" scaled="1"/>
            </a:gradFill>
            <a:prstDash val="solid"/>
            <a:miter lim="800000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Chevron 11"/>
          <p:cNvSpPr/>
          <p:nvPr/>
        </p:nvSpPr>
        <p:spPr>
          <a:xfrm>
            <a:off x="8664112" y="4988440"/>
            <a:ext cx="182880" cy="228600"/>
          </a:xfrm>
          <a:prstGeom prst="chevron">
            <a:avLst>
              <a:gd name="adj" fmla="val 50000"/>
            </a:avLst>
          </a:prstGeom>
          <a:gradFill flip="none" rotWithShape="1">
            <a:gsLst>
              <a:gs pos="0">
                <a:schemeClr val="accent1">
                  <a:shade val="60000"/>
                  <a:satMod val="125000"/>
                </a:schemeClr>
              </a:gs>
              <a:gs pos="72000">
                <a:schemeClr val="accent1">
                  <a:tint val="90000"/>
                  <a:satMod val="138000"/>
                </a:schemeClr>
              </a:gs>
              <a:gs pos="100000">
                <a:schemeClr val="accent1">
                  <a:tint val="76000"/>
                  <a:satMod val="136000"/>
                </a:schemeClr>
              </a:gs>
            </a:gsLst>
            <a:lin ang="16200000" scaled="0"/>
          </a:gradFill>
          <a:ln w="3175" cap="rnd" cmpd="sng" algn="ctr">
            <a:solidFill>
              <a:schemeClr val="accent1">
                <a:shade val="50000"/>
              </a:schemeClr>
            </a:solidFill>
            <a:prstDash val="solid"/>
          </a:ln>
          <a:effectLst>
            <a:outerShdw blurRad="50800" dist="25400" dir="5400000">
              <a:srgbClr val="000000">
                <a:alpha val="4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l" eaLnBrk="1" latinLnBrk="0" hangingPunct="1"/>
            <a:endParaRPr kumimoji="0" lang="en-US"/>
          </a:p>
        </p:txBody>
      </p:sp>
      <p:sp>
        <p:nvSpPr>
          <p:cNvPr id="13" name="Chevron 12"/>
          <p:cNvSpPr/>
          <p:nvPr/>
        </p:nvSpPr>
        <p:spPr>
          <a:xfrm>
            <a:off x="8477696" y="4988440"/>
            <a:ext cx="182880" cy="228600"/>
          </a:xfrm>
          <a:prstGeom prst="chevron">
            <a:avLst>
              <a:gd name="adj" fmla="val 50000"/>
            </a:avLst>
          </a:prstGeom>
          <a:gradFill flip="none" rotWithShape="1">
            <a:gsLst>
              <a:gs pos="0">
                <a:schemeClr val="accent1">
                  <a:shade val="60000"/>
                  <a:satMod val="125000"/>
                </a:schemeClr>
              </a:gs>
              <a:gs pos="72000">
                <a:schemeClr val="accent1">
                  <a:tint val="90000"/>
                  <a:satMod val="138000"/>
                </a:schemeClr>
              </a:gs>
              <a:gs pos="100000">
                <a:schemeClr val="accent1">
                  <a:tint val="76000"/>
                  <a:satMod val="136000"/>
                </a:schemeClr>
              </a:gs>
            </a:gsLst>
            <a:lin ang="16200000" scaled="0"/>
          </a:gradFill>
          <a:ln w="3175" cap="rnd" cmpd="sng" algn="ctr">
            <a:solidFill>
              <a:schemeClr val="accent1">
                <a:shade val="50000"/>
              </a:schemeClr>
            </a:solidFill>
            <a:prstDash val="solid"/>
          </a:ln>
          <a:effectLst>
            <a:outerShdw blurRad="50800" dist="25400" dir="5400000">
              <a:srgbClr val="000000">
                <a:alpha val="4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l" eaLnBrk="1" latinLnBrk="0" hangingPunct="1"/>
            <a:endParaRPr kumimoji="0" 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1481329"/>
            <a:ext cx="8229600" cy="4386071"/>
          </a:xfrm>
        </p:spPr>
        <p:txBody>
          <a:bodyPr vert="eaVert"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844013" y="274640"/>
            <a:ext cx="1777470" cy="5592761"/>
          </a:xfrm>
        </p:spPr>
        <p:txBody>
          <a:bodyPr vert="eaVert"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41"/>
            <a:ext cx="6324600" cy="5592760"/>
          </a:xfrm>
        </p:spPr>
        <p:txBody>
          <a:bodyPr vert="eaVert"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endParaRPr lang="en-US" dirty="0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11" name="Date Placeholder 10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 dirty="0"/>
          </a:p>
        </p:txBody>
      </p:sp>
      <p:sp>
        <p:nvSpPr>
          <p:cNvPr id="12" name="Slide Number Placeholder 11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endParaRPr lang="en-US" dirty="0"/>
          </a:p>
        </p:txBody>
      </p:sp>
      <p:sp>
        <p:nvSpPr>
          <p:cNvPr id="13" name="Footer Placeholder 12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pPr>
              <a:defRPr/>
            </a:pPr>
            <a:endParaRPr lang="en-US" dirty="0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11" name="Date Placeholder 10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 dirty="0"/>
          </a:p>
        </p:txBody>
      </p:sp>
      <p:sp>
        <p:nvSpPr>
          <p:cNvPr id="12" name="Slide Number Placeholder 11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endParaRPr lang="en-US" dirty="0"/>
          </a:p>
        </p:txBody>
      </p:sp>
      <p:sp>
        <p:nvSpPr>
          <p:cNvPr id="13" name="Footer Placeholder 12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pPr>
              <a:defRPr/>
            </a:pPr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1.jpeg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Freeform 12"/>
          <p:cNvSpPr>
            <a:spLocks/>
          </p:cNvSpPr>
          <p:nvPr/>
        </p:nvSpPr>
        <p:spPr bwMode="auto">
          <a:xfrm>
            <a:off x="499273" y="5944936"/>
            <a:ext cx="4940624" cy="921076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5760" y="0"/>
              </a:cxn>
              <a:cxn ang="0">
                <a:pos x="5760" y="528"/>
              </a:cxn>
              <a:cxn ang="0">
                <a:pos x="48" y="0"/>
              </a:cxn>
            </a:cxnLst>
            <a:rect l="0" t="0" r="0" b="0"/>
            <a:pathLst>
              <a:path w="7485" h="337">
                <a:moveTo>
                  <a:pt x="0" y="2"/>
                </a:moveTo>
                <a:lnTo>
                  <a:pt x="7485" y="337"/>
                </a:lnTo>
                <a:lnTo>
                  <a:pt x="5558" y="337"/>
                </a:lnTo>
                <a:lnTo>
                  <a:pt x="1" y="0"/>
                </a:lnTo>
              </a:path>
            </a:pathLst>
          </a:custGeom>
          <a:solidFill>
            <a:schemeClr val="accent1">
              <a:tint val="65000"/>
              <a:satMod val="115000"/>
              <a:alpha val="40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2" name="Freeform 11"/>
          <p:cNvSpPr>
            <a:spLocks/>
          </p:cNvSpPr>
          <p:nvPr/>
        </p:nvSpPr>
        <p:spPr bwMode="auto">
          <a:xfrm>
            <a:off x="485717" y="5939011"/>
            <a:ext cx="3690451" cy="933450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5760" y="0"/>
              </a:cxn>
              <a:cxn ang="0">
                <a:pos x="5760" y="528"/>
              </a:cxn>
              <a:cxn ang="0">
                <a:pos x="48" y="0"/>
              </a:cxn>
            </a:cxnLst>
            <a:rect l="0" t="0" r="0" b="0"/>
            <a:pathLst>
              <a:path w="5591" h="588">
                <a:moveTo>
                  <a:pt x="0" y="0"/>
                </a:moveTo>
                <a:lnTo>
                  <a:pt x="5591" y="585"/>
                </a:lnTo>
                <a:lnTo>
                  <a:pt x="4415" y="588"/>
                </a:lnTo>
                <a:lnTo>
                  <a:pt x="12" y="4"/>
                </a:lnTo>
              </a:path>
            </a:pathLst>
          </a:custGeom>
          <a:solidFill>
            <a:srgbClr val="000000">
              <a:alpha val="100000"/>
            </a:srgb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4" name="Right Triangle 13"/>
          <p:cNvSpPr>
            <a:spLocks/>
          </p:cNvSpPr>
          <p:nvPr/>
        </p:nvSpPr>
        <p:spPr bwMode="auto">
          <a:xfrm>
            <a:off x="-6042" y="5791253"/>
            <a:ext cx="3402314" cy="1080868"/>
          </a:xfrm>
          <a:prstGeom prst="rtTriangle">
            <a:avLst/>
          </a:prstGeom>
          <a:blipFill>
            <a:blip r:embed="rId15" cstate="print">
              <a:alphaModFix amt="50000"/>
            </a:blip>
            <a:tile tx="0" ty="0" sx="50000" sy="50000" flip="none" algn="t"/>
          </a:blipFill>
          <a:ln w="12700" cap="rnd" cmpd="thickThin" algn="ctr">
            <a:noFill/>
            <a:prstDash val="solid"/>
          </a:ln>
          <a:effectLst>
            <a:fillOverlay blend="mult">
              <a:gradFill flip="none" rotWithShape="1">
                <a:gsLst>
                  <a:gs pos="0">
                    <a:schemeClr val="accent1">
                      <a:shade val="20000"/>
                      <a:satMod val="176000"/>
                      <a:alpha val="100000"/>
                    </a:schemeClr>
                  </a:gs>
                  <a:gs pos="18000">
                    <a:schemeClr val="accent1">
                      <a:shade val="48000"/>
                      <a:satMod val="153000"/>
                      <a:alpha val="100000"/>
                    </a:schemeClr>
                  </a:gs>
                  <a:gs pos="43000">
                    <a:schemeClr val="accent1">
                      <a:tint val="86000"/>
                      <a:satMod val="149000"/>
                      <a:alpha val="100000"/>
                    </a:schemeClr>
                  </a:gs>
                  <a:gs pos="45000">
                    <a:schemeClr val="accent1">
                      <a:tint val="85000"/>
                      <a:satMod val="150000"/>
                      <a:alpha val="100000"/>
                    </a:schemeClr>
                  </a:gs>
                  <a:gs pos="50000">
                    <a:schemeClr val="accent1">
                      <a:tint val="86000"/>
                      <a:satMod val="149000"/>
                      <a:alpha val="100000"/>
                    </a:schemeClr>
                  </a:gs>
                  <a:gs pos="79000">
                    <a:schemeClr val="accent1">
                      <a:shade val="53000"/>
                      <a:satMod val="150000"/>
                      <a:alpha val="100000"/>
                    </a:schemeClr>
                  </a:gs>
                  <a:gs pos="100000">
                    <a:schemeClr val="accent1">
                      <a:shade val="25000"/>
                      <a:satMod val="170000"/>
                      <a:alpha val="100000"/>
                    </a:schemeClr>
                  </a:gs>
                </a:gsLst>
                <a:lin ang="450000" scaled="1"/>
                <a:tileRect/>
              </a:gradFill>
            </a:fillOverlay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vert="horz" wrap="square" lIns="91440" tIns="45720" rIns="91440" bIns="45720" anchor="ctr" compatLnSpc="1"/>
          <a:lstStyle/>
          <a:p>
            <a:pPr algn="ctr" eaLnBrk="1" latinLnBrk="0" hangingPunct="1"/>
            <a:endParaRPr kumimoji="0" lang="en-US"/>
          </a:p>
        </p:txBody>
      </p:sp>
      <p:cxnSp>
        <p:nvCxnSpPr>
          <p:cNvPr id="15" name="Straight Connector 14"/>
          <p:cNvCxnSpPr/>
          <p:nvPr/>
        </p:nvCxnSpPr>
        <p:spPr>
          <a:xfrm>
            <a:off x="-9237" y="5787738"/>
            <a:ext cx="3405509" cy="1084383"/>
          </a:xfrm>
          <a:prstGeom prst="line">
            <a:avLst/>
          </a:prstGeom>
          <a:noFill/>
          <a:ln w="12065" cap="flat" cmpd="sng" algn="ctr">
            <a:gradFill>
              <a:gsLst>
                <a:gs pos="45000">
                  <a:schemeClr val="accent1">
                    <a:tint val="70000"/>
                    <a:satMod val="110000"/>
                  </a:schemeClr>
                </a:gs>
                <a:gs pos="15000">
                  <a:schemeClr val="accent1">
                    <a:shade val="40000"/>
                    <a:satMod val="110000"/>
                  </a:schemeClr>
                </a:gs>
              </a:gsLst>
              <a:lin ang="5400000" scaled="1"/>
            </a:gradFill>
            <a:prstDash val="solid"/>
            <a:miter lim="800000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itle Placeholder 8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anchor="ctr">
            <a:normAutofit/>
            <a:scene3d>
              <a:camera prst="orthographicFront"/>
              <a:lightRig rig="soft" dir="t"/>
            </a:scene3d>
            <a:sp3d prstMaterial="softEdge">
              <a:bevelT w="25400" h="25400"/>
            </a:sp3d>
          </a:bodyPr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30" name="Text Placeholder 29"/>
          <p:cNvSpPr>
            <a:spLocks noGrp="1"/>
          </p:cNvSpPr>
          <p:nvPr>
            <p:ph type="body" idx="1"/>
          </p:nvPr>
        </p:nvSpPr>
        <p:spPr>
          <a:xfrm>
            <a:off x="457200" y="1481328"/>
            <a:ext cx="8229600" cy="4525963"/>
          </a:xfrm>
          <a:prstGeom prst="rect">
            <a:avLst/>
          </a:prstGeom>
        </p:spPr>
        <p:txBody>
          <a:bodyPr vert="horz">
            <a:normAutofit/>
          </a:bodyPr>
          <a:lstStyle/>
          <a:p>
            <a:pPr lvl="0" eaLnBrk="1" latinLnBrk="0" hangingPunct="1"/>
            <a:r>
              <a:rPr kumimoji="0" lang="en-US"/>
              <a:t>Click to edit Master text styles</a:t>
            </a:r>
          </a:p>
          <a:p>
            <a:pPr lvl="1" eaLnBrk="1" latinLnBrk="0" hangingPunct="1"/>
            <a:r>
              <a:rPr kumimoji="0" lang="en-US"/>
              <a:t>Second level</a:t>
            </a:r>
          </a:p>
          <a:p>
            <a:pPr lvl="2" eaLnBrk="1" latinLnBrk="0" hangingPunct="1"/>
            <a:r>
              <a:rPr kumimoji="0" lang="en-US"/>
              <a:t>Third level</a:t>
            </a:r>
          </a:p>
          <a:p>
            <a:pPr lvl="3" eaLnBrk="1" latinLnBrk="0" hangingPunct="1"/>
            <a:r>
              <a:rPr kumimoji="0" lang="en-US"/>
              <a:t>Fourth level</a:t>
            </a:r>
          </a:p>
          <a:p>
            <a:pPr lvl="4" eaLnBrk="1" latinLnBrk="0" hangingPunct="1"/>
            <a:r>
              <a:rPr kumimoji="0" lang="en-US"/>
              <a:t>Fifth level</a:t>
            </a:r>
          </a:p>
        </p:txBody>
      </p:sp>
      <p:sp>
        <p:nvSpPr>
          <p:cNvPr id="10" name="Date Placeholder 9"/>
          <p:cNvSpPr>
            <a:spLocks noGrp="1"/>
          </p:cNvSpPr>
          <p:nvPr>
            <p:ph type="dt" sz="half" idx="2"/>
          </p:nvPr>
        </p:nvSpPr>
        <p:spPr>
          <a:xfrm>
            <a:off x="6727032" y="6407944"/>
            <a:ext cx="1920240" cy="365760"/>
          </a:xfrm>
          <a:prstGeom prst="rect">
            <a:avLst/>
          </a:prstGeom>
        </p:spPr>
        <p:txBody>
          <a:bodyPr vert="horz" anchor="b"/>
          <a:lstStyle>
            <a:lvl1pPr algn="l" eaLnBrk="1" latinLnBrk="0" hangingPunct="1">
              <a:defRPr kumimoji="0" sz="1000">
                <a:solidFill>
                  <a:schemeClr val="tx1"/>
                </a:solidFill>
              </a:defRPr>
            </a:lvl1pPr>
            <a:extLst/>
          </a:lstStyle>
          <a:p>
            <a:pPr>
              <a:defRPr/>
            </a:pPr>
            <a:endParaRPr lang="en-US" dirty="0"/>
          </a:p>
        </p:txBody>
      </p:sp>
      <p:sp>
        <p:nvSpPr>
          <p:cNvPr id="22" name="Footer Placeholder 21"/>
          <p:cNvSpPr>
            <a:spLocks noGrp="1"/>
          </p:cNvSpPr>
          <p:nvPr>
            <p:ph type="ftr" sz="quarter" idx="3"/>
          </p:nvPr>
        </p:nvSpPr>
        <p:spPr>
          <a:xfrm>
            <a:off x="4380072" y="6407944"/>
            <a:ext cx="2350681" cy="365125"/>
          </a:xfrm>
          <a:prstGeom prst="rect">
            <a:avLst/>
          </a:prstGeom>
        </p:spPr>
        <p:txBody>
          <a:bodyPr vert="horz" anchor="b"/>
          <a:lstStyle>
            <a:lvl1pPr algn="r" eaLnBrk="1" latinLnBrk="0" hangingPunct="1">
              <a:defRPr kumimoji="0" sz="1000">
                <a:solidFill>
                  <a:schemeClr val="tx1"/>
                </a:solidFill>
              </a:defRPr>
            </a:lvl1pPr>
            <a:extLst/>
          </a:lstStyle>
          <a:p>
            <a:pPr>
              <a:defRPr/>
            </a:pPr>
            <a:endParaRPr lang="en-US" dirty="0"/>
          </a:p>
        </p:txBody>
      </p:sp>
      <p:sp>
        <p:nvSpPr>
          <p:cNvPr id="18" name="Slide Number Placeholder 17"/>
          <p:cNvSpPr>
            <a:spLocks noGrp="1"/>
          </p:cNvSpPr>
          <p:nvPr>
            <p:ph type="sldNum" sz="quarter" idx="4"/>
          </p:nvPr>
        </p:nvSpPr>
        <p:spPr>
          <a:xfrm>
            <a:off x="8647272" y="6407944"/>
            <a:ext cx="365760" cy="365125"/>
          </a:xfrm>
          <a:prstGeom prst="rect">
            <a:avLst/>
          </a:prstGeom>
        </p:spPr>
        <p:txBody>
          <a:bodyPr vert="horz" anchor="b"/>
          <a:lstStyle>
            <a:lvl1pPr algn="r" eaLnBrk="1" latinLnBrk="0" hangingPunct="1">
              <a:defRPr kumimoji="0" sz="1000" b="0">
                <a:solidFill>
                  <a:schemeClr val="tx1"/>
                </a:solidFill>
              </a:defRPr>
            </a:lvl1pPr>
            <a:extLst/>
          </a:lstStyle>
          <a:p>
            <a:pPr>
              <a:defRPr/>
            </a:pPr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76" r:id="rId1"/>
    <p:sldLayoutId id="2147483777" r:id="rId2"/>
    <p:sldLayoutId id="2147483778" r:id="rId3"/>
    <p:sldLayoutId id="2147483779" r:id="rId4"/>
    <p:sldLayoutId id="2147483780" r:id="rId5"/>
    <p:sldLayoutId id="2147483781" r:id="rId6"/>
    <p:sldLayoutId id="2147483782" r:id="rId7"/>
    <p:sldLayoutId id="2147483783" r:id="rId8"/>
    <p:sldLayoutId id="2147483784" r:id="rId9"/>
    <p:sldLayoutId id="2147483785" r:id="rId10"/>
    <p:sldLayoutId id="2147483786" r:id="rId11"/>
    <p:sldLayoutId id="2147483656" r:id="rId12"/>
    <p:sldLayoutId id="2147483666" r:id="rId13"/>
  </p:sldLayoutIdLst>
  <p:hf sldNum="0" hdr="0"/>
  <p:txStyles>
    <p:titleStyle>
      <a:lvl1pPr algn="l" rtl="0" eaLnBrk="1" latinLnBrk="0" hangingPunct="1">
        <a:spcBef>
          <a:spcPct val="0"/>
        </a:spcBef>
        <a:buNone/>
        <a:defRPr kumimoji="0" sz="4100" b="1" kern="1200">
          <a:solidFill>
            <a:schemeClr val="tx2"/>
          </a:solidFill>
          <a:effectLst>
            <a:outerShdw blurRad="31750" dist="25400" dir="5400000" algn="tl" rotWithShape="0">
              <a:srgbClr val="000000">
                <a:alpha val="25000"/>
              </a:srgbClr>
            </a:outerShdw>
          </a:effectLst>
          <a:latin typeface="+mj-lt"/>
          <a:ea typeface="+mj-ea"/>
          <a:cs typeface="+mj-cs"/>
        </a:defRPr>
      </a:lvl1pPr>
      <a:extLst/>
    </p:titleStyle>
    <p:bodyStyle>
      <a:lvl1pPr marL="365760" indent="-256032" algn="l" rtl="0" eaLnBrk="1" latinLnBrk="0" hangingPunct="1">
        <a:spcBef>
          <a:spcPts val="400"/>
        </a:spcBef>
        <a:spcAft>
          <a:spcPts val="0"/>
        </a:spcAft>
        <a:buClr>
          <a:schemeClr val="accent1"/>
        </a:buClr>
        <a:buSzPct val="68000"/>
        <a:buFont typeface="Wingdings 3"/>
        <a:buChar char=""/>
        <a:defRPr kumimoji="0" sz="2700" kern="1200">
          <a:solidFill>
            <a:schemeClr val="tx1"/>
          </a:solidFill>
          <a:latin typeface="+mn-lt"/>
          <a:ea typeface="+mn-ea"/>
          <a:cs typeface="+mn-cs"/>
        </a:defRPr>
      </a:lvl1pPr>
      <a:lvl2pPr marL="621792" indent="-228600" algn="l" rtl="0" eaLnBrk="1" latinLnBrk="0" hangingPunct="1">
        <a:spcBef>
          <a:spcPts val="324"/>
        </a:spcBef>
        <a:buClr>
          <a:schemeClr val="accent1"/>
        </a:buClr>
        <a:buFont typeface="Verdana"/>
        <a:buChar char="◦"/>
        <a:defRPr kumimoji="0" sz="2300" kern="1200">
          <a:solidFill>
            <a:schemeClr val="tx1"/>
          </a:solidFill>
          <a:latin typeface="+mn-lt"/>
          <a:ea typeface="+mn-ea"/>
          <a:cs typeface="+mn-cs"/>
        </a:defRPr>
      </a:lvl2pPr>
      <a:lvl3pPr marL="859536" indent="-228600" algn="l" rtl="0" eaLnBrk="1" latinLnBrk="0" hangingPunct="1">
        <a:spcBef>
          <a:spcPts val="350"/>
        </a:spcBef>
        <a:buClr>
          <a:schemeClr val="accent2"/>
        </a:buClr>
        <a:buSzPct val="100000"/>
        <a:buFont typeface="Wingdings 2"/>
        <a:buChar char=""/>
        <a:defRPr kumimoji="0" sz="2100" kern="1200">
          <a:solidFill>
            <a:schemeClr val="tx1"/>
          </a:solidFill>
          <a:latin typeface="+mn-lt"/>
          <a:ea typeface="+mn-ea"/>
          <a:cs typeface="+mn-cs"/>
        </a:defRPr>
      </a:lvl3pPr>
      <a:lvl4pPr marL="1143000" indent="-228600" algn="l" rtl="0" eaLnBrk="1" latinLnBrk="0" hangingPunct="1">
        <a:spcBef>
          <a:spcPts val="350"/>
        </a:spcBef>
        <a:buClr>
          <a:schemeClr val="accent2"/>
        </a:buClr>
        <a:buFont typeface="Wingdings 2"/>
        <a:buChar char=""/>
        <a:defRPr kumimoji="0" sz="190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indent="-228600" algn="l" rtl="0" eaLnBrk="1" latinLnBrk="0" hangingPunct="1">
        <a:spcBef>
          <a:spcPts val="350"/>
        </a:spcBef>
        <a:buClr>
          <a:schemeClr val="accent2"/>
        </a:buClr>
        <a:buFont typeface="Wingdings 2"/>
        <a:buChar char="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1600200" indent="-228600" algn="l" rtl="0" eaLnBrk="1" latinLnBrk="0" hangingPunct="1">
        <a:spcBef>
          <a:spcPts val="350"/>
        </a:spcBef>
        <a:buClr>
          <a:schemeClr val="accent3"/>
        </a:buClr>
        <a:buFont typeface="Wingdings 2"/>
        <a:buChar char="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1828800" indent="-228600" algn="l" rtl="0" eaLnBrk="1" latinLnBrk="0" hangingPunct="1">
        <a:spcBef>
          <a:spcPts val="350"/>
        </a:spcBef>
        <a:buClr>
          <a:schemeClr val="accent3"/>
        </a:buClr>
        <a:buFont typeface="Wingdings 2"/>
        <a:buChar char=""/>
        <a:defRPr kumimoji="0"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2057400" indent="-228600" algn="l" rtl="0" eaLnBrk="1" latinLnBrk="0" hangingPunct="1">
        <a:spcBef>
          <a:spcPts val="350"/>
        </a:spcBef>
        <a:buClr>
          <a:schemeClr val="accent3"/>
        </a:buClr>
        <a:buFont typeface="Wingdings 2"/>
        <a:buChar char=""/>
        <a:defRPr kumimoji="0"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2286000" indent="-228600" algn="l" rtl="0" eaLnBrk="1" latinLnBrk="0" hangingPunct="1">
        <a:spcBef>
          <a:spcPts val="350"/>
        </a:spcBef>
        <a:buClr>
          <a:schemeClr val="accent3"/>
        </a:buClr>
        <a:buFont typeface="Wingdings 2"/>
        <a:buChar char=""/>
        <a:defRPr kumimoji="0" sz="1600" kern="1200" baseline="0">
          <a:solidFill>
            <a:schemeClr val="tx1"/>
          </a:solidFill>
          <a:latin typeface="+mn-lt"/>
          <a:ea typeface="+mn-ea"/>
          <a:cs typeface="+mn-cs"/>
        </a:defRPr>
      </a:lvl9pPr>
      <a:extLst/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  <a:extLst/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slide" Target="slide13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152400" y="1600200"/>
            <a:ext cx="8839200" cy="4724400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en-US" sz="3200" b="1" dirty="0">
                <a:latin typeface="Times New Roman" pitchFamily="18" charset="0"/>
                <a:cs typeface="Times New Roman" pitchFamily="18" charset="0"/>
              </a:rPr>
              <a:t>1. Encapsulation </a:t>
            </a:r>
            <a:r>
              <a:rPr lang="en-US" sz="3200" b="1" dirty="0" err="1">
                <a:latin typeface="Times New Roman" pitchFamily="18" charset="0"/>
                <a:cs typeface="Times New Roman" pitchFamily="18" charset="0"/>
              </a:rPr>
              <a:t>dan</a:t>
            </a:r>
            <a:r>
              <a:rPr lang="en-US" sz="3200" b="1" dirty="0">
                <a:latin typeface="Times New Roman" pitchFamily="18" charset="0"/>
                <a:cs typeface="Times New Roman" pitchFamily="18" charset="0"/>
              </a:rPr>
              <a:t> Information Hiding</a:t>
            </a:r>
            <a:r>
              <a:rPr lang="en-US" sz="3200" b="1" i="1" dirty="0">
                <a:latin typeface="Times New Roman" pitchFamily="18" charset="0"/>
                <a:cs typeface="Times New Roman" pitchFamily="18" charset="0"/>
              </a:rPr>
              <a:t>.</a:t>
            </a:r>
          </a:p>
          <a:p>
            <a:endParaRPr lang="en-US" sz="1000" b="1" i="1" dirty="0">
              <a:latin typeface="Times New Roman" pitchFamily="18" charset="0"/>
              <a:cs typeface="Times New Roman" pitchFamily="18" charset="0"/>
            </a:endParaRPr>
          </a:p>
          <a:p>
            <a:pPr>
              <a:buNone/>
            </a:pPr>
            <a:r>
              <a:rPr lang="en-US" sz="3200" b="1" dirty="0">
                <a:latin typeface="Times New Roman" pitchFamily="18" charset="0"/>
                <a:cs typeface="Times New Roman" pitchFamily="18" charset="0"/>
              </a:rPr>
              <a:t>2. Inheritance.</a:t>
            </a:r>
          </a:p>
          <a:p>
            <a:pPr>
              <a:buNone/>
            </a:pPr>
            <a:endParaRPr lang="en-US" sz="1000" b="1" dirty="0">
              <a:latin typeface="Times New Roman" pitchFamily="18" charset="0"/>
              <a:cs typeface="Times New Roman" pitchFamily="18" charset="0"/>
            </a:endParaRPr>
          </a:p>
          <a:p>
            <a:pPr>
              <a:buNone/>
            </a:pPr>
            <a:r>
              <a:rPr lang="en-US" sz="3200" b="1" dirty="0">
                <a:latin typeface="Times New Roman" pitchFamily="18" charset="0"/>
                <a:cs typeface="Times New Roman" pitchFamily="18" charset="0"/>
              </a:rPr>
              <a:t>3. Overloading.</a:t>
            </a:r>
          </a:p>
          <a:p>
            <a:pPr>
              <a:buNone/>
            </a:pPr>
            <a:endParaRPr lang="en-US" sz="1000" b="1" dirty="0">
              <a:latin typeface="Times New Roman" pitchFamily="18" charset="0"/>
              <a:cs typeface="Times New Roman" pitchFamily="18" charset="0"/>
            </a:endParaRPr>
          </a:p>
          <a:p>
            <a:pPr>
              <a:buNone/>
            </a:pPr>
            <a:r>
              <a:rPr lang="en-US" sz="3200" b="1" dirty="0">
                <a:latin typeface="Times New Roman" pitchFamily="18" charset="0"/>
                <a:cs typeface="Times New Roman" pitchFamily="18" charset="0"/>
              </a:rPr>
              <a:t>4. Overriding </a:t>
            </a:r>
            <a:r>
              <a:rPr lang="en-US" sz="3200" b="1" dirty="0" err="1">
                <a:latin typeface="Times New Roman" pitchFamily="18" charset="0"/>
                <a:cs typeface="Times New Roman" pitchFamily="18" charset="0"/>
              </a:rPr>
              <a:t>dan</a:t>
            </a:r>
            <a:r>
              <a:rPr lang="en-US" sz="3200" b="1" dirty="0">
                <a:latin typeface="Times New Roman" pitchFamily="18" charset="0"/>
                <a:cs typeface="Times New Roman" pitchFamily="18" charset="0"/>
              </a:rPr>
              <a:t> Polymorphism.</a:t>
            </a:r>
          </a:p>
          <a:p>
            <a:pPr>
              <a:buNone/>
            </a:pPr>
            <a:endParaRPr lang="en-US" sz="1000" b="1" dirty="0">
              <a:latin typeface="Times New Roman" pitchFamily="18" charset="0"/>
              <a:cs typeface="Times New Roman" pitchFamily="18" charset="0"/>
            </a:endParaRPr>
          </a:p>
          <a:p>
            <a:pPr>
              <a:buNone/>
            </a:pPr>
            <a:r>
              <a:rPr lang="en-US" sz="3200" b="1" dirty="0">
                <a:latin typeface="Times New Roman" pitchFamily="18" charset="0"/>
                <a:cs typeface="Times New Roman" pitchFamily="18" charset="0"/>
              </a:rPr>
              <a:t>5. Multithreading.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 dirty="0"/>
          </a:p>
        </p:txBody>
      </p:sp>
      <p:sp>
        <p:nvSpPr>
          <p:cNvPr id="5" name="Title 4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792162"/>
          </a:xfrm>
        </p:spPr>
        <p:txBody>
          <a:bodyPr>
            <a:normAutofit/>
          </a:bodyPr>
          <a:lstStyle/>
          <a:p>
            <a:pPr algn="ctr"/>
            <a:r>
              <a:rPr lang="en-US" sz="3400" dirty="0">
                <a:effectLst/>
              </a:rPr>
              <a:t>Lima </a:t>
            </a:r>
            <a:r>
              <a:rPr lang="en-US" sz="3400" dirty="0" err="1">
                <a:effectLst/>
              </a:rPr>
              <a:t>Pilar</a:t>
            </a:r>
            <a:r>
              <a:rPr lang="en-US" sz="3400" dirty="0">
                <a:effectLst/>
              </a:rPr>
              <a:t> </a:t>
            </a:r>
            <a:r>
              <a:rPr lang="en-US" sz="3400" dirty="0" err="1">
                <a:effectLst/>
              </a:rPr>
              <a:t>Konsep</a:t>
            </a:r>
            <a:r>
              <a:rPr lang="en-US" sz="3400" dirty="0">
                <a:effectLst/>
              </a:rPr>
              <a:t> Object-Oriented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228600" y="990600"/>
            <a:ext cx="8686800" cy="5029200"/>
          </a:xfrm>
        </p:spPr>
        <p:txBody>
          <a:bodyPr>
            <a:normAutofit fontScale="85000" lnSpcReduction="20000"/>
          </a:bodyPr>
          <a:lstStyle/>
          <a:p>
            <a:r>
              <a:rPr lang="en-US" dirty="0"/>
              <a:t>Class </a:t>
            </a:r>
            <a:r>
              <a:rPr lang="en-US" dirty="0" err="1"/>
              <a:t>perlu</a:t>
            </a:r>
            <a:r>
              <a:rPr lang="en-US" dirty="0"/>
              <a:t> </a:t>
            </a:r>
            <a:r>
              <a:rPr lang="en-US" dirty="0" err="1"/>
              <a:t>bekerjasama</a:t>
            </a:r>
            <a:r>
              <a:rPr lang="en-US" dirty="0"/>
              <a:t> </a:t>
            </a:r>
            <a:r>
              <a:rPr lang="en-US" dirty="0" err="1"/>
              <a:t>dengan</a:t>
            </a:r>
            <a:r>
              <a:rPr lang="en-US" dirty="0"/>
              <a:t> class yg lain </a:t>
            </a:r>
            <a:r>
              <a:rPr lang="en-US" dirty="0" err="1"/>
              <a:t>dalam</a:t>
            </a:r>
            <a:r>
              <a:rPr lang="en-US" dirty="0"/>
              <a:t> </a:t>
            </a:r>
            <a:r>
              <a:rPr lang="en-US" dirty="0" err="1"/>
              <a:t>suatu</a:t>
            </a:r>
            <a:r>
              <a:rPr lang="en-US" dirty="0"/>
              <a:t> project, </a:t>
            </a:r>
            <a:r>
              <a:rPr lang="en-US" dirty="0" err="1"/>
              <a:t>namun</a:t>
            </a:r>
            <a:r>
              <a:rPr lang="en-US" dirty="0"/>
              <a:t> </a:t>
            </a:r>
            <a:r>
              <a:rPr lang="en-US" dirty="0" err="1"/>
              <a:t>sebaliknya</a:t>
            </a:r>
            <a:r>
              <a:rPr lang="en-US" dirty="0"/>
              <a:t> </a:t>
            </a:r>
            <a:r>
              <a:rPr lang="en-US" dirty="0" err="1"/>
              <a:t>ada</a:t>
            </a:r>
            <a:r>
              <a:rPr lang="en-US" dirty="0"/>
              <a:t> </a:t>
            </a:r>
            <a:r>
              <a:rPr lang="en-US" dirty="0" err="1"/>
              <a:t>kalanya</a:t>
            </a:r>
            <a:r>
              <a:rPr lang="en-US" dirty="0"/>
              <a:t> </a:t>
            </a:r>
            <a:r>
              <a:rPr lang="en-US" dirty="0" err="1"/>
              <a:t>suatu</a:t>
            </a:r>
            <a:r>
              <a:rPr lang="en-US" dirty="0"/>
              <a:t> class </a:t>
            </a:r>
            <a:r>
              <a:rPr lang="en-US" dirty="0" err="1"/>
              <a:t>tidak</a:t>
            </a:r>
            <a:r>
              <a:rPr lang="en-US" dirty="0"/>
              <a:t> </a:t>
            </a:r>
            <a:r>
              <a:rPr lang="en-US" dirty="0" err="1"/>
              <a:t>diperlukan</a:t>
            </a:r>
            <a:r>
              <a:rPr lang="en-US" dirty="0"/>
              <a:t> class lain </a:t>
            </a:r>
            <a:r>
              <a:rPr lang="en-US" dirty="0" err="1"/>
              <a:t>untuk</a:t>
            </a:r>
            <a:r>
              <a:rPr lang="en-US" dirty="0"/>
              <a:t> </a:t>
            </a:r>
            <a:r>
              <a:rPr lang="en-US" dirty="0" err="1"/>
              <a:t>diakses</a:t>
            </a:r>
            <a:r>
              <a:rPr lang="en-US" dirty="0"/>
              <a:t>.</a:t>
            </a:r>
          </a:p>
          <a:p>
            <a:r>
              <a:rPr lang="en-US" sz="900" dirty="0"/>
              <a:t>  </a:t>
            </a:r>
          </a:p>
          <a:p>
            <a:r>
              <a:rPr lang="en-US" dirty="0"/>
              <a:t>Encapsulation </a:t>
            </a:r>
            <a:r>
              <a:rPr lang="en-US" dirty="0" err="1"/>
              <a:t>adalah</a:t>
            </a:r>
            <a:r>
              <a:rPr lang="en-US" dirty="0"/>
              <a:t> </a:t>
            </a:r>
            <a:r>
              <a:rPr lang="en-US" dirty="0" err="1"/>
              <a:t>cara</a:t>
            </a:r>
            <a:r>
              <a:rPr lang="en-US" dirty="0"/>
              <a:t> agar </a:t>
            </a:r>
            <a:r>
              <a:rPr lang="en-US" dirty="0" err="1"/>
              <a:t>elemen</a:t>
            </a:r>
            <a:r>
              <a:rPr lang="en-US" dirty="0"/>
              <a:t>/ </a:t>
            </a:r>
            <a:r>
              <a:rPr lang="en-US" dirty="0" err="1"/>
              <a:t>komponen</a:t>
            </a:r>
            <a:r>
              <a:rPr lang="en-US" dirty="0"/>
              <a:t> </a:t>
            </a:r>
            <a:r>
              <a:rPr lang="en-US" dirty="0" err="1"/>
              <a:t>secara</a:t>
            </a:r>
            <a:r>
              <a:rPr lang="en-US" dirty="0"/>
              <a:t> anatomy </a:t>
            </a:r>
            <a:r>
              <a:rPr lang="en-US" dirty="0" err="1"/>
              <a:t>milik</a:t>
            </a:r>
            <a:r>
              <a:rPr lang="en-US" dirty="0"/>
              <a:t> </a:t>
            </a:r>
            <a:r>
              <a:rPr lang="en-US" dirty="0" err="1"/>
              <a:t>suatu</a:t>
            </a:r>
            <a:r>
              <a:rPr lang="en-US" dirty="0"/>
              <a:t> class </a:t>
            </a:r>
            <a:r>
              <a:rPr lang="en-US" b="1" i="1" dirty="0" err="1"/>
              <a:t>hanya</a:t>
            </a:r>
            <a:r>
              <a:rPr lang="en-US" b="1" i="1" dirty="0"/>
              <a:t> </a:t>
            </a:r>
            <a:r>
              <a:rPr lang="en-US" b="1" i="1" dirty="0" err="1"/>
              <a:t>dapat</a:t>
            </a:r>
            <a:r>
              <a:rPr lang="en-US" b="1" i="1" dirty="0"/>
              <a:t> </a:t>
            </a:r>
            <a:r>
              <a:rPr lang="en-US" b="1" i="1" dirty="0" err="1"/>
              <a:t>diakses</a:t>
            </a:r>
            <a:r>
              <a:rPr lang="en-US" dirty="0"/>
              <a:t>  oleh class </a:t>
            </a:r>
            <a:r>
              <a:rPr lang="en-US" dirty="0" err="1"/>
              <a:t>pemiliknya</a:t>
            </a:r>
            <a:r>
              <a:rPr lang="en-US" dirty="0"/>
              <a:t> (</a:t>
            </a:r>
            <a:r>
              <a:rPr lang="en-US" dirty="0" err="1"/>
              <a:t>tidak</a:t>
            </a:r>
            <a:r>
              <a:rPr lang="en-US" dirty="0"/>
              <a:t> </a:t>
            </a:r>
            <a:r>
              <a:rPr lang="en-US" dirty="0" err="1"/>
              <a:t>boleh</a:t>
            </a:r>
            <a:r>
              <a:rPr lang="en-US" dirty="0"/>
              <a:t> </a:t>
            </a:r>
            <a:r>
              <a:rPr lang="en-US" dirty="0" err="1"/>
              <a:t>diakses</a:t>
            </a:r>
            <a:r>
              <a:rPr lang="en-US" dirty="0"/>
              <a:t> oleh class lain).</a:t>
            </a:r>
          </a:p>
          <a:p>
            <a:endParaRPr lang="en-US" sz="1000" dirty="0"/>
          </a:p>
          <a:p>
            <a:r>
              <a:rPr lang="en-US" dirty="0"/>
              <a:t>Information hiding </a:t>
            </a:r>
            <a:r>
              <a:rPr lang="en-US" dirty="0" err="1"/>
              <a:t>adalah</a:t>
            </a:r>
            <a:r>
              <a:rPr lang="en-US" dirty="0"/>
              <a:t> </a:t>
            </a:r>
            <a:r>
              <a:rPr lang="en-US" b="1" i="1" dirty="0" err="1"/>
              <a:t>tujuan</a:t>
            </a:r>
            <a:r>
              <a:rPr lang="en-US" dirty="0"/>
              <a:t>  </a:t>
            </a:r>
            <a:r>
              <a:rPr lang="en-US" dirty="0" err="1"/>
              <a:t>dari</a:t>
            </a:r>
            <a:r>
              <a:rPr lang="en-US" dirty="0"/>
              <a:t> encapsulation (</a:t>
            </a:r>
            <a:r>
              <a:rPr lang="en-US" dirty="0" err="1"/>
              <a:t>bersifat</a:t>
            </a:r>
            <a:r>
              <a:rPr lang="en-US" dirty="0"/>
              <a:t> </a:t>
            </a:r>
            <a:r>
              <a:rPr lang="en-US" dirty="0" err="1"/>
              <a:t>rahasia</a:t>
            </a:r>
            <a:r>
              <a:rPr lang="en-US" dirty="0"/>
              <a:t>: </a:t>
            </a:r>
            <a:r>
              <a:rPr lang="en-US" dirty="0" err="1"/>
              <a:t>menyembunyikan</a:t>
            </a:r>
            <a:r>
              <a:rPr lang="en-US" dirty="0"/>
              <a:t> </a:t>
            </a:r>
            <a:r>
              <a:rPr lang="en-US" dirty="0" err="1"/>
              <a:t>informasi</a:t>
            </a:r>
            <a:r>
              <a:rPr lang="en-US" dirty="0"/>
              <a:t> yg </a:t>
            </a:r>
            <a:r>
              <a:rPr lang="en-US" dirty="0" err="1"/>
              <a:t>memang</a:t>
            </a:r>
            <a:r>
              <a:rPr lang="en-US" dirty="0"/>
              <a:t> </a:t>
            </a:r>
            <a:r>
              <a:rPr lang="en-US" dirty="0" err="1"/>
              <a:t>tidak</a:t>
            </a:r>
            <a:r>
              <a:rPr lang="en-US" dirty="0"/>
              <a:t> </a:t>
            </a:r>
            <a:r>
              <a:rPr lang="en-US" dirty="0" err="1"/>
              <a:t>diperlukan</a:t>
            </a:r>
            <a:r>
              <a:rPr lang="en-US" dirty="0"/>
              <a:t> </a:t>
            </a:r>
            <a:r>
              <a:rPr lang="en-US" dirty="0" err="1"/>
              <a:t>untuk</a:t>
            </a:r>
            <a:r>
              <a:rPr lang="en-US" dirty="0"/>
              <a:t> </a:t>
            </a:r>
            <a:r>
              <a:rPr lang="en-US" dirty="0" err="1"/>
              <a:t>diketahui</a:t>
            </a:r>
            <a:r>
              <a:rPr lang="en-US" dirty="0"/>
              <a:t> </a:t>
            </a:r>
            <a:r>
              <a:rPr lang="en-US" dirty="0" err="1"/>
              <a:t>secara</a:t>
            </a:r>
            <a:r>
              <a:rPr lang="en-US" dirty="0"/>
              <a:t> </a:t>
            </a:r>
            <a:r>
              <a:rPr lang="en-US" dirty="0" err="1"/>
              <a:t>umum</a:t>
            </a:r>
            <a:r>
              <a:rPr lang="en-US" dirty="0"/>
              <a:t>).</a:t>
            </a:r>
          </a:p>
          <a:p>
            <a:endParaRPr lang="en-US" sz="1000" dirty="0"/>
          </a:p>
          <a:p>
            <a:r>
              <a:rPr lang="en-US" dirty="0"/>
              <a:t>Cara encapsulation </a:t>
            </a:r>
            <a:r>
              <a:rPr lang="en-US" dirty="0" err="1"/>
              <a:t>yaitu</a:t>
            </a:r>
            <a:r>
              <a:rPr lang="en-US" dirty="0"/>
              <a:t> </a:t>
            </a:r>
            <a:r>
              <a:rPr lang="en-US" b="1" dirty="0"/>
              <a:t>attribute</a:t>
            </a:r>
            <a:r>
              <a:rPr lang="en-US" dirty="0"/>
              <a:t> </a:t>
            </a:r>
            <a:r>
              <a:rPr lang="en-US" dirty="0" err="1"/>
              <a:t>maupun</a:t>
            </a:r>
            <a:r>
              <a:rPr lang="en-US" dirty="0"/>
              <a:t> </a:t>
            </a:r>
            <a:r>
              <a:rPr lang="en-US" b="1" i="1" dirty="0"/>
              <a:t>method()</a:t>
            </a:r>
            <a:r>
              <a:rPr lang="en-US" dirty="0"/>
              <a:t>  </a:t>
            </a:r>
            <a:r>
              <a:rPr lang="en-US" dirty="0" err="1"/>
              <a:t>atau</a:t>
            </a:r>
            <a:r>
              <a:rPr lang="en-US" dirty="0"/>
              <a:t> </a:t>
            </a:r>
            <a:r>
              <a:rPr lang="en-US" b="1" i="1" dirty="0"/>
              <a:t>constructor()</a:t>
            </a:r>
            <a:r>
              <a:rPr lang="en-US" dirty="0"/>
              <a:t> </a:t>
            </a:r>
            <a:r>
              <a:rPr lang="en-US" dirty="0" err="1"/>
              <a:t>disembunyikan</a:t>
            </a:r>
            <a:r>
              <a:rPr lang="en-US" dirty="0"/>
              <a:t> </a:t>
            </a:r>
            <a:r>
              <a:rPr lang="en-US" dirty="0" err="1"/>
              <a:t>dengan</a:t>
            </a:r>
            <a:r>
              <a:rPr lang="en-US" dirty="0"/>
              <a:t> </a:t>
            </a:r>
            <a:r>
              <a:rPr lang="en-US" dirty="0" err="1"/>
              <a:t>memberikan</a:t>
            </a:r>
            <a:r>
              <a:rPr lang="en-US" dirty="0"/>
              <a:t> modifier </a:t>
            </a:r>
            <a:r>
              <a:rPr lang="en-US" b="1" i="1" dirty="0">
                <a:solidFill>
                  <a:srgbClr val="FF0000"/>
                </a:solidFill>
              </a:rPr>
              <a:t>private</a:t>
            </a:r>
            <a:r>
              <a:rPr lang="en-US" dirty="0"/>
              <a:t>.  </a:t>
            </a:r>
          </a:p>
          <a:p>
            <a:endParaRPr lang="en-US" sz="1000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 dirty="0"/>
          </a:p>
        </p:txBody>
      </p:sp>
      <p:sp>
        <p:nvSpPr>
          <p:cNvPr id="5" name="Title 4"/>
          <p:cNvSpPr>
            <a:spLocks noGrp="1"/>
          </p:cNvSpPr>
          <p:nvPr>
            <p:ph type="title"/>
          </p:nvPr>
        </p:nvSpPr>
        <p:spPr>
          <a:xfrm>
            <a:off x="228600" y="274638"/>
            <a:ext cx="8686800" cy="715962"/>
          </a:xfrm>
        </p:spPr>
        <p:txBody>
          <a:bodyPr>
            <a:noAutofit/>
          </a:bodyPr>
          <a:lstStyle/>
          <a:p>
            <a:pPr algn="ctr"/>
            <a:r>
              <a:rPr lang="en-US" sz="3400" dirty="0">
                <a:effectLst/>
              </a:rPr>
              <a:t>Encapsulation </a:t>
            </a:r>
            <a:r>
              <a:rPr lang="en-US" sz="3400" dirty="0" err="1">
                <a:effectLst/>
              </a:rPr>
              <a:t>dan</a:t>
            </a:r>
            <a:r>
              <a:rPr lang="en-US" sz="3400" dirty="0">
                <a:effectLst/>
              </a:rPr>
              <a:t> Information Hiding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228600" y="838200"/>
            <a:ext cx="8686800" cy="5410200"/>
          </a:xfrm>
        </p:spPr>
        <p:txBody>
          <a:bodyPr>
            <a:normAutofit fontScale="85000" lnSpcReduction="20000"/>
          </a:bodyPr>
          <a:lstStyle/>
          <a:p>
            <a:pPr>
              <a:buNone/>
            </a:pPr>
            <a:r>
              <a:rPr lang="en-US" dirty="0" err="1"/>
              <a:t>Ciri-ciri</a:t>
            </a:r>
            <a:r>
              <a:rPr lang="en-US" dirty="0"/>
              <a:t> </a:t>
            </a:r>
            <a:r>
              <a:rPr lang="en-US" dirty="0" err="1"/>
              <a:t>khas</a:t>
            </a:r>
            <a:r>
              <a:rPr lang="en-US" dirty="0"/>
              <a:t> (attribute) dan/</a:t>
            </a:r>
            <a:r>
              <a:rPr lang="en-US" dirty="0" err="1"/>
              <a:t>atau</a:t>
            </a:r>
            <a:r>
              <a:rPr lang="en-US" dirty="0"/>
              <a:t> </a:t>
            </a:r>
            <a:r>
              <a:rPr lang="en-US" dirty="0" err="1"/>
              <a:t>perilaku</a:t>
            </a:r>
            <a:r>
              <a:rPr lang="en-US" dirty="0"/>
              <a:t> yang </a:t>
            </a:r>
            <a:r>
              <a:rPr lang="en-US" dirty="0" err="1"/>
              <a:t>khas</a:t>
            </a:r>
            <a:r>
              <a:rPr lang="en-US" dirty="0"/>
              <a:t> (method()) </a:t>
            </a:r>
            <a:r>
              <a:rPr lang="en-US" dirty="0" err="1"/>
              <a:t>milik</a:t>
            </a:r>
            <a:r>
              <a:rPr lang="en-US" dirty="0"/>
              <a:t> </a:t>
            </a:r>
            <a:r>
              <a:rPr lang="en-US" i="1" dirty="0"/>
              <a:t>super class</a:t>
            </a:r>
            <a:r>
              <a:rPr lang="en-US" dirty="0"/>
              <a:t> </a:t>
            </a:r>
            <a:r>
              <a:rPr lang="en-US" dirty="0" err="1"/>
              <a:t>diwariskan</a:t>
            </a:r>
            <a:r>
              <a:rPr lang="en-US" dirty="0"/>
              <a:t> </a:t>
            </a:r>
            <a:r>
              <a:rPr lang="en-US" dirty="0" err="1"/>
              <a:t>ke</a:t>
            </a:r>
            <a:r>
              <a:rPr lang="en-US" dirty="0"/>
              <a:t> </a:t>
            </a:r>
            <a:r>
              <a:rPr lang="en-US" b="1" i="1" dirty="0"/>
              <a:t>subclass</a:t>
            </a:r>
            <a:r>
              <a:rPr lang="en-US" dirty="0"/>
              <a:t>,</a:t>
            </a:r>
            <a:r>
              <a:rPr lang="en-US" b="1" i="1" dirty="0"/>
              <a:t> </a:t>
            </a:r>
            <a:r>
              <a:rPr lang="en-US" dirty="0" err="1"/>
              <a:t>sehingga</a:t>
            </a:r>
            <a:r>
              <a:rPr lang="en-US" dirty="0"/>
              <a:t> subclass </a:t>
            </a:r>
            <a:r>
              <a:rPr lang="en-US" dirty="0" err="1"/>
              <a:t>boleh</a:t>
            </a:r>
            <a:r>
              <a:rPr lang="en-US" dirty="0"/>
              <a:t> </a:t>
            </a:r>
            <a:r>
              <a:rPr lang="en-US" dirty="0" err="1"/>
              <a:t>memanfaatkan</a:t>
            </a:r>
            <a:r>
              <a:rPr lang="en-US" dirty="0"/>
              <a:t> </a:t>
            </a:r>
            <a:r>
              <a:rPr lang="en-US" dirty="0" err="1"/>
              <a:t>komponen</a:t>
            </a:r>
            <a:r>
              <a:rPr lang="en-US" dirty="0"/>
              <a:t> superclass.</a:t>
            </a:r>
          </a:p>
          <a:p>
            <a:pPr>
              <a:buNone/>
            </a:pPr>
            <a:endParaRPr lang="en-US" sz="900" dirty="0"/>
          </a:p>
          <a:p>
            <a:pPr>
              <a:buNone/>
            </a:pPr>
            <a:r>
              <a:rPr lang="en-US" dirty="0" err="1"/>
              <a:t>Konsep</a:t>
            </a:r>
            <a:r>
              <a:rPr lang="en-US" dirty="0"/>
              <a:t> </a:t>
            </a:r>
            <a:r>
              <a:rPr lang="en-US" dirty="0" err="1"/>
              <a:t>ini</a:t>
            </a:r>
            <a:r>
              <a:rPr lang="en-US" dirty="0"/>
              <a:t> </a:t>
            </a:r>
            <a:r>
              <a:rPr lang="en-US" dirty="0" err="1"/>
              <a:t>menyusun</a:t>
            </a:r>
            <a:r>
              <a:rPr lang="en-US" dirty="0"/>
              <a:t> </a:t>
            </a:r>
            <a:r>
              <a:rPr lang="en-US" dirty="0" err="1"/>
              <a:t>struktur</a:t>
            </a:r>
            <a:r>
              <a:rPr lang="en-US" dirty="0"/>
              <a:t>/</a:t>
            </a:r>
            <a:r>
              <a:rPr lang="en-US" dirty="0" err="1"/>
              <a:t>hirarki</a:t>
            </a:r>
            <a:r>
              <a:rPr lang="en-US" dirty="0"/>
              <a:t> taxonomy class-class </a:t>
            </a:r>
            <a:r>
              <a:rPr lang="en-US" dirty="0" err="1"/>
              <a:t>suatu</a:t>
            </a:r>
            <a:r>
              <a:rPr lang="en-US" dirty="0"/>
              <a:t> project.</a:t>
            </a:r>
          </a:p>
          <a:p>
            <a:pPr>
              <a:buNone/>
            </a:pPr>
            <a:r>
              <a:rPr lang="en-US" sz="1100" dirty="0"/>
              <a:t>  </a:t>
            </a:r>
          </a:p>
          <a:p>
            <a:pPr>
              <a:buNone/>
            </a:pPr>
            <a:r>
              <a:rPr lang="en-US" dirty="0" err="1"/>
              <a:t>Contoh</a:t>
            </a:r>
            <a:r>
              <a:rPr lang="en-US" dirty="0"/>
              <a:t> </a:t>
            </a:r>
            <a:r>
              <a:rPr lang="en-US" dirty="0" err="1"/>
              <a:t>dalam</a:t>
            </a:r>
            <a:r>
              <a:rPr lang="en-US" dirty="0"/>
              <a:t> </a:t>
            </a:r>
            <a:r>
              <a:rPr lang="en-US" dirty="0" err="1"/>
              <a:t>hirarki</a:t>
            </a:r>
            <a:r>
              <a:rPr lang="en-US" dirty="0"/>
              <a:t> class, </a:t>
            </a:r>
            <a:r>
              <a:rPr lang="en-US" dirty="0" err="1"/>
              <a:t>jika</a:t>
            </a:r>
            <a:r>
              <a:rPr lang="en-US" dirty="0"/>
              <a:t> class </a:t>
            </a:r>
            <a:r>
              <a:rPr lang="en-US" dirty="0" err="1"/>
              <a:t>JuringBola</a:t>
            </a:r>
            <a:r>
              <a:rPr lang="en-US" dirty="0"/>
              <a:t> </a:t>
            </a:r>
            <a:r>
              <a:rPr lang="en-US" dirty="0" err="1"/>
              <a:t>merupakan</a:t>
            </a:r>
            <a:r>
              <a:rPr lang="en-US" dirty="0"/>
              <a:t> </a:t>
            </a:r>
            <a:r>
              <a:rPr lang="en-US" dirty="0" err="1"/>
              <a:t>turunan</a:t>
            </a:r>
            <a:r>
              <a:rPr lang="en-US" dirty="0"/>
              <a:t> class Bola, dan class Bola </a:t>
            </a:r>
            <a:r>
              <a:rPr lang="en-US" dirty="0" err="1"/>
              <a:t>merupakan</a:t>
            </a:r>
            <a:r>
              <a:rPr lang="en-US" dirty="0"/>
              <a:t> </a:t>
            </a:r>
            <a:r>
              <a:rPr lang="en-US" dirty="0" err="1"/>
              <a:t>turunan</a:t>
            </a:r>
            <a:r>
              <a:rPr lang="en-US" dirty="0"/>
              <a:t> class </a:t>
            </a:r>
            <a:r>
              <a:rPr lang="en-US" dirty="0" err="1"/>
              <a:t>Lingkaran</a:t>
            </a:r>
            <a:r>
              <a:rPr lang="en-US" dirty="0"/>
              <a:t>, </a:t>
            </a:r>
            <a:r>
              <a:rPr lang="en-US" dirty="0" err="1"/>
              <a:t>maka</a:t>
            </a:r>
            <a:r>
              <a:rPr lang="en-US" dirty="0"/>
              <a:t> </a:t>
            </a:r>
            <a:r>
              <a:rPr lang="en-US" dirty="0" err="1"/>
              <a:t>otomatis</a:t>
            </a:r>
            <a:r>
              <a:rPr lang="en-US" dirty="0"/>
              <a:t> attribute dan method() </a:t>
            </a:r>
            <a:r>
              <a:rPr lang="en-US" dirty="0" err="1"/>
              <a:t>atau</a:t>
            </a:r>
            <a:r>
              <a:rPr lang="en-US" dirty="0"/>
              <a:t> constructor() </a:t>
            </a:r>
            <a:r>
              <a:rPr lang="en-US" dirty="0" err="1"/>
              <a:t>milik</a:t>
            </a:r>
            <a:r>
              <a:rPr lang="en-US" dirty="0"/>
              <a:t> super class </a:t>
            </a:r>
            <a:r>
              <a:rPr lang="en-US" dirty="0" err="1"/>
              <a:t>Lingkaran</a:t>
            </a:r>
            <a:r>
              <a:rPr lang="en-US" dirty="0"/>
              <a:t>, juga </a:t>
            </a:r>
            <a:r>
              <a:rPr lang="en-US" dirty="0" err="1"/>
              <a:t>diwariskan</a:t>
            </a:r>
            <a:r>
              <a:rPr lang="en-US" dirty="0"/>
              <a:t> </a:t>
            </a:r>
            <a:r>
              <a:rPr lang="en-US" dirty="0" err="1"/>
              <a:t>ke</a:t>
            </a:r>
            <a:r>
              <a:rPr lang="en-US" dirty="0"/>
              <a:t> sub class Bola dan </a:t>
            </a:r>
            <a:r>
              <a:rPr lang="en-US" dirty="0" err="1"/>
              <a:t>ke</a:t>
            </a:r>
            <a:r>
              <a:rPr lang="en-US" dirty="0"/>
              <a:t> sub class </a:t>
            </a:r>
            <a:r>
              <a:rPr lang="en-US" dirty="0" err="1"/>
              <a:t>JuringBola</a:t>
            </a:r>
            <a:r>
              <a:rPr lang="en-US" dirty="0"/>
              <a:t>.</a:t>
            </a:r>
          </a:p>
          <a:p>
            <a:pPr>
              <a:buNone/>
            </a:pPr>
            <a:endParaRPr lang="en-US" sz="1100" dirty="0"/>
          </a:p>
          <a:p>
            <a:pPr>
              <a:buNone/>
            </a:pPr>
            <a:r>
              <a:rPr lang="en-US" dirty="0"/>
              <a:t>Template </a:t>
            </a:r>
            <a:r>
              <a:rPr lang="en-US" dirty="0" err="1"/>
              <a:t>pewarisan</a:t>
            </a:r>
            <a:r>
              <a:rPr lang="en-US" dirty="0"/>
              <a:t>:</a:t>
            </a:r>
          </a:p>
          <a:p>
            <a:pPr>
              <a:buNone/>
            </a:pPr>
            <a:r>
              <a:rPr lang="en-US" sz="2500" b="1" i="1" dirty="0"/>
              <a:t>[modifier1] class </a:t>
            </a:r>
            <a:r>
              <a:rPr lang="en-US" sz="2500" b="1" i="1" dirty="0" err="1"/>
              <a:t>NamaSubClass</a:t>
            </a:r>
            <a:r>
              <a:rPr lang="en-US" sz="2500" b="1" i="1" dirty="0"/>
              <a:t> </a:t>
            </a:r>
            <a:r>
              <a:rPr lang="en-US" sz="2500" b="1" i="1" dirty="0">
                <a:solidFill>
                  <a:srgbClr val="FF0000"/>
                </a:solidFill>
              </a:rPr>
              <a:t>extends</a:t>
            </a:r>
            <a:r>
              <a:rPr lang="en-US" sz="2500" b="1" i="1" dirty="0"/>
              <a:t> </a:t>
            </a:r>
            <a:r>
              <a:rPr lang="en-US" sz="2500" b="1" i="1" dirty="0" err="1"/>
              <a:t>NamaSuperClass</a:t>
            </a:r>
            <a:r>
              <a:rPr lang="en-US" sz="2500" b="1" i="1" dirty="0"/>
              <a:t> {</a:t>
            </a:r>
          </a:p>
          <a:p>
            <a:pPr>
              <a:buNone/>
            </a:pPr>
            <a:r>
              <a:rPr lang="en-US" sz="2500" b="1" i="1" dirty="0"/>
              <a:t>      //</a:t>
            </a:r>
            <a:r>
              <a:rPr lang="en-US" sz="2500" b="1" i="1" dirty="0" err="1"/>
              <a:t>classbody</a:t>
            </a:r>
            <a:endParaRPr lang="en-US" sz="2500" b="1" i="1" dirty="0"/>
          </a:p>
          <a:p>
            <a:pPr>
              <a:buNone/>
            </a:pPr>
            <a:r>
              <a:rPr lang="en-US" sz="2500" b="1" i="1" dirty="0"/>
              <a:t>}</a:t>
            </a:r>
          </a:p>
          <a:p>
            <a:endParaRPr lang="en-US" dirty="0"/>
          </a:p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 dirty="0"/>
          </a:p>
        </p:txBody>
      </p:sp>
      <p:sp>
        <p:nvSpPr>
          <p:cNvPr id="5" name="Title 4"/>
          <p:cNvSpPr>
            <a:spLocks noGrp="1"/>
          </p:cNvSpPr>
          <p:nvPr>
            <p:ph type="title"/>
          </p:nvPr>
        </p:nvSpPr>
        <p:spPr>
          <a:xfrm>
            <a:off x="457200" y="228600"/>
            <a:ext cx="8229600" cy="487362"/>
          </a:xfrm>
        </p:spPr>
        <p:txBody>
          <a:bodyPr>
            <a:normAutofit fontScale="90000"/>
          </a:bodyPr>
          <a:lstStyle/>
          <a:p>
            <a:pPr algn="ctr"/>
            <a:r>
              <a:rPr lang="en-US" sz="3200" dirty="0" err="1">
                <a:effectLst/>
              </a:rPr>
              <a:t>Pengertian</a:t>
            </a:r>
            <a:r>
              <a:rPr lang="en-US" sz="3200" dirty="0">
                <a:effectLst/>
              </a:rPr>
              <a:t> Inheritance (</a:t>
            </a:r>
            <a:r>
              <a:rPr lang="en-US" sz="3200" dirty="0" err="1">
                <a:effectLst/>
              </a:rPr>
              <a:t>Pewarisan</a:t>
            </a:r>
            <a:r>
              <a:rPr lang="en-US" sz="3200" dirty="0">
                <a:effectLst/>
              </a:rPr>
              <a:t>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228600" y="990600"/>
            <a:ext cx="8686800" cy="5029200"/>
          </a:xfrm>
        </p:spPr>
        <p:txBody>
          <a:bodyPr>
            <a:normAutofit fontScale="92500" lnSpcReduction="20000"/>
          </a:bodyPr>
          <a:lstStyle/>
          <a:p>
            <a:r>
              <a:rPr lang="en-US" b="1" dirty="0" err="1">
                <a:solidFill>
                  <a:srgbClr val="FF0000"/>
                </a:solidFill>
              </a:rPr>
              <a:t>Tanpa</a:t>
            </a:r>
            <a:r>
              <a:rPr lang="en-US" dirty="0"/>
              <a:t> </a:t>
            </a:r>
            <a:r>
              <a:rPr lang="en-US" i="1" dirty="0"/>
              <a:t>inheritance</a:t>
            </a:r>
            <a:r>
              <a:rPr lang="en-US" dirty="0"/>
              <a:t>, </a:t>
            </a:r>
            <a:r>
              <a:rPr lang="en-US" dirty="0" err="1"/>
              <a:t>maka</a:t>
            </a:r>
            <a:r>
              <a:rPr lang="en-US" dirty="0"/>
              <a:t> </a:t>
            </a:r>
            <a:r>
              <a:rPr lang="en-US" dirty="0" err="1"/>
              <a:t>seluruh</a:t>
            </a:r>
            <a:r>
              <a:rPr lang="en-US" dirty="0"/>
              <a:t> </a:t>
            </a:r>
            <a:r>
              <a:rPr lang="en-US" i="1" dirty="0"/>
              <a:t>attribute</a:t>
            </a:r>
            <a:r>
              <a:rPr lang="en-US" dirty="0"/>
              <a:t> dan </a:t>
            </a:r>
            <a:r>
              <a:rPr lang="en-US" i="1" dirty="0"/>
              <a:t>method()</a:t>
            </a:r>
            <a:r>
              <a:rPr lang="en-US" dirty="0"/>
              <a:t> </a:t>
            </a:r>
            <a:r>
              <a:rPr lang="en-US" dirty="0" err="1"/>
              <a:t>atau</a:t>
            </a:r>
            <a:r>
              <a:rPr lang="en-US" dirty="0"/>
              <a:t> </a:t>
            </a:r>
            <a:r>
              <a:rPr lang="en-US" i="1" dirty="0"/>
              <a:t>constructor()</a:t>
            </a:r>
            <a:r>
              <a:rPr lang="en-US" dirty="0"/>
              <a:t> yang </a:t>
            </a:r>
            <a:r>
              <a:rPr lang="en-US" dirty="0" err="1"/>
              <a:t>dicoding</a:t>
            </a:r>
            <a:r>
              <a:rPr lang="en-US" dirty="0"/>
              <a:t> di </a:t>
            </a:r>
            <a:r>
              <a:rPr lang="en-US" dirty="0" err="1"/>
              <a:t>suatu</a:t>
            </a:r>
            <a:r>
              <a:rPr lang="en-US" dirty="0"/>
              <a:t> </a:t>
            </a:r>
            <a:r>
              <a:rPr lang="en-US" i="1" dirty="0"/>
              <a:t>class</a:t>
            </a:r>
            <a:r>
              <a:rPr lang="en-US" dirty="0"/>
              <a:t>, </a:t>
            </a:r>
            <a:r>
              <a:rPr lang="en-US" b="1" dirty="0" err="1"/>
              <a:t>harus</a:t>
            </a:r>
            <a:r>
              <a:rPr lang="en-US" b="1" dirty="0"/>
              <a:t> </a:t>
            </a:r>
            <a:r>
              <a:rPr lang="en-US" b="1" dirty="0" err="1"/>
              <a:t>ditulis</a:t>
            </a:r>
            <a:r>
              <a:rPr lang="en-US" b="1" dirty="0"/>
              <a:t> </a:t>
            </a:r>
            <a:r>
              <a:rPr lang="en-US" b="1" dirty="0" err="1"/>
              <a:t>ulang</a:t>
            </a:r>
            <a:r>
              <a:rPr lang="en-US" b="1" dirty="0"/>
              <a:t> </a:t>
            </a:r>
            <a:r>
              <a:rPr lang="en-US" b="1" dirty="0" err="1"/>
              <a:t>seluruhnya</a:t>
            </a:r>
            <a:r>
              <a:rPr lang="en-US" dirty="0"/>
              <a:t> oleh </a:t>
            </a:r>
            <a:r>
              <a:rPr lang="en-US" dirty="0" err="1"/>
              <a:t>suatu</a:t>
            </a:r>
            <a:r>
              <a:rPr lang="en-US" dirty="0"/>
              <a:t> </a:t>
            </a:r>
            <a:r>
              <a:rPr lang="en-US" i="1" dirty="0"/>
              <a:t>class</a:t>
            </a:r>
            <a:r>
              <a:rPr lang="en-US" dirty="0"/>
              <a:t> lain yang </a:t>
            </a:r>
            <a:r>
              <a:rPr lang="en-US" dirty="0" err="1"/>
              <a:t>kebetulan</a:t>
            </a:r>
            <a:r>
              <a:rPr lang="en-US" dirty="0"/>
              <a:t> </a:t>
            </a:r>
            <a:r>
              <a:rPr lang="en-US" b="1" dirty="0" err="1">
                <a:solidFill>
                  <a:srgbClr val="FF0000"/>
                </a:solidFill>
              </a:rPr>
              <a:t>memerlukan</a:t>
            </a:r>
            <a:r>
              <a:rPr lang="en-US" dirty="0"/>
              <a:t> </a:t>
            </a:r>
            <a:r>
              <a:rPr lang="en-US" dirty="0" err="1"/>
              <a:t>sebagian</a:t>
            </a:r>
            <a:r>
              <a:rPr lang="en-US" dirty="0"/>
              <a:t> code program yang </a:t>
            </a:r>
            <a:r>
              <a:rPr lang="en-US" dirty="0" err="1"/>
              <a:t>telah</a:t>
            </a:r>
            <a:r>
              <a:rPr lang="en-US" dirty="0"/>
              <a:t> </a:t>
            </a:r>
            <a:r>
              <a:rPr lang="en-US" dirty="0" err="1"/>
              <a:t>ditulis</a:t>
            </a:r>
            <a:r>
              <a:rPr lang="en-US" dirty="0"/>
              <a:t>. </a:t>
            </a:r>
          </a:p>
          <a:p>
            <a:r>
              <a:rPr lang="en-US" b="1" dirty="0" err="1">
                <a:solidFill>
                  <a:srgbClr val="FF0000"/>
                </a:solidFill>
              </a:rPr>
              <a:t>Dengan</a:t>
            </a:r>
            <a:r>
              <a:rPr lang="en-US" dirty="0"/>
              <a:t> </a:t>
            </a:r>
            <a:r>
              <a:rPr lang="en-US" i="1" dirty="0"/>
              <a:t>inheritance,</a:t>
            </a:r>
            <a:r>
              <a:rPr lang="en-US" dirty="0"/>
              <a:t> </a:t>
            </a:r>
            <a:r>
              <a:rPr lang="en-US" dirty="0" err="1"/>
              <a:t>berarti</a:t>
            </a:r>
            <a:r>
              <a:rPr lang="en-US" dirty="0"/>
              <a:t> code yang </a:t>
            </a:r>
            <a:r>
              <a:rPr lang="en-US" dirty="0" err="1"/>
              <a:t>dibutuhkan</a:t>
            </a:r>
            <a:r>
              <a:rPr lang="en-US" dirty="0"/>
              <a:t> </a:t>
            </a:r>
            <a:r>
              <a:rPr lang="en-US" b="1" dirty="0" err="1"/>
              <a:t>tidak</a:t>
            </a:r>
            <a:r>
              <a:rPr lang="en-US" b="1" dirty="0"/>
              <a:t> </a:t>
            </a:r>
            <a:r>
              <a:rPr lang="en-US" b="1" dirty="0" err="1"/>
              <a:t>perlu</a:t>
            </a:r>
            <a:r>
              <a:rPr lang="en-US" b="1" dirty="0"/>
              <a:t> </a:t>
            </a:r>
            <a:r>
              <a:rPr lang="en-US" b="1" dirty="0" err="1"/>
              <a:t>ditulis</a:t>
            </a:r>
            <a:r>
              <a:rPr lang="en-US" b="1" dirty="0"/>
              <a:t> </a:t>
            </a:r>
            <a:r>
              <a:rPr lang="en-US" b="1" dirty="0" err="1"/>
              <a:t>ulang</a:t>
            </a:r>
            <a:r>
              <a:rPr lang="en-US" dirty="0"/>
              <a:t>.</a:t>
            </a:r>
          </a:p>
          <a:p>
            <a:endParaRPr lang="en-US" sz="1100" dirty="0"/>
          </a:p>
          <a:p>
            <a:r>
              <a:rPr lang="en-US" b="1" dirty="0" err="1">
                <a:solidFill>
                  <a:srgbClr val="FF0000"/>
                </a:solidFill>
              </a:rPr>
              <a:t>Dengan</a:t>
            </a:r>
            <a:r>
              <a:rPr lang="en-US" dirty="0"/>
              <a:t> </a:t>
            </a:r>
            <a:r>
              <a:rPr lang="en-US" i="1" dirty="0"/>
              <a:t>inheritance</a:t>
            </a:r>
            <a:r>
              <a:rPr lang="en-US" dirty="0"/>
              <a:t>, </a:t>
            </a:r>
            <a:r>
              <a:rPr lang="en-US" dirty="0" err="1"/>
              <a:t>jika</a:t>
            </a:r>
            <a:r>
              <a:rPr lang="en-US" dirty="0"/>
              <a:t> programmer </a:t>
            </a:r>
            <a:r>
              <a:rPr lang="en-US" dirty="0" err="1"/>
              <a:t>ingin</a:t>
            </a:r>
            <a:r>
              <a:rPr lang="en-US" dirty="0"/>
              <a:t> </a:t>
            </a:r>
            <a:r>
              <a:rPr lang="en-US" dirty="0" err="1"/>
              <a:t>memanfaatkan</a:t>
            </a:r>
            <a:r>
              <a:rPr lang="en-US" dirty="0"/>
              <a:t> </a:t>
            </a:r>
            <a:r>
              <a:rPr lang="en-US" dirty="0" err="1"/>
              <a:t>suatu</a:t>
            </a:r>
            <a:r>
              <a:rPr lang="en-US" dirty="0"/>
              <a:t> </a:t>
            </a:r>
            <a:r>
              <a:rPr lang="en-US" i="1" dirty="0"/>
              <a:t>attribute</a:t>
            </a:r>
            <a:r>
              <a:rPr lang="en-US" dirty="0"/>
              <a:t> </a:t>
            </a:r>
            <a:r>
              <a:rPr lang="en-US" dirty="0" err="1"/>
              <a:t>atau</a:t>
            </a:r>
            <a:r>
              <a:rPr lang="en-US" dirty="0"/>
              <a:t> </a:t>
            </a:r>
            <a:r>
              <a:rPr lang="en-US" dirty="0" err="1"/>
              <a:t>memodifikasi</a:t>
            </a:r>
            <a:r>
              <a:rPr lang="en-US" dirty="0"/>
              <a:t> </a:t>
            </a:r>
            <a:r>
              <a:rPr lang="en-US" dirty="0" err="1"/>
              <a:t>isi</a:t>
            </a:r>
            <a:r>
              <a:rPr lang="en-US" dirty="0"/>
              <a:t> </a:t>
            </a:r>
            <a:r>
              <a:rPr lang="en-US" dirty="0" err="1"/>
              <a:t>suatu</a:t>
            </a:r>
            <a:r>
              <a:rPr lang="en-US" dirty="0"/>
              <a:t> </a:t>
            </a:r>
            <a:r>
              <a:rPr lang="en-US" i="1" dirty="0"/>
              <a:t>method()</a:t>
            </a:r>
            <a:r>
              <a:rPr lang="en-US" dirty="0"/>
              <a:t> </a:t>
            </a:r>
            <a:r>
              <a:rPr lang="en-US" dirty="0" err="1"/>
              <a:t>milik</a:t>
            </a:r>
            <a:r>
              <a:rPr lang="en-US" dirty="0"/>
              <a:t> </a:t>
            </a:r>
            <a:r>
              <a:rPr lang="en-US" i="1" dirty="0"/>
              <a:t>super class</a:t>
            </a:r>
            <a:r>
              <a:rPr lang="en-US" dirty="0"/>
              <a:t>, </a:t>
            </a:r>
            <a:r>
              <a:rPr lang="en-US" dirty="0" err="1"/>
              <a:t>dapat</a:t>
            </a:r>
            <a:r>
              <a:rPr lang="en-US" dirty="0"/>
              <a:t> </a:t>
            </a:r>
            <a:r>
              <a:rPr lang="en-US" dirty="0" err="1"/>
              <a:t>dilakukan</a:t>
            </a:r>
            <a:r>
              <a:rPr lang="en-US" dirty="0"/>
              <a:t> </a:t>
            </a:r>
            <a:r>
              <a:rPr lang="en-US" dirty="0" err="1"/>
              <a:t>di</a:t>
            </a:r>
            <a:r>
              <a:rPr lang="en-US" dirty="0"/>
              <a:t> </a:t>
            </a:r>
            <a:r>
              <a:rPr lang="en-US" i="1" dirty="0"/>
              <a:t>sub class</a:t>
            </a:r>
            <a:r>
              <a:rPr lang="en-US" dirty="0"/>
              <a:t>.</a:t>
            </a:r>
          </a:p>
          <a:p>
            <a:endParaRPr lang="en-US" sz="1100" dirty="0"/>
          </a:p>
          <a:p>
            <a:r>
              <a:rPr lang="en-US" dirty="0" err="1"/>
              <a:t>Namun</a:t>
            </a:r>
            <a:r>
              <a:rPr lang="en-US" dirty="0"/>
              <a:t> </a:t>
            </a:r>
            <a:r>
              <a:rPr lang="en-US" dirty="0" err="1"/>
              <a:t>bila</a:t>
            </a:r>
            <a:r>
              <a:rPr lang="en-US" dirty="0"/>
              <a:t> </a:t>
            </a:r>
            <a:r>
              <a:rPr lang="en-US" dirty="0" err="1"/>
              <a:t>logika</a:t>
            </a:r>
            <a:r>
              <a:rPr lang="en-US" dirty="0"/>
              <a:t> </a:t>
            </a:r>
            <a:r>
              <a:rPr lang="en-US" dirty="0" err="1"/>
              <a:t>dari</a:t>
            </a:r>
            <a:r>
              <a:rPr lang="en-US" dirty="0"/>
              <a:t> </a:t>
            </a:r>
            <a:r>
              <a:rPr lang="en-US" i="1" dirty="0"/>
              <a:t>coding</a:t>
            </a:r>
            <a:r>
              <a:rPr lang="en-US" dirty="0"/>
              <a:t> </a:t>
            </a:r>
            <a:r>
              <a:rPr lang="en-US" dirty="0" err="1"/>
              <a:t>ingin</a:t>
            </a:r>
            <a:r>
              <a:rPr lang="en-US" dirty="0"/>
              <a:t> </a:t>
            </a:r>
            <a:r>
              <a:rPr lang="en-US" dirty="0" err="1"/>
              <a:t>diperbaiki</a:t>
            </a:r>
            <a:r>
              <a:rPr lang="en-US" dirty="0"/>
              <a:t> </a:t>
            </a:r>
            <a:r>
              <a:rPr lang="en-US" dirty="0" err="1"/>
              <a:t>maka</a:t>
            </a:r>
            <a:r>
              <a:rPr lang="en-US" dirty="0"/>
              <a:t> </a:t>
            </a:r>
            <a:r>
              <a:rPr lang="en-US" dirty="0" err="1"/>
              <a:t>prosesnya</a:t>
            </a:r>
            <a:r>
              <a:rPr lang="en-US" dirty="0"/>
              <a:t> </a:t>
            </a:r>
            <a:r>
              <a:rPr lang="en-US" dirty="0" err="1"/>
              <a:t>dapat</a:t>
            </a:r>
            <a:r>
              <a:rPr lang="en-US" dirty="0"/>
              <a:t> </a:t>
            </a:r>
            <a:r>
              <a:rPr lang="en-US" dirty="0" err="1"/>
              <a:t>dilakukan</a:t>
            </a:r>
            <a:r>
              <a:rPr lang="en-US" dirty="0"/>
              <a:t> </a:t>
            </a:r>
            <a:r>
              <a:rPr lang="en-US" dirty="0" err="1"/>
              <a:t>di</a:t>
            </a:r>
            <a:r>
              <a:rPr lang="en-US" dirty="0"/>
              <a:t> </a:t>
            </a:r>
            <a:r>
              <a:rPr lang="en-US" i="1" dirty="0"/>
              <a:t>super class</a:t>
            </a:r>
            <a:r>
              <a:rPr lang="en-US" dirty="0"/>
              <a:t>.  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 dirty="0"/>
          </a:p>
        </p:txBody>
      </p:sp>
      <p:sp>
        <p:nvSpPr>
          <p:cNvPr id="5" name="Title 4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487362"/>
          </a:xfrm>
        </p:spPr>
        <p:txBody>
          <a:bodyPr>
            <a:normAutofit fontScale="90000"/>
          </a:bodyPr>
          <a:lstStyle/>
          <a:p>
            <a:pPr algn="ctr"/>
            <a:r>
              <a:rPr lang="en-US" sz="3600" dirty="0" err="1">
                <a:effectLst/>
              </a:rPr>
              <a:t>Manfaat</a:t>
            </a:r>
            <a:r>
              <a:rPr lang="en-US" sz="3600" dirty="0">
                <a:effectLst/>
              </a:rPr>
              <a:t> Inheritance (</a:t>
            </a:r>
            <a:r>
              <a:rPr lang="en-US" sz="3600" dirty="0" err="1">
                <a:effectLst/>
              </a:rPr>
              <a:t>Pewarisan</a:t>
            </a:r>
            <a:r>
              <a:rPr lang="en-US" sz="3600" dirty="0">
                <a:effectLst/>
              </a:rPr>
              <a:t>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Content Placeholder 9"/>
          <p:cNvSpPr>
            <a:spLocks noGrp="1"/>
          </p:cNvSpPr>
          <p:nvPr>
            <p:ph idx="1"/>
          </p:nvPr>
        </p:nvSpPr>
        <p:spPr>
          <a:xfrm>
            <a:off x="228600" y="1066800"/>
            <a:ext cx="8686800" cy="5243848"/>
          </a:xfrm>
        </p:spPr>
        <p:txBody>
          <a:bodyPr>
            <a:normAutofit fontScale="70000" lnSpcReduction="20000"/>
          </a:bodyPr>
          <a:lstStyle/>
          <a:p>
            <a:r>
              <a:rPr lang="en-US" b="1" i="1" dirty="0"/>
              <a:t>Overloading</a:t>
            </a:r>
            <a:r>
              <a:rPr lang="en-US" dirty="0"/>
              <a:t> </a:t>
            </a:r>
            <a:r>
              <a:rPr lang="en-US" dirty="0" err="1"/>
              <a:t>menggambarkan</a:t>
            </a:r>
            <a:r>
              <a:rPr lang="en-US" dirty="0"/>
              <a:t> </a:t>
            </a:r>
            <a:r>
              <a:rPr lang="en-US" dirty="0" err="1"/>
              <a:t>banyaknya</a:t>
            </a:r>
            <a:r>
              <a:rPr lang="en-US" dirty="0"/>
              <a:t> </a:t>
            </a:r>
            <a:r>
              <a:rPr lang="en-US" dirty="0" err="1"/>
              <a:t>cara</a:t>
            </a:r>
            <a:r>
              <a:rPr lang="en-US" dirty="0"/>
              <a:t> </a:t>
            </a:r>
            <a:r>
              <a:rPr lang="en-US" dirty="0" err="1"/>
              <a:t>untuk</a:t>
            </a:r>
            <a:r>
              <a:rPr lang="en-US" dirty="0"/>
              <a:t> </a:t>
            </a:r>
            <a:r>
              <a:rPr lang="en-US" dirty="0" err="1"/>
              <a:t>melakukan</a:t>
            </a:r>
            <a:r>
              <a:rPr lang="en-US" dirty="0"/>
              <a:t> </a:t>
            </a:r>
            <a:r>
              <a:rPr lang="en-US" dirty="0" err="1"/>
              <a:t>sesuatu</a:t>
            </a:r>
            <a:r>
              <a:rPr lang="en-US" dirty="0"/>
              <a:t> </a:t>
            </a:r>
            <a:r>
              <a:rPr lang="en-US" dirty="0" err="1"/>
              <a:t>dengan</a:t>
            </a:r>
            <a:r>
              <a:rPr lang="en-US" dirty="0"/>
              <a:t> </a:t>
            </a:r>
            <a:r>
              <a:rPr lang="en-US" dirty="0" err="1"/>
              <a:t>membuat</a:t>
            </a:r>
            <a:r>
              <a:rPr lang="en-US" dirty="0"/>
              <a:t> method() </a:t>
            </a:r>
            <a:r>
              <a:rPr lang="en-US" dirty="0" err="1"/>
              <a:t>sebanyak</a:t>
            </a:r>
            <a:r>
              <a:rPr lang="en-US" dirty="0"/>
              <a:t> </a:t>
            </a:r>
            <a:r>
              <a:rPr lang="en-US" dirty="0" err="1"/>
              <a:t>caranya</a:t>
            </a:r>
            <a:r>
              <a:rPr lang="en-US" dirty="0"/>
              <a:t> </a:t>
            </a:r>
            <a:r>
              <a:rPr lang="en-US" dirty="0" err="1"/>
              <a:t>dengan</a:t>
            </a:r>
            <a:r>
              <a:rPr lang="en-US" dirty="0"/>
              <a:t> </a:t>
            </a:r>
            <a:r>
              <a:rPr lang="en-US" b="1" dirty="0" err="1">
                <a:solidFill>
                  <a:srgbClr val="0070C0"/>
                </a:solidFill>
              </a:rPr>
              <a:t>nama</a:t>
            </a:r>
            <a:r>
              <a:rPr lang="en-US" dirty="0"/>
              <a:t> yang </a:t>
            </a:r>
            <a:r>
              <a:rPr lang="en-US" b="1" dirty="0" err="1">
                <a:solidFill>
                  <a:srgbClr val="FF0000"/>
                </a:solidFill>
              </a:rPr>
              <a:t>sama</a:t>
            </a:r>
            <a:r>
              <a:rPr lang="en-US" dirty="0"/>
              <a:t> </a:t>
            </a:r>
            <a:r>
              <a:rPr lang="en-US" dirty="0" err="1"/>
              <a:t>dalam</a:t>
            </a:r>
            <a:r>
              <a:rPr lang="en-US" dirty="0"/>
              <a:t> class yang </a:t>
            </a:r>
            <a:r>
              <a:rPr lang="en-US" b="1" dirty="0" err="1">
                <a:solidFill>
                  <a:srgbClr val="FF0000"/>
                </a:solidFill>
              </a:rPr>
              <a:t>sama</a:t>
            </a:r>
            <a:r>
              <a:rPr lang="en-US" dirty="0"/>
              <a:t>, </a:t>
            </a:r>
            <a:r>
              <a:rPr lang="en-US" dirty="0" err="1"/>
              <a:t>namun</a:t>
            </a:r>
            <a:r>
              <a:rPr lang="en-US" dirty="0"/>
              <a:t> </a:t>
            </a:r>
            <a:r>
              <a:rPr lang="en-US" dirty="0" err="1"/>
              <a:t>harus</a:t>
            </a:r>
            <a:r>
              <a:rPr lang="en-US" dirty="0"/>
              <a:t> </a:t>
            </a:r>
            <a:r>
              <a:rPr lang="en-US" dirty="0" err="1"/>
              <a:t>dengan</a:t>
            </a:r>
            <a:r>
              <a:rPr lang="en-US" dirty="0"/>
              <a:t> </a:t>
            </a:r>
            <a:r>
              <a:rPr lang="en-US" dirty="0" err="1"/>
              <a:t>memodifikasi</a:t>
            </a:r>
            <a:r>
              <a:rPr lang="en-US" dirty="0"/>
              <a:t> </a:t>
            </a:r>
            <a:r>
              <a:rPr lang="en-US" dirty="0" err="1"/>
              <a:t>deklarasi</a:t>
            </a:r>
            <a:r>
              <a:rPr lang="en-US" dirty="0"/>
              <a:t> parameter. </a:t>
            </a:r>
            <a:r>
              <a:rPr lang="en-US" dirty="0" err="1"/>
              <a:t>Contohnya</a:t>
            </a:r>
            <a:r>
              <a:rPr lang="en-US" dirty="0"/>
              <a:t> method </a:t>
            </a:r>
            <a:r>
              <a:rPr lang="en-US" dirty="0" err="1"/>
              <a:t>pangkat</a:t>
            </a:r>
            <a:r>
              <a:rPr lang="en-US" dirty="0"/>
              <a:t>(int x, int y); </a:t>
            </a:r>
            <a:r>
              <a:rPr lang="en-US" dirty="0" err="1"/>
              <a:t>pangkat</a:t>
            </a:r>
            <a:r>
              <a:rPr lang="en-US" dirty="0"/>
              <a:t>(int x, float y); </a:t>
            </a:r>
            <a:r>
              <a:rPr lang="en-US" dirty="0" err="1"/>
              <a:t>pangkat</a:t>
            </a:r>
            <a:r>
              <a:rPr lang="en-US" dirty="0"/>
              <a:t>(float x, int y); </a:t>
            </a:r>
            <a:r>
              <a:rPr lang="en-US" dirty="0" err="1"/>
              <a:t>pangkat</a:t>
            </a:r>
            <a:r>
              <a:rPr lang="en-US" dirty="0"/>
              <a:t>(float x, float y);</a:t>
            </a:r>
          </a:p>
          <a:p>
            <a:endParaRPr lang="en-US" dirty="0"/>
          </a:p>
          <a:p>
            <a:r>
              <a:rPr lang="en-US" dirty="0"/>
              <a:t>Method-method yg </a:t>
            </a:r>
            <a:r>
              <a:rPr lang="en-US" b="1" i="1" dirty="0"/>
              <a:t>overloading</a:t>
            </a:r>
            <a:r>
              <a:rPr lang="en-US" dirty="0"/>
              <a:t>  </a:t>
            </a:r>
            <a:r>
              <a:rPr lang="en-US" dirty="0" err="1"/>
              <a:t>wajib</a:t>
            </a:r>
            <a:r>
              <a:rPr lang="en-US" dirty="0"/>
              <a:t> </a:t>
            </a:r>
            <a:r>
              <a:rPr lang="en-US" dirty="0" err="1"/>
              <a:t>berada</a:t>
            </a:r>
            <a:r>
              <a:rPr lang="en-US" dirty="0"/>
              <a:t> di </a:t>
            </a:r>
            <a:r>
              <a:rPr lang="en-US" dirty="0" err="1"/>
              <a:t>dalam</a:t>
            </a:r>
            <a:r>
              <a:rPr lang="en-US" dirty="0"/>
              <a:t> class yg </a:t>
            </a:r>
            <a:r>
              <a:rPr lang="en-US" dirty="0" err="1"/>
              <a:t>sama</a:t>
            </a:r>
            <a:r>
              <a:rPr lang="en-US" dirty="0"/>
              <a:t> </a:t>
            </a:r>
            <a:r>
              <a:rPr lang="en-US" dirty="0" err="1"/>
              <a:t>atau</a:t>
            </a:r>
            <a:r>
              <a:rPr lang="en-US" dirty="0"/>
              <a:t> </a:t>
            </a:r>
            <a:r>
              <a:rPr lang="en-US" dirty="0" err="1"/>
              <a:t>dalam</a:t>
            </a:r>
            <a:r>
              <a:rPr lang="en-US" dirty="0"/>
              <a:t> </a:t>
            </a:r>
            <a:r>
              <a:rPr lang="en-US" dirty="0" err="1"/>
              <a:t>satu</a:t>
            </a:r>
            <a:r>
              <a:rPr lang="en-US" dirty="0"/>
              <a:t> </a:t>
            </a:r>
            <a:r>
              <a:rPr lang="en-US" dirty="0" err="1"/>
              <a:t>keluarga</a:t>
            </a:r>
            <a:r>
              <a:rPr lang="en-US" dirty="0"/>
              <a:t> (</a:t>
            </a:r>
            <a:r>
              <a:rPr lang="en-US" dirty="0" err="1"/>
              <a:t>sebagian</a:t>
            </a:r>
            <a:r>
              <a:rPr lang="en-US" dirty="0"/>
              <a:t> method()-method() </a:t>
            </a:r>
            <a:r>
              <a:rPr lang="en-US" dirty="0" err="1"/>
              <a:t>tersebut</a:t>
            </a:r>
            <a:r>
              <a:rPr lang="en-US" dirty="0"/>
              <a:t> di </a:t>
            </a:r>
            <a:r>
              <a:rPr lang="en-US" dirty="0" err="1"/>
              <a:t>dalam</a:t>
            </a:r>
            <a:r>
              <a:rPr lang="en-US" dirty="0"/>
              <a:t> superclass dan yg lain di </a:t>
            </a:r>
            <a:r>
              <a:rPr lang="en-US" dirty="0" err="1"/>
              <a:t>dalam</a:t>
            </a:r>
            <a:r>
              <a:rPr lang="en-US" dirty="0"/>
              <a:t> subclass). Jika type parameter </a:t>
            </a:r>
            <a:r>
              <a:rPr lang="en-US" dirty="0" err="1"/>
              <a:t>tidak</a:t>
            </a:r>
            <a:r>
              <a:rPr lang="en-US" dirty="0"/>
              <a:t> </a:t>
            </a:r>
            <a:r>
              <a:rPr lang="en-US" dirty="0" err="1"/>
              <a:t>diganti</a:t>
            </a:r>
            <a:r>
              <a:rPr lang="en-US" dirty="0"/>
              <a:t> di subclass-</a:t>
            </a:r>
            <a:r>
              <a:rPr lang="en-US" dirty="0" err="1"/>
              <a:t>nya</a:t>
            </a:r>
            <a:r>
              <a:rPr lang="en-US" dirty="0"/>
              <a:t> </a:t>
            </a:r>
            <a:r>
              <a:rPr lang="en-US" dirty="0" err="1"/>
              <a:t>maka</a:t>
            </a:r>
            <a:r>
              <a:rPr lang="en-US" dirty="0"/>
              <a:t> overloading </a:t>
            </a:r>
            <a:r>
              <a:rPr lang="en-US" dirty="0" err="1"/>
              <a:t>berubah</a:t>
            </a:r>
            <a:r>
              <a:rPr lang="en-US" dirty="0"/>
              <a:t> </a:t>
            </a:r>
            <a:r>
              <a:rPr lang="en-US" dirty="0" err="1"/>
              <a:t>menjadi</a:t>
            </a:r>
            <a:r>
              <a:rPr lang="en-US" dirty="0"/>
              <a:t> overriding. </a:t>
            </a:r>
          </a:p>
          <a:p>
            <a:endParaRPr lang="en-US" dirty="0"/>
          </a:p>
          <a:p>
            <a:r>
              <a:rPr lang="en-US" dirty="0"/>
              <a:t>Overloading </a:t>
            </a:r>
            <a:r>
              <a:rPr lang="en-US" dirty="0" err="1"/>
              <a:t>di</a:t>
            </a:r>
            <a:r>
              <a:rPr lang="en-US" dirty="0"/>
              <a:t> OOP </a:t>
            </a:r>
            <a:r>
              <a:rPr lang="en-US" dirty="0" err="1"/>
              <a:t>berbeda</a:t>
            </a:r>
            <a:r>
              <a:rPr lang="en-US" dirty="0"/>
              <a:t> </a:t>
            </a:r>
            <a:r>
              <a:rPr lang="en-US" dirty="0" err="1"/>
              <a:t>dengan</a:t>
            </a:r>
            <a:r>
              <a:rPr lang="en-US" dirty="0"/>
              <a:t> overloading </a:t>
            </a:r>
            <a:r>
              <a:rPr lang="en-US" dirty="0" err="1"/>
              <a:t>terhadap</a:t>
            </a:r>
            <a:r>
              <a:rPr lang="en-US" dirty="0"/>
              <a:t> </a:t>
            </a:r>
            <a:r>
              <a:rPr lang="en-US" b="1" i="1" dirty="0"/>
              <a:t>operator</a:t>
            </a:r>
            <a:r>
              <a:rPr lang="en-US" dirty="0"/>
              <a:t> </a:t>
            </a:r>
            <a:r>
              <a:rPr lang="en-US" dirty="0" err="1"/>
              <a:t>di</a:t>
            </a:r>
            <a:r>
              <a:rPr lang="en-US" dirty="0"/>
              <a:t> C++.</a:t>
            </a:r>
          </a:p>
          <a:p>
            <a:endParaRPr lang="en-US" dirty="0"/>
          </a:p>
          <a:p>
            <a:r>
              <a:rPr lang="en-US" dirty="0"/>
              <a:t>Interpreter/compiler </a:t>
            </a:r>
            <a:r>
              <a:rPr lang="en-US" dirty="0" err="1"/>
              <a:t>mampu</a:t>
            </a:r>
            <a:r>
              <a:rPr lang="en-US" dirty="0"/>
              <a:t> </a:t>
            </a:r>
            <a:r>
              <a:rPr lang="en-US" dirty="0" err="1"/>
              <a:t>memilih</a:t>
            </a:r>
            <a:r>
              <a:rPr lang="en-US" dirty="0"/>
              <a:t> method() mana yang </a:t>
            </a:r>
            <a:r>
              <a:rPr lang="en-US" dirty="0" err="1"/>
              <a:t>dieksekusi</a:t>
            </a:r>
            <a:r>
              <a:rPr lang="en-US" dirty="0"/>
              <a:t> </a:t>
            </a:r>
            <a:r>
              <a:rPr lang="en-US" dirty="0" err="1"/>
              <a:t>dengan</a:t>
            </a:r>
            <a:r>
              <a:rPr lang="en-US" dirty="0"/>
              <a:t> </a:t>
            </a:r>
            <a:r>
              <a:rPr lang="en-US" dirty="0" err="1"/>
              <a:t>mengenali</a:t>
            </a:r>
            <a:r>
              <a:rPr lang="en-US" dirty="0"/>
              <a:t> </a:t>
            </a:r>
            <a:r>
              <a:rPr lang="en-US" b="1" dirty="0" err="1">
                <a:solidFill>
                  <a:srgbClr val="FF0000"/>
                </a:solidFill>
              </a:rPr>
              <a:t>tipe</a:t>
            </a:r>
            <a:r>
              <a:rPr lang="en-US" b="1" dirty="0">
                <a:solidFill>
                  <a:srgbClr val="FF0000"/>
                </a:solidFill>
              </a:rPr>
              <a:t> parameter</a:t>
            </a:r>
            <a:r>
              <a:rPr lang="en-US" dirty="0"/>
              <a:t> (input) yg </a:t>
            </a:r>
            <a:r>
              <a:rPr lang="en-US" dirty="0" err="1"/>
              <a:t>dilewatkan</a:t>
            </a:r>
            <a:r>
              <a:rPr lang="en-US" dirty="0"/>
              <a:t> </a:t>
            </a:r>
            <a:r>
              <a:rPr lang="en-US" dirty="0" err="1"/>
              <a:t>ke</a:t>
            </a:r>
            <a:r>
              <a:rPr lang="en-US" dirty="0"/>
              <a:t> method() dan </a:t>
            </a:r>
            <a:r>
              <a:rPr lang="en-US" dirty="0" err="1"/>
              <a:t>mengenali</a:t>
            </a:r>
            <a:r>
              <a:rPr lang="en-US" dirty="0"/>
              <a:t> </a:t>
            </a:r>
            <a:r>
              <a:rPr lang="en-US" b="1" dirty="0">
                <a:solidFill>
                  <a:srgbClr val="FF0000"/>
                </a:solidFill>
              </a:rPr>
              <a:t>return </a:t>
            </a:r>
            <a:r>
              <a:rPr lang="en-US" b="1" dirty="0" err="1">
                <a:solidFill>
                  <a:srgbClr val="FF0000"/>
                </a:solidFill>
              </a:rPr>
              <a:t>value</a:t>
            </a:r>
            <a:r>
              <a:rPr lang="en-US" dirty="0" err="1"/>
              <a:t>nya</a:t>
            </a:r>
            <a:r>
              <a:rPr lang="en-US" dirty="0"/>
              <a:t> (output). 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 dirty="0"/>
          </a:p>
        </p:txBody>
      </p:sp>
      <p:sp>
        <p:nvSpPr>
          <p:cNvPr id="9" name="Title 8"/>
          <p:cNvSpPr>
            <a:spLocks noGrp="1"/>
          </p:cNvSpPr>
          <p:nvPr>
            <p:ph type="title"/>
          </p:nvPr>
        </p:nvSpPr>
        <p:spPr>
          <a:xfrm>
            <a:off x="228600" y="274638"/>
            <a:ext cx="8686800" cy="563562"/>
          </a:xfrm>
        </p:spPr>
        <p:txBody>
          <a:bodyPr>
            <a:noAutofit/>
          </a:bodyPr>
          <a:lstStyle/>
          <a:p>
            <a:pPr algn="ctr"/>
            <a:r>
              <a:rPr lang="en-US" sz="2600" i="1" dirty="0">
                <a:effectLst/>
              </a:rPr>
              <a:t>Overloading</a:t>
            </a:r>
            <a:r>
              <a:rPr lang="en-US" sz="2600" dirty="0">
                <a:effectLst/>
              </a:rPr>
              <a:t> </a:t>
            </a:r>
            <a:r>
              <a:rPr lang="en-US" sz="2600" dirty="0" err="1">
                <a:effectLst/>
              </a:rPr>
              <a:t>terhadap</a:t>
            </a:r>
            <a:r>
              <a:rPr lang="en-US" sz="2600" dirty="0">
                <a:effectLst/>
              </a:rPr>
              <a:t> method() </a:t>
            </a:r>
            <a:r>
              <a:rPr lang="en-US" sz="2600" dirty="0" err="1">
                <a:effectLst/>
              </a:rPr>
              <a:t>dan</a:t>
            </a:r>
            <a:r>
              <a:rPr lang="en-US" sz="2600" dirty="0">
                <a:effectLst/>
              </a:rPr>
              <a:t> constructor()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152400" y="765572"/>
            <a:ext cx="8915400" cy="5486400"/>
          </a:xfrm>
        </p:spPr>
        <p:txBody>
          <a:bodyPr>
            <a:noAutofit/>
          </a:bodyPr>
          <a:lstStyle/>
          <a:p>
            <a:r>
              <a:rPr lang="en-US" sz="2800" b="1" dirty="0"/>
              <a:t>Overriding</a:t>
            </a:r>
            <a:r>
              <a:rPr lang="en-US" sz="2800" dirty="0"/>
              <a:t> </a:t>
            </a:r>
            <a:r>
              <a:rPr lang="en-US" sz="2800" dirty="0" err="1"/>
              <a:t>menggambarkan</a:t>
            </a:r>
            <a:r>
              <a:rPr lang="en-US" sz="2800" dirty="0"/>
              <a:t> </a:t>
            </a:r>
            <a:r>
              <a:rPr lang="en-US" sz="2800" dirty="0" err="1"/>
              <a:t>bagaimana</a:t>
            </a:r>
            <a:r>
              <a:rPr lang="en-US" sz="2800" dirty="0"/>
              <a:t> detail </a:t>
            </a:r>
            <a:r>
              <a:rPr lang="en-US" sz="2800" dirty="0" err="1"/>
              <a:t>cara</a:t>
            </a:r>
            <a:r>
              <a:rPr lang="en-US" sz="2800" dirty="0"/>
              <a:t> </a:t>
            </a:r>
            <a:r>
              <a:rPr lang="en-US" sz="2800" dirty="0" err="1"/>
              <a:t>suatu</a:t>
            </a:r>
            <a:r>
              <a:rPr lang="en-US" sz="2800" dirty="0"/>
              <a:t> </a:t>
            </a:r>
            <a:r>
              <a:rPr lang="en-US" sz="2800" dirty="0" err="1"/>
              <a:t>pekerjaan</a:t>
            </a:r>
            <a:r>
              <a:rPr lang="en-US" sz="2800" dirty="0"/>
              <a:t> </a:t>
            </a:r>
            <a:r>
              <a:rPr lang="en-US" sz="2800" dirty="0" err="1"/>
              <a:t>dilaksanakan</a:t>
            </a:r>
            <a:r>
              <a:rPr lang="en-US" sz="2800" dirty="0"/>
              <a:t>, overriding </a:t>
            </a:r>
            <a:r>
              <a:rPr lang="en-US" sz="2800" dirty="0" err="1"/>
              <a:t>adalah</a:t>
            </a:r>
            <a:r>
              <a:rPr lang="en-US" sz="2800" dirty="0"/>
              <a:t> </a:t>
            </a:r>
            <a:r>
              <a:rPr lang="en-US" sz="2800" dirty="0" err="1"/>
              <a:t>kemampuan</a:t>
            </a:r>
            <a:r>
              <a:rPr lang="en-US" sz="2800" dirty="0"/>
              <a:t> </a:t>
            </a:r>
            <a:r>
              <a:rPr lang="en-US" sz="2800" dirty="0" err="1"/>
              <a:t>suatu</a:t>
            </a:r>
            <a:r>
              <a:rPr lang="en-US" sz="2800" dirty="0"/>
              <a:t> </a:t>
            </a:r>
            <a:r>
              <a:rPr lang="en-US" sz="2800" b="1" dirty="0">
                <a:solidFill>
                  <a:srgbClr val="FF0000"/>
                </a:solidFill>
              </a:rPr>
              <a:t>subclass</a:t>
            </a:r>
            <a:r>
              <a:rPr lang="en-US" sz="2800" dirty="0"/>
              <a:t> </a:t>
            </a:r>
            <a:r>
              <a:rPr lang="en-US" sz="2800" dirty="0" err="1"/>
              <a:t>untuk</a:t>
            </a:r>
            <a:r>
              <a:rPr lang="en-US" sz="2800" dirty="0"/>
              <a:t> </a:t>
            </a:r>
            <a:r>
              <a:rPr lang="en-US" sz="2800" dirty="0" err="1"/>
              <a:t>menulis</a:t>
            </a:r>
            <a:r>
              <a:rPr lang="en-US" sz="2800" dirty="0"/>
              <a:t> code program yg </a:t>
            </a:r>
            <a:r>
              <a:rPr lang="en-US" sz="2800" dirty="0" err="1"/>
              <a:t>lebih</a:t>
            </a:r>
            <a:r>
              <a:rPr lang="en-US" sz="2800" dirty="0"/>
              <a:t> </a:t>
            </a:r>
            <a:r>
              <a:rPr lang="en-US" sz="2800" dirty="0" err="1"/>
              <a:t>rinci</a:t>
            </a:r>
            <a:r>
              <a:rPr lang="en-US" sz="2800" dirty="0"/>
              <a:t> di method() yang abstract </a:t>
            </a:r>
            <a:r>
              <a:rPr lang="en-US" sz="2800" b="1" dirty="0" err="1">
                <a:solidFill>
                  <a:srgbClr val="0070C0"/>
                </a:solidFill>
              </a:rPr>
              <a:t>milik</a:t>
            </a:r>
            <a:r>
              <a:rPr lang="en-US" sz="2800" b="1" dirty="0">
                <a:solidFill>
                  <a:srgbClr val="0070C0"/>
                </a:solidFill>
              </a:rPr>
              <a:t> super class</a:t>
            </a:r>
            <a:r>
              <a:rPr lang="en-US" sz="2800" dirty="0"/>
              <a:t>, </a:t>
            </a:r>
            <a:r>
              <a:rPr lang="en-US" sz="2800" dirty="0" err="1"/>
              <a:t>atau</a:t>
            </a:r>
            <a:r>
              <a:rPr lang="en-US" sz="2800" dirty="0"/>
              <a:t> </a:t>
            </a:r>
            <a:r>
              <a:rPr lang="en-US" sz="2800" dirty="0" err="1"/>
              <a:t>memodifikasi</a:t>
            </a:r>
            <a:r>
              <a:rPr lang="en-US" sz="2800" dirty="0"/>
              <a:t> (</a:t>
            </a:r>
            <a:r>
              <a:rPr lang="en-US" sz="2800" dirty="0" err="1"/>
              <a:t>mengubah</a:t>
            </a:r>
            <a:r>
              <a:rPr lang="en-US" sz="2800" dirty="0"/>
              <a:t> </a:t>
            </a:r>
            <a:r>
              <a:rPr lang="en-US" sz="2800" dirty="0" err="1"/>
              <a:t>cara</a:t>
            </a:r>
            <a:r>
              <a:rPr lang="en-US" sz="2800" dirty="0"/>
              <a:t>) </a:t>
            </a:r>
            <a:r>
              <a:rPr lang="en-US" sz="2800" dirty="0" err="1"/>
              <a:t>isi</a:t>
            </a:r>
            <a:r>
              <a:rPr lang="en-US" sz="2800" dirty="0"/>
              <a:t> method() </a:t>
            </a:r>
            <a:r>
              <a:rPr lang="en-US" sz="2800" dirty="0" err="1"/>
              <a:t>atau</a:t>
            </a:r>
            <a:r>
              <a:rPr lang="en-US" sz="2800" dirty="0"/>
              <a:t> </a:t>
            </a:r>
            <a:r>
              <a:rPr lang="en-US" sz="2800" dirty="0" err="1"/>
              <a:t>isi</a:t>
            </a:r>
            <a:r>
              <a:rPr lang="en-US" sz="2800" dirty="0"/>
              <a:t> attribute yang </a:t>
            </a:r>
            <a:r>
              <a:rPr lang="en-US" sz="2800" dirty="0" err="1"/>
              <a:t>tidak</a:t>
            </a:r>
            <a:r>
              <a:rPr lang="en-US" sz="2800" dirty="0"/>
              <a:t> abstract, </a:t>
            </a:r>
            <a:r>
              <a:rPr lang="en-US" sz="2800" dirty="0" err="1"/>
              <a:t>tidak</a:t>
            </a:r>
            <a:r>
              <a:rPr lang="en-US" sz="2800" dirty="0"/>
              <a:t> private, </a:t>
            </a:r>
            <a:r>
              <a:rPr lang="en-US" sz="2800" dirty="0" err="1"/>
              <a:t>tidak</a:t>
            </a:r>
            <a:r>
              <a:rPr lang="en-US" sz="2800" dirty="0"/>
              <a:t> final, dan non static </a:t>
            </a:r>
            <a:r>
              <a:rPr lang="en-US" sz="2800" b="1" dirty="0" err="1">
                <a:solidFill>
                  <a:srgbClr val="0070C0"/>
                </a:solidFill>
              </a:rPr>
              <a:t>milik</a:t>
            </a:r>
            <a:r>
              <a:rPr lang="en-US" sz="2800" b="1" dirty="0">
                <a:solidFill>
                  <a:srgbClr val="0070C0"/>
                </a:solidFill>
              </a:rPr>
              <a:t> super class</a:t>
            </a:r>
            <a:r>
              <a:rPr lang="en-US" sz="2800" dirty="0"/>
              <a:t>.</a:t>
            </a:r>
          </a:p>
          <a:p>
            <a:r>
              <a:rPr lang="en-US" sz="2800" dirty="0" err="1"/>
              <a:t>Modifikasi</a:t>
            </a:r>
            <a:r>
              <a:rPr lang="en-US" sz="2800" dirty="0"/>
              <a:t> modifier-</a:t>
            </a:r>
            <a:r>
              <a:rPr lang="en-US" sz="2800" dirty="0" err="1"/>
              <a:t>akses</a:t>
            </a:r>
            <a:r>
              <a:rPr lang="en-US" sz="2800" dirty="0"/>
              <a:t> pada attribute, method(), dan constructor() </a:t>
            </a:r>
            <a:r>
              <a:rPr lang="en-US" sz="2800" b="1" dirty="0" err="1">
                <a:solidFill>
                  <a:srgbClr val="0070C0"/>
                </a:solidFill>
              </a:rPr>
              <a:t>milik</a:t>
            </a:r>
            <a:r>
              <a:rPr lang="en-US" sz="2800" b="1" dirty="0">
                <a:solidFill>
                  <a:srgbClr val="0070C0"/>
                </a:solidFill>
              </a:rPr>
              <a:t> super class</a:t>
            </a:r>
            <a:r>
              <a:rPr lang="en-US" sz="2800" dirty="0"/>
              <a:t>, </a:t>
            </a:r>
            <a:r>
              <a:rPr lang="en-US" sz="2800" b="1" dirty="0" err="1"/>
              <a:t>boleh</a:t>
            </a:r>
            <a:r>
              <a:rPr lang="en-US" sz="2800" b="1" dirty="0"/>
              <a:t> </a:t>
            </a:r>
            <a:r>
              <a:rPr lang="en-US" sz="2800" b="1" dirty="0" err="1"/>
              <a:t>dilakukan</a:t>
            </a:r>
            <a:r>
              <a:rPr lang="en-US" sz="2800" dirty="0"/>
              <a:t> di subclass </a:t>
            </a:r>
            <a:r>
              <a:rPr lang="en-US" sz="2800" dirty="0" err="1"/>
              <a:t>dengan</a:t>
            </a:r>
            <a:r>
              <a:rPr lang="en-US" sz="2800" dirty="0"/>
              <a:t> </a:t>
            </a:r>
            <a:r>
              <a:rPr lang="en-US" sz="2800" dirty="0" err="1"/>
              <a:t>cara</a:t>
            </a:r>
            <a:r>
              <a:rPr lang="en-US" sz="2800" dirty="0"/>
              <a:t> </a:t>
            </a:r>
            <a:r>
              <a:rPr lang="en-US" sz="2800" b="1" dirty="0" err="1"/>
              <a:t>memperluas</a:t>
            </a:r>
            <a:r>
              <a:rPr lang="en-US" sz="2800" b="1" dirty="0"/>
              <a:t> </a:t>
            </a:r>
            <a:r>
              <a:rPr lang="en-US" sz="2800" b="1" dirty="0" err="1"/>
              <a:t>daerah</a:t>
            </a:r>
            <a:r>
              <a:rPr lang="en-US" sz="2800" b="1" dirty="0"/>
              <a:t> </a:t>
            </a:r>
            <a:r>
              <a:rPr lang="en-US" sz="2800" b="1" dirty="0" err="1"/>
              <a:t>aksesnya</a:t>
            </a:r>
            <a:r>
              <a:rPr lang="en-US" sz="2800" dirty="0"/>
              <a:t>. 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 dirty="0"/>
          </a:p>
        </p:txBody>
      </p:sp>
      <p:sp>
        <p:nvSpPr>
          <p:cNvPr id="5" name="Title 4"/>
          <p:cNvSpPr>
            <a:spLocks noGrp="1"/>
          </p:cNvSpPr>
          <p:nvPr>
            <p:ph type="title"/>
          </p:nvPr>
        </p:nvSpPr>
        <p:spPr>
          <a:xfrm>
            <a:off x="152400" y="152400"/>
            <a:ext cx="8915400" cy="457200"/>
          </a:xfrm>
        </p:spPr>
        <p:txBody>
          <a:bodyPr>
            <a:noAutofit/>
          </a:bodyPr>
          <a:lstStyle/>
          <a:p>
            <a:pPr algn="ctr"/>
            <a:r>
              <a:rPr lang="en-US" sz="2800" dirty="0">
                <a:effectLst/>
              </a:rPr>
              <a:t>Overriding attribute, constructor() </a:t>
            </a:r>
            <a:r>
              <a:rPr lang="en-US" sz="2800" dirty="0" err="1">
                <a:effectLst/>
              </a:rPr>
              <a:t>dan</a:t>
            </a:r>
            <a:r>
              <a:rPr lang="en-US" sz="2800" dirty="0">
                <a:effectLst/>
              </a:rPr>
              <a:t> method()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6A2C22F8-FF16-D3FF-5859-79E1AF2A02A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1066800"/>
            <a:ext cx="9144000" cy="4940491"/>
          </a:xfrm>
        </p:spPr>
        <p:txBody>
          <a:bodyPr>
            <a:normAutofit fontScale="85000" lnSpcReduction="20000"/>
          </a:bodyPr>
          <a:lstStyle/>
          <a:p>
            <a:r>
              <a:rPr lang="en-US" sz="2800" dirty="0" err="1"/>
              <a:t>Misal</a:t>
            </a:r>
            <a:r>
              <a:rPr lang="en-US" sz="2800" dirty="0"/>
              <a:t> modifier-</a:t>
            </a:r>
            <a:r>
              <a:rPr lang="en-US" sz="2800" dirty="0" err="1"/>
              <a:t>akses</a:t>
            </a:r>
            <a:r>
              <a:rPr lang="en-US" sz="2800" dirty="0"/>
              <a:t> </a:t>
            </a:r>
            <a:r>
              <a:rPr lang="en-US" sz="2800" dirty="0" err="1"/>
              <a:t>suatu</a:t>
            </a:r>
            <a:r>
              <a:rPr lang="en-US" sz="2800" dirty="0"/>
              <a:t> attribute, method(), </a:t>
            </a:r>
            <a:r>
              <a:rPr lang="en-US" sz="2800" dirty="0" err="1"/>
              <a:t>atau</a:t>
            </a:r>
            <a:r>
              <a:rPr lang="en-US" sz="2800" dirty="0"/>
              <a:t> constructor() di super class </a:t>
            </a:r>
            <a:r>
              <a:rPr lang="en-US" sz="2800" dirty="0" err="1"/>
              <a:t>adalah</a:t>
            </a:r>
            <a:r>
              <a:rPr lang="en-US" sz="2800" dirty="0"/>
              <a:t> </a:t>
            </a:r>
            <a:r>
              <a:rPr lang="en-US" sz="2800" b="1" dirty="0"/>
              <a:t>protected</a:t>
            </a:r>
            <a:r>
              <a:rPr lang="en-US" sz="2800" dirty="0"/>
              <a:t>, </a:t>
            </a:r>
            <a:r>
              <a:rPr lang="en-US" sz="2800" dirty="0" err="1"/>
              <a:t>maka</a:t>
            </a:r>
            <a:r>
              <a:rPr lang="en-US" sz="2800" dirty="0"/>
              <a:t> modifier </a:t>
            </a:r>
            <a:r>
              <a:rPr lang="en-US" sz="2800" dirty="0" err="1"/>
              <a:t>akses</a:t>
            </a:r>
            <a:r>
              <a:rPr lang="en-US" sz="2800" dirty="0"/>
              <a:t> </a:t>
            </a:r>
            <a:r>
              <a:rPr lang="en-US" sz="2800" dirty="0" err="1"/>
              <a:t>tersebut</a:t>
            </a:r>
            <a:r>
              <a:rPr lang="en-US" sz="2800" dirty="0"/>
              <a:t> </a:t>
            </a:r>
            <a:r>
              <a:rPr lang="en-US" sz="2800" dirty="0" err="1"/>
              <a:t>dapat</a:t>
            </a:r>
            <a:r>
              <a:rPr lang="en-US" sz="2800" dirty="0"/>
              <a:t> </a:t>
            </a:r>
            <a:r>
              <a:rPr lang="en-US" sz="2800" dirty="0" err="1"/>
              <a:t>diperluas</a:t>
            </a:r>
            <a:r>
              <a:rPr lang="en-US" sz="2800" dirty="0"/>
              <a:t> </a:t>
            </a:r>
            <a:r>
              <a:rPr lang="en-US" sz="2800" dirty="0" err="1"/>
              <a:t>menjadi</a:t>
            </a:r>
            <a:r>
              <a:rPr lang="en-US" sz="2800" dirty="0"/>
              <a:t> </a:t>
            </a:r>
            <a:r>
              <a:rPr lang="en-US" sz="2800" b="1" dirty="0"/>
              <a:t>public</a:t>
            </a:r>
            <a:r>
              <a:rPr lang="en-US" sz="2800" dirty="0"/>
              <a:t> di subclass </a:t>
            </a:r>
            <a:r>
              <a:rPr lang="en-US" sz="2800" dirty="0" err="1"/>
              <a:t>nya</a:t>
            </a:r>
            <a:r>
              <a:rPr lang="en-US" sz="2800" dirty="0"/>
              <a:t>.</a:t>
            </a:r>
          </a:p>
          <a:p>
            <a:r>
              <a:rPr lang="en-US" sz="2800" b="1" dirty="0">
                <a:solidFill>
                  <a:srgbClr val="FF0000"/>
                </a:solidFill>
              </a:rPr>
              <a:t>Argument</a:t>
            </a:r>
            <a:r>
              <a:rPr lang="en-US" sz="2800" dirty="0"/>
              <a:t> </a:t>
            </a:r>
            <a:r>
              <a:rPr lang="en-US" sz="2800" dirty="0" err="1"/>
              <a:t>atau</a:t>
            </a:r>
            <a:r>
              <a:rPr lang="en-US" sz="2800" dirty="0"/>
              <a:t> </a:t>
            </a:r>
            <a:r>
              <a:rPr lang="en-US" sz="2800" b="1" dirty="0" err="1">
                <a:solidFill>
                  <a:srgbClr val="FF0000"/>
                </a:solidFill>
              </a:rPr>
              <a:t>tipe</a:t>
            </a:r>
            <a:r>
              <a:rPr lang="en-US" sz="2800" b="1" dirty="0">
                <a:solidFill>
                  <a:srgbClr val="FF0000"/>
                </a:solidFill>
              </a:rPr>
              <a:t> parameter</a:t>
            </a:r>
            <a:r>
              <a:rPr lang="en-US" sz="2800" dirty="0"/>
              <a:t> </a:t>
            </a:r>
            <a:r>
              <a:rPr lang="en-US" sz="2800" dirty="0" err="1"/>
              <a:t>milik</a:t>
            </a:r>
            <a:r>
              <a:rPr lang="en-US" sz="2800" dirty="0"/>
              <a:t> method() </a:t>
            </a:r>
            <a:r>
              <a:rPr lang="en-US" sz="2800" dirty="0" err="1"/>
              <a:t>dari</a:t>
            </a:r>
            <a:r>
              <a:rPr lang="en-US" sz="2800" dirty="0"/>
              <a:t> </a:t>
            </a:r>
            <a:r>
              <a:rPr lang="en-US" sz="2800" dirty="0" err="1"/>
              <a:t>suatu</a:t>
            </a:r>
            <a:r>
              <a:rPr lang="en-US" sz="2800" dirty="0"/>
              <a:t> super class pada overriding </a:t>
            </a:r>
            <a:r>
              <a:rPr lang="en-US" sz="2800" b="1" dirty="0" err="1"/>
              <a:t>tidak</a:t>
            </a:r>
            <a:r>
              <a:rPr lang="en-US" sz="2800" b="1" dirty="0"/>
              <a:t> </a:t>
            </a:r>
            <a:r>
              <a:rPr lang="en-US" sz="2800" b="1" dirty="0" err="1"/>
              <a:t>boleh</a:t>
            </a:r>
            <a:r>
              <a:rPr lang="en-US" sz="2800" b="1" dirty="0"/>
              <a:t> </a:t>
            </a:r>
            <a:r>
              <a:rPr lang="en-US" sz="2800" b="1" dirty="0" err="1"/>
              <a:t>dimodifikasi</a:t>
            </a:r>
            <a:r>
              <a:rPr lang="en-US" sz="2800" b="1" dirty="0"/>
              <a:t> </a:t>
            </a:r>
            <a:r>
              <a:rPr lang="en-US" sz="2800" dirty="0"/>
              <a:t>oleh sub class </a:t>
            </a:r>
            <a:r>
              <a:rPr lang="en-US" sz="2800" dirty="0" err="1"/>
              <a:t>nya</a:t>
            </a:r>
            <a:r>
              <a:rPr lang="en-US" sz="2800" dirty="0"/>
              <a:t>, </a:t>
            </a:r>
            <a:r>
              <a:rPr lang="en-US" sz="2800" dirty="0" err="1"/>
              <a:t>bila</a:t>
            </a:r>
            <a:r>
              <a:rPr lang="en-US" sz="2800" dirty="0"/>
              <a:t> </a:t>
            </a:r>
            <a:r>
              <a:rPr lang="en-US" sz="2800" dirty="0" err="1"/>
              <a:t>dilakukan</a:t>
            </a:r>
            <a:r>
              <a:rPr lang="en-US" sz="2800" dirty="0"/>
              <a:t> </a:t>
            </a:r>
            <a:r>
              <a:rPr lang="en-US" sz="2800" dirty="0" err="1"/>
              <a:t>maka</a:t>
            </a:r>
            <a:r>
              <a:rPr lang="en-US" sz="2800" dirty="0"/>
              <a:t> </a:t>
            </a:r>
            <a:r>
              <a:rPr lang="en-US" sz="2800" dirty="0" err="1"/>
              <a:t>berubah</a:t>
            </a:r>
            <a:r>
              <a:rPr lang="en-US" sz="2800" dirty="0"/>
              <a:t> </a:t>
            </a:r>
            <a:r>
              <a:rPr lang="en-US" sz="2800" dirty="0" err="1"/>
              <a:t>menjadi</a:t>
            </a:r>
            <a:r>
              <a:rPr lang="en-US" sz="2800" dirty="0"/>
              <a:t> </a:t>
            </a:r>
            <a:r>
              <a:rPr lang="en-US" sz="2800" b="1" dirty="0">
                <a:solidFill>
                  <a:srgbClr val="0070C0"/>
                </a:solidFill>
              </a:rPr>
              <a:t>overloading</a:t>
            </a:r>
            <a:r>
              <a:rPr lang="en-US" sz="2800" dirty="0"/>
              <a:t>.</a:t>
            </a:r>
          </a:p>
          <a:p>
            <a:r>
              <a:rPr lang="en-US" sz="2800" b="1" dirty="0" err="1">
                <a:solidFill>
                  <a:srgbClr val="FF0000"/>
                </a:solidFill>
              </a:rPr>
              <a:t>Tipe</a:t>
            </a:r>
            <a:r>
              <a:rPr lang="en-US" sz="2800" b="1" dirty="0">
                <a:solidFill>
                  <a:srgbClr val="FF0000"/>
                </a:solidFill>
              </a:rPr>
              <a:t> return value</a:t>
            </a:r>
            <a:r>
              <a:rPr lang="en-US" sz="2800" dirty="0"/>
              <a:t> pada method() </a:t>
            </a:r>
            <a:r>
              <a:rPr lang="en-US" sz="2800" dirty="0" err="1"/>
              <a:t>atau</a:t>
            </a:r>
            <a:r>
              <a:rPr lang="en-US" sz="2800" dirty="0"/>
              <a:t> constructor() </a:t>
            </a:r>
            <a:r>
              <a:rPr lang="en-US" sz="2800" dirty="0" err="1"/>
              <a:t>milik</a:t>
            </a:r>
            <a:r>
              <a:rPr lang="en-US" sz="2800" dirty="0"/>
              <a:t> super class, </a:t>
            </a:r>
            <a:r>
              <a:rPr lang="en-US" sz="2800" b="1" dirty="0" err="1"/>
              <a:t>tidak</a:t>
            </a:r>
            <a:r>
              <a:rPr lang="en-US" sz="2800" b="1" dirty="0"/>
              <a:t> </a:t>
            </a:r>
            <a:r>
              <a:rPr lang="en-US" sz="2800" b="1" dirty="0" err="1"/>
              <a:t>boleh</a:t>
            </a:r>
            <a:r>
              <a:rPr lang="en-US" sz="2800" b="1" dirty="0"/>
              <a:t> </a:t>
            </a:r>
            <a:r>
              <a:rPr lang="en-US" sz="2800" b="1" dirty="0" err="1"/>
              <a:t>diubah</a:t>
            </a:r>
            <a:r>
              <a:rPr lang="en-US" sz="2800" b="1" dirty="0"/>
              <a:t> </a:t>
            </a:r>
            <a:r>
              <a:rPr lang="en-US" sz="2800" dirty="0"/>
              <a:t>oleh sub class </a:t>
            </a:r>
            <a:r>
              <a:rPr lang="en-US" sz="2800" dirty="0" err="1"/>
              <a:t>nya</a:t>
            </a:r>
            <a:r>
              <a:rPr lang="en-US" sz="2800" dirty="0"/>
              <a:t>.</a:t>
            </a:r>
          </a:p>
          <a:p>
            <a:endParaRPr lang="en-US" sz="2800" dirty="0"/>
          </a:p>
          <a:p>
            <a:pPr>
              <a:buNone/>
            </a:pPr>
            <a:r>
              <a:rPr lang="en-US" sz="2800" b="1" i="1" dirty="0"/>
              <a:t>modifier1] class </a:t>
            </a:r>
            <a:r>
              <a:rPr lang="en-US" sz="2800" b="1" i="1" dirty="0" err="1"/>
              <a:t>NamaSubClass</a:t>
            </a:r>
            <a:r>
              <a:rPr lang="en-US" sz="2800" b="1" i="1" dirty="0"/>
              <a:t> </a:t>
            </a:r>
            <a:r>
              <a:rPr lang="en-US" sz="2800" b="1" i="1" dirty="0" err="1">
                <a:solidFill>
                  <a:srgbClr val="FF0000"/>
                </a:solidFill>
              </a:rPr>
              <a:t>implemets</a:t>
            </a:r>
            <a:r>
              <a:rPr lang="en-US" sz="2800" b="1" i="1" dirty="0"/>
              <a:t> </a:t>
            </a:r>
            <a:r>
              <a:rPr lang="en-US" sz="2800" b="1" i="1" dirty="0" err="1"/>
              <a:t>NamaInterface</a:t>
            </a:r>
            <a:r>
              <a:rPr lang="en-US" sz="2800" b="1" i="1" dirty="0"/>
              <a:t> {</a:t>
            </a:r>
          </a:p>
          <a:p>
            <a:pPr>
              <a:buNone/>
            </a:pPr>
            <a:r>
              <a:rPr lang="en-US" sz="2800" b="1" i="1" dirty="0"/>
              <a:t>      //</a:t>
            </a:r>
            <a:r>
              <a:rPr lang="en-US" sz="2800" b="1" i="1" dirty="0" err="1"/>
              <a:t>classbody</a:t>
            </a:r>
            <a:endParaRPr lang="en-US" sz="2800" b="1" i="1" dirty="0"/>
          </a:p>
          <a:p>
            <a:pPr>
              <a:buNone/>
            </a:pPr>
            <a:r>
              <a:rPr lang="en-US" sz="2800" b="1" i="1" dirty="0"/>
              <a:t>}</a:t>
            </a:r>
          </a:p>
          <a:p>
            <a:endParaRPr lang="en-US" sz="2800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AD7F764-1386-D108-9CF9-32F52356CD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15A2EC7-4B9F-1269-E6BB-95E80BBF16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 dirty="0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A6B7943C-666B-F283-1C7C-97FB0A79A6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4800" y="274638"/>
            <a:ext cx="8686800" cy="639762"/>
          </a:xfrm>
        </p:spPr>
        <p:txBody>
          <a:bodyPr>
            <a:normAutofit/>
          </a:bodyPr>
          <a:lstStyle/>
          <a:p>
            <a:r>
              <a:rPr lang="en-US" sz="2800" dirty="0">
                <a:effectLst/>
              </a:rPr>
              <a:t>Overriding attribute, constructor() dan method()</a:t>
            </a:r>
            <a:endParaRPr lang="en-US" sz="2800" dirty="0"/>
          </a:p>
        </p:txBody>
      </p:sp>
    </p:spTree>
    <p:extLst>
      <p:ext uri="{BB962C8B-B14F-4D97-AF65-F5344CB8AC3E}">
        <p14:creationId xmlns:p14="http://schemas.microsoft.com/office/powerpoint/2010/main" val="135089136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304799" y="1676400"/>
            <a:ext cx="8620259" cy="4330891"/>
          </a:xfrm>
        </p:spPr>
        <p:txBody>
          <a:bodyPr>
            <a:normAutofit/>
          </a:bodyPr>
          <a:lstStyle/>
          <a:p>
            <a:r>
              <a:rPr lang="en-US" sz="3200" dirty="0"/>
              <a:t>method() abstract </a:t>
            </a:r>
            <a:r>
              <a:rPr lang="en-US" sz="3200" dirty="0" err="1"/>
              <a:t>milik</a:t>
            </a:r>
            <a:r>
              <a:rPr lang="en-US" sz="3200" dirty="0"/>
              <a:t> super class, </a:t>
            </a:r>
            <a:r>
              <a:rPr lang="en-US" sz="3200" dirty="0" err="1"/>
              <a:t>wajib</a:t>
            </a:r>
            <a:r>
              <a:rPr lang="en-US" sz="3200" dirty="0"/>
              <a:t> </a:t>
            </a:r>
            <a:r>
              <a:rPr lang="en-US" sz="3200" dirty="0" err="1"/>
              <a:t>di</a:t>
            </a:r>
            <a:r>
              <a:rPr lang="en-US" sz="3200" dirty="0"/>
              <a:t> overriding </a:t>
            </a:r>
            <a:r>
              <a:rPr lang="en-US" sz="3200" dirty="0" err="1"/>
              <a:t>dalam</a:t>
            </a:r>
            <a:r>
              <a:rPr lang="en-US" sz="3200" dirty="0"/>
              <a:t> subclass </a:t>
            </a:r>
            <a:r>
              <a:rPr lang="en-US" sz="3200" dirty="0" err="1"/>
              <a:t>nya</a:t>
            </a:r>
            <a:r>
              <a:rPr lang="en-US" sz="3200" dirty="0"/>
              <a:t>, </a:t>
            </a:r>
            <a:r>
              <a:rPr lang="en-US" sz="3200" dirty="0" err="1"/>
              <a:t>mirip</a:t>
            </a:r>
            <a:r>
              <a:rPr lang="en-US" sz="3200" dirty="0"/>
              <a:t> </a:t>
            </a:r>
            <a:r>
              <a:rPr lang="en-US" sz="3200" dirty="0" err="1"/>
              <a:t>dengan</a:t>
            </a:r>
            <a:r>
              <a:rPr lang="en-US" sz="3200" dirty="0"/>
              <a:t> implementation </a:t>
            </a:r>
            <a:r>
              <a:rPr lang="en-US" sz="3200" dirty="0" err="1"/>
              <a:t>terhadap</a:t>
            </a:r>
            <a:r>
              <a:rPr lang="en-US" sz="3200" dirty="0"/>
              <a:t> method() </a:t>
            </a:r>
            <a:r>
              <a:rPr lang="en-US" sz="3200" dirty="0" err="1"/>
              <a:t>milik</a:t>
            </a:r>
            <a:r>
              <a:rPr lang="en-US" sz="3200" dirty="0"/>
              <a:t> Interface. </a:t>
            </a:r>
            <a:r>
              <a:rPr lang="en-US" sz="3200" dirty="0" err="1"/>
              <a:t>Karena</a:t>
            </a:r>
            <a:r>
              <a:rPr lang="en-US" sz="3200" dirty="0"/>
              <a:t> </a:t>
            </a:r>
            <a:r>
              <a:rPr lang="en-US" sz="3200" dirty="0" err="1"/>
              <a:t>semua</a:t>
            </a:r>
            <a:r>
              <a:rPr lang="en-US" sz="3200" dirty="0"/>
              <a:t> method() </a:t>
            </a:r>
            <a:r>
              <a:rPr lang="en-US" sz="3200" dirty="0" err="1"/>
              <a:t>di</a:t>
            </a:r>
            <a:r>
              <a:rPr lang="en-US" sz="3200" dirty="0"/>
              <a:t> Interface </a:t>
            </a:r>
            <a:r>
              <a:rPr lang="en-US" sz="3200" dirty="0" err="1"/>
              <a:t>bersifat</a:t>
            </a:r>
            <a:r>
              <a:rPr lang="en-US" sz="3200" dirty="0"/>
              <a:t> abstract, </a:t>
            </a:r>
            <a:r>
              <a:rPr lang="en-US" sz="3200" dirty="0" err="1"/>
              <a:t>sehingga</a:t>
            </a:r>
            <a:r>
              <a:rPr lang="en-US" sz="3200" dirty="0"/>
              <a:t> </a:t>
            </a:r>
            <a:r>
              <a:rPr lang="en-US" sz="3200" dirty="0" err="1"/>
              <a:t>semua</a:t>
            </a:r>
            <a:r>
              <a:rPr lang="en-US" sz="3200" dirty="0"/>
              <a:t> method() </a:t>
            </a:r>
            <a:r>
              <a:rPr lang="en-US" sz="3200" dirty="0" err="1"/>
              <a:t>nya</a:t>
            </a:r>
            <a:r>
              <a:rPr lang="en-US" sz="3200" dirty="0"/>
              <a:t> </a:t>
            </a:r>
            <a:r>
              <a:rPr lang="en-US" sz="3200" dirty="0" err="1"/>
              <a:t>harus</a:t>
            </a:r>
            <a:r>
              <a:rPr lang="en-US" sz="3200" dirty="0"/>
              <a:t> </a:t>
            </a:r>
            <a:r>
              <a:rPr lang="en-US" sz="3200" dirty="0" err="1"/>
              <a:t>diisi</a:t>
            </a:r>
            <a:r>
              <a:rPr lang="en-US" sz="3200" dirty="0"/>
              <a:t> </a:t>
            </a:r>
            <a:r>
              <a:rPr lang="en-US" sz="3200" dirty="0" err="1"/>
              <a:t>pada</a:t>
            </a:r>
            <a:r>
              <a:rPr lang="en-US" sz="3200" dirty="0"/>
              <a:t> class </a:t>
            </a:r>
            <a:r>
              <a:rPr lang="en-US" sz="3200" dirty="0" err="1"/>
              <a:t>implementasinya</a:t>
            </a:r>
            <a:r>
              <a:rPr lang="en-US" sz="3200" dirty="0"/>
              <a:t>.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 dirty="0"/>
          </a:p>
        </p:txBody>
      </p:sp>
      <p:sp>
        <p:nvSpPr>
          <p:cNvPr id="5" name="Title 4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944562"/>
          </a:xfrm>
        </p:spPr>
        <p:txBody>
          <a:bodyPr>
            <a:normAutofit/>
          </a:bodyPr>
          <a:lstStyle/>
          <a:p>
            <a:pPr algn="ctr"/>
            <a:r>
              <a:rPr lang="en-US" sz="3600" i="1" dirty="0">
                <a:effectLst/>
              </a:rPr>
              <a:t>Overriding</a:t>
            </a:r>
            <a:r>
              <a:rPr lang="en-US" sz="3600" dirty="0">
                <a:effectLst/>
              </a:rPr>
              <a:t>  </a:t>
            </a:r>
            <a:r>
              <a:rPr lang="en-US" sz="3600" dirty="0" err="1">
                <a:effectLst/>
              </a:rPr>
              <a:t>vs</a:t>
            </a:r>
            <a:r>
              <a:rPr lang="en-US" sz="3600" dirty="0">
                <a:effectLst/>
              </a:rPr>
              <a:t> </a:t>
            </a:r>
            <a:r>
              <a:rPr lang="en-US" sz="3600" i="1" dirty="0">
                <a:effectLst/>
              </a:rPr>
              <a:t>implementation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152400" y="1417638"/>
            <a:ext cx="8839200" cy="4830762"/>
          </a:xfrm>
        </p:spPr>
        <p:txBody>
          <a:bodyPr>
            <a:normAutofit fontScale="92500" lnSpcReduction="20000"/>
          </a:bodyPr>
          <a:lstStyle/>
          <a:p>
            <a:r>
              <a:rPr lang="en-US" dirty="0"/>
              <a:t>Subclass </a:t>
            </a:r>
            <a:r>
              <a:rPr lang="en-US" dirty="0" err="1"/>
              <a:t>tidak</a:t>
            </a:r>
            <a:r>
              <a:rPr lang="en-US" dirty="0"/>
              <a:t> </a:t>
            </a:r>
            <a:r>
              <a:rPr lang="en-US" dirty="0" err="1"/>
              <a:t>diperkenankan</a:t>
            </a:r>
            <a:r>
              <a:rPr lang="en-US" dirty="0"/>
              <a:t> </a:t>
            </a:r>
            <a:r>
              <a:rPr lang="en-US" dirty="0" err="1"/>
              <a:t>untuk</a:t>
            </a:r>
            <a:r>
              <a:rPr lang="en-US" dirty="0"/>
              <a:t> </a:t>
            </a:r>
            <a:r>
              <a:rPr lang="en-US" dirty="0" err="1"/>
              <a:t>memanggil</a:t>
            </a:r>
            <a:r>
              <a:rPr lang="en-US" dirty="0"/>
              <a:t> constructor() </a:t>
            </a:r>
            <a:r>
              <a:rPr lang="en-US" dirty="0" err="1"/>
              <a:t>milik</a:t>
            </a:r>
            <a:r>
              <a:rPr lang="en-US" dirty="0"/>
              <a:t> super class </a:t>
            </a:r>
            <a:r>
              <a:rPr lang="en-US" dirty="0" err="1"/>
              <a:t>dengan</a:t>
            </a:r>
            <a:r>
              <a:rPr lang="en-US" dirty="0"/>
              <a:t> </a:t>
            </a:r>
            <a:r>
              <a:rPr lang="en-US" u="sng" dirty="0" err="1"/>
              <a:t>langsung</a:t>
            </a:r>
            <a:r>
              <a:rPr lang="en-US" dirty="0"/>
              <a:t> </a:t>
            </a:r>
            <a:r>
              <a:rPr lang="en-US" dirty="0" err="1"/>
              <a:t>memanggil</a:t>
            </a:r>
            <a:r>
              <a:rPr lang="en-US" dirty="0"/>
              <a:t> </a:t>
            </a:r>
            <a:r>
              <a:rPr lang="en-US" b="1" dirty="0" err="1"/>
              <a:t>namanya</a:t>
            </a:r>
            <a:r>
              <a:rPr lang="en-US" dirty="0"/>
              <a:t>.</a:t>
            </a:r>
          </a:p>
          <a:p>
            <a:r>
              <a:rPr lang="en-US" dirty="0"/>
              <a:t>Cara yang </a:t>
            </a:r>
            <a:r>
              <a:rPr lang="en-US" dirty="0" err="1"/>
              <a:t>benar</a:t>
            </a:r>
            <a:r>
              <a:rPr lang="en-US" dirty="0"/>
              <a:t>: </a:t>
            </a:r>
            <a:r>
              <a:rPr lang="en-US" b="1" i="1" dirty="0"/>
              <a:t>super()</a:t>
            </a:r>
            <a:r>
              <a:rPr lang="en-US" dirty="0"/>
              <a:t>  </a:t>
            </a:r>
            <a:r>
              <a:rPr lang="en-US" dirty="0" err="1"/>
              <a:t>atau</a:t>
            </a:r>
            <a:r>
              <a:rPr lang="en-US" dirty="0"/>
              <a:t> </a:t>
            </a:r>
            <a:r>
              <a:rPr lang="en-US" b="1" i="1" dirty="0"/>
              <a:t>super(arguments);</a:t>
            </a:r>
          </a:p>
          <a:p>
            <a:endParaRPr lang="en-US" sz="1000" dirty="0"/>
          </a:p>
          <a:p>
            <a:r>
              <a:rPr lang="en-US" dirty="0"/>
              <a:t>Jika </a:t>
            </a:r>
            <a:r>
              <a:rPr lang="en-US" dirty="0" err="1"/>
              <a:t>terjadi</a:t>
            </a:r>
            <a:r>
              <a:rPr lang="en-US" dirty="0"/>
              <a:t> overriding </a:t>
            </a:r>
            <a:r>
              <a:rPr lang="en-US" dirty="0" err="1"/>
              <a:t>berarti</a:t>
            </a:r>
            <a:r>
              <a:rPr lang="en-US" dirty="0"/>
              <a:t> </a:t>
            </a:r>
            <a:r>
              <a:rPr lang="en-US" dirty="0" err="1"/>
              <a:t>ada</a:t>
            </a:r>
            <a:r>
              <a:rPr lang="en-US" dirty="0"/>
              <a:t> method() </a:t>
            </a:r>
            <a:r>
              <a:rPr lang="en-US" dirty="0" err="1"/>
              <a:t>milik</a:t>
            </a:r>
            <a:r>
              <a:rPr lang="en-US" dirty="0"/>
              <a:t> super class yang </a:t>
            </a:r>
            <a:r>
              <a:rPr lang="en-US" dirty="0" err="1"/>
              <a:t>digunakan</a:t>
            </a:r>
            <a:r>
              <a:rPr lang="en-US" dirty="0"/>
              <a:t> </a:t>
            </a:r>
            <a:r>
              <a:rPr lang="en-US" dirty="0" err="1"/>
              <a:t>atau</a:t>
            </a:r>
            <a:r>
              <a:rPr lang="en-US" dirty="0"/>
              <a:t> </a:t>
            </a:r>
            <a:r>
              <a:rPr lang="en-US" dirty="0" err="1"/>
              <a:t>ditulis</a:t>
            </a:r>
            <a:r>
              <a:rPr lang="en-US" dirty="0"/>
              <a:t> </a:t>
            </a:r>
            <a:r>
              <a:rPr lang="en-US" dirty="0" err="1"/>
              <a:t>ulang</a:t>
            </a:r>
            <a:r>
              <a:rPr lang="en-US" dirty="0"/>
              <a:t> di sub class </a:t>
            </a:r>
            <a:r>
              <a:rPr lang="en-US" dirty="0" err="1"/>
              <a:t>nya</a:t>
            </a:r>
            <a:r>
              <a:rPr lang="en-US" dirty="0"/>
              <a:t>. </a:t>
            </a:r>
          </a:p>
          <a:p>
            <a:endParaRPr lang="en-US" dirty="0"/>
          </a:p>
          <a:p>
            <a:r>
              <a:rPr lang="en-US" dirty="0"/>
              <a:t>Cara </a:t>
            </a:r>
            <a:r>
              <a:rPr lang="en-US" dirty="0" err="1"/>
              <a:t>pemanggilan</a:t>
            </a:r>
            <a:r>
              <a:rPr lang="en-US" dirty="0"/>
              <a:t> method() yang </a:t>
            </a:r>
            <a:r>
              <a:rPr lang="en-US" b="1" dirty="0"/>
              <a:t>non static</a:t>
            </a:r>
            <a:r>
              <a:rPr lang="en-US" dirty="0"/>
              <a:t> </a:t>
            </a:r>
            <a:r>
              <a:rPr lang="en-US" dirty="0" err="1"/>
              <a:t>milik</a:t>
            </a:r>
            <a:r>
              <a:rPr lang="en-US" dirty="0"/>
              <a:t> super class: </a:t>
            </a:r>
            <a:r>
              <a:rPr lang="en-US" b="1" i="1" dirty="0" err="1"/>
              <a:t>super.namaMethod</a:t>
            </a:r>
            <a:r>
              <a:rPr lang="en-US" b="1" i="1" dirty="0"/>
              <a:t>(</a:t>
            </a:r>
            <a:r>
              <a:rPr lang="en-US" b="1" i="1" dirty="0" err="1"/>
              <a:t>tipe</a:t>
            </a:r>
            <a:r>
              <a:rPr lang="en-US" b="1" i="1" dirty="0"/>
              <a:t> parameter);</a:t>
            </a:r>
          </a:p>
          <a:p>
            <a:endParaRPr lang="en-US" b="1" i="1" dirty="0"/>
          </a:p>
          <a:p>
            <a:r>
              <a:rPr lang="en-US" dirty="0"/>
              <a:t>Cara </a:t>
            </a:r>
            <a:r>
              <a:rPr lang="en-US" dirty="0" err="1"/>
              <a:t>pemanggilan</a:t>
            </a:r>
            <a:r>
              <a:rPr lang="en-US" dirty="0"/>
              <a:t> attribute yang </a:t>
            </a:r>
            <a:r>
              <a:rPr lang="en-US" b="1" dirty="0"/>
              <a:t>non static</a:t>
            </a:r>
            <a:r>
              <a:rPr lang="en-US" dirty="0"/>
              <a:t> </a:t>
            </a:r>
            <a:r>
              <a:rPr lang="en-US" dirty="0" err="1"/>
              <a:t>milik</a:t>
            </a:r>
            <a:r>
              <a:rPr lang="en-US" dirty="0"/>
              <a:t> super class: </a:t>
            </a:r>
            <a:r>
              <a:rPr lang="en-US" b="1" i="1" dirty="0" err="1"/>
              <a:t>super.namaAttribute</a:t>
            </a:r>
            <a:r>
              <a:rPr lang="en-US" b="1" i="1" dirty="0"/>
              <a:t>;</a:t>
            </a:r>
          </a:p>
          <a:p>
            <a:endParaRPr lang="en-US" b="1" i="1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 dirty="0"/>
          </a:p>
        </p:txBody>
      </p:sp>
      <p:sp>
        <p:nvSpPr>
          <p:cNvPr id="5" name="Title 4"/>
          <p:cNvSpPr>
            <a:spLocks noGrp="1"/>
          </p:cNvSpPr>
          <p:nvPr>
            <p:ph type="title"/>
          </p:nvPr>
        </p:nvSpPr>
        <p:spPr>
          <a:xfrm>
            <a:off x="228600" y="274638"/>
            <a:ext cx="8763000" cy="792162"/>
          </a:xfrm>
        </p:spPr>
        <p:txBody>
          <a:bodyPr>
            <a:normAutofit fontScale="90000"/>
          </a:bodyPr>
          <a:lstStyle/>
          <a:p>
            <a:pPr algn="ctr"/>
            <a:r>
              <a:rPr lang="en-US" sz="3200" dirty="0" err="1">
                <a:effectLst/>
              </a:rPr>
              <a:t>Menggunakan</a:t>
            </a:r>
            <a:r>
              <a:rPr lang="en-US" sz="3200" dirty="0">
                <a:effectLst/>
              </a:rPr>
              <a:t>/</a:t>
            </a:r>
            <a:r>
              <a:rPr lang="en-US" sz="3200" dirty="0" err="1">
                <a:effectLst/>
              </a:rPr>
              <a:t>tulis</a:t>
            </a:r>
            <a:r>
              <a:rPr lang="en-US" sz="3200" dirty="0">
                <a:effectLst/>
              </a:rPr>
              <a:t> </a:t>
            </a:r>
            <a:r>
              <a:rPr lang="en-US" sz="3200" dirty="0" err="1">
                <a:effectLst/>
              </a:rPr>
              <a:t>ulang</a:t>
            </a:r>
            <a:r>
              <a:rPr lang="en-US" sz="3200" dirty="0">
                <a:effectLst/>
              </a:rPr>
              <a:t> </a:t>
            </a:r>
            <a:r>
              <a:rPr lang="en-US" sz="3200" dirty="0" err="1">
                <a:effectLst/>
              </a:rPr>
              <a:t>isi</a:t>
            </a:r>
            <a:r>
              <a:rPr lang="en-US" sz="3200" dirty="0">
                <a:effectLst/>
              </a:rPr>
              <a:t> method() </a:t>
            </a:r>
            <a:r>
              <a:rPr lang="en-US" sz="3200" dirty="0" err="1">
                <a:effectLst/>
              </a:rPr>
              <a:t>dan</a:t>
            </a:r>
            <a:r>
              <a:rPr lang="en-US" sz="3200" dirty="0">
                <a:effectLst/>
              </a:rPr>
              <a:t> constructor() </a:t>
            </a:r>
            <a:r>
              <a:rPr lang="en-US" sz="3200" dirty="0" err="1">
                <a:effectLst/>
              </a:rPr>
              <a:t>milik</a:t>
            </a:r>
            <a:r>
              <a:rPr lang="en-US" sz="3200" dirty="0">
                <a:effectLst/>
              </a:rPr>
              <a:t> super class 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228600" y="914400"/>
            <a:ext cx="8686800" cy="5410200"/>
          </a:xfrm>
        </p:spPr>
        <p:txBody>
          <a:bodyPr>
            <a:noAutofit/>
          </a:bodyPr>
          <a:lstStyle/>
          <a:p>
            <a:r>
              <a:rPr lang="en-US" sz="1600" dirty="0">
                <a:latin typeface="Arial Black" pitchFamily="34" charset="0"/>
              </a:rPr>
              <a:t>Polymorphism arti </a:t>
            </a:r>
            <a:r>
              <a:rPr lang="en-US" sz="1600" dirty="0" err="1">
                <a:latin typeface="Arial Black" pitchFamily="34" charset="0"/>
              </a:rPr>
              <a:t>bahasanya</a:t>
            </a:r>
            <a:r>
              <a:rPr lang="en-US" sz="1600" dirty="0">
                <a:latin typeface="Arial Black" pitchFamily="34" charset="0"/>
              </a:rPr>
              <a:t> </a:t>
            </a:r>
            <a:r>
              <a:rPr lang="en-US" sz="1600" dirty="0" err="1">
                <a:latin typeface="Arial Black" pitchFamily="34" charset="0"/>
              </a:rPr>
              <a:t>bersifat</a:t>
            </a:r>
            <a:r>
              <a:rPr lang="en-US" sz="1600" dirty="0">
                <a:latin typeface="Arial Black" pitchFamily="34" charset="0"/>
              </a:rPr>
              <a:t> </a:t>
            </a:r>
            <a:r>
              <a:rPr lang="en-US" sz="1600" b="1" dirty="0" err="1">
                <a:latin typeface="Arial Black" pitchFamily="34" charset="0"/>
              </a:rPr>
              <a:t>banyak-bentuk</a:t>
            </a:r>
            <a:r>
              <a:rPr lang="en-US" sz="1600" dirty="0">
                <a:latin typeface="Arial Black" pitchFamily="34" charset="0"/>
              </a:rPr>
              <a:t>. </a:t>
            </a:r>
            <a:r>
              <a:rPr lang="en-US" sz="1600" b="1" dirty="0" err="1">
                <a:solidFill>
                  <a:srgbClr val="FF0000"/>
                </a:solidFill>
                <a:latin typeface="Arial Black" pitchFamily="34" charset="0"/>
              </a:rPr>
              <a:t>Biasanya</a:t>
            </a:r>
            <a:r>
              <a:rPr lang="en-US" sz="1600" b="1" dirty="0">
                <a:solidFill>
                  <a:srgbClr val="FF0000"/>
                </a:solidFill>
                <a:latin typeface="Arial Black" pitchFamily="34" charset="0"/>
              </a:rPr>
              <a:t> </a:t>
            </a:r>
            <a:r>
              <a:rPr lang="en-US" sz="1600" b="1" dirty="0" err="1">
                <a:solidFill>
                  <a:srgbClr val="FF0000"/>
                </a:solidFill>
                <a:latin typeface="Arial Black" pitchFamily="34" charset="0"/>
              </a:rPr>
              <a:t>dilakukan</a:t>
            </a:r>
            <a:r>
              <a:rPr lang="en-US" sz="1600" b="1" dirty="0">
                <a:solidFill>
                  <a:srgbClr val="FF0000"/>
                </a:solidFill>
                <a:latin typeface="Arial Black" pitchFamily="34" charset="0"/>
              </a:rPr>
              <a:t> </a:t>
            </a:r>
            <a:r>
              <a:rPr lang="en-US" sz="1600" b="1" dirty="0" err="1">
                <a:solidFill>
                  <a:srgbClr val="FF0000"/>
                </a:solidFill>
                <a:latin typeface="Arial Black" pitchFamily="34" charset="0"/>
              </a:rPr>
              <a:t>di</a:t>
            </a:r>
            <a:r>
              <a:rPr lang="en-US" sz="1600" b="1" dirty="0">
                <a:solidFill>
                  <a:srgbClr val="FF0000"/>
                </a:solidFill>
                <a:latin typeface="Arial Black" pitchFamily="34" charset="0"/>
              </a:rPr>
              <a:t> Main Class.</a:t>
            </a:r>
          </a:p>
          <a:p>
            <a:endParaRPr lang="en-US" sz="1600" dirty="0">
              <a:latin typeface="Arial Black" pitchFamily="34" charset="0"/>
            </a:endParaRPr>
          </a:p>
          <a:p>
            <a:r>
              <a:rPr lang="en-US" sz="1600" dirty="0" err="1">
                <a:latin typeface="Arial Black" pitchFamily="34" charset="0"/>
              </a:rPr>
              <a:t>Konsep</a:t>
            </a:r>
            <a:r>
              <a:rPr lang="en-US" sz="1600" dirty="0">
                <a:latin typeface="Arial Black" pitchFamily="34" charset="0"/>
              </a:rPr>
              <a:t> </a:t>
            </a:r>
            <a:r>
              <a:rPr lang="en-US" sz="1600" dirty="0" err="1">
                <a:latin typeface="Arial Black" pitchFamily="34" charset="0"/>
              </a:rPr>
              <a:t>ini</a:t>
            </a:r>
            <a:r>
              <a:rPr lang="en-US" sz="1600" dirty="0">
                <a:latin typeface="Arial Black" pitchFamily="34" charset="0"/>
              </a:rPr>
              <a:t> </a:t>
            </a:r>
            <a:r>
              <a:rPr lang="en-US" sz="1600" dirty="0" err="1">
                <a:latin typeface="Arial Black" pitchFamily="34" charset="0"/>
              </a:rPr>
              <a:t>sangat</a:t>
            </a:r>
            <a:r>
              <a:rPr lang="en-US" sz="1600" dirty="0">
                <a:latin typeface="Arial Black" pitchFamily="34" charset="0"/>
              </a:rPr>
              <a:t> </a:t>
            </a:r>
            <a:r>
              <a:rPr lang="en-US" sz="1600" dirty="0" err="1">
                <a:latin typeface="Arial Black" pitchFamily="34" charset="0"/>
              </a:rPr>
              <a:t>terkait</a:t>
            </a:r>
            <a:r>
              <a:rPr lang="en-US" sz="1600" dirty="0">
                <a:latin typeface="Arial Black" pitchFamily="34" charset="0"/>
              </a:rPr>
              <a:t> </a:t>
            </a:r>
            <a:r>
              <a:rPr lang="en-US" sz="1600" dirty="0" err="1">
                <a:latin typeface="Arial Black" pitchFamily="34" charset="0"/>
              </a:rPr>
              <a:t>dengan</a:t>
            </a:r>
            <a:r>
              <a:rPr lang="en-US" sz="1600" dirty="0">
                <a:latin typeface="Arial Black" pitchFamily="34" charset="0"/>
              </a:rPr>
              <a:t> </a:t>
            </a:r>
            <a:r>
              <a:rPr lang="en-US" sz="1600" dirty="0" err="1">
                <a:latin typeface="Arial Black" pitchFamily="34" charset="0"/>
              </a:rPr>
              <a:t>konsep</a:t>
            </a:r>
            <a:r>
              <a:rPr lang="en-US" sz="1600" dirty="0">
                <a:latin typeface="Arial Black" pitchFamily="34" charset="0"/>
              </a:rPr>
              <a:t> Inheritance, </a:t>
            </a:r>
            <a:r>
              <a:rPr lang="en-US" sz="1600" dirty="0" err="1">
                <a:latin typeface="Arial Black" pitchFamily="34" charset="0"/>
              </a:rPr>
              <a:t>jika</a:t>
            </a:r>
            <a:r>
              <a:rPr lang="en-US" sz="1600" dirty="0">
                <a:latin typeface="Arial Black" pitchFamily="34" charset="0"/>
              </a:rPr>
              <a:t> </a:t>
            </a:r>
            <a:r>
              <a:rPr lang="en-US" sz="1600" dirty="0" err="1">
                <a:latin typeface="Arial Black" pitchFamily="34" charset="0"/>
              </a:rPr>
              <a:t>tidak</a:t>
            </a:r>
            <a:r>
              <a:rPr lang="en-US" sz="1600" dirty="0">
                <a:latin typeface="Arial Black" pitchFamily="34" charset="0"/>
              </a:rPr>
              <a:t> </a:t>
            </a:r>
            <a:r>
              <a:rPr lang="en-US" sz="1600" dirty="0" err="1">
                <a:latin typeface="Arial Black" pitchFamily="34" charset="0"/>
              </a:rPr>
              <a:t>terjadi</a:t>
            </a:r>
            <a:r>
              <a:rPr lang="en-US" sz="1600" dirty="0">
                <a:latin typeface="Arial Black" pitchFamily="34" charset="0"/>
              </a:rPr>
              <a:t> inheritance </a:t>
            </a:r>
            <a:r>
              <a:rPr lang="en-US" sz="1600" dirty="0" err="1">
                <a:latin typeface="Arial Black" pitchFamily="34" charset="0"/>
              </a:rPr>
              <a:t>maka</a:t>
            </a:r>
            <a:r>
              <a:rPr lang="en-US" sz="1600" dirty="0">
                <a:latin typeface="Arial Black" pitchFamily="34" charset="0"/>
              </a:rPr>
              <a:t> polymorphism juga </a:t>
            </a:r>
            <a:r>
              <a:rPr lang="en-US" sz="1600" dirty="0" err="1">
                <a:latin typeface="Arial Black" pitchFamily="34" charset="0"/>
              </a:rPr>
              <a:t>tidak</a:t>
            </a:r>
            <a:r>
              <a:rPr lang="en-US" sz="1600" dirty="0">
                <a:latin typeface="Arial Black" pitchFamily="34" charset="0"/>
              </a:rPr>
              <a:t> </a:t>
            </a:r>
            <a:r>
              <a:rPr lang="en-US" sz="1600" dirty="0" err="1">
                <a:latin typeface="Arial Black" pitchFamily="34" charset="0"/>
              </a:rPr>
              <a:t>ada</a:t>
            </a:r>
            <a:r>
              <a:rPr lang="en-US" sz="1600" dirty="0">
                <a:latin typeface="Arial Black" pitchFamily="34" charset="0"/>
              </a:rPr>
              <a:t>.</a:t>
            </a:r>
          </a:p>
          <a:p>
            <a:endParaRPr lang="en-US" sz="1600" dirty="0">
              <a:latin typeface="Arial Black" pitchFamily="34" charset="0"/>
            </a:endParaRPr>
          </a:p>
          <a:p>
            <a:r>
              <a:rPr lang="en-US" sz="1600" dirty="0">
                <a:solidFill>
                  <a:srgbClr val="0070C0"/>
                </a:solidFill>
                <a:latin typeface="Arial Black" pitchFamily="34" charset="0"/>
              </a:rPr>
              <a:t>Super Class yang </a:t>
            </a:r>
            <a:r>
              <a:rPr lang="en-US" sz="1600" dirty="0" err="1">
                <a:solidFill>
                  <a:srgbClr val="0070C0"/>
                </a:solidFill>
                <a:latin typeface="Arial Black" pitchFamily="34" charset="0"/>
              </a:rPr>
              <a:t>sama</a:t>
            </a:r>
            <a:r>
              <a:rPr lang="en-US" sz="1600" dirty="0">
                <a:solidFill>
                  <a:srgbClr val="0070C0"/>
                </a:solidFill>
                <a:latin typeface="Arial Black" pitchFamily="34" charset="0"/>
              </a:rPr>
              <a:t> </a:t>
            </a:r>
            <a:r>
              <a:rPr lang="en-US" sz="1600" dirty="0" err="1">
                <a:solidFill>
                  <a:srgbClr val="0070C0"/>
                </a:solidFill>
                <a:latin typeface="Arial Black" pitchFamily="34" charset="0"/>
              </a:rPr>
              <a:t>dapat</a:t>
            </a:r>
            <a:r>
              <a:rPr lang="en-US" sz="1600" dirty="0">
                <a:solidFill>
                  <a:srgbClr val="0070C0"/>
                </a:solidFill>
                <a:latin typeface="Arial Black" pitchFamily="34" charset="0"/>
              </a:rPr>
              <a:t> </a:t>
            </a:r>
            <a:r>
              <a:rPr lang="en-US" sz="1600" dirty="0" err="1">
                <a:solidFill>
                  <a:srgbClr val="0070C0"/>
                </a:solidFill>
                <a:latin typeface="Arial Black" pitchFamily="34" charset="0"/>
              </a:rPr>
              <a:t>mewujudkan</a:t>
            </a:r>
            <a:r>
              <a:rPr lang="en-US" sz="1600" dirty="0">
                <a:solidFill>
                  <a:srgbClr val="0070C0"/>
                </a:solidFill>
                <a:latin typeface="Arial Black" pitchFamily="34" charset="0"/>
              </a:rPr>
              <a:t> </a:t>
            </a:r>
            <a:r>
              <a:rPr lang="en-US" sz="1600" dirty="0" err="1">
                <a:solidFill>
                  <a:srgbClr val="0070C0"/>
                </a:solidFill>
                <a:latin typeface="Arial Black" pitchFamily="34" charset="0"/>
              </a:rPr>
              <a:t>banyak</a:t>
            </a:r>
            <a:r>
              <a:rPr lang="en-US" sz="1600" dirty="0">
                <a:solidFill>
                  <a:srgbClr val="0070C0"/>
                </a:solidFill>
                <a:latin typeface="Arial Black" pitchFamily="34" charset="0"/>
              </a:rPr>
              <a:t> </a:t>
            </a:r>
            <a:r>
              <a:rPr lang="en-US" sz="1600" dirty="0" err="1">
                <a:solidFill>
                  <a:srgbClr val="0070C0"/>
                </a:solidFill>
                <a:latin typeface="Arial Black" pitchFamily="34" charset="0"/>
              </a:rPr>
              <a:t>objek</a:t>
            </a:r>
            <a:r>
              <a:rPr lang="en-US" sz="1600" dirty="0">
                <a:solidFill>
                  <a:srgbClr val="0070C0"/>
                </a:solidFill>
                <a:latin typeface="Arial Black" pitchFamily="34" charset="0"/>
              </a:rPr>
              <a:t> yang </a:t>
            </a:r>
            <a:r>
              <a:rPr lang="en-US" sz="1600" dirty="0" err="1">
                <a:solidFill>
                  <a:srgbClr val="0070C0"/>
                </a:solidFill>
                <a:latin typeface="Arial Black" pitchFamily="34" charset="0"/>
              </a:rPr>
              <a:t>dapat</a:t>
            </a:r>
            <a:r>
              <a:rPr lang="en-US" sz="1600" dirty="0">
                <a:solidFill>
                  <a:srgbClr val="0070C0"/>
                </a:solidFill>
                <a:latin typeface="Arial Black" pitchFamily="34" charset="0"/>
              </a:rPr>
              <a:t> </a:t>
            </a:r>
            <a:r>
              <a:rPr lang="en-US" sz="1600" dirty="0" err="1">
                <a:solidFill>
                  <a:srgbClr val="0070C0"/>
                </a:solidFill>
                <a:latin typeface="Arial Black" pitchFamily="34" charset="0"/>
              </a:rPr>
              <a:t>memiliki</a:t>
            </a:r>
            <a:r>
              <a:rPr lang="en-US" sz="1600" dirty="0">
                <a:solidFill>
                  <a:srgbClr val="0070C0"/>
                </a:solidFill>
                <a:latin typeface="Arial Black" pitchFamily="34" charset="0"/>
              </a:rPr>
              <a:t> literal (</a:t>
            </a:r>
            <a:r>
              <a:rPr lang="en-US" sz="1600" dirty="0" err="1">
                <a:solidFill>
                  <a:srgbClr val="0070C0"/>
                </a:solidFill>
                <a:latin typeface="Arial Black" pitchFamily="34" charset="0"/>
              </a:rPr>
              <a:t>nilai</a:t>
            </a:r>
            <a:r>
              <a:rPr lang="en-US" sz="1600" dirty="0">
                <a:solidFill>
                  <a:srgbClr val="0070C0"/>
                </a:solidFill>
                <a:latin typeface="Arial Black" pitchFamily="34" charset="0"/>
              </a:rPr>
              <a:t>) yang </a:t>
            </a:r>
            <a:r>
              <a:rPr lang="en-US" sz="1600" dirty="0" err="1">
                <a:solidFill>
                  <a:srgbClr val="0070C0"/>
                </a:solidFill>
                <a:latin typeface="Arial Black" pitchFamily="34" charset="0"/>
              </a:rPr>
              <a:t>berbeda-beda</a:t>
            </a:r>
            <a:r>
              <a:rPr lang="en-US" sz="1600" dirty="0">
                <a:solidFill>
                  <a:srgbClr val="0070C0"/>
                </a:solidFill>
                <a:latin typeface="Arial Black" pitchFamily="34" charset="0"/>
              </a:rPr>
              <a:t> </a:t>
            </a:r>
            <a:r>
              <a:rPr lang="en-US" sz="1600" dirty="0" err="1">
                <a:solidFill>
                  <a:srgbClr val="0070C0"/>
                </a:solidFill>
                <a:latin typeface="Arial Black" pitchFamily="34" charset="0"/>
              </a:rPr>
              <a:t>sesuai</a:t>
            </a:r>
            <a:r>
              <a:rPr lang="en-US" sz="1600" dirty="0">
                <a:solidFill>
                  <a:srgbClr val="0070C0"/>
                </a:solidFill>
                <a:latin typeface="Arial Black" pitchFamily="34" charset="0"/>
              </a:rPr>
              <a:t> </a:t>
            </a:r>
            <a:r>
              <a:rPr lang="en-US" sz="1600" dirty="0" err="1">
                <a:solidFill>
                  <a:srgbClr val="0070C0"/>
                </a:solidFill>
                <a:latin typeface="Arial Black" pitchFamily="34" charset="0"/>
              </a:rPr>
              <a:t>dengan</a:t>
            </a:r>
            <a:r>
              <a:rPr lang="en-US" sz="1600" dirty="0">
                <a:solidFill>
                  <a:srgbClr val="0070C0"/>
                </a:solidFill>
                <a:latin typeface="Arial Black" pitchFamily="34" charset="0"/>
              </a:rPr>
              <a:t> constructor() </a:t>
            </a:r>
            <a:r>
              <a:rPr lang="en-US" sz="1600" dirty="0" err="1">
                <a:solidFill>
                  <a:srgbClr val="0070C0"/>
                </a:solidFill>
                <a:latin typeface="Arial Black" pitchFamily="34" charset="0"/>
              </a:rPr>
              <a:t>milik</a:t>
            </a:r>
            <a:r>
              <a:rPr lang="en-US" sz="1600" dirty="0">
                <a:solidFill>
                  <a:srgbClr val="0070C0"/>
                </a:solidFill>
                <a:latin typeface="Arial Black" pitchFamily="34" charset="0"/>
              </a:rPr>
              <a:t> Subclass </a:t>
            </a:r>
            <a:r>
              <a:rPr lang="en-US" sz="1600" dirty="0" err="1">
                <a:solidFill>
                  <a:srgbClr val="0070C0"/>
                </a:solidFill>
                <a:latin typeface="Arial Black" pitchFamily="34" charset="0"/>
              </a:rPr>
              <a:t>nya</a:t>
            </a:r>
            <a:r>
              <a:rPr lang="en-US" sz="1600" dirty="0">
                <a:solidFill>
                  <a:srgbClr val="0070C0"/>
                </a:solidFill>
                <a:latin typeface="Arial Black" pitchFamily="34" charset="0"/>
              </a:rPr>
              <a:t>. </a:t>
            </a:r>
          </a:p>
          <a:p>
            <a:endParaRPr lang="en-US" sz="1600" dirty="0">
              <a:latin typeface="Arial Black" pitchFamily="34" charset="0"/>
            </a:endParaRPr>
          </a:p>
          <a:p>
            <a:r>
              <a:rPr lang="en-US" sz="1600" dirty="0">
                <a:latin typeface="Arial Black" pitchFamily="34" charset="0"/>
              </a:rPr>
              <a:t>Jadi, super class yang </a:t>
            </a:r>
            <a:r>
              <a:rPr lang="en-US" sz="1600" dirty="0" err="1">
                <a:latin typeface="Arial Black" pitchFamily="34" charset="0"/>
              </a:rPr>
              <a:t>sama</a:t>
            </a:r>
            <a:r>
              <a:rPr lang="en-US" sz="1600" dirty="0">
                <a:latin typeface="Arial Black" pitchFamily="34" charset="0"/>
              </a:rPr>
              <a:t> </a:t>
            </a:r>
            <a:r>
              <a:rPr lang="en-US" sz="1600" dirty="0" err="1">
                <a:latin typeface="Arial Black" pitchFamily="34" charset="0"/>
              </a:rPr>
              <a:t>dapat</a:t>
            </a:r>
            <a:r>
              <a:rPr lang="en-US" sz="1600" dirty="0">
                <a:latin typeface="Arial Black" pitchFamily="34" charset="0"/>
              </a:rPr>
              <a:t> </a:t>
            </a:r>
            <a:r>
              <a:rPr lang="en-US" sz="1600" dirty="0" err="1">
                <a:latin typeface="Arial Black" pitchFamily="34" charset="0"/>
              </a:rPr>
              <a:t>memiliki</a:t>
            </a:r>
            <a:r>
              <a:rPr lang="en-US" sz="1600" dirty="0">
                <a:latin typeface="Arial Black" pitchFamily="34" charset="0"/>
              </a:rPr>
              <a:t> </a:t>
            </a:r>
            <a:r>
              <a:rPr lang="en-US" sz="1600" dirty="0" err="1">
                <a:latin typeface="Arial Black" pitchFamily="34" charset="0"/>
              </a:rPr>
              <a:t>banyak</a:t>
            </a:r>
            <a:r>
              <a:rPr lang="en-US" sz="1600" dirty="0">
                <a:latin typeface="Arial Black" pitchFamily="34" charset="0"/>
              </a:rPr>
              <a:t> </a:t>
            </a:r>
            <a:r>
              <a:rPr lang="en-US" sz="1600" dirty="0" err="1">
                <a:latin typeface="Arial Black" pitchFamily="34" charset="0"/>
              </a:rPr>
              <a:t>perilaku</a:t>
            </a:r>
            <a:r>
              <a:rPr lang="en-US" sz="1600" dirty="0">
                <a:latin typeface="Arial Black" pitchFamily="34" charset="0"/>
              </a:rPr>
              <a:t> </a:t>
            </a:r>
            <a:r>
              <a:rPr lang="en-US" sz="1600" dirty="0" err="1">
                <a:latin typeface="Arial Black" pitchFamily="34" charset="0"/>
              </a:rPr>
              <a:t>dengan</a:t>
            </a:r>
            <a:r>
              <a:rPr lang="en-US" sz="1600" dirty="0">
                <a:latin typeface="Arial Black" pitchFamily="34" charset="0"/>
              </a:rPr>
              <a:t> </a:t>
            </a:r>
            <a:r>
              <a:rPr lang="en-US" sz="1600" dirty="0" err="1">
                <a:latin typeface="Arial Black" pitchFamily="34" charset="0"/>
              </a:rPr>
              <a:t>keluaran</a:t>
            </a:r>
            <a:r>
              <a:rPr lang="en-US" sz="1600" dirty="0">
                <a:latin typeface="Arial Black" pitchFamily="34" charset="0"/>
              </a:rPr>
              <a:t> yang </a:t>
            </a:r>
            <a:r>
              <a:rPr lang="en-US" sz="1600" dirty="0" err="1">
                <a:latin typeface="Arial Black" pitchFamily="34" charset="0"/>
              </a:rPr>
              <a:t>berbeda-beda</a:t>
            </a:r>
            <a:r>
              <a:rPr lang="en-US" sz="1600" dirty="0">
                <a:latin typeface="Arial Black" pitchFamily="34" charset="0"/>
              </a:rPr>
              <a:t> </a:t>
            </a:r>
            <a:r>
              <a:rPr lang="en-US" sz="1600" dirty="0" err="1">
                <a:latin typeface="Arial Black" pitchFamily="34" charset="0"/>
              </a:rPr>
              <a:t>sesuai</a:t>
            </a:r>
            <a:r>
              <a:rPr lang="en-US" sz="1600" dirty="0">
                <a:latin typeface="Arial Black" pitchFamily="34" charset="0"/>
              </a:rPr>
              <a:t> </a:t>
            </a:r>
            <a:r>
              <a:rPr lang="en-US" sz="1600" dirty="0" err="1">
                <a:latin typeface="Arial Black" pitchFamily="34" charset="0"/>
              </a:rPr>
              <a:t>dengan</a:t>
            </a:r>
            <a:r>
              <a:rPr lang="en-US" sz="1600" dirty="0">
                <a:latin typeface="Arial Black" pitchFamily="34" charset="0"/>
              </a:rPr>
              <a:t> constructor </a:t>
            </a:r>
            <a:r>
              <a:rPr lang="en-US" sz="1600" dirty="0" err="1">
                <a:latin typeface="Arial Black" pitchFamily="34" charset="0"/>
              </a:rPr>
              <a:t>subclassnya</a:t>
            </a:r>
            <a:r>
              <a:rPr lang="en-US" sz="1600" dirty="0">
                <a:latin typeface="Arial Black" pitchFamily="34" charset="0"/>
              </a:rPr>
              <a:t>.</a:t>
            </a:r>
          </a:p>
          <a:p>
            <a:endParaRPr lang="en-US" sz="1600" dirty="0">
              <a:latin typeface="Arial Black" pitchFamily="34" charset="0"/>
            </a:endParaRPr>
          </a:p>
          <a:p>
            <a:r>
              <a:rPr lang="en-US" sz="1600" dirty="0" err="1">
                <a:latin typeface="Arial Black" pitchFamily="34" charset="0"/>
              </a:rPr>
              <a:t>Contoh</a:t>
            </a:r>
            <a:r>
              <a:rPr lang="en-US" sz="1600" dirty="0">
                <a:latin typeface="Arial Black" pitchFamily="34" charset="0"/>
              </a:rPr>
              <a:t>:</a:t>
            </a:r>
          </a:p>
          <a:p>
            <a:r>
              <a:rPr lang="en-US" sz="1600" b="1" i="1" dirty="0">
                <a:solidFill>
                  <a:srgbClr val="FF0000"/>
                </a:solidFill>
                <a:latin typeface="Arial Black" pitchFamily="34" charset="0"/>
              </a:rPr>
              <a:t>Parent</a:t>
            </a:r>
            <a:r>
              <a:rPr lang="en-US" sz="1600" b="1" i="1" dirty="0">
                <a:latin typeface="Arial Black" pitchFamily="34" charset="0"/>
              </a:rPr>
              <a:t> p = new Parent();</a:t>
            </a:r>
          </a:p>
          <a:p>
            <a:r>
              <a:rPr lang="en-US" sz="1600" b="1" i="1" dirty="0">
                <a:solidFill>
                  <a:srgbClr val="FF0000"/>
                </a:solidFill>
                <a:latin typeface="Arial Black" pitchFamily="34" charset="0"/>
              </a:rPr>
              <a:t>Parent</a:t>
            </a:r>
            <a:r>
              <a:rPr lang="en-US" sz="1600" b="1" i="1" dirty="0">
                <a:latin typeface="Arial Black" pitchFamily="34" charset="0"/>
              </a:rPr>
              <a:t> p1 = new Child1();</a:t>
            </a:r>
          </a:p>
          <a:p>
            <a:r>
              <a:rPr lang="en-US" sz="1600" b="1" i="1" dirty="0">
                <a:solidFill>
                  <a:srgbClr val="FF0000"/>
                </a:solidFill>
                <a:latin typeface="Arial Black" pitchFamily="34" charset="0"/>
              </a:rPr>
              <a:t>Parent</a:t>
            </a:r>
            <a:r>
              <a:rPr lang="en-US" sz="1600" b="1" i="1" dirty="0">
                <a:latin typeface="Arial Black" pitchFamily="34" charset="0"/>
              </a:rPr>
              <a:t> p2 = new Child2();</a:t>
            </a:r>
          </a:p>
          <a:p>
            <a:r>
              <a:rPr lang="en-US" sz="1600" b="1" i="1" dirty="0">
                <a:solidFill>
                  <a:srgbClr val="FF0000"/>
                </a:solidFill>
                <a:latin typeface="Arial Black" pitchFamily="34" charset="0"/>
              </a:rPr>
              <a:t>Parent</a:t>
            </a:r>
            <a:r>
              <a:rPr lang="en-US" sz="1600" b="1" i="1" dirty="0">
                <a:latin typeface="Arial Black" pitchFamily="34" charset="0"/>
              </a:rPr>
              <a:t> p3 = new Child3();</a:t>
            </a:r>
          </a:p>
          <a:p>
            <a:r>
              <a:rPr lang="en-US" sz="1600" dirty="0">
                <a:latin typeface="Arial Black" pitchFamily="34" charset="0"/>
              </a:rPr>
              <a:t>               </a:t>
            </a:r>
            <a:r>
              <a:rPr lang="en-US" sz="1600" dirty="0" err="1">
                <a:latin typeface="Arial Black" pitchFamily="34" charset="0"/>
              </a:rPr>
              <a:t>Perhatikan</a:t>
            </a:r>
            <a:r>
              <a:rPr lang="en-US" sz="1600" dirty="0">
                <a:latin typeface="Arial Black" pitchFamily="34" charset="0"/>
              </a:rPr>
              <a:t> </a:t>
            </a:r>
            <a:r>
              <a:rPr lang="en-US" sz="1600" dirty="0" err="1">
                <a:latin typeface="Arial Black" pitchFamily="34" charset="0"/>
              </a:rPr>
              <a:t>bahwa</a:t>
            </a:r>
            <a:r>
              <a:rPr lang="en-US" sz="1600" dirty="0">
                <a:latin typeface="Arial Black" pitchFamily="34" charset="0"/>
              </a:rPr>
              <a:t> Super Class </a:t>
            </a:r>
            <a:r>
              <a:rPr lang="en-US" sz="1600" dirty="0" err="1">
                <a:latin typeface="Arial Black" pitchFamily="34" charset="0"/>
              </a:rPr>
              <a:t>nya</a:t>
            </a:r>
            <a:r>
              <a:rPr lang="en-US" sz="1600" dirty="0">
                <a:latin typeface="Arial Black" pitchFamily="34" charset="0"/>
              </a:rPr>
              <a:t> </a:t>
            </a:r>
            <a:r>
              <a:rPr lang="en-US" sz="1600" b="1" dirty="0" err="1">
                <a:solidFill>
                  <a:srgbClr val="0070C0"/>
                </a:solidFill>
                <a:latin typeface="Arial Black" pitchFamily="34" charset="0"/>
              </a:rPr>
              <a:t>sama</a:t>
            </a:r>
            <a:r>
              <a:rPr lang="en-US" sz="1600" dirty="0">
                <a:latin typeface="Arial Black" pitchFamily="34" charset="0"/>
              </a:rPr>
              <a:t> </a:t>
            </a:r>
            <a:r>
              <a:rPr lang="en-US" sz="1600" dirty="0" err="1">
                <a:latin typeface="Arial Black" pitchFamily="34" charset="0"/>
              </a:rPr>
              <a:t>yaitu</a:t>
            </a:r>
            <a:r>
              <a:rPr lang="en-US" sz="1600" dirty="0">
                <a:latin typeface="Arial Black" pitchFamily="34" charset="0"/>
              </a:rPr>
              <a:t> </a:t>
            </a:r>
            <a:r>
              <a:rPr lang="en-US" sz="1600" b="1" i="1" dirty="0">
                <a:latin typeface="Arial Black" pitchFamily="34" charset="0"/>
              </a:rPr>
              <a:t>Parent</a:t>
            </a:r>
            <a:r>
              <a:rPr lang="en-US" sz="1600" dirty="0">
                <a:latin typeface="Arial Black" pitchFamily="34" charset="0"/>
              </a:rPr>
              <a:t>.</a:t>
            </a:r>
          </a:p>
          <a:p>
            <a:endParaRPr lang="en-US" sz="1600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 dirty="0"/>
          </a:p>
        </p:txBody>
      </p:sp>
      <p:sp>
        <p:nvSpPr>
          <p:cNvPr id="5" name="Title 4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563562"/>
          </a:xfrm>
        </p:spPr>
        <p:txBody>
          <a:bodyPr>
            <a:normAutofit fontScale="90000"/>
          </a:bodyPr>
          <a:lstStyle/>
          <a:p>
            <a:pPr algn="ctr"/>
            <a:r>
              <a:rPr lang="en-US" sz="4000" dirty="0">
                <a:effectLst/>
              </a:rPr>
              <a:t>Polymorphism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DD2BAD97-DC01-57C2-2220-691B5532DF3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457200"/>
            <a:ext cx="8229600" cy="5550091"/>
          </a:xfrm>
        </p:spPr>
        <p:txBody>
          <a:bodyPr>
            <a:normAutofit fontScale="55000" lnSpcReduction="20000"/>
          </a:bodyPr>
          <a:lstStyle/>
          <a:p>
            <a:r>
              <a:rPr lang="en-US" dirty="0"/>
              <a:t>public class Parent {</a:t>
            </a:r>
          </a:p>
          <a:p>
            <a:endParaRPr lang="en-US" dirty="0"/>
          </a:p>
          <a:p>
            <a:r>
              <a:rPr lang="en-US" dirty="0"/>
              <a:t>}</a:t>
            </a:r>
          </a:p>
          <a:p>
            <a:r>
              <a:rPr lang="en-US" dirty="0"/>
              <a:t>public class Child1 extends Parent {</a:t>
            </a:r>
          </a:p>
          <a:p>
            <a:endParaRPr lang="en-US" dirty="0"/>
          </a:p>
          <a:p>
            <a:r>
              <a:rPr lang="en-US" dirty="0"/>
              <a:t>}</a:t>
            </a:r>
          </a:p>
          <a:p>
            <a:r>
              <a:rPr lang="en-US" dirty="0"/>
              <a:t>public class Child2 extends Parent {</a:t>
            </a:r>
          </a:p>
          <a:p>
            <a:endParaRPr lang="en-US" dirty="0"/>
          </a:p>
          <a:p>
            <a:r>
              <a:rPr lang="en-US" dirty="0"/>
              <a:t>}</a:t>
            </a:r>
          </a:p>
          <a:p>
            <a:r>
              <a:rPr lang="en-US" dirty="0"/>
              <a:t>public class Child3 extends Parent {</a:t>
            </a:r>
          </a:p>
          <a:p>
            <a:endParaRPr lang="en-US" dirty="0"/>
          </a:p>
          <a:p>
            <a:r>
              <a:rPr lang="en-US" dirty="0"/>
              <a:t>}</a:t>
            </a:r>
          </a:p>
          <a:p>
            <a:endParaRPr lang="en-US" dirty="0"/>
          </a:p>
          <a:p>
            <a:r>
              <a:rPr lang="en-US" dirty="0"/>
              <a:t>public class </a:t>
            </a:r>
            <a:r>
              <a:rPr lang="en-US" dirty="0" err="1"/>
              <a:t>Polymohism</a:t>
            </a:r>
            <a:r>
              <a:rPr lang="en-US" dirty="0"/>
              <a:t> {</a:t>
            </a:r>
          </a:p>
          <a:p>
            <a:r>
              <a:rPr lang="en-US" dirty="0"/>
              <a:t>    main() {</a:t>
            </a:r>
          </a:p>
          <a:p>
            <a:r>
              <a:rPr lang="en-US" dirty="0"/>
              <a:t>         </a:t>
            </a:r>
            <a:r>
              <a:rPr lang="en-US" b="1" i="1" dirty="0">
                <a:solidFill>
                  <a:srgbClr val="FF0000"/>
                </a:solidFill>
              </a:rPr>
              <a:t>Parent</a:t>
            </a:r>
            <a:r>
              <a:rPr lang="en-US" b="1" i="1" dirty="0"/>
              <a:t> p = new Parent();</a:t>
            </a:r>
          </a:p>
          <a:p>
            <a:r>
              <a:rPr lang="en-US" b="1" i="1" dirty="0">
                <a:solidFill>
                  <a:srgbClr val="FF0000"/>
                </a:solidFill>
              </a:rPr>
              <a:t>         Parent</a:t>
            </a:r>
            <a:r>
              <a:rPr lang="en-US" b="1" i="1" dirty="0"/>
              <a:t> p1 = new Child1();</a:t>
            </a:r>
          </a:p>
          <a:p>
            <a:r>
              <a:rPr lang="en-US" b="1" i="1" dirty="0">
                <a:solidFill>
                  <a:srgbClr val="FF0000"/>
                </a:solidFill>
              </a:rPr>
              <a:t>         Parent</a:t>
            </a:r>
            <a:r>
              <a:rPr lang="en-US" b="1" i="1" dirty="0"/>
              <a:t> p2 = new Child2();</a:t>
            </a:r>
          </a:p>
          <a:p>
            <a:r>
              <a:rPr lang="en-US" b="1" i="1" dirty="0">
                <a:solidFill>
                  <a:srgbClr val="FF0000"/>
                </a:solidFill>
              </a:rPr>
              <a:t>         Parent</a:t>
            </a:r>
            <a:r>
              <a:rPr lang="en-US" b="1" i="1" dirty="0"/>
              <a:t> p3 = new Child3();</a:t>
            </a:r>
          </a:p>
          <a:p>
            <a:r>
              <a:rPr lang="en-US" b="1" i="1" dirty="0"/>
              <a:t>    }</a:t>
            </a:r>
          </a:p>
          <a:p>
            <a:r>
              <a:rPr lang="en-US" dirty="0"/>
              <a:t>    /** </a:t>
            </a:r>
            <a:r>
              <a:rPr lang="en-US" dirty="0" err="1"/>
              <a:t>objek</a:t>
            </a:r>
            <a:r>
              <a:rPr lang="en-US" dirty="0"/>
              <a:t> p1 </a:t>
            </a:r>
            <a:r>
              <a:rPr lang="en-US" dirty="0" err="1"/>
              <a:t>ini</a:t>
            </a:r>
            <a:r>
              <a:rPr lang="en-US" dirty="0"/>
              <a:t> </a:t>
            </a:r>
            <a:r>
              <a:rPr lang="en-US" dirty="0" err="1"/>
              <a:t>dapat</a:t>
            </a:r>
            <a:r>
              <a:rPr lang="en-US" dirty="0"/>
              <a:t> </a:t>
            </a:r>
            <a:r>
              <a:rPr lang="en-US" dirty="0" err="1"/>
              <a:t>memanggil</a:t>
            </a:r>
            <a:r>
              <a:rPr lang="en-US" dirty="0"/>
              <a:t> method()-method() </a:t>
            </a:r>
            <a:r>
              <a:rPr lang="en-US" dirty="0" err="1"/>
              <a:t>milik</a:t>
            </a:r>
            <a:r>
              <a:rPr lang="en-US" dirty="0"/>
              <a:t> </a:t>
            </a:r>
          </a:p>
          <a:p>
            <a:r>
              <a:rPr lang="en-US" dirty="0"/>
              <a:t>    Parent </a:t>
            </a:r>
            <a:r>
              <a:rPr lang="en-US" dirty="0" err="1"/>
              <a:t>maupun</a:t>
            </a:r>
            <a:r>
              <a:rPr lang="en-US" dirty="0"/>
              <a:t> Child1 */</a:t>
            </a:r>
          </a:p>
          <a:p>
            <a:r>
              <a:rPr lang="en-US" dirty="0"/>
              <a:t>}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244FD32-0231-10ED-5B91-5DCC5482E87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7AE5298-E199-C64E-CAD1-743DCF21DA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6435289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457200" y="533400"/>
            <a:ext cx="8458200" cy="5473891"/>
          </a:xfrm>
        </p:spPr>
        <p:txBody>
          <a:bodyPr>
            <a:normAutofit/>
          </a:bodyPr>
          <a:lstStyle/>
          <a:p>
            <a:r>
              <a:rPr lang="en-US" dirty="0"/>
              <a:t>public class </a:t>
            </a:r>
            <a:r>
              <a:rPr lang="en-US" dirty="0" err="1"/>
              <a:t>Manusia</a:t>
            </a:r>
            <a:r>
              <a:rPr lang="en-US" dirty="0"/>
              <a:t> {</a:t>
            </a:r>
          </a:p>
          <a:p>
            <a:r>
              <a:rPr lang="en-US" dirty="0"/>
              <a:t>    public String name;</a:t>
            </a:r>
          </a:p>
          <a:p>
            <a:r>
              <a:rPr lang="en-US" dirty="0"/>
              <a:t>    public String </a:t>
            </a:r>
            <a:r>
              <a:rPr lang="en-US" dirty="0" err="1"/>
              <a:t>alamat</a:t>
            </a:r>
            <a:r>
              <a:rPr lang="en-US" dirty="0"/>
              <a:t>;</a:t>
            </a:r>
          </a:p>
          <a:p>
            <a:r>
              <a:rPr lang="en-US" dirty="0"/>
              <a:t>    </a:t>
            </a:r>
          </a:p>
          <a:p>
            <a:r>
              <a:rPr lang="en-US" dirty="0"/>
              <a:t>    public void </a:t>
            </a:r>
            <a:r>
              <a:rPr lang="en-US" dirty="0" err="1"/>
              <a:t>berjalan</a:t>
            </a:r>
            <a:r>
              <a:rPr lang="en-US" dirty="0"/>
              <a:t>() {</a:t>
            </a:r>
          </a:p>
          <a:p>
            <a:r>
              <a:rPr lang="en-US" dirty="0"/>
              <a:t>        </a:t>
            </a:r>
          </a:p>
          <a:p>
            <a:r>
              <a:rPr lang="en-US" dirty="0"/>
              <a:t>    }</a:t>
            </a:r>
          </a:p>
          <a:p>
            <a:r>
              <a:rPr lang="en-US" dirty="0"/>
              <a:t>    public String </a:t>
            </a:r>
            <a:r>
              <a:rPr lang="en-US" dirty="0" err="1"/>
              <a:t>getNama</a:t>
            </a:r>
            <a:r>
              <a:rPr lang="en-US" dirty="0"/>
              <a:t>() {</a:t>
            </a:r>
          </a:p>
          <a:p>
            <a:r>
              <a:rPr lang="en-US" dirty="0"/>
              <a:t>        return </a:t>
            </a:r>
            <a:r>
              <a:rPr lang="en-US" dirty="0" err="1"/>
              <a:t>nama</a:t>
            </a:r>
            <a:r>
              <a:rPr lang="en-US" dirty="0"/>
              <a:t>;</a:t>
            </a:r>
          </a:p>
          <a:p>
            <a:r>
              <a:rPr lang="en-US" dirty="0"/>
              <a:t>    }</a:t>
            </a:r>
          </a:p>
          <a:p>
            <a:r>
              <a:rPr lang="en-US" dirty="0"/>
              <a:t>}</a:t>
            </a:r>
          </a:p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6B0A6A95-082A-CD60-27B9-2FADBFECCD7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850710"/>
            <a:ext cx="8229600" cy="5156582"/>
          </a:xfrm>
        </p:spPr>
        <p:txBody>
          <a:bodyPr>
            <a:normAutofit/>
          </a:bodyPr>
          <a:lstStyle/>
          <a:p>
            <a:pPr algn="just">
              <a:buNone/>
              <a:tabLst>
                <a:tab pos="228600" algn="l"/>
                <a:tab pos="457200" algn="l"/>
                <a:tab pos="685800" algn="l"/>
              </a:tabLst>
            </a:pPr>
            <a:r>
              <a:rPr lang="en-US" sz="20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public class Dog {</a:t>
            </a:r>
            <a:endParaRPr lang="en-ID" sz="2000" b="1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algn="just">
              <a:buNone/>
              <a:tabLst>
                <a:tab pos="228600" algn="l"/>
                <a:tab pos="457200" algn="l"/>
                <a:tab pos="685800" algn="l"/>
              </a:tabLst>
            </a:pPr>
            <a:r>
              <a:rPr lang="en-US" sz="20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  	// information </a:t>
            </a:r>
            <a:r>
              <a:rPr lang="en-US" sz="2000" b="1" dirty="0" err="1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hidding</a:t>
            </a:r>
            <a:endParaRPr lang="en-ID" sz="2000" b="1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algn="just">
              <a:buNone/>
              <a:tabLst>
                <a:tab pos="228600" algn="l"/>
                <a:tab pos="457200" algn="l"/>
                <a:tab pos="685800" algn="l"/>
              </a:tabLst>
            </a:pPr>
            <a:r>
              <a:rPr lang="en-US" sz="20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  	private int weight;   </a:t>
            </a:r>
            <a:endParaRPr lang="en-ID" sz="2000" b="1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algn="just">
              <a:buNone/>
              <a:tabLst>
                <a:tab pos="228600" algn="l"/>
                <a:tab pos="457200" algn="l"/>
                <a:tab pos="685800" algn="l"/>
              </a:tabLst>
            </a:pPr>
            <a:r>
              <a:rPr lang="en-US" sz="20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 	// method </a:t>
            </a:r>
            <a:r>
              <a:rPr lang="en-US" sz="2000" b="1" dirty="0" err="1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jenis</a:t>
            </a:r>
            <a:r>
              <a:rPr lang="en-US" sz="20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 getter()</a:t>
            </a:r>
            <a:endParaRPr lang="en-ID" sz="2000" b="1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algn="just">
              <a:buNone/>
              <a:tabLst>
                <a:tab pos="228600" algn="l"/>
                <a:tab pos="457200" algn="l"/>
                <a:tab pos="685800" algn="l"/>
              </a:tabLst>
            </a:pPr>
            <a:r>
              <a:rPr lang="en-US" sz="20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  	public int </a:t>
            </a:r>
            <a:r>
              <a:rPr lang="en-US" sz="2000" b="1" dirty="0" err="1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getWeight</a:t>
            </a:r>
            <a:r>
              <a:rPr lang="en-US" sz="20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() { </a:t>
            </a:r>
            <a:endParaRPr lang="en-ID" sz="2000" b="1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algn="just">
              <a:buNone/>
              <a:tabLst>
                <a:tab pos="228600" algn="l"/>
                <a:tab pos="457200" algn="l"/>
                <a:tab pos="685800" algn="l"/>
              </a:tabLst>
            </a:pPr>
            <a:r>
              <a:rPr lang="en-US" sz="20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     	return weight;  </a:t>
            </a:r>
            <a:endParaRPr lang="en-ID" sz="2000" b="1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algn="just">
              <a:buNone/>
              <a:tabLst>
                <a:tab pos="228600" algn="l"/>
                <a:tab pos="457200" algn="l"/>
                <a:tab pos="685800" algn="l"/>
              </a:tabLst>
            </a:pPr>
            <a:r>
              <a:rPr lang="en-US" sz="20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  	}</a:t>
            </a:r>
            <a:endParaRPr lang="en-ID" sz="2000" b="1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algn="just">
              <a:buNone/>
              <a:tabLst>
                <a:tab pos="228600" algn="l"/>
                <a:tab pos="457200" algn="l"/>
                <a:tab pos="685800" algn="l"/>
              </a:tabLst>
            </a:pPr>
            <a:r>
              <a:rPr lang="en-US" sz="20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 	// method </a:t>
            </a:r>
            <a:r>
              <a:rPr lang="en-US" sz="2000" b="1" dirty="0" err="1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jenis</a:t>
            </a:r>
            <a:r>
              <a:rPr lang="en-US" sz="20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 setter()</a:t>
            </a:r>
            <a:endParaRPr lang="en-ID" sz="2000" b="1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algn="just">
              <a:buNone/>
              <a:tabLst>
                <a:tab pos="228600" algn="l"/>
                <a:tab pos="457200" algn="l"/>
                <a:tab pos="685800" algn="l"/>
                <a:tab pos="914400" algn="l"/>
              </a:tabLst>
            </a:pPr>
            <a:r>
              <a:rPr lang="en-US" sz="20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  	public void </a:t>
            </a:r>
            <a:r>
              <a:rPr lang="en-US" sz="2000" b="1" dirty="0" err="1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setWeight</a:t>
            </a:r>
            <a:r>
              <a:rPr lang="en-US" sz="20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(int </a:t>
            </a:r>
            <a:r>
              <a:rPr lang="en-US" sz="2000" b="1" dirty="0" err="1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newWeight</a:t>
            </a:r>
            <a:r>
              <a:rPr lang="en-US" sz="20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) { </a:t>
            </a:r>
            <a:endParaRPr lang="en-ID" sz="2000" b="1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algn="just">
              <a:buNone/>
              <a:tabLst>
                <a:tab pos="228600" algn="l"/>
                <a:tab pos="457200" algn="l"/>
                <a:tab pos="685800" algn="l"/>
              </a:tabLst>
            </a:pPr>
            <a:r>
              <a:rPr lang="en-US" sz="20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    	weight = </a:t>
            </a:r>
            <a:r>
              <a:rPr lang="en-US" sz="2000" b="1" dirty="0" err="1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newWeight</a:t>
            </a:r>
            <a:r>
              <a:rPr lang="en-US" sz="20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;</a:t>
            </a:r>
            <a:endParaRPr lang="en-ID" sz="2000" b="1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algn="just">
              <a:buNone/>
              <a:tabLst>
                <a:tab pos="228600" algn="l"/>
                <a:tab pos="457200" algn="l"/>
                <a:tab pos="685800" algn="l"/>
              </a:tabLst>
            </a:pPr>
            <a:r>
              <a:rPr lang="en-US" sz="20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 	}</a:t>
            </a:r>
            <a:endParaRPr lang="en-ID" sz="2000" b="1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109728" indent="0" algn="just">
              <a:buNone/>
              <a:tabLst>
                <a:tab pos="228600" algn="l"/>
                <a:tab pos="457200" algn="l"/>
                <a:tab pos="685800" algn="l"/>
              </a:tabLst>
            </a:pPr>
            <a:r>
              <a:rPr lang="en-US" sz="20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}</a:t>
            </a:r>
            <a:endParaRPr lang="en-ID" sz="2000" b="1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B20648E-1372-79C4-D57D-63D421921F7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CFE0A39-391B-01B9-016B-AF5224899A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 dirty="0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AFBDE40C-2C5A-8303-6EA1-AD2ED10D9B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152400"/>
            <a:ext cx="8229600" cy="698309"/>
          </a:xfrm>
        </p:spPr>
        <p:txBody>
          <a:bodyPr>
            <a:normAutofit/>
          </a:bodyPr>
          <a:lstStyle/>
          <a:p>
            <a:r>
              <a:rPr lang="en-US" sz="2800" dirty="0" err="1">
                <a:solidFill>
                  <a:schemeClr val="accent3"/>
                </a:solidFill>
              </a:rPr>
              <a:t>pDog</a:t>
            </a:r>
            <a:r>
              <a:rPr lang="en-US" sz="2800" dirty="0">
                <a:solidFill>
                  <a:schemeClr val="accent3"/>
                </a:solidFill>
              </a:rPr>
              <a:t>, Class Dog.java</a:t>
            </a:r>
            <a:endParaRPr lang="en-ID" sz="2800" dirty="0">
              <a:solidFill>
                <a:schemeClr val="accent3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9426300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B841ACA-F35B-1DFE-615E-530CC8ACA32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C546366F-8F27-5EE8-27C8-BCDEF0C5145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850710"/>
            <a:ext cx="8229600" cy="5156582"/>
          </a:xfrm>
        </p:spPr>
        <p:txBody>
          <a:bodyPr>
            <a:normAutofit/>
          </a:bodyPr>
          <a:lstStyle/>
          <a:p>
            <a:pPr algn="just"/>
            <a:r>
              <a:rPr lang="en-US" sz="1800" dirty="0">
                <a:effectLst/>
                <a:latin typeface="Sylfaen" panose="010A0502050306030303" pitchFamily="18" charset="0"/>
                <a:ea typeface="Times New Roman" panose="02020603050405020304" pitchFamily="18" charset="0"/>
              </a:rPr>
              <a:t>Dan </a:t>
            </a:r>
            <a:r>
              <a:rPr lang="en-US" sz="1800" dirty="0" err="1">
                <a:effectLst/>
                <a:latin typeface="Sylfaen" panose="010A0502050306030303" pitchFamily="18" charset="0"/>
                <a:ea typeface="Times New Roman" panose="02020603050405020304" pitchFamily="18" charset="0"/>
              </a:rPr>
              <a:t>sebuah</a:t>
            </a:r>
            <a:r>
              <a:rPr lang="en-US" sz="1800" dirty="0">
                <a:effectLst/>
                <a:latin typeface="Sylfaen" panose="010A0502050306030303" pitchFamily="18" charset="0"/>
                <a:ea typeface="Times New Roman" panose="02020603050405020304" pitchFamily="18" charset="0"/>
              </a:rPr>
              <a:t> class </a:t>
            </a:r>
            <a:r>
              <a:rPr lang="en-US" sz="1800" dirty="0" err="1">
                <a:effectLst/>
                <a:latin typeface="Sylfaen" panose="010A0502050306030303" pitchFamily="18" charset="0"/>
                <a:ea typeface="Times New Roman" panose="02020603050405020304" pitchFamily="18" charset="0"/>
              </a:rPr>
              <a:t>TesDog</a:t>
            </a:r>
            <a:r>
              <a:rPr lang="en-US" sz="1800" dirty="0">
                <a:effectLst/>
                <a:latin typeface="Sylfaen" panose="010A0502050306030303" pitchFamily="18" charset="0"/>
                <a:ea typeface="Times New Roman" panose="02020603050405020304" pitchFamily="18" charset="0"/>
              </a:rPr>
              <a:t> yang </a:t>
            </a:r>
            <a:r>
              <a:rPr lang="en-US" sz="1800" dirty="0" err="1">
                <a:effectLst/>
                <a:latin typeface="Sylfaen" panose="010A0502050306030303" pitchFamily="18" charset="0"/>
                <a:ea typeface="Times New Roman" panose="02020603050405020304" pitchFamily="18" charset="0"/>
              </a:rPr>
              <a:t>memanfaatkan</a:t>
            </a:r>
            <a:r>
              <a:rPr lang="en-US" sz="1800" dirty="0">
                <a:effectLst/>
                <a:latin typeface="Sylfaen" panose="010A0502050306030303" pitchFamily="18" charset="0"/>
                <a:ea typeface="Times New Roman" panose="02020603050405020304" pitchFamily="18" charset="0"/>
              </a:rPr>
              <a:t> class Dog </a:t>
            </a:r>
            <a:r>
              <a:rPr lang="en-US" sz="1800" dirty="0" err="1">
                <a:effectLst/>
                <a:latin typeface="Sylfaen" panose="010A0502050306030303" pitchFamily="18" charset="0"/>
                <a:ea typeface="Times New Roman" panose="02020603050405020304" pitchFamily="18" charset="0"/>
              </a:rPr>
              <a:t>tersebut</a:t>
            </a:r>
            <a:r>
              <a:rPr lang="en-US" sz="1800" dirty="0">
                <a:effectLst/>
                <a:latin typeface="Sylfaen" panose="010A0502050306030303" pitchFamily="18" charset="0"/>
                <a:ea typeface="Times New Roman" panose="02020603050405020304" pitchFamily="18" charset="0"/>
              </a:rPr>
              <a:t>:</a:t>
            </a:r>
          </a:p>
          <a:p>
            <a:pPr marL="109728" indent="0" algn="just">
              <a:buNone/>
            </a:pPr>
            <a:endParaRPr lang="en-US" sz="1800" dirty="0">
              <a:effectLst/>
              <a:latin typeface="Sylfaen" panose="010A0502050306030303" pitchFamily="18" charset="0"/>
              <a:ea typeface="Times New Roman" panose="02020603050405020304" pitchFamily="18" charset="0"/>
            </a:endParaRPr>
          </a:p>
          <a:p>
            <a:pPr>
              <a:buNone/>
              <a:tabLst>
                <a:tab pos="228600" algn="l"/>
                <a:tab pos="457200" algn="l"/>
                <a:tab pos="685800" algn="l"/>
              </a:tabLst>
            </a:pPr>
            <a:r>
              <a:rPr lang="en-US" sz="20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public class </a:t>
            </a:r>
            <a:r>
              <a:rPr lang="en-US" sz="2000" b="1" dirty="0" err="1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TesDog</a:t>
            </a:r>
            <a:r>
              <a:rPr lang="en-US" sz="20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 {</a:t>
            </a:r>
            <a:endParaRPr lang="en-ID" sz="2000" b="1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>
              <a:buNone/>
              <a:tabLst>
                <a:tab pos="228600" algn="l"/>
                <a:tab pos="457200" algn="l"/>
                <a:tab pos="685800" algn="l"/>
              </a:tabLst>
            </a:pPr>
            <a:r>
              <a:rPr lang="en-US" sz="20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	public static void main(String[] </a:t>
            </a:r>
            <a:r>
              <a:rPr lang="en-US" sz="2000" b="1" dirty="0" err="1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args</a:t>
            </a:r>
            <a:r>
              <a:rPr lang="en-US" sz="20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) {</a:t>
            </a:r>
            <a:endParaRPr lang="en-ID" sz="2000" b="1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>
              <a:lnSpc>
                <a:spcPct val="150000"/>
              </a:lnSpc>
              <a:buNone/>
              <a:tabLst>
                <a:tab pos="228600" algn="l"/>
                <a:tab pos="457200" algn="l"/>
                <a:tab pos="685800" algn="l"/>
              </a:tabLst>
            </a:pPr>
            <a:r>
              <a:rPr lang="en-US" sz="20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  		Dog </a:t>
            </a:r>
            <a:r>
              <a:rPr lang="en-US" sz="2000" b="1" dirty="0" err="1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bleki</a:t>
            </a:r>
            <a:r>
              <a:rPr lang="en-US" sz="20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 = new Dog();</a:t>
            </a:r>
            <a:endParaRPr lang="en-ID" sz="2000" b="1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>
              <a:buNone/>
              <a:tabLst>
                <a:tab pos="228600" algn="l"/>
                <a:tab pos="457200" algn="l"/>
                <a:tab pos="685800" algn="l"/>
              </a:tabLst>
            </a:pPr>
            <a:r>
              <a:rPr lang="en-US" sz="20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     	</a:t>
            </a:r>
            <a:r>
              <a:rPr lang="en-US" sz="2000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// </a:t>
            </a:r>
            <a:r>
              <a:rPr lang="en-US" sz="2000" dirty="0" err="1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menggunakan</a:t>
            </a:r>
            <a:r>
              <a:rPr lang="en-US" sz="2000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 method setter()</a:t>
            </a:r>
            <a:endParaRPr lang="en-ID" sz="20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>
              <a:buNone/>
              <a:tabLst>
                <a:tab pos="228600" algn="l"/>
                <a:tab pos="457200" algn="l"/>
                <a:tab pos="685800" algn="l"/>
              </a:tabLst>
            </a:pPr>
            <a:r>
              <a:rPr lang="en-US" sz="20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     	</a:t>
            </a:r>
            <a:r>
              <a:rPr lang="en-US" sz="2000" b="1" dirty="0" err="1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bleki.setWeight</a:t>
            </a:r>
            <a:r>
              <a:rPr lang="en-US" sz="20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(42);  </a:t>
            </a:r>
            <a:endParaRPr lang="en-ID" sz="2000" b="1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>
              <a:buNone/>
              <a:tabLst>
                <a:tab pos="228600" algn="l"/>
                <a:tab pos="457200" algn="l"/>
                <a:tab pos="685800" algn="l"/>
              </a:tabLst>
            </a:pPr>
            <a:r>
              <a:rPr lang="en-US" sz="20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     	</a:t>
            </a:r>
            <a:r>
              <a:rPr lang="en-US" sz="2000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//</a:t>
            </a:r>
            <a:r>
              <a:rPr lang="en-US" sz="2000" dirty="0" err="1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menggunakan</a:t>
            </a:r>
            <a:r>
              <a:rPr lang="en-US" sz="2000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 method getter()</a:t>
            </a:r>
            <a:endParaRPr lang="en-ID" sz="20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>
              <a:buNone/>
              <a:tabLst>
                <a:tab pos="228600" algn="l"/>
                <a:tab pos="457200" algn="l"/>
                <a:tab pos="685800" algn="l"/>
              </a:tabLst>
            </a:pPr>
            <a:r>
              <a:rPr lang="en-US" sz="20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     	</a:t>
            </a:r>
            <a:r>
              <a:rPr lang="en-US" sz="2000" b="1" dirty="0" err="1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System.out.println</a:t>
            </a:r>
            <a:r>
              <a:rPr lang="en-US" sz="20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(”Dog’s weight is ”+</a:t>
            </a:r>
            <a:r>
              <a:rPr lang="en-US" sz="2000" b="1" dirty="0" err="1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bleki.getWeight</a:t>
            </a:r>
            <a:r>
              <a:rPr lang="en-US" sz="20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());</a:t>
            </a:r>
            <a:endParaRPr lang="en-ID" sz="2000" b="1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>
              <a:buNone/>
              <a:tabLst>
                <a:tab pos="228600" algn="l"/>
                <a:tab pos="457200" algn="l"/>
                <a:tab pos="685800" algn="l"/>
              </a:tabLst>
            </a:pPr>
            <a:r>
              <a:rPr lang="en-US" sz="20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 	}</a:t>
            </a:r>
            <a:endParaRPr lang="en-ID" sz="2000" b="1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109728" indent="0">
              <a:buNone/>
              <a:tabLst>
                <a:tab pos="228600" algn="l"/>
                <a:tab pos="457200" algn="l"/>
                <a:tab pos="685800" algn="l"/>
              </a:tabLst>
            </a:pPr>
            <a:r>
              <a:rPr lang="en-US" sz="20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}</a:t>
            </a:r>
            <a:endParaRPr lang="en-ID" sz="2000" b="1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109728" indent="0" algn="just">
              <a:buNone/>
            </a:pPr>
            <a:endParaRPr lang="en-US" sz="1800" dirty="0">
              <a:effectLst/>
              <a:latin typeface="Sylfaen" panose="010A0502050306030303" pitchFamily="18" charset="0"/>
              <a:ea typeface="Times New Roman" panose="02020603050405020304" pitchFamily="18" charset="0"/>
            </a:endParaRPr>
          </a:p>
          <a:p>
            <a:pPr marL="109728" indent="0" algn="just">
              <a:buNone/>
            </a:pPr>
            <a:endParaRPr lang="en-ID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477C4607-9BF0-9AF6-F0F8-B7B17C2432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152400"/>
            <a:ext cx="8229600" cy="698309"/>
          </a:xfrm>
        </p:spPr>
        <p:txBody>
          <a:bodyPr>
            <a:normAutofit/>
          </a:bodyPr>
          <a:lstStyle/>
          <a:p>
            <a:r>
              <a:rPr lang="en-US" sz="2800" dirty="0" err="1">
                <a:solidFill>
                  <a:schemeClr val="accent3"/>
                </a:solidFill>
              </a:rPr>
              <a:t>pDog</a:t>
            </a:r>
            <a:r>
              <a:rPr lang="en-US" sz="2800" dirty="0">
                <a:solidFill>
                  <a:schemeClr val="accent3"/>
                </a:solidFill>
              </a:rPr>
              <a:t>, Class TestDog.java</a:t>
            </a:r>
            <a:endParaRPr lang="en-ID" sz="2800" dirty="0">
              <a:solidFill>
                <a:schemeClr val="accent3"/>
              </a:solidFill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4AD00F1-832F-DB72-4A62-7E194E170DF5}"/>
              </a:ext>
            </a:extLst>
          </p:cNvPr>
          <p:cNvSpPr txBox="1"/>
          <p:nvPr/>
        </p:nvSpPr>
        <p:spPr>
          <a:xfrm>
            <a:off x="5715000" y="5486400"/>
            <a:ext cx="2819400" cy="769441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sz="2200" dirty="0"/>
              <a:t>Output:</a:t>
            </a:r>
          </a:p>
          <a:p>
            <a:r>
              <a:rPr lang="en-US" sz="22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Dog</a:t>
            </a:r>
            <a:r>
              <a:rPr lang="en-US" sz="2200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’</a:t>
            </a:r>
            <a:r>
              <a:rPr lang="en-US" sz="22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s weight is 42</a:t>
            </a:r>
            <a:endParaRPr lang="en-ID" sz="22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8326088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4132BC2-20B5-44FB-CFEC-B7756A9BA0E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84175A05-0E81-6D37-72D6-CEC12B526BC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850710"/>
            <a:ext cx="8229600" cy="5156582"/>
          </a:xfrm>
        </p:spPr>
        <p:txBody>
          <a:bodyPr>
            <a:normAutofit fontScale="92500" lnSpcReduction="10000"/>
          </a:bodyPr>
          <a:lstStyle/>
          <a:p>
            <a:pPr algn="just">
              <a:buNone/>
            </a:pPr>
            <a:r>
              <a:rPr lang="en-US" sz="20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public class Employee extends </a:t>
            </a:r>
            <a:r>
              <a:rPr lang="en-US" sz="2000" b="1" dirty="0" err="1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Manusia</a:t>
            </a:r>
            <a:r>
              <a:rPr lang="en-US" sz="20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 {</a:t>
            </a:r>
            <a:endParaRPr lang="en-ID" sz="2000" b="1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algn="just">
              <a:buNone/>
            </a:pPr>
            <a:r>
              <a:rPr lang="en-US" sz="20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    //private String name;</a:t>
            </a:r>
            <a:endParaRPr lang="en-ID" sz="2000" b="1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algn="just">
              <a:buNone/>
            </a:pPr>
            <a:r>
              <a:rPr lang="en-US" sz="20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    private double salary;</a:t>
            </a:r>
            <a:endParaRPr lang="en-ID" sz="2000" b="1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algn="just">
              <a:buNone/>
            </a:pPr>
            <a:r>
              <a:rPr lang="en-US" sz="20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    protected Employee(String n, double s) {</a:t>
            </a:r>
            <a:endParaRPr lang="en-ID" sz="2000" b="1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algn="just">
              <a:buNone/>
            </a:pPr>
            <a:r>
              <a:rPr lang="en-US" sz="20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        super.name=n;</a:t>
            </a:r>
            <a:endParaRPr lang="en-ID" sz="2000" b="1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algn="just">
              <a:buNone/>
            </a:pPr>
            <a:r>
              <a:rPr lang="en-US" sz="20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        salary = s;</a:t>
            </a:r>
            <a:endParaRPr lang="en-ID" sz="2000" b="1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algn="just">
              <a:lnSpc>
                <a:spcPct val="150000"/>
              </a:lnSpc>
              <a:buNone/>
            </a:pPr>
            <a:r>
              <a:rPr lang="en-US" sz="20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    }</a:t>
            </a:r>
            <a:endParaRPr lang="en-ID" sz="2000" b="1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algn="just">
              <a:buNone/>
            </a:pPr>
            <a:r>
              <a:rPr lang="en-US" sz="20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    protected String </a:t>
            </a:r>
            <a:r>
              <a:rPr lang="en-US" sz="2000" b="1" dirty="0" err="1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getDetailsEmp</a:t>
            </a:r>
            <a:r>
              <a:rPr lang="en-US" sz="20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() {</a:t>
            </a:r>
            <a:endParaRPr lang="en-ID" sz="2000" b="1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algn="just">
              <a:buNone/>
            </a:pPr>
            <a:r>
              <a:rPr lang="en-US" sz="20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        return "Name: "+super.name+ "\</a:t>
            </a:r>
            <a:r>
              <a:rPr lang="en-US" sz="2000" b="1" dirty="0" err="1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nSalary</a:t>
            </a:r>
            <a:r>
              <a:rPr lang="en-US" sz="20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: "+salary;</a:t>
            </a:r>
            <a:endParaRPr lang="en-ID" sz="2000" b="1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algn="just">
              <a:buNone/>
            </a:pPr>
            <a:r>
              <a:rPr lang="en-US" sz="20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    }</a:t>
            </a:r>
            <a:endParaRPr lang="en-ID" sz="2000" b="1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algn="just">
              <a:buNone/>
            </a:pPr>
            <a:r>
              <a:rPr lang="en-US" sz="20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    public void </a:t>
            </a:r>
            <a:r>
              <a:rPr lang="en-US" sz="2000" b="1" dirty="0" err="1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cetak</a:t>
            </a:r>
            <a:r>
              <a:rPr lang="en-US" sz="20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() {</a:t>
            </a:r>
            <a:endParaRPr lang="en-ID" sz="2000" b="1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algn="just">
              <a:buNone/>
            </a:pPr>
            <a:r>
              <a:rPr lang="en-US" sz="20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        </a:t>
            </a:r>
            <a:r>
              <a:rPr lang="en-US" sz="2000" b="1" dirty="0" err="1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System.out.println</a:t>
            </a:r>
            <a:r>
              <a:rPr lang="en-US" sz="20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("Coba di Employee");</a:t>
            </a:r>
            <a:endParaRPr lang="en-ID" sz="2000" b="1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algn="just">
              <a:buNone/>
            </a:pPr>
            <a:r>
              <a:rPr lang="en-US" sz="20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    }</a:t>
            </a:r>
            <a:endParaRPr lang="en-ID" sz="2000" b="1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109728" indent="0">
              <a:lnSpc>
                <a:spcPct val="150000"/>
              </a:lnSpc>
              <a:buNone/>
            </a:pPr>
            <a:r>
              <a:rPr lang="en-US" sz="20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}</a:t>
            </a:r>
            <a:endParaRPr lang="en-ID" sz="2000" b="1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109728" indent="0">
              <a:buNone/>
            </a:pPr>
            <a:endParaRPr lang="en-ID" sz="2800" b="1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39572D1-6D13-79BD-48A5-2190493313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4588C4C-D8A9-A8E8-8565-D10ED9D492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 dirty="0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D749AE98-3765-AE2C-70D9-F90C87C1F2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152400"/>
            <a:ext cx="8229600" cy="698309"/>
          </a:xfrm>
        </p:spPr>
        <p:txBody>
          <a:bodyPr>
            <a:normAutofit/>
          </a:bodyPr>
          <a:lstStyle/>
          <a:p>
            <a:r>
              <a:rPr lang="en-US" sz="2800" dirty="0" err="1">
                <a:solidFill>
                  <a:schemeClr val="accent3"/>
                </a:solidFill>
              </a:rPr>
              <a:t>pEmployee</a:t>
            </a:r>
            <a:r>
              <a:rPr lang="en-US" sz="2800" dirty="0">
                <a:solidFill>
                  <a:schemeClr val="accent3"/>
                </a:solidFill>
              </a:rPr>
              <a:t>, Class Employee.java</a:t>
            </a:r>
            <a:endParaRPr lang="en-ID" sz="2800" dirty="0">
              <a:solidFill>
                <a:schemeClr val="accent3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86963106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389734F-F592-05DE-E4D1-F1B096F41F7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37215339-6E5A-4451-1EFD-A2E7D85FDD1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52400" y="685801"/>
            <a:ext cx="8839200" cy="5321491"/>
          </a:xfrm>
        </p:spPr>
        <p:txBody>
          <a:bodyPr>
            <a:noAutofit/>
          </a:bodyPr>
          <a:lstStyle/>
          <a:p>
            <a:pPr>
              <a:buNone/>
            </a:pPr>
            <a:r>
              <a:rPr lang="en-US" sz="1800" b="1" dirty="0">
                <a:latin typeface="Courier New" panose="02070309020205020404" pitchFamily="49" charset="0"/>
                <a:ea typeface="Times New Roman" panose="02020603050405020304" pitchFamily="18" charset="0"/>
              </a:rPr>
              <a:t>p</a:t>
            </a:r>
            <a:r>
              <a:rPr lang="en-US" sz="18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ublic class Manager extends Employee {</a:t>
            </a:r>
            <a:endParaRPr lang="en-ID" sz="1800" b="1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>
              <a:buNone/>
            </a:pPr>
            <a:r>
              <a:rPr lang="en-US" sz="18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    private String department;</a:t>
            </a:r>
            <a:endParaRPr lang="en-ID" sz="1800" b="1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>
              <a:buNone/>
            </a:pPr>
            <a:r>
              <a:rPr lang="en-US" sz="18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    //private double </a:t>
            </a:r>
            <a:r>
              <a:rPr lang="en-US" sz="1800" b="1" dirty="0" err="1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tunJab</a:t>
            </a:r>
            <a:r>
              <a:rPr lang="en-US" sz="18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; </a:t>
            </a:r>
            <a:endParaRPr lang="en-ID" sz="1800" b="1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>
              <a:buNone/>
            </a:pPr>
            <a:r>
              <a:rPr lang="en-US" sz="18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    public Manager(String nama, double salary, String dep) {</a:t>
            </a:r>
            <a:endParaRPr lang="en-ID" sz="1800" b="1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>
              <a:buNone/>
            </a:pPr>
            <a:r>
              <a:rPr lang="en-US" sz="18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        super(nama, salary);</a:t>
            </a:r>
            <a:endParaRPr lang="en-ID" sz="1800" b="1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>
              <a:buNone/>
            </a:pPr>
            <a:r>
              <a:rPr lang="en-US" sz="18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        department = dep;</a:t>
            </a:r>
            <a:endParaRPr lang="en-ID" sz="1800" b="1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>
              <a:buNone/>
            </a:pPr>
            <a:r>
              <a:rPr lang="en-US" sz="18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    }</a:t>
            </a:r>
            <a:endParaRPr lang="en-ID" sz="1800" b="1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>
              <a:buNone/>
            </a:pPr>
            <a:r>
              <a:rPr lang="en-US" sz="18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    public String </a:t>
            </a:r>
            <a:r>
              <a:rPr lang="en-US" sz="1800" b="1" dirty="0" err="1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getDepartment</a:t>
            </a:r>
            <a:r>
              <a:rPr lang="en-US" sz="18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() {</a:t>
            </a:r>
            <a:endParaRPr lang="en-ID" sz="1800" b="1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>
              <a:buNone/>
            </a:pPr>
            <a:r>
              <a:rPr lang="en-US" sz="18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        return department;</a:t>
            </a:r>
            <a:endParaRPr lang="en-ID" sz="1800" b="1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>
              <a:buNone/>
            </a:pPr>
            <a:r>
              <a:rPr lang="en-US" sz="18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    }</a:t>
            </a:r>
            <a:endParaRPr lang="en-ID" sz="1800" b="1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>
              <a:buNone/>
            </a:pPr>
            <a:r>
              <a:rPr lang="en-US" sz="18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    public String </a:t>
            </a:r>
            <a:r>
              <a:rPr lang="en-US" sz="1800" b="1" dirty="0" err="1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getDetails</a:t>
            </a:r>
            <a:r>
              <a:rPr lang="en-US" sz="18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() {</a:t>
            </a:r>
            <a:endParaRPr lang="en-ID" sz="1800" b="1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>
              <a:buNone/>
            </a:pPr>
            <a:r>
              <a:rPr lang="en-US" sz="18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        return </a:t>
            </a:r>
            <a:r>
              <a:rPr lang="en-US" sz="1800" b="1" dirty="0" err="1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super.getDetails</a:t>
            </a:r>
            <a:r>
              <a:rPr lang="en-US" sz="18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()+"\</a:t>
            </a:r>
            <a:r>
              <a:rPr lang="en-US" sz="1800" b="1" dirty="0" err="1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nDepartment</a:t>
            </a:r>
            <a:r>
              <a:rPr lang="en-US" sz="18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: "+</a:t>
            </a:r>
            <a:r>
              <a:rPr lang="en-US" sz="1800" b="1" dirty="0" err="1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getDepartment</a:t>
            </a:r>
            <a:r>
              <a:rPr lang="en-US" sz="18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();</a:t>
            </a:r>
            <a:endParaRPr lang="en-ID" sz="1800" b="1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>
              <a:buNone/>
            </a:pPr>
            <a:r>
              <a:rPr lang="en-US" sz="18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    }</a:t>
            </a:r>
            <a:endParaRPr lang="en-ID" sz="1800" b="1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>
              <a:buNone/>
            </a:pPr>
            <a:r>
              <a:rPr lang="en-US" sz="18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    public void </a:t>
            </a:r>
            <a:r>
              <a:rPr lang="en-US" sz="1800" b="1" dirty="0" err="1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cetak</a:t>
            </a:r>
            <a:r>
              <a:rPr lang="en-US" sz="18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() {</a:t>
            </a:r>
            <a:endParaRPr lang="en-ID" sz="1800" b="1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>
              <a:buNone/>
            </a:pPr>
            <a:r>
              <a:rPr lang="en-US" sz="18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        </a:t>
            </a:r>
            <a:r>
              <a:rPr lang="en-US" sz="1800" b="1" dirty="0" err="1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System.out.println</a:t>
            </a:r>
            <a:r>
              <a:rPr lang="en-US" sz="18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("Coba di Manager");</a:t>
            </a:r>
            <a:endParaRPr lang="en-ID" sz="1800" b="1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>
              <a:buNone/>
            </a:pPr>
            <a:r>
              <a:rPr lang="en-US" sz="18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    }</a:t>
            </a:r>
            <a:endParaRPr lang="en-ID" sz="1800" b="1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>
              <a:buNone/>
            </a:pPr>
            <a:r>
              <a:rPr lang="en-US" sz="18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}</a:t>
            </a:r>
            <a:endParaRPr lang="en-ID" sz="1800" b="1" dirty="0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D1178CF5-851A-02A6-F00E-C308F363C84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84296"/>
            <a:ext cx="8229600" cy="517208"/>
          </a:xfrm>
        </p:spPr>
        <p:txBody>
          <a:bodyPr>
            <a:noAutofit/>
          </a:bodyPr>
          <a:lstStyle/>
          <a:p>
            <a:pPr>
              <a:lnSpc>
                <a:spcPct val="150000"/>
              </a:lnSpc>
              <a:spcBef>
                <a:spcPts val="600"/>
              </a:spcBef>
            </a:pPr>
            <a:r>
              <a:rPr lang="en-US" sz="2800" dirty="0">
                <a:solidFill>
                  <a:schemeClr val="accent3"/>
                </a:solidFill>
                <a:effectLst/>
                <a:latin typeface="Sylfaen" panose="010A0502050306030303" pitchFamily="18" charset="0"/>
                <a:ea typeface="Times New Roman" panose="02020603050405020304" pitchFamily="18" charset="0"/>
              </a:rPr>
              <a:t>Class Manager.java</a:t>
            </a:r>
            <a:endParaRPr lang="en-ID" sz="2800" dirty="0">
              <a:solidFill>
                <a:schemeClr val="accent3"/>
              </a:solidFill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3784308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49C5614-4620-1CC5-03C7-24D6D616FE0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55E275F0-AAB1-2596-8F8C-0D5F3D08425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52400" y="685801"/>
            <a:ext cx="8839200" cy="5321491"/>
          </a:xfrm>
        </p:spPr>
        <p:txBody>
          <a:bodyPr>
            <a:noAutofit/>
          </a:bodyPr>
          <a:lstStyle/>
          <a:p>
            <a:pPr algn="just">
              <a:buNone/>
            </a:pPr>
            <a:r>
              <a:rPr lang="en-US" sz="18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Public class View {</a:t>
            </a:r>
            <a:endParaRPr lang="en-ID" sz="1800" b="1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algn="just">
              <a:buNone/>
            </a:pPr>
            <a:r>
              <a:rPr lang="en-US" sz="18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    public static void main(String[] </a:t>
            </a:r>
            <a:r>
              <a:rPr lang="en-US" sz="1800" b="1" dirty="0" err="1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args</a:t>
            </a:r>
            <a:r>
              <a:rPr lang="en-US" sz="18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) {</a:t>
            </a:r>
            <a:endParaRPr lang="en-ID" sz="1800" b="1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algn="just">
              <a:buNone/>
            </a:pPr>
            <a:r>
              <a:rPr lang="en-US" sz="18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       Employee e = new Employee("Ali",12000000);</a:t>
            </a:r>
            <a:endParaRPr lang="en-ID" sz="1800" b="1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>
              <a:buNone/>
            </a:pPr>
            <a:r>
              <a:rPr lang="en-US" sz="18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       </a:t>
            </a:r>
            <a:r>
              <a:rPr lang="en-US" sz="1800" b="1" dirty="0">
                <a:solidFill>
                  <a:srgbClr val="0070C0"/>
                </a:solidFill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Employee </a:t>
            </a:r>
            <a:r>
              <a:rPr lang="en-US" sz="1800" b="1" dirty="0" err="1">
                <a:solidFill>
                  <a:srgbClr val="0070C0"/>
                </a:solidFill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em</a:t>
            </a:r>
            <a:r>
              <a:rPr lang="en-US" sz="1800" b="1" dirty="0">
                <a:solidFill>
                  <a:srgbClr val="0070C0"/>
                </a:solidFill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;</a:t>
            </a:r>
          </a:p>
          <a:p>
            <a:pPr>
              <a:buNone/>
            </a:pPr>
            <a:r>
              <a:rPr lang="en-US" sz="1800" b="1" dirty="0">
                <a:solidFill>
                  <a:srgbClr val="0070C0"/>
                </a:solidFill>
                <a:latin typeface="Courier New" panose="02070309020205020404" pitchFamily="49" charset="0"/>
                <a:ea typeface="Times New Roman" panose="02020603050405020304" pitchFamily="18" charset="0"/>
              </a:rPr>
              <a:t>       </a:t>
            </a:r>
            <a:r>
              <a:rPr lang="en-US" sz="1800" b="1" dirty="0" err="1">
                <a:solidFill>
                  <a:srgbClr val="0070C0"/>
                </a:solidFill>
                <a:latin typeface="Courier New" panose="02070309020205020404" pitchFamily="49" charset="0"/>
                <a:ea typeface="Times New Roman" panose="02020603050405020304" pitchFamily="18" charset="0"/>
              </a:rPr>
              <a:t>em</a:t>
            </a:r>
            <a:r>
              <a:rPr lang="en-US" sz="1800" b="1" dirty="0">
                <a:solidFill>
                  <a:srgbClr val="0070C0"/>
                </a:solidFill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 = new  Manager("Ali",12000000,"Informatika");</a:t>
            </a:r>
            <a:endParaRPr lang="en-ID" sz="1800" b="1" dirty="0">
              <a:solidFill>
                <a:srgbClr val="0070C0"/>
              </a:solidFill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algn="just">
              <a:buNone/>
            </a:pPr>
            <a:r>
              <a:rPr lang="en-US" sz="18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       </a:t>
            </a:r>
            <a:r>
              <a:rPr lang="en-US" sz="1800" b="1" dirty="0" err="1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System.out.println</a:t>
            </a:r>
            <a:r>
              <a:rPr lang="en-US" sz="18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("Data employee:\n"+</a:t>
            </a:r>
            <a:r>
              <a:rPr lang="en-US" sz="1800" b="1" dirty="0" err="1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e.getDetailsEmp</a:t>
            </a:r>
            <a:r>
              <a:rPr lang="en-US" sz="18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());</a:t>
            </a:r>
            <a:endParaRPr lang="en-ID" sz="1800" b="1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algn="just">
              <a:buNone/>
            </a:pPr>
            <a:r>
              <a:rPr lang="en-US" sz="18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       </a:t>
            </a:r>
            <a:r>
              <a:rPr lang="en-US" sz="1800" b="1" dirty="0" err="1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System.out.println</a:t>
            </a:r>
            <a:r>
              <a:rPr lang="en-US" sz="18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("Data manager:\n"+</a:t>
            </a:r>
            <a:r>
              <a:rPr lang="en-US" sz="1800" b="1" dirty="0" err="1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em.getDetails</a:t>
            </a:r>
            <a:r>
              <a:rPr lang="en-US" sz="18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());</a:t>
            </a:r>
          </a:p>
          <a:p>
            <a:pPr algn="just">
              <a:buNone/>
            </a:pPr>
            <a:r>
              <a:rPr lang="en-US" sz="1800" b="1" dirty="0">
                <a:latin typeface="Courier New" panose="02070309020205020404" pitchFamily="49" charset="0"/>
                <a:ea typeface="Times New Roman" panose="02020603050405020304" pitchFamily="18" charset="0"/>
              </a:rPr>
              <a:t>       </a:t>
            </a:r>
            <a:r>
              <a:rPr lang="en-US" sz="1800" b="1" dirty="0" err="1">
                <a:latin typeface="Courier New" panose="02070309020205020404" pitchFamily="49" charset="0"/>
                <a:ea typeface="Times New Roman" panose="02020603050405020304" pitchFamily="18" charset="0"/>
              </a:rPr>
              <a:t>System.out.println</a:t>
            </a:r>
            <a:r>
              <a:rPr lang="en-US" sz="1800" b="1" dirty="0">
                <a:latin typeface="Courier New" panose="02070309020205020404" pitchFamily="49" charset="0"/>
                <a:ea typeface="Times New Roman" panose="02020603050405020304" pitchFamily="18" charset="0"/>
              </a:rPr>
              <a:t>("Data manager:\n"+</a:t>
            </a:r>
            <a:r>
              <a:rPr lang="en-US" sz="1800" b="1" dirty="0" err="1">
                <a:latin typeface="Courier New" panose="02070309020205020404" pitchFamily="49" charset="0"/>
                <a:ea typeface="Times New Roman" panose="02020603050405020304" pitchFamily="18" charset="0"/>
              </a:rPr>
              <a:t>em.getDetailsEmp</a:t>
            </a:r>
            <a:r>
              <a:rPr lang="en-US" sz="1800" b="1" dirty="0">
                <a:latin typeface="Courier New" panose="02070309020205020404" pitchFamily="49" charset="0"/>
                <a:ea typeface="Times New Roman" panose="02020603050405020304" pitchFamily="18" charset="0"/>
              </a:rPr>
              <a:t>()); </a:t>
            </a:r>
            <a:endParaRPr lang="en-ID" sz="1800" b="1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algn="just">
              <a:buNone/>
            </a:pPr>
            <a:r>
              <a:rPr lang="en-US" sz="18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       </a:t>
            </a:r>
            <a:r>
              <a:rPr lang="en-US" sz="1800" b="1" dirty="0" err="1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em.cetak</a:t>
            </a:r>
            <a:r>
              <a:rPr lang="en-US" sz="18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();</a:t>
            </a:r>
            <a:endParaRPr lang="en-ID" sz="1800" b="1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algn="just">
              <a:buNone/>
            </a:pPr>
            <a:r>
              <a:rPr lang="en-US" sz="18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    }</a:t>
            </a:r>
            <a:endParaRPr lang="en-ID" sz="1800" b="1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>
              <a:buNone/>
            </a:pPr>
            <a:r>
              <a:rPr lang="en-US" sz="18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}</a:t>
            </a:r>
          </a:p>
          <a:p>
            <a:pPr>
              <a:buNone/>
            </a:pPr>
            <a:endParaRPr lang="en-US" sz="1800" b="1" dirty="0">
              <a:effectLst/>
              <a:latin typeface="Courier New" panose="02070309020205020404" pitchFamily="49" charset="0"/>
              <a:ea typeface="Times New Roman" panose="02020603050405020304" pitchFamily="18" charset="0"/>
            </a:endParaRPr>
          </a:p>
          <a:p>
            <a:pPr>
              <a:buNone/>
            </a:pPr>
            <a:endParaRPr lang="en-US" sz="1800" b="1" dirty="0">
              <a:latin typeface="Courier New" panose="02070309020205020404" pitchFamily="49" charset="0"/>
            </a:endParaRPr>
          </a:p>
          <a:p>
            <a:pPr>
              <a:buNone/>
            </a:pPr>
            <a:endParaRPr lang="en-ID" sz="1800" b="1" dirty="0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88D69DB7-1D3E-2BF6-0DCD-EDA466B9663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84296"/>
            <a:ext cx="8229600" cy="517208"/>
          </a:xfrm>
        </p:spPr>
        <p:txBody>
          <a:bodyPr>
            <a:noAutofit/>
          </a:bodyPr>
          <a:lstStyle/>
          <a:p>
            <a:pPr>
              <a:lnSpc>
                <a:spcPct val="150000"/>
              </a:lnSpc>
              <a:spcBef>
                <a:spcPts val="600"/>
              </a:spcBef>
            </a:pPr>
            <a:r>
              <a:rPr lang="en-US" sz="2800" dirty="0">
                <a:solidFill>
                  <a:schemeClr val="accent3"/>
                </a:solidFill>
                <a:effectLst/>
                <a:latin typeface="Sylfaen" panose="010A0502050306030303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Class View.java</a:t>
            </a:r>
            <a:endParaRPr lang="en-ID" sz="4000" dirty="0">
              <a:solidFill>
                <a:schemeClr val="accent3"/>
              </a:solidFill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B65E2C8-7C09-4EF4-C5D8-F99CAC1DBA33}"/>
              </a:ext>
            </a:extLst>
          </p:cNvPr>
          <p:cNvSpPr txBox="1"/>
          <p:nvPr/>
        </p:nvSpPr>
        <p:spPr>
          <a:xfrm>
            <a:off x="3962400" y="4096048"/>
            <a:ext cx="4163961" cy="2677656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dirty="0"/>
              <a:t>Output:</a:t>
            </a:r>
          </a:p>
          <a:p>
            <a:pPr>
              <a:buNone/>
            </a:pPr>
            <a:r>
              <a:rPr lang="en-US" sz="1800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Data employee :</a:t>
            </a:r>
            <a:endParaRPr lang="en-ID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>
              <a:buNone/>
            </a:pPr>
            <a:r>
              <a:rPr lang="en-US" sz="1800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Name: Ali</a:t>
            </a:r>
            <a:endParaRPr lang="en-ID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>
              <a:buNone/>
            </a:pPr>
            <a:r>
              <a:rPr lang="en-US" sz="1800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Salary: 1200000.0</a:t>
            </a:r>
            <a:endParaRPr lang="en-ID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>
              <a:buNone/>
            </a:pPr>
            <a:r>
              <a:rPr lang="en-US" sz="1800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Data manager:</a:t>
            </a:r>
            <a:endParaRPr lang="en-ID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>
              <a:buNone/>
            </a:pPr>
            <a:r>
              <a:rPr lang="en-US" sz="1800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Name: Ali</a:t>
            </a:r>
            <a:endParaRPr lang="en-ID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>
              <a:buNone/>
            </a:pPr>
            <a:r>
              <a:rPr lang="en-US" sz="1800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Salary: 1200000.0</a:t>
            </a:r>
            <a:endParaRPr lang="en-ID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>
              <a:buNone/>
            </a:pPr>
            <a:r>
              <a:rPr lang="en-US" sz="1800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Department: </a:t>
            </a:r>
            <a:r>
              <a:rPr lang="en-US" sz="1800" dirty="0" err="1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Informatika</a:t>
            </a:r>
            <a:endParaRPr lang="en-ID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>
              <a:buNone/>
            </a:pPr>
            <a:r>
              <a:rPr lang="en-US" sz="1800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Coba di Manager</a:t>
            </a:r>
            <a:endParaRPr lang="en-ID" dirty="0"/>
          </a:p>
        </p:txBody>
      </p:sp>
    </p:spTree>
    <p:extLst>
      <p:ext uri="{BB962C8B-B14F-4D97-AF65-F5344CB8AC3E}">
        <p14:creationId xmlns:p14="http://schemas.microsoft.com/office/powerpoint/2010/main" val="209435542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2FF38AE-E3DC-644A-4F8C-1ED74F8B98C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A44CF731-BD20-DC0D-726C-A91EE24DE24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28600" y="152400"/>
            <a:ext cx="8686800" cy="6477000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  <a:buNone/>
            </a:pPr>
            <a:r>
              <a:rPr lang="en-US" sz="2000" dirty="0" err="1">
                <a:effectLst/>
                <a:latin typeface="Sylfaen" panose="010A0502050306030303" pitchFamily="18" charset="0"/>
                <a:ea typeface="Times New Roman" panose="02020603050405020304" pitchFamily="18" charset="0"/>
              </a:rPr>
              <a:t>Catatan</a:t>
            </a:r>
            <a:r>
              <a:rPr lang="en-US" sz="2000" dirty="0">
                <a:effectLst/>
                <a:latin typeface="Sylfaen" panose="010A0502050306030303" pitchFamily="18" charset="0"/>
                <a:ea typeface="Times New Roman" panose="02020603050405020304" pitchFamily="18" charset="0"/>
              </a:rPr>
              <a:t>:</a:t>
            </a:r>
            <a:endParaRPr lang="en-ID" sz="20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>
              <a:buNone/>
            </a:pPr>
            <a:r>
              <a:rPr lang="en-US" sz="2000" dirty="0">
                <a:effectLst/>
                <a:latin typeface="Sylfaen" panose="010A0502050306030303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Kalau method </a:t>
            </a:r>
            <a:r>
              <a:rPr lang="en-US" sz="2000" dirty="0" err="1">
                <a:effectLst/>
                <a:latin typeface="Sylfaen" panose="010A0502050306030303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cetak</a:t>
            </a:r>
            <a:r>
              <a:rPr lang="en-US" sz="2000" dirty="0">
                <a:effectLst/>
                <a:latin typeface="Sylfaen" panose="010A0502050306030303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() di class Employee dan class Manager </a:t>
            </a:r>
            <a:r>
              <a:rPr lang="en-US" sz="2000" dirty="0" err="1">
                <a:effectLst/>
                <a:latin typeface="Sylfaen" panose="010A0502050306030303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ada</a:t>
            </a:r>
            <a:r>
              <a:rPr lang="en-US" sz="2000" dirty="0">
                <a:effectLst/>
                <a:latin typeface="Sylfaen" panose="010A0502050306030303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2000" dirty="0" err="1">
                <a:effectLst/>
                <a:latin typeface="Sylfaen" panose="010A0502050306030303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maka</a:t>
            </a:r>
            <a:r>
              <a:rPr lang="en-US" sz="2000" dirty="0">
                <a:effectLst/>
                <a:latin typeface="Sylfaen" panose="010A0502050306030303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yang </a:t>
            </a:r>
            <a:r>
              <a:rPr lang="en-US" sz="2000" dirty="0" err="1">
                <a:effectLst/>
                <a:latin typeface="Sylfaen" panose="010A0502050306030303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dijalankan</a:t>
            </a:r>
            <a:r>
              <a:rPr lang="en-US" sz="2000" dirty="0">
                <a:effectLst/>
                <a:latin typeface="Sylfaen" panose="010A0502050306030303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effectLst/>
                <a:latin typeface="Sylfaen" panose="010A0502050306030303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adalah</a:t>
            </a:r>
            <a:r>
              <a:rPr lang="en-US" sz="2000" dirty="0">
                <a:effectLst/>
                <a:latin typeface="Sylfaen" panose="010A0502050306030303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method </a:t>
            </a:r>
            <a:r>
              <a:rPr lang="en-US" sz="2000" dirty="0" err="1">
                <a:effectLst/>
                <a:latin typeface="Sylfaen" panose="010A0502050306030303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milik</a:t>
            </a:r>
            <a:r>
              <a:rPr lang="en-US" sz="2000" dirty="0">
                <a:effectLst/>
                <a:latin typeface="Sylfaen" panose="010A0502050306030303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class Manager. </a:t>
            </a:r>
            <a:r>
              <a:rPr lang="en-US" sz="2000" dirty="0" err="1">
                <a:effectLst/>
                <a:latin typeface="Sylfaen" panose="010A0502050306030303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Prioritasnya</a:t>
            </a:r>
            <a:r>
              <a:rPr lang="en-US" sz="2000" dirty="0">
                <a:effectLst/>
                <a:latin typeface="Sylfaen" panose="010A0502050306030303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effectLst/>
                <a:latin typeface="Sylfaen" panose="010A0502050306030303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adalah</a:t>
            </a:r>
            <a:r>
              <a:rPr lang="en-US" sz="2000" dirty="0">
                <a:effectLst/>
                <a:latin typeface="Sylfaen" panose="010A0502050306030303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class Manager </a:t>
            </a:r>
            <a:r>
              <a:rPr lang="en-US" sz="2000" dirty="0" err="1">
                <a:effectLst/>
                <a:latin typeface="Sylfaen" panose="010A0502050306030303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kemudian</a:t>
            </a:r>
            <a:r>
              <a:rPr lang="en-US" sz="2000" dirty="0">
                <a:effectLst/>
                <a:latin typeface="Sylfaen" panose="010A0502050306030303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class Employee.</a:t>
            </a:r>
          </a:p>
          <a:p>
            <a:pPr>
              <a:buNone/>
            </a:pPr>
            <a:endParaRPr lang="en-US" sz="1800" dirty="0">
              <a:latin typeface="Sylfaen" panose="010A0502050306030303" pitchFamily="18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None/>
            </a:pPr>
            <a:r>
              <a:rPr lang="en-US" sz="2400" b="1" dirty="0">
                <a:solidFill>
                  <a:schemeClr val="accent3"/>
                </a:solidFill>
                <a:effectLst/>
                <a:latin typeface="Sylfaen" panose="010A0502050306030303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Class Manusia.java</a:t>
            </a:r>
          </a:p>
          <a:p>
            <a:pPr algn="just">
              <a:buNone/>
            </a:pPr>
            <a:r>
              <a:rPr lang="en-US" sz="18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public class </a:t>
            </a:r>
            <a:r>
              <a:rPr lang="en-US" sz="1800" b="1" dirty="0" err="1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Manusia</a:t>
            </a:r>
            <a:r>
              <a:rPr lang="en-US" sz="18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 {</a:t>
            </a:r>
            <a:endParaRPr lang="en-ID" sz="1800" b="1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algn="just">
              <a:buNone/>
            </a:pPr>
            <a:r>
              <a:rPr lang="en-US" sz="18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    public String nama;</a:t>
            </a:r>
            <a:endParaRPr lang="en-ID" sz="1800" b="1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algn="just">
              <a:buNone/>
            </a:pPr>
            <a:r>
              <a:rPr lang="en-US" sz="18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    public String </a:t>
            </a:r>
            <a:r>
              <a:rPr lang="en-US" sz="1800" b="1" dirty="0" err="1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alamat</a:t>
            </a:r>
            <a:r>
              <a:rPr lang="en-US" sz="18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;</a:t>
            </a:r>
            <a:endParaRPr lang="en-ID" sz="1800" b="1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algn="just">
              <a:buNone/>
            </a:pPr>
            <a:r>
              <a:rPr lang="en-US" sz="18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    </a:t>
            </a:r>
            <a:endParaRPr lang="en-ID" sz="1800" b="1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algn="just">
              <a:buNone/>
            </a:pPr>
            <a:r>
              <a:rPr lang="en-US" sz="18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    public void </a:t>
            </a:r>
            <a:r>
              <a:rPr lang="en-US" sz="1800" b="1" dirty="0" err="1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berjalan</a:t>
            </a:r>
            <a:r>
              <a:rPr lang="en-US" sz="18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() {</a:t>
            </a:r>
            <a:endParaRPr lang="en-ID" sz="1800" b="1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algn="just">
              <a:buNone/>
            </a:pPr>
            <a:r>
              <a:rPr lang="en-US" sz="18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        </a:t>
            </a:r>
            <a:endParaRPr lang="en-ID" sz="1800" b="1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algn="just">
              <a:buNone/>
            </a:pPr>
            <a:r>
              <a:rPr lang="en-US" sz="18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    }</a:t>
            </a:r>
            <a:endParaRPr lang="en-ID" sz="1800" b="1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algn="just">
              <a:buNone/>
            </a:pPr>
            <a:r>
              <a:rPr lang="en-US" sz="18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    public String </a:t>
            </a:r>
            <a:r>
              <a:rPr lang="en-US" sz="1800" b="1" dirty="0" err="1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getNama</a:t>
            </a:r>
            <a:r>
              <a:rPr lang="en-US" sz="18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() {</a:t>
            </a:r>
            <a:endParaRPr lang="en-ID" sz="1800" b="1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algn="just">
              <a:buNone/>
            </a:pPr>
            <a:r>
              <a:rPr lang="en-US" sz="18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        return nama;</a:t>
            </a:r>
            <a:endParaRPr lang="en-ID" sz="1800" b="1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algn="just">
              <a:buNone/>
            </a:pPr>
            <a:r>
              <a:rPr lang="en-US" sz="18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    </a:t>
            </a:r>
            <a:r>
              <a:rPr lang="pt-BR" sz="18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}</a:t>
            </a:r>
            <a:endParaRPr lang="en-ID" sz="1800" b="1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109728" indent="0" algn="just">
              <a:lnSpc>
                <a:spcPct val="150000"/>
              </a:lnSpc>
              <a:buNone/>
            </a:pPr>
            <a:r>
              <a:rPr lang="pt-BR" sz="18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}</a:t>
            </a:r>
            <a:endParaRPr lang="en-ID" sz="1800" b="1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>
              <a:buNone/>
            </a:pPr>
            <a:endParaRPr lang="en-ID" sz="3000" b="1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020C617-DA51-C7A0-2184-F428E52F502F}"/>
              </a:ext>
            </a:extLst>
          </p:cNvPr>
          <p:cNvSpPr txBox="1"/>
          <p:nvPr/>
        </p:nvSpPr>
        <p:spPr>
          <a:xfrm>
            <a:off x="4724400" y="1918182"/>
            <a:ext cx="4191000" cy="30469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buNone/>
            </a:pPr>
            <a:r>
              <a:rPr lang="en-US" b="1" dirty="0">
                <a:solidFill>
                  <a:schemeClr val="accent3"/>
                </a:solidFill>
                <a:effectLst/>
                <a:latin typeface="Sylfaen" panose="010A0502050306030303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Class Pegawai.java</a:t>
            </a:r>
            <a:endParaRPr lang="en-US" b="1" dirty="0">
              <a:solidFill>
                <a:schemeClr val="accent3"/>
              </a:solidFill>
              <a:effectLst/>
              <a:latin typeface="Courier New" panose="02070309020205020404" pitchFamily="49" charset="0"/>
              <a:ea typeface="Times New Roman" panose="02020603050405020304" pitchFamily="18" charset="0"/>
            </a:endParaRPr>
          </a:p>
          <a:p>
            <a:pPr algn="just">
              <a:buNone/>
            </a:pPr>
            <a:r>
              <a:rPr lang="en-US" sz="18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public class </a:t>
            </a:r>
            <a:r>
              <a:rPr lang="en-US" sz="1800" b="1" dirty="0" err="1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Pegawai</a:t>
            </a:r>
            <a:r>
              <a:rPr lang="en-US" sz="18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 extends </a:t>
            </a:r>
            <a:r>
              <a:rPr lang="en-US" sz="1800" b="1" dirty="0" err="1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Manusia</a:t>
            </a:r>
            <a:r>
              <a:rPr lang="en-US" sz="18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 {</a:t>
            </a:r>
            <a:endParaRPr lang="en-ID" sz="1800" b="1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algn="just">
              <a:buNone/>
            </a:pPr>
            <a:r>
              <a:rPr lang="en-US" sz="18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    public int nip;</a:t>
            </a:r>
            <a:endParaRPr lang="en-ID" sz="1800" b="1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algn="just">
              <a:buNone/>
            </a:pPr>
            <a:r>
              <a:rPr lang="en-US" sz="18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    public int </a:t>
            </a:r>
            <a:r>
              <a:rPr lang="en-US" sz="1800" b="1" dirty="0" err="1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gaji</a:t>
            </a:r>
            <a:r>
              <a:rPr lang="en-US" sz="18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;</a:t>
            </a:r>
            <a:endParaRPr lang="en-ID" sz="1800" b="1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algn="just">
              <a:buNone/>
            </a:pPr>
            <a:r>
              <a:rPr lang="en-US" sz="18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    public int </a:t>
            </a:r>
            <a:r>
              <a:rPr lang="en-US" sz="1800" b="1" dirty="0" err="1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ambilGaji</a:t>
            </a:r>
            <a:r>
              <a:rPr lang="en-US" sz="18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() {</a:t>
            </a:r>
            <a:endParaRPr lang="en-ID" sz="1800" b="1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algn="just">
              <a:buNone/>
            </a:pPr>
            <a:r>
              <a:rPr lang="en-US" sz="18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        return </a:t>
            </a:r>
            <a:r>
              <a:rPr lang="en-US" sz="1800" b="1" dirty="0" err="1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gaji</a:t>
            </a:r>
            <a:r>
              <a:rPr lang="en-US" sz="18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;</a:t>
            </a:r>
            <a:endParaRPr lang="en-ID" sz="1800" b="1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algn="just">
              <a:buNone/>
            </a:pPr>
            <a:r>
              <a:rPr lang="en-US" sz="18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    }</a:t>
            </a:r>
            <a:endParaRPr lang="en-ID" sz="1800" b="1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109728" indent="0" algn="just">
              <a:buNone/>
            </a:pPr>
            <a:r>
              <a:rPr lang="en-US" sz="18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}</a:t>
            </a:r>
            <a:endParaRPr lang="en-ID" sz="1800" b="1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endParaRPr lang="en-ID" dirty="0"/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AB91F1FD-FA4F-358E-630A-AB76188A7CAD}"/>
              </a:ext>
            </a:extLst>
          </p:cNvPr>
          <p:cNvCxnSpPr>
            <a:cxnSpLocks/>
          </p:cNvCxnSpPr>
          <p:nvPr/>
        </p:nvCxnSpPr>
        <p:spPr>
          <a:xfrm>
            <a:off x="4572000" y="2057400"/>
            <a:ext cx="0" cy="358140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20262934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E9A9A1C-3233-D2B8-9A71-A4D702A8344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D877827A-AA0F-B5A6-3CD2-DBF9C9B17E3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28600" y="152400"/>
            <a:ext cx="8458200" cy="6477000"/>
          </a:xfrm>
        </p:spPr>
        <p:txBody>
          <a:bodyPr>
            <a:normAutofit fontScale="62500" lnSpcReduction="20000"/>
          </a:bodyPr>
          <a:lstStyle/>
          <a:p>
            <a:pPr algn="just">
              <a:lnSpc>
                <a:spcPct val="150000"/>
              </a:lnSpc>
              <a:buNone/>
            </a:pPr>
            <a:r>
              <a:rPr lang="en-US" sz="3600" dirty="0" err="1">
                <a:hlinkClick r:id="rId2" action="ppaction://hlinksldjump"/>
              </a:rPr>
              <a:t>pEkspresiWajah</a:t>
            </a:r>
            <a:r>
              <a:rPr lang="en-US" sz="3600" dirty="0"/>
              <a:t>, </a:t>
            </a:r>
            <a:r>
              <a:rPr lang="en-US" sz="35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Class </a:t>
            </a:r>
            <a:r>
              <a:rPr lang="en-US" sz="3500" b="1" dirty="0">
                <a:solidFill>
                  <a:schemeClr val="accent3"/>
                </a:solidFill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EkspresiWajah.java</a:t>
            </a:r>
          </a:p>
          <a:p>
            <a:pPr algn="just">
              <a:lnSpc>
                <a:spcPct val="150000"/>
              </a:lnSpc>
              <a:buNone/>
            </a:pPr>
            <a:r>
              <a:rPr lang="en-US" sz="30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class </a:t>
            </a:r>
            <a:r>
              <a:rPr lang="en-US" sz="3000" b="1" dirty="0" err="1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EkspresiWajah</a:t>
            </a:r>
            <a:r>
              <a:rPr lang="en-US" sz="30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{</a:t>
            </a:r>
            <a:endParaRPr lang="en-ID" sz="3000" b="1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algn="just">
              <a:buNone/>
            </a:pPr>
            <a:r>
              <a:rPr lang="en-US" sz="30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    public String </a:t>
            </a:r>
            <a:r>
              <a:rPr lang="en-US" sz="3000" b="1" dirty="0" err="1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respons</a:t>
            </a:r>
            <a:r>
              <a:rPr lang="en-US" sz="30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() {</a:t>
            </a:r>
            <a:endParaRPr lang="en-ID" sz="3000" b="1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algn="just">
              <a:buNone/>
            </a:pPr>
            <a:r>
              <a:rPr lang="en-US" sz="30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        return("</a:t>
            </a:r>
            <a:r>
              <a:rPr lang="en-US" sz="3000" b="1" dirty="0" err="1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Perhatikan</a:t>
            </a:r>
            <a:r>
              <a:rPr lang="en-US" sz="30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 </a:t>
            </a:r>
            <a:r>
              <a:rPr lang="en-US" sz="3000" b="1" dirty="0" err="1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ekspresi</a:t>
            </a:r>
            <a:r>
              <a:rPr lang="en-US" sz="30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 </a:t>
            </a:r>
            <a:r>
              <a:rPr lang="en-US" sz="3000" b="1" dirty="0" err="1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wajah</a:t>
            </a:r>
            <a:r>
              <a:rPr lang="en-US" sz="30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 </a:t>
            </a:r>
            <a:r>
              <a:rPr lang="en-US" sz="3000" b="1" dirty="0" err="1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saya</a:t>
            </a:r>
            <a:r>
              <a:rPr lang="en-US" sz="30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");</a:t>
            </a:r>
            <a:endParaRPr lang="en-ID" sz="3000" b="1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algn="just">
              <a:buNone/>
            </a:pPr>
            <a:r>
              <a:rPr lang="en-US" sz="30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    }</a:t>
            </a:r>
            <a:endParaRPr lang="en-ID" sz="3000" b="1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109728" indent="0" algn="just">
              <a:lnSpc>
                <a:spcPct val="150000"/>
              </a:lnSpc>
              <a:buNone/>
            </a:pPr>
            <a:r>
              <a:rPr lang="en-US" sz="30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}</a:t>
            </a:r>
          </a:p>
          <a:p>
            <a:pPr marL="109728" indent="0" algn="just">
              <a:lnSpc>
                <a:spcPct val="150000"/>
              </a:lnSpc>
              <a:buNone/>
            </a:pPr>
            <a:endParaRPr lang="en-US" sz="1800" b="1" dirty="0">
              <a:latin typeface="Courier New" panose="02070309020205020404" pitchFamily="49" charset="0"/>
              <a:ea typeface="Times New Roman" panose="02020603050405020304" pitchFamily="18" charset="0"/>
            </a:endParaRPr>
          </a:p>
          <a:p>
            <a:pPr marL="109728" indent="0" algn="just">
              <a:lnSpc>
                <a:spcPct val="150000"/>
              </a:lnSpc>
              <a:buNone/>
            </a:pPr>
            <a:r>
              <a:rPr lang="en-US" sz="3500" b="1" dirty="0">
                <a:solidFill>
                  <a:schemeClr val="accent3"/>
                </a:solidFill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Class-Class </a:t>
            </a:r>
            <a:r>
              <a:rPr lang="en-US" sz="3500" b="1" dirty="0" err="1">
                <a:solidFill>
                  <a:schemeClr val="accent3"/>
                </a:solidFill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turunan</a:t>
            </a:r>
            <a:r>
              <a:rPr lang="en-US" sz="3500" b="1" dirty="0">
                <a:solidFill>
                  <a:schemeClr val="accent3"/>
                </a:solidFill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 EkspresiWajah.java</a:t>
            </a:r>
            <a:endParaRPr lang="en-US" sz="3500" b="1" dirty="0">
              <a:latin typeface="Courier New" panose="02070309020205020404" pitchFamily="49" charset="0"/>
              <a:ea typeface="Times New Roman" panose="02020603050405020304" pitchFamily="18" charset="0"/>
            </a:endParaRPr>
          </a:p>
          <a:p>
            <a:pPr algn="just">
              <a:buNone/>
            </a:pPr>
            <a:r>
              <a:rPr lang="en-US" sz="30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class </a:t>
            </a:r>
            <a:r>
              <a:rPr lang="en-US" sz="3000" b="1" dirty="0" err="1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WajahGembira</a:t>
            </a:r>
            <a:r>
              <a:rPr lang="en-US" sz="30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 </a:t>
            </a:r>
            <a:r>
              <a:rPr lang="en-US" sz="3000" b="1" dirty="0"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extends </a:t>
            </a:r>
            <a:r>
              <a:rPr lang="en-US" sz="3000" b="1" dirty="0" err="1"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EkspresiWajah</a:t>
            </a:r>
            <a:r>
              <a:rPr lang="en-US" sz="3000" b="1" dirty="0"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 </a:t>
            </a:r>
            <a:r>
              <a:rPr lang="en-US" sz="30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{</a:t>
            </a:r>
            <a:endParaRPr lang="en-ID" sz="3000" b="1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algn="just">
              <a:buNone/>
            </a:pPr>
            <a:r>
              <a:rPr lang="en-US" sz="30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    </a:t>
            </a:r>
            <a:r>
              <a:rPr lang="nb-NO" sz="30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public String respons() {</a:t>
            </a:r>
            <a:endParaRPr lang="en-ID" sz="3000" b="1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algn="just">
              <a:buNone/>
            </a:pPr>
            <a:r>
              <a:rPr lang="nb-NO" sz="30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        return("ha ha ha..");</a:t>
            </a:r>
            <a:r>
              <a:rPr lang="en-US" sz="30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}</a:t>
            </a:r>
            <a:endParaRPr lang="en-ID" sz="3000" b="1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algn="just">
              <a:buNone/>
            </a:pPr>
            <a:r>
              <a:rPr lang="en-US" sz="30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}</a:t>
            </a:r>
            <a:endParaRPr lang="en-ID" sz="3000" b="1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algn="just">
              <a:buNone/>
            </a:pPr>
            <a:r>
              <a:rPr lang="en-US" sz="30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class </a:t>
            </a:r>
            <a:r>
              <a:rPr lang="en-US" sz="3000" b="1" dirty="0" err="1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WajahSedih</a:t>
            </a:r>
            <a:r>
              <a:rPr lang="en-US" sz="30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 </a:t>
            </a:r>
            <a:r>
              <a:rPr lang="en-US" sz="3000" b="1" dirty="0"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extends </a:t>
            </a:r>
            <a:r>
              <a:rPr lang="en-US" sz="3000" b="1" dirty="0" err="1"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EkspresiWajah</a:t>
            </a:r>
            <a:r>
              <a:rPr lang="en-US" sz="3000" b="1" dirty="0"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 </a:t>
            </a:r>
            <a:r>
              <a:rPr lang="en-US" sz="30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{</a:t>
            </a:r>
            <a:endParaRPr lang="en-ID" sz="3000" b="1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algn="just">
              <a:buNone/>
            </a:pPr>
            <a:r>
              <a:rPr lang="en-US" sz="30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    public String </a:t>
            </a:r>
            <a:r>
              <a:rPr lang="en-US" sz="3000" b="1" dirty="0" err="1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respons</a:t>
            </a:r>
            <a:r>
              <a:rPr lang="en-US" sz="30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() {</a:t>
            </a:r>
            <a:endParaRPr lang="en-ID" sz="3000" b="1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algn="just">
              <a:buNone/>
            </a:pPr>
            <a:r>
              <a:rPr lang="en-US" sz="30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        return("</a:t>
            </a:r>
            <a:r>
              <a:rPr lang="en-US" sz="3000" b="1" dirty="0" err="1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hik</a:t>
            </a:r>
            <a:r>
              <a:rPr lang="en-US" sz="30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 </a:t>
            </a:r>
            <a:r>
              <a:rPr lang="en-US" sz="3000" b="1" dirty="0" err="1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hik</a:t>
            </a:r>
            <a:r>
              <a:rPr lang="en-US" sz="30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 </a:t>
            </a:r>
            <a:r>
              <a:rPr lang="en-US" sz="3000" b="1" dirty="0" err="1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ngeee</a:t>
            </a:r>
            <a:r>
              <a:rPr lang="en-US" sz="30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 </a:t>
            </a:r>
            <a:r>
              <a:rPr lang="en-US" sz="3000" b="1" dirty="0" err="1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ngeee</a:t>
            </a:r>
            <a:r>
              <a:rPr lang="en-US" sz="30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 </a:t>
            </a:r>
            <a:r>
              <a:rPr lang="en-US" sz="3000" b="1" dirty="0" err="1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ngeee</a:t>
            </a:r>
            <a:r>
              <a:rPr lang="en-US" sz="30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..");}</a:t>
            </a:r>
            <a:endParaRPr lang="en-ID" sz="3000" b="1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algn="just">
              <a:buNone/>
            </a:pPr>
            <a:r>
              <a:rPr lang="en-US" sz="30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}</a:t>
            </a:r>
            <a:endParaRPr lang="en-ID" sz="3000" b="1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algn="just">
              <a:buNone/>
            </a:pPr>
            <a:r>
              <a:rPr lang="en-US" sz="30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class </a:t>
            </a:r>
            <a:r>
              <a:rPr lang="en-US" sz="3000" b="1" dirty="0" err="1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WajahMarah</a:t>
            </a:r>
            <a:r>
              <a:rPr lang="en-US" sz="30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 </a:t>
            </a:r>
            <a:r>
              <a:rPr lang="en-US" sz="3000" b="1" dirty="0"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extends </a:t>
            </a:r>
            <a:r>
              <a:rPr lang="en-US" sz="3000" b="1" dirty="0" err="1"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EkspresiWajah</a:t>
            </a:r>
            <a:r>
              <a:rPr lang="en-US" sz="3000" b="1" dirty="0"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 </a:t>
            </a:r>
            <a:r>
              <a:rPr lang="en-US" sz="30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{</a:t>
            </a:r>
            <a:endParaRPr lang="en-ID" sz="3000" b="1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algn="just">
              <a:buNone/>
            </a:pPr>
            <a:r>
              <a:rPr lang="en-US" sz="30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    public String </a:t>
            </a:r>
            <a:r>
              <a:rPr lang="en-US" sz="3000" b="1" dirty="0" err="1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respons</a:t>
            </a:r>
            <a:r>
              <a:rPr lang="en-US" sz="30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() {</a:t>
            </a:r>
            <a:endParaRPr lang="en-ID" sz="3000" b="1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algn="just">
              <a:buNone/>
            </a:pPr>
            <a:r>
              <a:rPr lang="en-US" sz="30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        return("Hai </a:t>
            </a:r>
            <a:r>
              <a:rPr lang="en-US" sz="3000" b="1" dirty="0" err="1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kurang</a:t>
            </a:r>
            <a:r>
              <a:rPr lang="en-US" sz="30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 ajar..!");}</a:t>
            </a:r>
            <a:endParaRPr lang="en-ID" sz="3000" b="1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109728" indent="0" algn="just">
              <a:buNone/>
            </a:pPr>
            <a:r>
              <a:rPr lang="en-US" sz="30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}</a:t>
            </a:r>
            <a:endParaRPr lang="en-ID" sz="3000" b="1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72368045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FA7CD8A-0539-34AB-9D50-6EFC503C03D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F404BCFC-5FC0-2215-41AE-EC0C43BDCD1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100" y="609600"/>
            <a:ext cx="9791700" cy="6477000"/>
          </a:xfrm>
        </p:spPr>
        <p:txBody>
          <a:bodyPr>
            <a:noAutofit/>
          </a:bodyPr>
          <a:lstStyle/>
          <a:p>
            <a:pPr>
              <a:buNone/>
            </a:pPr>
            <a:r>
              <a:rPr lang="en-US" sz="18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Class </a:t>
            </a:r>
            <a:r>
              <a:rPr lang="en-US" sz="1800" b="1" dirty="0" err="1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MainEkspresiWajah</a:t>
            </a:r>
            <a:r>
              <a:rPr lang="en-US" sz="18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{</a:t>
            </a:r>
            <a:endParaRPr lang="en-ID" sz="1800" b="1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>
              <a:buNone/>
            </a:pPr>
            <a:r>
              <a:rPr lang="en-US" sz="18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 public static void main(String </a:t>
            </a:r>
            <a:r>
              <a:rPr lang="en-US" sz="1800" b="1" dirty="0" err="1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args</a:t>
            </a:r>
            <a:r>
              <a:rPr lang="en-US" sz="18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[]) {</a:t>
            </a:r>
            <a:endParaRPr lang="en-ID" sz="1800" b="1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>
              <a:buNone/>
            </a:pPr>
            <a:r>
              <a:rPr lang="en-US" sz="18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   </a:t>
            </a:r>
            <a:r>
              <a:rPr lang="en-US" sz="1800" b="1" dirty="0" err="1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EkspresiWajah</a:t>
            </a:r>
            <a:r>
              <a:rPr lang="en-US" sz="18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 </a:t>
            </a:r>
            <a:r>
              <a:rPr lang="en-US" sz="1800" b="1" dirty="0" err="1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objEkspresi</a:t>
            </a:r>
            <a:r>
              <a:rPr lang="en-US" sz="18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 = new </a:t>
            </a:r>
            <a:r>
              <a:rPr lang="en-US" sz="1800" b="1" dirty="0" err="1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EkspresiWajah</a:t>
            </a:r>
            <a:r>
              <a:rPr lang="en-US" sz="18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();</a:t>
            </a:r>
            <a:endParaRPr lang="en-ID" sz="1800" b="1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>
              <a:buNone/>
            </a:pPr>
            <a:r>
              <a:rPr lang="en-US" sz="18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   </a:t>
            </a:r>
            <a:r>
              <a:rPr lang="en-US" sz="1800" b="1" dirty="0" err="1">
                <a:latin typeface="Courier New" panose="02070309020205020404" pitchFamily="49" charset="0"/>
                <a:ea typeface="Times New Roman" panose="02020603050405020304" pitchFamily="18" charset="0"/>
              </a:rPr>
              <a:t>EkspresiWajah</a:t>
            </a:r>
            <a:r>
              <a:rPr lang="en-US" sz="18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 </a:t>
            </a:r>
            <a:r>
              <a:rPr lang="en-US" sz="1800" b="1" dirty="0" err="1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objGembira</a:t>
            </a:r>
            <a:r>
              <a:rPr lang="en-US" sz="18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 = new </a:t>
            </a:r>
            <a:r>
              <a:rPr lang="en-US" sz="1800" b="1" dirty="0" err="1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WajahGembira</a:t>
            </a:r>
            <a:r>
              <a:rPr lang="en-US" sz="18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();</a:t>
            </a:r>
            <a:endParaRPr lang="en-ID" sz="1800" b="1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>
              <a:buNone/>
            </a:pPr>
            <a:r>
              <a:rPr lang="en-US" sz="18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   </a:t>
            </a:r>
            <a:r>
              <a:rPr lang="en-US" sz="1800" b="1" dirty="0" err="1">
                <a:latin typeface="Courier New" panose="02070309020205020404" pitchFamily="49" charset="0"/>
                <a:ea typeface="Times New Roman" panose="02020603050405020304" pitchFamily="18" charset="0"/>
              </a:rPr>
              <a:t>EkspresiWajah</a:t>
            </a:r>
            <a:r>
              <a:rPr lang="en-US" sz="18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 </a:t>
            </a:r>
            <a:r>
              <a:rPr lang="en-US" sz="1800" b="1" dirty="0" err="1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objSedih</a:t>
            </a:r>
            <a:r>
              <a:rPr lang="en-US" sz="18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 = new </a:t>
            </a:r>
            <a:r>
              <a:rPr lang="en-US" sz="1800" b="1" dirty="0" err="1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WajahSedih</a:t>
            </a:r>
            <a:r>
              <a:rPr lang="en-US" sz="18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();</a:t>
            </a:r>
            <a:endParaRPr lang="en-ID" sz="1800" b="1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>
              <a:buNone/>
            </a:pPr>
            <a:r>
              <a:rPr lang="en-US" sz="18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 	 </a:t>
            </a:r>
            <a:r>
              <a:rPr lang="en-US" sz="1800" b="1" dirty="0" err="1">
                <a:latin typeface="Courier New" panose="02070309020205020404" pitchFamily="49" charset="0"/>
                <a:ea typeface="Times New Roman" panose="02020603050405020304" pitchFamily="18" charset="0"/>
              </a:rPr>
              <a:t>EkspresiWajah</a:t>
            </a:r>
            <a:r>
              <a:rPr lang="en-US" sz="18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 </a:t>
            </a:r>
            <a:r>
              <a:rPr lang="en-US" sz="1800" b="1" dirty="0" err="1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objMarah</a:t>
            </a:r>
            <a:r>
              <a:rPr lang="en-US" sz="18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 = new </a:t>
            </a:r>
            <a:r>
              <a:rPr lang="en-US" sz="1800" b="1" dirty="0" err="1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WajahMarah</a:t>
            </a:r>
            <a:r>
              <a:rPr lang="en-US" sz="18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();</a:t>
            </a:r>
            <a:endParaRPr lang="en-ID" sz="1800" b="1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>
              <a:buNone/>
            </a:pPr>
            <a:r>
              <a:rPr lang="en-US" sz="18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 </a:t>
            </a:r>
            <a:endParaRPr lang="en-ID" sz="1800" b="1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>
              <a:buNone/>
            </a:pPr>
            <a:r>
              <a:rPr lang="en-US" sz="18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   </a:t>
            </a:r>
            <a:r>
              <a:rPr lang="en-US" sz="1800" b="1" dirty="0" err="1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EkspresiWajah</a:t>
            </a:r>
            <a:r>
              <a:rPr lang="en-US" sz="18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[] </a:t>
            </a:r>
            <a:r>
              <a:rPr lang="en-US" sz="1800" b="1" dirty="0" err="1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arrEkspresi</a:t>
            </a:r>
            <a:r>
              <a:rPr lang="en-US" sz="18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 = new </a:t>
            </a:r>
            <a:r>
              <a:rPr lang="en-US" sz="1800" b="1" dirty="0" err="1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EkspresiWajah</a:t>
            </a:r>
            <a:r>
              <a:rPr lang="en-US" sz="18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[4];</a:t>
            </a:r>
            <a:endParaRPr lang="en-ID" sz="1800" b="1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>
              <a:buNone/>
            </a:pPr>
            <a:r>
              <a:rPr lang="en-US" sz="18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   </a:t>
            </a:r>
            <a:r>
              <a:rPr lang="en-US" sz="1800" b="1" dirty="0" err="1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arrEkspresi</a:t>
            </a:r>
            <a:r>
              <a:rPr lang="en-US" sz="18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[0] = </a:t>
            </a:r>
            <a:r>
              <a:rPr lang="en-US" sz="1800" b="1" dirty="0" err="1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objEkspresi</a:t>
            </a:r>
            <a:r>
              <a:rPr lang="en-US" sz="18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;</a:t>
            </a:r>
            <a:endParaRPr lang="en-ID" sz="1800" b="1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>
              <a:buNone/>
            </a:pPr>
            <a:r>
              <a:rPr lang="en-US" sz="18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   </a:t>
            </a:r>
            <a:r>
              <a:rPr lang="en-US" sz="1800" b="1" dirty="0" err="1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arrEkspresi</a:t>
            </a:r>
            <a:r>
              <a:rPr lang="en-US" sz="18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[1] = </a:t>
            </a:r>
            <a:r>
              <a:rPr lang="en-US" sz="1800" b="1" dirty="0" err="1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objGembira</a:t>
            </a:r>
            <a:r>
              <a:rPr lang="en-US" sz="18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;</a:t>
            </a:r>
            <a:endParaRPr lang="en-ID" sz="1800" b="1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>
              <a:buNone/>
            </a:pPr>
            <a:r>
              <a:rPr lang="en-US" sz="18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   </a:t>
            </a:r>
            <a:r>
              <a:rPr lang="en-US" sz="1800" b="1" dirty="0" err="1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arrEkspresi</a:t>
            </a:r>
            <a:r>
              <a:rPr lang="en-US" sz="18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[2] = </a:t>
            </a:r>
            <a:r>
              <a:rPr lang="en-US" sz="1800" b="1" dirty="0" err="1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objSedih</a:t>
            </a:r>
            <a:r>
              <a:rPr lang="en-US" sz="18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;</a:t>
            </a:r>
            <a:endParaRPr lang="en-ID" sz="1800" b="1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>
              <a:buNone/>
            </a:pPr>
            <a:r>
              <a:rPr lang="en-US" sz="18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   </a:t>
            </a:r>
            <a:r>
              <a:rPr lang="en-ID" sz="1800" b="1" dirty="0" err="1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arrEkspresi</a:t>
            </a:r>
            <a:r>
              <a:rPr lang="en-ID" sz="18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[3] = </a:t>
            </a:r>
            <a:r>
              <a:rPr lang="en-ID" sz="1800" b="1" dirty="0" err="1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objMarah</a:t>
            </a:r>
            <a:r>
              <a:rPr lang="en-ID" sz="18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;</a:t>
            </a:r>
            <a:endParaRPr lang="en-ID" sz="1800" b="1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>
              <a:buNone/>
            </a:pPr>
            <a:r>
              <a:rPr lang="en-ID" sz="18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 </a:t>
            </a:r>
            <a:endParaRPr lang="en-ID" sz="1800" b="1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>
              <a:buNone/>
            </a:pPr>
            <a:r>
              <a:rPr lang="en-ID" sz="18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   </a:t>
            </a:r>
            <a:r>
              <a:rPr lang="en-ID" sz="1800" b="1" dirty="0" err="1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System.out.println</a:t>
            </a:r>
            <a:r>
              <a:rPr lang="en-ID" sz="18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("</a:t>
            </a:r>
            <a:r>
              <a:rPr lang="en-ID" sz="1800" b="1" dirty="0" err="1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Ekspresi</a:t>
            </a:r>
            <a:r>
              <a:rPr lang="en-ID" sz="18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[0]: "+</a:t>
            </a:r>
            <a:r>
              <a:rPr lang="en-ID" sz="1800" b="1" dirty="0" err="1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arrEkspresi</a:t>
            </a:r>
            <a:r>
              <a:rPr lang="en-ID" sz="18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[0].</a:t>
            </a:r>
            <a:r>
              <a:rPr lang="en-ID" sz="1800" b="1" dirty="0" err="1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respons</a:t>
            </a:r>
            <a:r>
              <a:rPr lang="en-ID" sz="18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());</a:t>
            </a:r>
            <a:endParaRPr lang="en-ID" sz="1800" b="1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>
              <a:buNone/>
            </a:pPr>
            <a:r>
              <a:rPr lang="en-ID" sz="18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   </a:t>
            </a:r>
            <a:r>
              <a:rPr lang="nb-NO" sz="18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System.out.println("Ekspresi[1]: "+arrEkspresi[1].respons());</a:t>
            </a:r>
            <a:endParaRPr lang="en-ID" sz="1800" b="1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>
              <a:buNone/>
            </a:pPr>
            <a:r>
              <a:rPr lang="nb-NO" sz="18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   System.out.println("Ekspresi[2]: "+arrEkspresi[2].respons());</a:t>
            </a:r>
            <a:endParaRPr lang="en-ID" sz="1800" b="1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>
              <a:buNone/>
            </a:pPr>
            <a:r>
              <a:rPr lang="nb-NO" sz="18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   System.out.println("Ekspresi[3]: "+arrEkspresi[3].respons());</a:t>
            </a:r>
            <a:endParaRPr lang="en-ID" sz="1800" b="1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>
              <a:buNone/>
            </a:pPr>
            <a:r>
              <a:rPr lang="nb-NO" sz="18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    </a:t>
            </a:r>
            <a:r>
              <a:rPr lang="en-US" sz="18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}</a:t>
            </a:r>
            <a:endParaRPr lang="en-ID" sz="1800" b="1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>
              <a:buNone/>
            </a:pPr>
            <a:r>
              <a:rPr lang="en-US" sz="18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}</a:t>
            </a:r>
            <a:endParaRPr lang="en-ID" sz="1800" b="1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DF5D41A-2D48-95DB-0F86-C7C36EDFAADD}"/>
              </a:ext>
            </a:extLst>
          </p:cNvPr>
          <p:cNvSpPr txBox="1"/>
          <p:nvPr/>
        </p:nvSpPr>
        <p:spPr>
          <a:xfrm>
            <a:off x="152400" y="76200"/>
            <a:ext cx="87630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>
                <a:solidFill>
                  <a:schemeClr val="accent3"/>
                </a:solidFill>
                <a:effectLst/>
                <a:latin typeface="Sylfaen" panose="010A0502050306030303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Class MainEkspresiWajah.java</a:t>
            </a:r>
            <a:endParaRPr lang="en-ID" sz="3600" b="1" dirty="0">
              <a:solidFill>
                <a:schemeClr val="accent3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788643084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err="1"/>
              <a:t>pPolymorphism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 dirty="0"/>
          </a:p>
        </p:txBody>
      </p:sp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 err="1">
                <a:effectLst/>
              </a:rPr>
              <a:t>Contoh</a:t>
            </a:r>
            <a:r>
              <a:rPr lang="en-US" dirty="0">
                <a:effectLst/>
              </a:rPr>
              <a:t> Program</a:t>
            </a:r>
          </a:p>
        </p:txBody>
      </p:sp>
    </p:spTree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Concourse">
  <a:themeElements>
    <a:clrScheme name="Concourse">
      <a:dk1>
        <a:sysClr val="windowText" lastClr="000000"/>
      </a:dk1>
      <a:lt1>
        <a:sysClr val="window" lastClr="FFFFFF"/>
      </a:lt1>
      <a:dk2>
        <a:srgbClr val="464646"/>
      </a:dk2>
      <a:lt2>
        <a:srgbClr val="DEF5FA"/>
      </a:lt2>
      <a:accent1>
        <a:srgbClr val="2DA2BF"/>
      </a:accent1>
      <a:accent2>
        <a:srgbClr val="DA1F28"/>
      </a:accent2>
      <a:accent3>
        <a:srgbClr val="EB641B"/>
      </a:accent3>
      <a:accent4>
        <a:srgbClr val="39639D"/>
      </a:accent4>
      <a:accent5>
        <a:srgbClr val="474B78"/>
      </a:accent5>
      <a:accent6>
        <a:srgbClr val="7D3C4A"/>
      </a:accent6>
      <a:hlink>
        <a:srgbClr val="FF8119"/>
      </a:hlink>
      <a:folHlink>
        <a:srgbClr val="44B9E8"/>
      </a:folHlink>
    </a:clrScheme>
    <a:fontScheme name="Concourse">
      <a:majorFont>
        <a:latin typeface="Lucida Sans Unicode"/>
        <a:ea typeface=""/>
        <a:cs typeface=""/>
        <a:font script="Jpan" typeface="ＭＳ Ｐゴシック"/>
        <a:font script="Hang" typeface="맑은 고딕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Uigh" typeface="Microsoft Uighur"/>
      </a:majorFont>
      <a:minorFont>
        <a:latin typeface="Lucida Sans Unicode"/>
        <a:ea typeface=""/>
        <a:cs typeface=""/>
        <a:font script="Jpan" typeface="ＭＳ Ｐゴシック"/>
        <a:font script="Hang" typeface="맑은 고딕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Uigh" typeface="Microsoft Uighur"/>
      </a:minorFont>
    </a:fontScheme>
    <a:fmtScheme name="Concourse">
      <a:fillStyleLst>
        <a:solidFill>
          <a:schemeClr val="phClr"/>
        </a:solidFill>
        <a:gradFill rotWithShape="1">
          <a:gsLst>
            <a:gs pos="0">
              <a:schemeClr val="phClr">
                <a:tint val="62000"/>
                <a:satMod val="180000"/>
              </a:schemeClr>
            </a:gs>
            <a:gs pos="65000">
              <a:schemeClr val="phClr">
                <a:tint val="32000"/>
                <a:satMod val="250000"/>
              </a:schemeClr>
            </a:gs>
            <a:gs pos="100000">
              <a:schemeClr val="phClr">
                <a:tint val="23000"/>
                <a:satMod val="300000"/>
              </a:schemeClr>
            </a:gs>
          </a:gsLst>
          <a:lin ang="16200000" scaled="0"/>
        </a:gradFill>
        <a:gradFill rotWithShape="1">
          <a:gsLst>
            <a:gs pos="0">
              <a:schemeClr val="phClr">
                <a:shade val="15000"/>
                <a:satMod val="180000"/>
              </a:schemeClr>
            </a:gs>
            <a:gs pos="50000">
              <a:schemeClr val="phClr">
                <a:shade val="45000"/>
                <a:satMod val="170000"/>
              </a:schemeClr>
            </a:gs>
            <a:gs pos="70000">
              <a:schemeClr val="phClr">
                <a:tint val="99000"/>
                <a:shade val="65000"/>
                <a:satMod val="155000"/>
              </a:schemeClr>
            </a:gs>
            <a:gs pos="100000">
              <a:schemeClr val="phClr">
                <a:tint val="95500"/>
                <a:shade val="100000"/>
                <a:satMod val="15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55000" cap="flat" cmpd="thickThin" algn="ctr">
          <a:solidFill>
            <a:schemeClr val="phClr"/>
          </a:solidFill>
          <a:prstDash val="solid"/>
        </a:ln>
        <a:ln w="63500" cap="flat" cmpd="thickThin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45000"/>
              </a:srgbClr>
            </a:outerShdw>
          </a:effectLst>
          <a:scene3d>
            <a:camera prst="orthographicFront" fov="0">
              <a:rot lat="0" lon="0" rev="0"/>
            </a:camera>
            <a:lightRig rig="glow" dir="t">
              <a:rot lat="0" lon="0" rev="6360000"/>
            </a:lightRig>
          </a:scene3d>
          <a:sp3d contourW="1000" prstMaterial="flat">
            <a:bevelT w="95250" h="101600"/>
            <a:contourClr>
              <a:schemeClr val="phClr">
                <a:satMod val="300000"/>
              </a:schemeClr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55000"/>
                <a:satMod val="300000"/>
              </a:schemeClr>
            </a:gs>
            <a:gs pos="40000">
              <a:schemeClr val="phClr">
                <a:tint val="65000"/>
                <a:satMod val="300000"/>
              </a:schemeClr>
            </a:gs>
            <a:gs pos="100000">
              <a:schemeClr val="phClr">
                <a:shade val="65000"/>
                <a:satMod val="300000"/>
              </a:schemeClr>
            </a:gs>
          </a:gsLst>
          <a:path path="circle">
            <a:fillToRect l="65000" b="98000"/>
          </a:path>
        </a:gradFill>
        <a:blipFill>
          <a:blip xmlns:r="http://schemas.openxmlformats.org/officeDocument/2006/relationships" r:embed="rId1">
            <a:duotone>
              <a:schemeClr val="phClr">
                <a:shade val="60000"/>
                <a:satMod val="110000"/>
              </a:schemeClr>
              <a:schemeClr val="phClr">
                <a:tint val="95000"/>
              </a:schemeClr>
            </a:duotone>
          </a:blip>
          <a:tile tx="0" ty="0" sx="50000" sy="50000" flip="none" algn="tl"/>
        </a:blip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Concourse</Template>
  <TotalTime>20333</TotalTime>
  <Words>1872</Words>
  <Application>Microsoft Office PowerPoint</Application>
  <PresentationFormat>On-screen Show (4:3)</PresentationFormat>
  <Paragraphs>262</Paragraphs>
  <Slides>21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10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32" baseType="lpstr">
      <vt:lpstr>Arial</vt:lpstr>
      <vt:lpstr>Arial Black</vt:lpstr>
      <vt:lpstr>Courier New</vt:lpstr>
      <vt:lpstr>Lucida Sans Unicode</vt:lpstr>
      <vt:lpstr>Sylfaen</vt:lpstr>
      <vt:lpstr>Tahoma</vt:lpstr>
      <vt:lpstr>Times New Roman</vt:lpstr>
      <vt:lpstr>Verdana</vt:lpstr>
      <vt:lpstr>Wingdings 2</vt:lpstr>
      <vt:lpstr>Wingdings 3</vt:lpstr>
      <vt:lpstr>Concourse</vt:lpstr>
      <vt:lpstr>Lima Pilar Konsep Object-Oriented</vt:lpstr>
      <vt:lpstr>Encapsulation dan Information Hiding</vt:lpstr>
      <vt:lpstr>Pengertian Inheritance (Pewarisan)</vt:lpstr>
      <vt:lpstr>Manfaat Inheritance (Pewarisan)</vt:lpstr>
      <vt:lpstr>Overloading terhadap method() dan constructor()</vt:lpstr>
      <vt:lpstr>Overriding attribute, constructor() dan method()</vt:lpstr>
      <vt:lpstr>Overriding attribute, constructor() dan method()</vt:lpstr>
      <vt:lpstr>Overriding  vs implementation</vt:lpstr>
      <vt:lpstr>Menggunakan/tulis ulang isi method() dan constructor() milik super class </vt:lpstr>
      <vt:lpstr>Polymorphism</vt:lpstr>
      <vt:lpstr>PowerPoint Presentation</vt:lpstr>
      <vt:lpstr>PowerPoint Presentation</vt:lpstr>
      <vt:lpstr>pDog, Class Dog.java</vt:lpstr>
      <vt:lpstr>pDog, Class TestDog.java</vt:lpstr>
      <vt:lpstr>pEmployee, Class Employee.java</vt:lpstr>
      <vt:lpstr>Class Manager.java</vt:lpstr>
      <vt:lpstr>Class View.java</vt:lpstr>
      <vt:lpstr>PowerPoint Presentation</vt:lpstr>
      <vt:lpstr>PowerPoint Presentation</vt:lpstr>
      <vt:lpstr>PowerPoint Presentation</vt:lpstr>
      <vt:lpstr>Contoh Program</vt:lpstr>
    </vt:vector>
  </TitlesOfParts>
  <Company>Columbia University Computer Science Department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Machine Models</dc:title>
  <dc:creator>Valued Sony Customer</dc:creator>
  <cp:lastModifiedBy>Lenovo L340</cp:lastModifiedBy>
  <cp:revision>353</cp:revision>
  <dcterms:created xsi:type="dcterms:W3CDTF">2001-04-26T04:38:43Z</dcterms:created>
  <dcterms:modified xsi:type="dcterms:W3CDTF">2026-03-09T02:17:25Z</dcterms:modified>
</cp:coreProperties>
</file>