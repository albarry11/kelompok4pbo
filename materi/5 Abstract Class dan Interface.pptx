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5"/>
  </p:notesMasterIdLst>
  <p:handoutMasterIdLst>
    <p:handoutMasterId r:id="rId16"/>
  </p:handoutMasterIdLst>
  <p:sldIdLst>
    <p:sldId id="437" r:id="rId2"/>
    <p:sldId id="438" r:id="rId3"/>
    <p:sldId id="439" r:id="rId4"/>
    <p:sldId id="440" r:id="rId5"/>
    <p:sldId id="448" r:id="rId6"/>
    <p:sldId id="446" r:id="rId7"/>
    <p:sldId id="450" r:id="rId8"/>
    <p:sldId id="441" r:id="rId9"/>
    <p:sldId id="442" r:id="rId10"/>
    <p:sldId id="447" r:id="rId11"/>
    <p:sldId id="443" r:id="rId12"/>
    <p:sldId id="445" r:id="rId13"/>
    <p:sldId id="444" r:id="rId14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43" autoAdjust="0"/>
  </p:normalViewPr>
  <p:slideViewPr>
    <p:cSldViewPr>
      <p:cViewPr varScale="1">
        <p:scale>
          <a:sx n="81" d="100"/>
          <a:sy n="81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85045"/>
            <a:ext cx="8839200" cy="4724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 dirty="0"/>
              <a:t>1. Abstract Class</a:t>
            </a:r>
            <a:endParaRPr lang="en-US" sz="32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3200" b="1" dirty="0"/>
              <a:t>2. Abstract method()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3. </a:t>
            </a:r>
            <a:r>
              <a:rPr lang="en-US" sz="3200" b="1" dirty="0" err="1"/>
              <a:t>Memahami</a:t>
            </a:r>
            <a:r>
              <a:rPr lang="en-US" sz="3200" b="1" dirty="0"/>
              <a:t> Interface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4. </a:t>
            </a:r>
            <a:r>
              <a:rPr lang="en-US" sz="3200" b="1" dirty="0" err="1"/>
              <a:t>Deklarasi</a:t>
            </a:r>
            <a:r>
              <a:rPr lang="en-US" sz="3200" b="1" dirty="0"/>
              <a:t> </a:t>
            </a:r>
            <a:r>
              <a:rPr lang="en-US" sz="3200" b="1" dirty="0" err="1"/>
              <a:t>dan</a:t>
            </a:r>
            <a:r>
              <a:rPr lang="en-US" sz="3200" b="1" dirty="0"/>
              <a:t> </a:t>
            </a:r>
            <a:r>
              <a:rPr lang="en-US" sz="3200" b="1" dirty="0" err="1"/>
              <a:t>syarat</a:t>
            </a:r>
            <a:r>
              <a:rPr lang="en-US" sz="3200" b="1" dirty="0"/>
              <a:t> Interface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i="1" dirty="0"/>
              <a:t>5. </a:t>
            </a:r>
            <a:r>
              <a:rPr lang="en-US" sz="3200" b="1" dirty="0" err="1"/>
              <a:t>Implementasi</a:t>
            </a:r>
            <a:r>
              <a:rPr lang="en-US" sz="3200" b="1" dirty="0"/>
              <a:t> Interface</a:t>
            </a:r>
          </a:p>
          <a:p>
            <a:pPr>
              <a:buNone/>
            </a:pPr>
            <a:endParaRPr lang="en-US" sz="1300" b="1" dirty="0"/>
          </a:p>
          <a:p>
            <a:pPr>
              <a:buNone/>
            </a:pPr>
            <a:r>
              <a:rPr lang="en-US" sz="3200" b="1" dirty="0"/>
              <a:t>6. Interface </a:t>
            </a:r>
            <a:r>
              <a:rPr lang="en-US" sz="3200" b="1" dirty="0" err="1"/>
              <a:t>vs</a:t>
            </a:r>
            <a:r>
              <a:rPr lang="en-US" sz="3200" b="1" dirty="0"/>
              <a:t> Class</a:t>
            </a:r>
          </a:p>
          <a:p>
            <a:pPr>
              <a:buNone/>
            </a:pPr>
            <a:endParaRPr lang="en-US" sz="1300" b="1" dirty="0"/>
          </a:p>
          <a:p>
            <a:pPr>
              <a:buNone/>
            </a:pPr>
            <a:r>
              <a:rPr lang="en-US" sz="3200" b="1" dirty="0"/>
              <a:t>7. </a:t>
            </a:r>
            <a:r>
              <a:rPr lang="en-US" sz="3200" b="1" dirty="0" err="1"/>
              <a:t>Implementasi</a:t>
            </a:r>
            <a:r>
              <a:rPr lang="en-US" sz="3200" b="1" dirty="0"/>
              <a:t> </a:t>
            </a:r>
            <a:r>
              <a:rPr lang="en-US" sz="3200" b="1" dirty="0" err="1"/>
              <a:t>vs</a:t>
            </a:r>
            <a:r>
              <a:rPr lang="en-US" sz="3200" b="1" dirty="0"/>
              <a:t> Inheritance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3200" b="1" dirty="0"/>
              <a:t>8. Interface </a:t>
            </a:r>
            <a:r>
              <a:rPr lang="en-US" sz="3200" b="1" dirty="0" err="1"/>
              <a:t>vs</a:t>
            </a:r>
            <a:r>
              <a:rPr lang="en-US" sz="3200" b="1" dirty="0"/>
              <a:t> abstract Class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3200" b="1" dirty="0"/>
              <a:t>9. </a:t>
            </a:r>
            <a:r>
              <a:rPr lang="en-US" sz="3200" b="1" dirty="0" err="1"/>
              <a:t>Contoh</a:t>
            </a:r>
            <a:r>
              <a:rPr lang="en-US" sz="3200" b="1" dirty="0"/>
              <a:t> </a:t>
            </a:r>
            <a:r>
              <a:rPr lang="en-US" sz="3200" b="1" dirty="0" err="1"/>
              <a:t>aplikasi</a:t>
            </a:r>
            <a:r>
              <a:rPr lang="en-US" sz="3200" b="1" dirty="0"/>
              <a:t> Interface</a:t>
            </a:r>
          </a:p>
          <a:p>
            <a:pPr>
              <a:buNone/>
            </a:pPr>
            <a:endParaRPr lang="en-US" sz="32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effectLst/>
              </a:rPr>
              <a:t>Abstract Class </a:t>
            </a:r>
            <a:r>
              <a:rPr lang="en-US" sz="3400" dirty="0" err="1">
                <a:effectLst/>
              </a:rPr>
              <a:t>dan</a:t>
            </a:r>
            <a:r>
              <a:rPr lang="en-US" sz="3400" dirty="0">
                <a:effectLst/>
              </a:rPr>
              <a:t>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10600" cy="525780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dinstansiasi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misal</a:t>
            </a:r>
            <a:r>
              <a:rPr lang="en-US" dirty="0"/>
              <a:t> class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diinstansiasi</a:t>
            </a:r>
            <a:r>
              <a:rPr lang="en-US" dirty="0"/>
              <a:t> (</a:t>
            </a:r>
            <a:r>
              <a:rPr lang="en-US" dirty="0" err="1"/>
              <a:t>diwujudkan</a:t>
            </a:r>
            <a:r>
              <a:rPr lang="en-US" dirty="0"/>
              <a:t>) </a:t>
            </a:r>
            <a:r>
              <a:rPr lang="en-US" dirty="0" err="1"/>
              <a:t>menjadi</a:t>
            </a:r>
            <a:r>
              <a:rPr lang="en-US" dirty="0"/>
              <a:t> Budi, </a:t>
            </a:r>
            <a:r>
              <a:rPr lang="en-US" dirty="0" err="1"/>
              <a:t>Heri</a:t>
            </a:r>
            <a:r>
              <a:rPr lang="en-US" dirty="0"/>
              <a:t>, dan </a:t>
            </a:r>
            <a:r>
              <a:rPr lang="en-US" dirty="0" err="1"/>
              <a:t>Heru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class </a:t>
            </a:r>
            <a:r>
              <a:rPr lang="en-US" dirty="0" err="1"/>
              <a:t>MahlukHidup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class Benda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dipaksakan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diinstansiasi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keragaman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di class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diinstansiasi</a:t>
            </a:r>
            <a:r>
              <a:rPr lang="en-US" dirty="0"/>
              <a:t>, class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inilah</a:t>
            </a:r>
            <a:r>
              <a:rPr lang="en-US" dirty="0"/>
              <a:t> yang </a:t>
            </a:r>
            <a:r>
              <a:rPr lang="en-US" dirty="0" err="1"/>
              <a:t>disebut</a:t>
            </a:r>
            <a:r>
              <a:rPr lang="en-US" dirty="0"/>
              <a:t> abstract class.</a:t>
            </a:r>
          </a:p>
          <a:p>
            <a:endParaRPr lang="en-US" sz="1000" dirty="0"/>
          </a:p>
          <a:p>
            <a:r>
              <a:rPr lang="en-US" dirty="0"/>
              <a:t>abstract class yang </a:t>
            </a:r>
            <a:r>
              <a:rPr lang="en-US" dirty="0" err="1"/>
              <a:t>objeknya</a:t>
            </a:r>
            <a:r>
              <a:rPr lang="en-US" dirty="0"/>
              <a:t> sangat </a:t>
            </a:r>
            <a:r>
              <a:rPr lang="en-US" dirty="0" err="1"/>
              <a:t>heterogen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class </a:t>
            </a:r>
            <a:r>
              <a:rPr lang="en-US" dirty="0" err="1"/>
              <a:t>Turunan</a:t>
            </a:r>
            <a:r>
              <a:rPr lang="en-US" dirty="0"/>
              <a:t> (subclass)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homogen</a:t>
            </a:r>
            <a:r>
              <a:rPr lang="en-US" dirty="0"/>
              <a:t> dan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nyata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diistansiasi</a:t>
            </a:r>
            <a:r>
              <a:rPr lang="en-US" dirty="0"/>
              <a:t>/</a:t>
            </a:r>
            <a:r>
              <a:rPr lang="en-US" dirty="0" err="1"/>
              <a:t>diwujudkan</a:t>
            </a:r>
            <a:r>
              <a:rPr lang="en-US" dirty="0"/>
              <a:t> </a:t>
            </a:r>
            <a:r>
              <a:rPr lang="en-US" dirty="0" err="1"/>
              <a:t>objeknya</a:t>
            </a:r>
            <a:r>
              <a:rPr lang="en-US" dirty="0"/>
              <a:t>.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abstract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0292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Bila</a:t>
            </a:r>
            <a:r>
              <a:rPr lang="en-US" dirty="0"/>
              <a:t> class </a:t>
            </a:r>
            <a:r>
              <a:rPr lang="en-US" dirty="0" err="1"/>
              <a:t>MahlukHidup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mehtod</a:t>
            </a:r>
            <a:r>
              <a:rPr lang="en-US" dirty="0"/>
              <a:t>(): </a:t>
            </a:r>
            <a:r>
              <a:rPr lang="en-US" dirty="0" err="1"/>
              <a:t>makan</a:t>
            </a:r>
            <a:r>
              <a:rPr lang="en-US" dirty="0"/>
              <a:t>(), </a:t>
            </a:r>
            <a:r>
              <a:rPr lang="en-US" dirty="0" err="1"/>
              <a:t>minum</a:t>
            </a:r>
            <a:r>
              <a:rPr lang="en-US" dirty="0"/>
              <a:t>(), </a:t>
            </a:r>
            <a:r>
              <a:rPr lang="en-US" dirty="0" err="1"/>
              <a:t>bernafas</a:t>
            </a:r>
            <a:r>
              <a:rPr lang="en-US" dirty="0"/>
              <a:t>(), </a:t>
            </a:r>
            <a:r>
              <a:rPr lang="en-US" dirty="0" err="1"/>
              <a:t>bersuara</a:t>
            </a:r>
            <a:r>
              <a:rPr lang="en-US" dirty="0"/>
              <a:t>(),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reproduksi</a:t>
            </a:r>
            <a:r>
              <a:rPr lang="en-US" dirty="0"/>
              <a:t>().</a:t>
            </a:r>
          </a:p>
          <a:p>
            <a:endParaRPr lang="en-US" sz="1100" dirty="0"/>
          </a:p>
          <a:p>
            <a:r>
              <a:rPr lang="en-US" dirty="0"/>
              <a:t>Sangat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bernafas</a:t>
            </a:r>
            <a:r>
              <a:rPr lang="en-US" dirty="0"/>
              <a:t>,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bernafas</a:t>
            </a:r>
            <a:r>
              <a:rPr lang="en-US" dirty="0"/>
              <a:t> juga </a:t>
            </a:r>
            <a:r>
              <a:rPr lang="en-US" dirty="0" err="1"/>
              <a:t>heterogen</a:t>
            </a:r>
            <a:r>
              <a:rPr lang="en-US" dirty="0"/>
              <a:t> (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paru-paru</a:t>
            </a:r>
            <a:r>
              <a:rPr lang="en-US" dirty="0"/>
              <a:t>, </a:t>
            </a:r>
            <a:r>
              <a:rPr lang="en-US" dirty="0" err="1"/>
              <a:t>insang</a:t>
            </a:r>
            <a:r>
              <a:rPr lang="en-US" dirty="0"/>
              <a:t>, stomata, </a:t>
            </a:r>
            <a:r>
              <a:rPr lang="en-US" dirty="0" err="1"/>
              <a:t>dll</a:t>
            </a:r>
            <a:r>
              <a:rPr lang="en-US" dirty="0"/>
              <a:t>), </a:t>
            </a:r>
            <a:r>
              <a:rPr lang="en-US" dirty="0" err="1"/>
              <a:t>demikian</a:t>
            </a:r>
            <a:r>
              <a:rPr lang="en-US" dirty="0"/>
              <a:t> pula </a:t>
            </a:r>
            <a:r>
              <a:rPr lang="en-US" dirty="0" err="1"/>
              <a:t>bersuara</a:t>
            </a:r>
            <a:r>
              <a:rPr lang="en-US" dirty="0"/>
              <a:t>()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MahlukHidup</a:t>
            </a:r>
            <a:r>
              <a:rPr lang="en-US" dirty="0"/>
              <a:t> </a:t>
            </a:r>
            <a:r>
              <a:rPr lang="en-US" dirty="0" err="1"/>
              <a:t>berbeda-beda</a:t>
            </a:r>
            <a:r>
              <a:rPr lang="en-US" dirty="0"/>
              <a:t>/</a:t>
            </a:r>
            <a:r>
              <a:rPr lang="en-US" dirty="0" err="1"/>
              <a:t>beragam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bersuara</a:t>
            </a:r>
            <a:r>
              <a:rPr lang="en-US" dirty="0"/>
              <a:t>() </a:t>
            </a:r>
            <a:r>
              <a:rPr lang="en-US" dirty="0" err="1"/>
              <a:t>akan</a:t>
            </a:r>
            <a:r>
              <a:rPr lang="en-US" dirty="0"/>
              <a:t> sangat </a:t>
            </a:r>
            <a:r>
              <a:rPr lang="en-US" dirty="0" err="1"/>
              <a:t>spesifik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masing-masing species </a:t>
            </a:r>
            <a:r>
              <a:rPr lang="en-US" dirty="0" err="1"/>
              <a:t>bersuara</a:t>
            </a:r>
            <a:r>
              <a:rPr lang="en-US" dirty="0"/>
              <a:t>(). </a:t>
            </a:r>
          </a:p>
          <a:p>
            <a:endParaRPr lang="en-US" sz="1100" dirty="0"/>
          </a:p>
          <a:p>
            <a:r>
              <a:rPr lang="en-US" dirty="0"/>
              <a:t>Method()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itulah</a:t>
            </a:r>
            <a:r>
              <a:rPr lang="en-US" dirty="0"/>
              <a:t> yang </a:t>
            </a:r>
            <a:r>
              <a:rPr lang="en-US" dirty="0" err="1"/>
              <a:t>dikatagorikan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abstract method().</a:t>
            </a:r>
          </a:p>
          <a:p>
            <a:endParaRPr lang="en-US" sz="1000" dirty="0"/>
          </a:p>
          <a:p>
            <a:r>
              <a:rPr lang="en-US" dirty="0" err="1"/>
              <a:t>Dibutuhkan</a:t>
            </a:r>
            <a:r>
              <a:rPr lang="en-US" dirty="0"/>
              <a:t> class </a:t>
            </a:r>
            <a:r>
              <a:rPr lang="en-US" dirty="0" err="1"/>
              <a:t>turunan</a:t>
            </a:r>
            <a:r>
              <a:rPr lang="en-US" dirty="0"/>
              <a:t> (subclass)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,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nyata</a:t>
            </a:r>
            <a:r>
              <a:rPr lang="en-US" dirty="0"/>
              <a:t>, dan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homogen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b="1" i="1" dirty="0"/>
              <a:t>override</a:t>
            </a:r>
            <a:r>
              <a:rPr lang="en-US" dirty="0"/>
              <a:t> 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mehtod</a:t>
            </a:r>
            <a:r>
              <a:rPr lang="en-US" dirty="0"/>
              <a:t>() yang abstract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abstract method()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94068" y="762000"/>
            <a:ext cx="8697532" cy="56388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Interface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diilustrasikan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b="1" dirty="0" err="1"/>
              <a:t>profesi</a:t>
            </a:r>
            <a:r>
              <a:rPr lang="en-US" sz="2400" dirty="0"/>
              <a:t>/</a:t>
            </a:r>
            <a:r>
              <a:rPr lang="en-US" sz="2400" b="1" dirty="0" err="1"/>
              <a:t>peran</a:t>
            </a:r>
            <a:r>
              <a:rPr lang="en-US" sz="2400" dirty="0"/>
              <a:t>. </a:t>
            </a:r>
          </a:p>
          <a:p>
            <a:endParaRPr lang="en-US" sz="1000" dirty="0"/>
          </a:p>
          <a:p>
            <a:pPr algn="just"/>
            <a:r>
              <a:rPr lang="en-US" sz="2400" dirty="0"/>
              <a:t>Interface </a:t>
            </a:r>
            <a:r>
              <a:rPr lang="en-US" sz="2400" dirty="0" err="1"/>
              <a:t>adalah</a:t>
            </a:r>
            <a:r>
              <a:rPr lang="en-US" sz="2400" dirty="0"/>
              <a:t> class yang </a:t>
            </a:r>
            <a:r>
              <a:rPr lang="en-US" sz="2400" b="1" i="1" dirty="0"/>
              <a:t>paling </a:t>
            </a:r>
            <a:r>
              <a:rPr lang="en-US" sz="2400" b="1" i="1" dirty="0" err="1"/>
              <a:t>umum</a:t>
            </a:r>
            <a:r>
              <a:rPr lang="en-US" sz="2400" dirty="0"/>
              <a:t> 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i="1" dirty="0"/>
              <a:t>paling abstract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i="1" dirty="0"/>
              <a:t>paling </a:t>
            </a:r>
            <a:r>
              <a:rPr lang="en-US" sz="2400" b="1" i="1" dirty="0" err="1"/>
              <a:t>heterogen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semua</a:t>
            </a:r>
            <a:r>
              <a:rPr lang="en-US" sz="2400" dirty="0">
                <a:solidFill>
                  <a:srgbClr val="FF0000"/>
                </a:solidFill>
              </a:rPr>
              <a:t> method() pada interface </a:t>
            </a:r>
            <a:r>
              <a:rPr lang="en-US" sz="2400" dirty="0" err="1">
                <a:solidFill>
                  <a:srgbClr val="FF0000"/>
                </a:solidFill>
              </a:rPr>
              <a:t>harus</a:t>
            </a:r>
            <a:r>
              <a:rPr lang="en-US" sz="2400" dirty="0">
                <a:solidFill>
                  <a:srgbClr val="FF0000"/>
                </a:solidFill>
              </a:rPr>
              <a:t> abstract</a:t>
            </a:r>
            <a:r>
              <a:rPr lang="en-US" sz="2400" dirty="0"/>
              <a:t>,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method()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diimplementasikan</a:t>
            </a:r>
            <a:r>
              <a:rPr lang="en-US" sz="2400" dirty="0"/>
              <a:t> oleh </a:t>
            </a:r>
            <a:r>
              <a:rPr lang="en-US" sz="2400" dirty="0" err="1"/>
              <a:t>kelompok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yang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kesamaan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(</a:t>
            </a:r>
            <a:r>
              <a:rPr lang="en-US" sz="2400" dirty="0" err="1"/>
              <a:t>homogenitas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) </a:t>
            </a:r>
            <a:r>
              <a:rPr lang="en-US" sz="2400" dirty="0" err="1"/>
              <a:t>bagaimana</a:t>
            </a:r>
            <a:r>
              <a:rPr lang="en-US" sz="2400" dirty="0"/>
              <a:t> method()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pPr algn="just"/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kehidupan</a:t>
            </a:r>
            <a:r>
              <a:rPr lang="en-US" sz="2400" dirty="0"/>
              <a:t> </a:t>
            </a:r>
            <a:r>
              <a:rPr lang="en-US" sz="2400" dirty="0" err="1"/>
              <a:t>nyata</a:t>
            </a:r>
            <a:r>
              <a:rPr lang="en-US" sz="2400" dirty="0"/>
              <a:t> </a:t>
            </a:r>
            <a:r>
              <a:rPr lang="en-US" sz="2400" dirty="0" err="1"/>
              <a:t>sehari-hari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diketahui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b="1" i="1" dirty="0" err="1"/>
              <a:t>manusia</a:t>
            </a:r>
            <a:r>
              <a:rPr lang="en-US" sz="2400" dirty="0"/>
              <a:t> yang </a:t>
            </a:r>
            <a:r>
              <a:rPr lang="en-US" sz="2400" dirty="0" err="1"/>
              <a:t>bekerja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b="1" dirty="0" err="1"/>
              <a:t>da’i</a:t>
            </a:r>
            <a:r>
              <a:rPr lang="en-US" sz="2400" b="1" dirty="0"/>
              <a:t>, </a:t>
            </a:r>
            <a:r>
              <a:rPr lang="en-US" sz="2400" b="1" dirty="0" err="1"/>
              <a:t>dosen</a:t>
            </a:r>
            <a:r>
              <a:rPr lang="en-US" sz="2400" b="1" dirty="0"/>
              <a:t>, </a:t>
            </a:r>
            <a:r>
              <a:rPr lang="en-US" sz="2400" b="1" dirty="0" err="1"/>
              <a:t>dokter</a:t>
            </a:r>
            <a:r>
              <a:rPr lang="en-US" sz="2400" b="1" dirty="0"/>
              <a:t>, </a:t>
            </a:r>
            <a:r>
              <a:rPr lang="en-US" sz="2400" b="1" dirty="0" err="1"/>
              <a:t>atlet</a:t>
            </a:r>
            <a:r>
              <a:rPr lang="en-US" sz="2400" b="1" dirty="0"/>
              <a:t>, </a:t>
            </a:r>
            <a:r>
              <a:rPr lang="en-US" sz="2400" b="1" dirty="0" err="1"/>
              <a:t>tentara</a:t>
            </a:r>
            <a:r>
              <a:rPr lang="en-US" sz="2400" b="1" dirty="0"/>
              <a:t>, </a:t>
            </a:r>
            <a:r>
              <a:rPr lang="en-US" sz="2400" b="1" dirty="0" err="1"/>
              <a:t>penyanyi</a:t>
            </a:r>
            <a:r>
              <a:rPr lang="en-US" sz="2400" b="1" dirty="0"/>
              <a:t>, </a:t>
            </a:r>
            <a:r>
              <a:rPr lang="en-US" sz="2400" b="1" dirty="0" err="1"/>
              <a:t>pengacara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sebagainya</a:t>
            </a:r>
            <a:r>
              <a:rPr lang="en-US" sz="2400" dirty="0"/>
              <a:t>, </a:t>
            </a:r>
            <a:r>
              <a:rPr lang="en-US" sz="2400" dirty="0" err="1"/>
              <a:t>manusia-manusia</a:t>
            </a:r>
            <a:r>
              <a:rPr lang="en-US" sz="2400" dirty="0"/>
              <a:t> </a:t>
            </a:r>
            <a:r>
              <a:rPr lang="en-US" sz="2400" dirty="0" err="1"/>
              <a:t>tsb</a:t>
            </a:r>
            <a:r>
              <a:rPr lang="en-US" sz="2400" dirty="0"/>
              <a:t> </a:t>
            </a:r>
            <a:r>
              <a:rPr lang="en-US" sz="2400" dirty="0" err="1"/>
              <a:t>selain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method() </a:t>
            </a:r>
            <a:r>
              <a:rPr lang="en-US" sz="2400" dirty="0" err="1"/>
              <a:t>yg</a:t>
            </a:r>
            <a:r>
              <a:rPr lang="en-US" sz="2400" dirty="0"/>
              <a:t> </a:t>
            </a:r>
            <a:r>
              <a:rPr lang="en-US" sz="2400" b="1" i="1" dirty="0" err="1"/>
              <a:t>umum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seorang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,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method() </a:t>
            </a:r>
            <a:r>
              <a:rPr lang="en-US" sz="2400" b="1" i="1" dirty="0" err="1"/>
              <a:t>khusus</a:t>
            </a:r>
            <a:r>
              <a:rPr lang="en-US" sz="2400" dirty="0"/>
              <a:t> </a:t>
            </a:r>
            <a:r>
              <a:rPr lang="en-US" sz="2400" dirty="0" err="1"/>
              <a:t>yg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profesinya</a:t>
            </a:r>
            <a:r>
              <a:rPr lang="en-US" sz="2400" dirty="0"/>
              <a:t>.   </a:t>
            </a:r>
          </a:p>
          <a:p>
            <a:r>
              <a:rPr lang="en-US" sz="1000" dirty="0"/>
              <a:t>(h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/>
              <a:t>memahami</a:t>
            </a:r>
            <a:r>
              <a:rPr lang="en-US" sz="3200" dirty="0"/>
              <a:t> Interface 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D41F5-CA99-4073-8382-D8F7A2F5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0928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Interface </a:t>
            </a:r>
            <a:r>
              <a:rPr lang="en-US" dirty="0" err="1"/>
              <a:t>Manusia</a:t>
            </a:r>
            <a:r>
              <a:rPr lang="en-US" dirty="0"/>
              <a:t> {</a:t>
            </a:r>
          </a:p>
          <a:p>
            <a:r>
              <a:rPr lang="en-US" dirty="0"/>
              <a:t>    void </a:t>
            </a:r>
            <a:r>
              <a:rPr lang="en-US" dirty="0" err="1"/>
              <a:t>mengajar</a:t>
            </a:r>
            <a:r>
              <a:rPr lang="en-US" dirty="0"/>
              <a:t>();</a:t>
            </a:r>
          </a:p>
          <a:p>
            <a:r>
              <a:rPr lang="en-US" dirty="0"/>
              <a:t>    void </a:t>
            </a:r>
            <a:r>
              <a:rPr lang="en-US" dirty="0" err="1"/>
              <a:t>mendiagnosa</a:t>
            </a:r>
            <a:r>
              <a:rPr lang="en-US" dirty="0"/>
              <a:t>();</a:t>
            </a:r>
          </a:p>
          <a:p>
            <a:r>
              <a:rPr lang="en-US" dirty="0"/>
              <a:t>    void </a:t>
            </a:r>
            <a:r>
              <a:rPr lang="en-US" dirty="0" err="1"/>
              <a:t>berlatih_perang</a:t>
            </a:r>
            <a:r>
              <a:rPr lang="en-US" dirty="0"/>
              <a:t>();</a:t>
            </a:r>
          </a:p>
          <a:p>
            <a:r>
              <a:rPr lang="en-US" dirty="0"/>
              <a:t>    void </a:t>
            </a:r>
            <a:r>
              <a:rPr lang="en-US" dirty="0" err="1"/>
              <a:t>menyanyi</a:t>
            </a:r>
            <a:r>
              <a:rPr lang="en-US" dirty="0"/>
              <a:t>(); 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public class Dokter </a:t>
            </a:r>
            <a:r>
              <a:rPr lang="en-US" b="1" dirty="0"/>
              <a:t>implements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{</a:t>
            </a:r>
          </a:p>
          <a:p>
            <a:r>
              <a:rPr lang="en-US" dirty="0"/>
              <a:t>    public void </a:t>
            </a:r>
            <a:r>
              <a:rPr lang="en-US" dirty="0" err="1"/>
              <a:t>mendiagnosa</a:t>
            </a:r>
            <a:r>
              <a:rPr lang="en-US" dirty="0"/>
              <a:t>() {</a:t>
            </a:r>
          </a:p>
          <a:p>
            <a:r>
              <a:rPr lang="en-US" dirty="0"/>
              <a:t>        …….;</a:t>
            </a:r>
          </a:p>
          <a:p>
            <a:r>
              <a:rPr lang="en-US" dirty="0"/>
              <a:t>    } 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9BFA5-89D2-4963-97D4-25674E429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3F6AC-CAE4-4E13-9092-CF4B657B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91EC1D-2128-4A42-AB1E-F39D6212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>
            <a:normAutofit/>
          </a:bodyPr>
          <a:lstStyle/>
          <a:p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seorang</a:t>
            </a:r>
            <a:r>
              <a:rPr lang="en-US" sz="2800" dirty="0"/>
              <a:t> Budi </a:t>
            </a:r>
            <a:r>
              <a:rPr lang="en-US" sz="2800" dirty="0" err="1"/>
              <a:t>berprofesi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seorang</a:t>
            </a:r>
            <a:r>
              <a:rPr lang="en-US" sz="2800" dirty="0"/>
              <a:t> </a:t>
            </a:r>
            <a:r>
              <a:rPr lang="en-US" sz="2800" dirty="0" err="1"/>
              <a:t>Dosen</a:t>
            </a:r>
            <a:r>
              <a:rPr lang="en-US" sz="2800" dirty="0"/>
              <a:t>, </a:t>
            </a: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dibuat</a:t>
            </a:r>
            <a:r>
              <a:rPr lang="en-US" sz="2800" dirty="0"/>
              <a:t> class </a:t>
            </a:r>
            <a:r>
              <a:rPr lang="en-US" sz="2800" dirty="0" err="1"/>
              <a:t>misal</a:t>
            </a:r>
            <a:r>
              <a:rPr lang="en-US" sz="2800" dirty="0"/>
              <a:t> </a:t>
            </a:r>
            <a:r>
              <a:rPr lang="en-US" sz="2800" b="1" i="1" dirty="0" err="1"/>
              <a:t>DosenIF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turunan</a:t>
            </a:r>
            <a:r>
              <a:rPr lang="en-US" sz="2800" dirty="0"/>
              <a:t> (subclass) </a:t>
            </a:r>
            <a:r>
              <a:rPr lang="en-US" sz="2800" dirty="0" err="1"/>
              <a:t>dari</a:t>
            </a:r>
            <a:r>
              <a:rPr lang="en-US" sz="2800" dirty="0"/>
              <a:t> class </a:t>
            </a:r>
            <a:r>
              <a:rPr lang="en-US" sz="2800" b="1" i="1" dirty="0" err="1"/>
              <a:t>Manusia</a:t>
            </a:r>
            <a:r>
              <a:rPr lang="en-US" sz="2800" dirty="0"/>
              <a:t>  </a:t>
            </a:r>
            <a:r>
              <a:rPr lang="en-US" sz="2800" dirty="0" err="1"/>
              <a:t>namun</a:t>
            </a:r>
            <a:r>
              <a:rPr lang="en-US" sz="2800" dirty="0"/>
              <a:t> </a:t>
            </a:r>
            <a:r>
              <a:rPr lang="en-US" sz="2800" dirty="0" err="1"/>
              <a:t>mengimplementasikan</a:t>
            </a:r>
            <a:r>
              <a:rPr lang="en-US" sz="2800" dirty="0"/>
              <a:t> interface </a:t>
            </a:r>
            <a:r>
              <a:rPr lang="en-US" sz="2800" b="1" i="1" dirty="0" err="1"/>
              <a:t>Dosen</a:t>
            </a:r>
            <a:r>
              <a:rPr lang="en-US" sz="2800" dirty="0"/>
              <a:t>.</a:t>
            </a:r>
          </a:p>
          <a:p>
            <a:endParaRPr lang="en-US" sz="1100" dirty="0"/>
          </a:p>
          <a:p>
            <a:r>
              <a:rPr lang="en-US" sz="2800" dirty="0" err="1"/>
              <a:t>Misal</a:t>
            </a:r>
            <a:r>
              <a:rPr lang="en-US" sz="2800" dirty="0"/>
              <a:t> </a:t>
            </a:r>
            <a:r>
              <a:rPr lang="en-US" sz="2800" b="1" i="1" dirty="0"/>
              <a:t>interface </a:t>
            </a:r>
            <a:r>
              <a:rPr lang="en-US" sz="2800" b="1" i="1" dirty="0" err="1"/>
              <a:t>Hewan</a:t>
            </a:r>
            <a:r>
              <a:rPr lang="en-US" sz="2800" dirty="0"/>
              <a:t> </a:t>
            </a:r>
            <a:r>
              <a:rPr lang="en-US" sz="2800" dirty="0" err="1"/>
              <a:t>memiliki</a:t>
            </a:r>
            <a:r>
              <a:rPr lang="en-US" sz="2800" dirty="0"/>
              <a:t> abstract method </a:t>
            </a:r>
            <a:r>
              <a:rPr lang="en-US" sz="2800" b="1" i="1" dirty="0" err="1"/>
              <a:t>bersuara</a:t>
            </a:r>
            <a:r>
              <a:rPr lang="en-US" sz="2800" b="1" i="1" dirty="0"/>
              <a:t>()</a:t>
            </a:r>
            <a:r>
              <a:rPr lang="en-US" sz="2800" dirty="0"/>
              <a:t>, </a:t>
            </a:r>
            <a:r>
              <a:rPr lang="en-US" sz="2800" dirty="0" err="1"/>
              <a:t>maka</a:t>
            </a:r>
            <a:r>
              <a:rPr lang="en-US" sz="2800" dirty="0"/>
              <a:t> masing-masing </a:t>
            </a:r>
            <a:r>
              <a:rPr lang="en-US" sz="2800" dirty="0" err="1"/>
              <a:t>kelompok</a:t>
            </a:r>
            <a:r>
              <a:rPr lang="en-US" sz="2800" dirty="0"/>
              <a:t> </a:t>
            </a:r>
            <a:r>
              <a:rPr lang="en-US" sz="2800" dirty="0" err="1"/>
              <a:t>hewan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speciesnya</a:t>
            </a:r>
            <a:r>
              <a:rPr lang="en-US" sz="2800" dirty="0"/>
              <a:t>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mengimplementasikan</a:t>
            </a:r>
            <a:r>
              <a:rPr lang="en-US" sz="2800" dirty="0"/>
              <a:t> method </a:t>
            </a:r>
            <a:r>
              <a:rPr lang="en-US" sz="2800" b="1" i="1" dirty="0" err="1"/>
              <a:t>bersuara</a:t>
            </a:r>
            <a:r>
              <a:rPr lang="en-US" sz="2800" b="1" i="1" dirty="0"/>
              <a:t>()</a:t>
            </a:r>
            <a:r>
              <a:rPr lang="en-US" sz="2800" dirty="0"/>
              <a:t> 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memiliki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sendiri-sendiri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b="1" i="1" dirty="0" err="1"/>
              <a:t>bersuara</a:t>
            </a:r>
            <a:r>
              <a:rPr lang="en-US" sz="2800" b="1" i="1" dirty="0"/>
              <a:t>()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/>
              <a:t>memahami</a:t>
            </a:r>
            <a:r>
              <a:rPr lang="en-US" sz="4400" dirty="0"/>
              <a:t> Interface (2)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ED41F5-CA99-4073-8382-D8F7A2F5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26909"/>
            <a:ext cx="8991600" cy="5092891"/>
          </a:xfrm>
        </p:spPr>
        <p:txBody>
          <a:bodyPr>
            <a:normAutofit fontScale="85000" lnSpcReduction="20000"/>
          </a:bodyPr>
          <a:lstStyle/>
          <a:p>
            <a:r>
              <a:rPr lang="en-US" sz="2500" dirty="0"/>
              <a:t>Interface </a:t>
            </a:r>
            <a:r>
              <a:rPr lang="en-US" sz="2500" dirty="0" err="1"/>
              <a:t>MahlukHidup</a:t>
            </a:r>
            <a:r>
              <a:rPr lang="en-US" sz="2500" dirty="0"/>
              <a:t> {</a:t>
            </a:r>
          </a:p>
          <a:p>
            <a:r>
              <a:rPr lang="en-US" sz="2500" dirty="0"/>
              <a:t>     </a:t>
            </a:r>
            <a:r>
              <a:rPr lang="en-US" sz="2500" dirty="0" err="1"/>
              <a:t>makan</a:t>
            </a:r>
            <a:r>
              <a:rPr lang="en-US" sz="2500" dirty="0"/>
              <a:t>();</a:t>
            </a:r>
          </a:p>
          <a:p>
            <a:r>
              <a:rPr lang="en-US" sz="2500" dirty="0"/>
              <a:t>     </a:t>
            </a:r>
            <a:r>
              <a:rPr lang="en-US" sz="2500" dirty="0" err="1"/>
              <a:t>minum</a:t>
            </a:r>
            <a:r>
              <a:rPr lang="en-US" sz="2500" dirty="0"/>
              <a:t>(); </a:t>
            </a:r>
          </a:p>
          <a:p>
            <a:r>
              <a:rPr lang="en-US" sz="2500" dirty="0"/>
              <a:t>}</a:t>
            </a:r>
          </a:p>
          <a:p>
            <a:r>
              <a:rPr lang="en-US" sz="2500" dirty="0"/>
              <a:t>Interface </a:t>
            </a:r>
            <a:r>
              <a:rPr lang="en-US" sz="2500" dirty="0" err="1"/>
              <a:t>Hewan</a:t>
            </a:r>
            <a:r>
              <a:rPr lang="en-US" sz="2500" dirty="0"/>
              <a:t> </a:t>
            </a:r>
            <a:r>
              <a:rPr lang="en-US" sz="2500" strike="sngStrike" dirty="0"/>
              <a:t>implements</a:t>
            </a:r>
            <a:r>
              <a:rPr lang="en-US" sz="2500" dirty="0"/>
              <a:t> </a:t>
            </a:r>
            <a:r>
              <a:rPr lang="en-US" sz="2500" b="1" dirty="0"/>
              <a:t>extends</a:t>
            </a:r>
            <a:r>
              <a:rPr lang="en-US" sz="2500" dirty="0"/>
              <a:t> </a:t>
            </a:r>
            <a:r>
              <a:rPr lang="en-US" sz="2500" dirty="0" err="1"/>
              <a:t>MahlukHidup</a:t>
            </a:r>
            <a:r>
              <a:rPr lang="en-US" sz="2500" dirty="0"/>
              <a:t> {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bersuara</a:t>
            </a:r>
            <a:r>
              <a:rPr lang="en-US" sz="2500" dirty="0"/>
              <a:t>();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makan</a:t>
            </a:r>
            <a:r>
              <a:rPr lang="en-US" sz="2500" dirty="0"/>
              <a:t>();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bernafas</a:t>
            </a:r>
            <a:r>
              <a:rPr lang="en-US" sz="2500" dirty="0"/>
              <a:t>();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bereproduksi</a:t>
            </a:r>
            <a:r>
              <a:rPr lang="en-US" sz="2500" dirty="0"/>
              <a:t>(); </a:t>
            </a:r>
          </a:p>
          <a:p>
            <a:r>
              <a:rPr lang="en-US" sz="2500" dirty="0"/>
              <a:t>}</a:t>
            </a:r>
          </a:p>
          <a:p>
            <a:r>
              <a:rPr lang="en-US" sz="2500" dirty="0"/>
              <a:t>public Class </a:t>
            </a:r>
            <a:r>
              <a:rPr lang="en-US" sz="2500" dirty="0" err="1"/>
              <a:t>Kucing</a:t>
            </a:r>
            <a:r>
              <a:rPr lang="en-US" sz="2500" dirty="0"/>
              <a:t> </a:t>
            </a:r>
            <a:r>
              <a:rPr lang="en-US" sz="2500" b="1" dirty="0"/>
              <a:t>implements</a:t>
            </a:r>
            <a:r>
              <a:rPr lang="en-US" sz="2500" dirty="0"/>
              <a:t> </a:t>
            </a:r>
            <a:r>
              <a:rPr lang="en-US" sz="2500" dirty="0" err="1"/>
              <a:t>Hewan</a:t>
            </a:r>
            <a:r>
              <a:rPr lang="en-US" sz="2500" dirty="0"/>
              <a:t> {</a:t>
            </a:r>
          </a:p>
          <a:p>
            <a:r>
              <a:rPr lang="en-US" sz="2500" dirty="0"/>
              <a:t>    public </a:t>
            </a:r>
            <a:r>
              <a:rPr lang="en-US" sz="2500" dirty="0" err="1"/>
              <a:t>bersuara</a:t>
            </a:r>
            <a:r>
              <a:rPr lang="en-US" sz="2500" dirty="0"/>
              <a:t>() {</a:t>
            </a:r>
          </a:p>
          <a:p>
            <a:r>
              <a:rPr lang="en-US" sz="2500" dirty="0"/>
              <a:t>         </a:t>
            </a:r>
            <a:r>
              <a:rPr lang="en-US" sz="2500" dirty="0" err="1"/>
              <a:t>System.out.println</a:t>
            </a:r>
            <a:r>
              <a:rPr lang="en-US" sz="2500" dirty="0"/>
              <a:t>(”</a:t>
            </a:r>
            <a:r>
              <a:rPr lang="en-US" sz="2500" dirty="0" err="1"/>
              <a:t>meong</a:t>
            </a:r>
            <a:r>
              <a:rPr lang="en-US" sz="2500" dirty="0"/>
              <a:t>”);</a:t>
            </a:r>
          </a:p>
          <a:p>
            <a:r>
              <a:rPr lang="en-US" sz="2500" dirty="0"/>
              <a:t>    } </a:t>
            </a:r>
          </a:p>
          <a:p>
            <a:r>
              <a:rPr lang="en-US" sz="2500" dirty="0"/>
              <a:t>}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9BFA5-89D2-4963-97D4-25674E429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3F6AC-CAE4-4E13-9092-CF4B657B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91EC1D-2128-4A42-AB1E-F39D6212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04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016691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[modifier] </a:t>
            </a:r>
            <a:r>
              <a:rPr lang="en-US" sz="2400" b="1" dirty="0"/>
              <a:t>interface</a:t>
            </a:r>
            <a:r>
              <a:rPr lang="en-US" sz="2400" dirty="0"/>
              <a:t> </a:t>
            </a:r>
            <a:r>
              <a:rPr lang="en-US" sz="2400" b="1" i="1" dirty="0" err="1"/>
              <a:t>NamaInterface</a:t>
            </a:r>
            <a:r>
              <a:rPr lang="en-US" sz="2400" dirty="0"/>
              <a:t>  [extends   </a:t>
            </a:r>
          </a:p>
          <a:p>
            <a:r>
              <a:rPr lang="en-US" sz="2400" dirty="0"/>
              <a:t>     NamaInterface1, NamaInteface2 [, </a:t>
            </a:r>
            <a:r>
              <a:rPr lang="en-US" sz="2400" dirty="0" err="1"/>
              <a:t>NamaInterfaceN</a:t>
            </a:r>
            <a:r>
              <a:rPr lang="en-US" sz="2400" dirty="0"/>
              <a:t>]] {</a:t>
            </a:r>
          </a:p>
          <a:p>
            <a:r>
              <a:rPr lang="en-US" sz="2400" dirty="0"/>
              <a:t>     [</a:t>
            </a:r>
            <a:r>
              <a:rPr lang="en-US" sz="2400" dirty="0" err="1"/>
              <a:t>deklarasi</a:t>
            </a:r>
            <a:r>
              <a:rPr lang="en-US" sz="2400" dirty="0"/>
              <a:t> </a:t>
            </a:r>
            <a:r>
              <a:rPr lang="en-US" sz="2400" dirty="0" err="1"/>
              <a:t>konstanta</a:t>
            </a:r>
            <a:r>
              <a:rPr lang="en-US" sz="2400" dirty="0"/>
              <a:t>]</a:t>
            </a:r>
          </a:p>
          <a:p>
            <a:r>
              <a:rPr lang="en-US" sz="2400" dirty="0"/>
              <a:t>     [modifier1]  </a:t>
            </a:r>
            <a:r>
              <a:rPr lang="en-US" sz="2400" b="1" i="1" dirty="0" err="1"/>
              <a:t>tipeReturnValue</a:t>
            </a:r>
            <a:r>
              <a:rPr lang="en-US" sz="2400" b="1" i="1" dirty="0"/>
              <a:t> </a:t>
            </a:r>
            <a:r>
              <a:rPr lang="en-US" sz="2400" b="1" i="1" dirty="0" err="1"/>
              <a:t>namaMethod</a:t>
            </a:r>
            <a:r>
              <a:rPr lang="en-US" sz="2400" b="1" i="1" dirty="0"/>
              <a:t>([arguments])</a:t>
            </a:r>
            <a:r>
              <a:rPr lang="en-US" sz="2400" b="1" i="1" dirty="0">
                <a:solidFill>
                  <a:srgbClr val="FF0000"/>
                </a:solidFill>
              </a:rPr>
              <a:t>;</a:t>
            </a:r>
          </a:p>
          <a:p>
            <a:r>
              <a:rPr lang="en-US" sz="2400" dirty="0"/>
              <a:t>}</a:t>
            </a:r>
          </a:p>
          <a:p>
            <a:endParaRPr lang="en-US" sz="1100" dirty="0"/>
          </a:p>
          <a:p>
            <a:pPr algn="just"/>
            <a:r>
              <a:rPr lang="en-US" sz="2600" dirty="0" err="1"/>
              <a:t>Umumnya</a:t>
            </a:r>
            <a:r>
              <a:rPr lang="en-US" sz="2600" dirty="0"/>
              <a:t> </a:t>
            </a:r>
            <a:r>
              <a:rPr lang="en-US" sz="2600" dirty="0" err="1"/>
              <a:t>nama</a:t>
            </a:r>
            <a:r>
              <a:rPr lang="en-US" sz="2600" dirty="0"/>
              <a:t> Interface </a:t>
            </a:r>
            <a:r>
              <a:rPr lang="en-US" sz="2600" dirty="0" err="1"/>
              <a:t>berupa</a:t>
            </a:r>
            <a:r>
              <a:rPr lang="en-US" sz="2600" dirty="0"/>
              <a:t> </a:t>
            </a:r>
            <a:r>
              <a:rPr lang="en-US" sz="2600" dirty="0" err="1"/>
              <a:t>pasangan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verb+able</a:t>
            </a:r>
            <a:r>
              <a:rPr lang="en-US" sz="2600" dirty="0"/>
              <a:t>,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misalnya</a:t>
            </a:r>
            <a:r>
              <a:rPr lang="en-US" sz="2600" dirty="0"/>
              <a:t> </a:t>
            </a:r>
            <a:r>
              <a:rPr lang="en-US" sz="2600" b="1" dirty="0" err="1"/>
              <a:t>Runnable</a:t>
            </a:r>
            <a:r>
              <a:rPr lang="en-US" sz="2600" dirty="0"/>
              <a:t>, </a:t>
            </a:r>
            <a:r>
              <a:rPr lang="en-US" sz="2600" b="1" dirty="0" err="1"/>
              <a:t>Serializable</a:t>
            </a:r>
            <a:r>
              <a:rPr lang="en-US" sz="2600" dirty="0"/>
              <a:t>, </a:t>
            </a:r>
            <a:r>
              <a:rPr lang="en-US" sz="2600" b="1" dirty="0" err="1"/>
              <a:t>Calculatable</a:t>
            </a:r>
            <a:r>
              <a:rPr lang="en-US" sz="2600" b="1" dirty="0"/>
              <a:t>, </a:t>
            </a:r>
            <a:r>
              <a:rPr lang="en-US" sz="2600" dirty="0" err="1"/>
              <a:t>atau</a:t>
            </a:r>
            <a:r>
              <a:rPr lang="en-US" sz="2600" b="1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noun</a:t>
            </a:r>
            <a:r>
              <a:rPr lang="en-US" sz="2600" dirty="0"/>
              <a:t> yang </a:t>
            </a:r>
            <a:r>
              <a:rPr lang="en-US" sz="2600" dirty="0" err="1"/>
              <a:t>bermakna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profesi</a:t>
            </a:r>
            <a:r>
              <a:rPr lang="en-US" sz="2600" dirty="0"/>
              <a:t>.</a:t>
            </a:r>
          </a:p>
          <a:p>
            <a:endParaRPr lang="en-US" sz="1200" dirty="0"/>
          </a:p>
          <a:p>
            <a:r>
              <a:rPr lang="en-US" sz="2400" dirty="0" err="1"/>
              <a:t>Ketentuan</a:t>
            </a:r>
            <a:r>
              <a:rPr lang="en-US" sz="2400" dirty="0"/>
              <a:t> interface:</a:t>
            </a:r>
          </a:p>
          <a:p>
            <a:r>
              <a:rPr lang="en-US" sz="2400" dirty="0"/>
              <a:t>1. </a:t>
            </a:r>
            <a:r>
              <a:rPr lang="en-US" sz="2400" dirty="0" err="1"/>
              <a:t>Attributenya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konstanta</a:t>
            </a:r>
            <a:r>
              <a:rPr lang="en-US" sz="2400" dirty="0"/>
              <a:t>.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instansiasi</a:t>
            </a:r>
            <a:r>
              <a:rPr lang="en-US" sz="2400" dirty="0"/>
              <a:t>.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modifier static.</a:t>
            </a:r>
          </a:p>
          <a:p>
            <a:r>
              <a:rPr lang="en-US" sz="2400" dirty="0"/>
              <a:t>4.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b="1" dirty="0"/>
              <a:t>implements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/</a:t>
            </a:r>
            <a:r>
              <a:rPr lang="en-US" sz="2400" dirty="0" err="1"/>
              <a:t>ke</a:t>
            </a:r>
            <a:r>
              <a:rPr lang="en-US" sz="2400" dirty="0"/>
              <a:t> interface lain.</a:t>
            </a:r>
          </a:p>
          <a:p>
            <a:r>
              <a:rPr lang="en-US" sz="2400" dirty="0"/>
              <a:t>5.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b="1" dirty="0"/>
              <a:t>extends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/</a:t>
            </a:r>
            <a:r>
              <a:rPr lang="en-US" sz="2400" dirty="0" err="1"/>
              <a:t>ke</a:t>
            </a:r>
            <a:r>
              <a:rPr lang="en-US" sz="2400" dirty="0"/>
              <a:t> class lain.</a:t>
            </a:r>
          </a:p>
          <a:p>
            <a:r>
              <a:rPr lang="en-US" sz="2400" dirty="0"/>
              <a:t>6.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b="1" dirty="0"/>
              <a:t>extends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interface lain.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481328"/>
            <a:ext cx="8915400" cy="4525963"/>
          </a:xfrm>
        </p:spPr>
        <p:txBody>
          <a:bodyPr/>
          <a:lstStyle/>
          <a:p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boleh</a:t>
            </a:r>
            <a:r>
              <a:rPr lang="en-US" dirty="0"/>
              <a:t> implements method-method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interface (library </a:t>
            </a:r>
            <a:r>
              <a:rPr lang="en-US" dirty="0" err="1"/>
              <a:t>referensi</a:t>
            </a:r>
            <a:r>
              <a:rPr lang="en-US" dirty="0"/>
              <a:t>)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menurunkannya</a:t>
            </a:r>
            <a:r>
              <a:rPr lang="en-US" dirty="0"/>
              <a:t>.</a:t>
            </a:r>
          </a:p>
          <a:p>
            <a:r>
              <a:rPr lang="en-US" dirty="0"/>
              <a:t>Template/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:</a:t>
            </a:r>
          </a:p>
          <a:p>
            <a:r>
              <a:rPr lang="en-US" sz="2200" b="1" i="1" dirty="0"/>
              <a:t>[modifier] class </a:t>
            </a:r>
            <a:r>
              <a:rPr lang="en-US" sz="2200" b="1" i="1" dirty="0" err="1"/>
              <a:t>NamaClass</a:t>
            </a:r>
            <a:r>
              <a:rPr lang="en-US" sz="2200" b="1" i="1" dirty="0"/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implements</a:t>
            </a:r>
            <a:r>
              <a:rPr lang="en-US" sz="2200" b="1" i="1" dirty="0"/>
              <a:t> NamaInterface1, </a:t>
            </a:r>
          </a:p>
          <a:p>
            <a:r>
              <a:rPr lang="en-US" sz="2200" b="1" i="1" dirty="0"/>
              <a:t>                       [,</a:t>
            </a:r>
            <a:r>
              <a:rPr lang="en-US" sz="2200" b="1" i="1" dirty="0" err="1"/>
              <a:t>NamaInterfaceN</a:t>
            </a:r>
            <a:r>
              <a:rPr lang="en-US" sz="2200" b="1" i="1" dirty="0"/>
              <a:t>] {</a:t>
            </a:r>
          </a:p>
          <a:p>
            <a:r>
              <a:rPr lang="en-US" sz="2200" dirty="0"/>
              <a:t>     //</a:t>
            </a:r>
            <a:r>
              <a:rPr lang="en-US" sz="2200" dirty="0" err="1"/>
              <a:t>pengunaan</a:t>
            </a:r>
            <a:r>
              <a:rPr lang="en-US" sz="2200" dirty="0"/>
              <a:t> </a:t>
            </a:r>
            <a:r>
              <a:rPr lang="en-US" sz="2200" dirty="0" err="1"/>
              <a:t>konstanta</a:t>
            </a:r>
            <a:endParaRPr lang="en-US" sz="2200" dirty="0"/>
          </a:p>
          <a:p>
            <a:r>
              <a:rPr lang="en-US" sz="2200" dirty="0"/>
              <a:t>     </a:t>
            </a:r>
            <a:r>
              <a:rPr lang="en-US" sz="2200" b="1" dirty="0">
                <a:solidFill>
                  <a:srgbClr val="FF0000"/>
                </a:solidFill>
              </a:rPr>
              <a:t>//</a:t>
            </a:r>
            <a:r>
              <a:rPr lang="en-US" sz="2200" b="1" dirty="0" err="1">
                <a:solidFill>
                  <a:srgbClr val="FF0000"/>
                </a:solidFill>
              </a:rPr>
              <a:t>implementasi</a:t>
            </a:r>
            <a:r>
              <a:rPr lang="en-US" sz="2200" b="1" dirty="0">
                <a:solidFill>
                  <a:srgbClr val="FF0000"/>
                </a:solidFill>
              </a:rPr>
              <a:t> method()</a:t>
            </a:r>
          </a:p>
          <a:p>
            <a:r>
              <a:rPr lang="en-US" sz="2200" b="1" i="1" dirty="0"/>
              <a:t>}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Implementasi</a:t>
            </a:r>
            <a:r>
              <a:rPr lang="en-US" dirty="0"/>
              <a:t>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03967"/>
              </p:ext>
            </p:extLst>
          </p:nvPr>
        </p:nvGraphicFramePr>
        <p:xfrm>
          <a:off x="457200" y="1066800"/>
          <a:ext cx="8229600" cy="4691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Komponen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1064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Definisi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Daftar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deklarasi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konstanta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dan</a:t>
                      </a:r>
                      <a:r>
                        <a:rPr lang="en-US" sz="2000" dirty="0"/>
                        <a:t> </a:t>
                      </a:r>
                    </a:p>
                    <a:p>
                      <a:r>
                        <a:rPr lang="en-US" sz="2000" dirty="0" err="1"/>
                        <a:t>daftar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abtract</a:t>
                      </a:r>
                      <a:r>
                        <a:rPr lang="en-US" sz="2000" dirty="0"/>
                        <a:t> method()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 </a:t>
                      </a:r>
                      <a:r>
                        <a:rPr lang="en-US" sz="2400" dirty="0" err="1"/>
                        <a:t>objek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2704">
                <a:tc>
                  <a:txBody>
                    <a:bodyPr/>
                    <a:lstStyle/>
                    <a:p>
                      <a:r>
                        <a:rPr lang="en-US" sz="2400" dirty="0" err="1"/>
                        <a:t>Kandungan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informasi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Implementasi</a:t>
                      </a:r>
                      <a:r>
                        <a:rPr lang="en-US" sz="2200" dirty="0"/>
                        <a:t>/</a:t>
                      </a:r>
                      <a:r>
                        <a:rPr lang="en-US" sz="2200" dirty="0" err="1"/>
                        <a:t>isi</a:t>
                      </a:r>
                      <a:r>
                        <a:rPr lang="en-US" sz="2200" dirty="0"/>
                        <a:t> </a:t>
                      </a:r>
                    </a:p>
                    <a:p>
                      <a:r>
                        <a:rPr lang="en-US" sz="2200" dirty="0" err="1"/>
                        <a:t>semua</a:t>
                      </a:r>
                      <a:r>
                        <a:rPr lang="en-US" sz="2200" dirty="0"/>
                        <a:t> method() </a:t>
                      </a:r>
                      <a:r>
                        <a:rPr lang="en-US" sz="2200" dirty="0" err="1"/>
                        <a:t>nya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berada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di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luar</a:t>
                      </a:r>
                      <a:r>
                        <a:rPr lang="en-US" sz="2200" baseline="0" dirty="0"/>
                        <a:t> interface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 err="1"/>
                        <a:t>Mendefiniskan</a:t>
                      </a:r>
                      <a:r>
                        <a:rPr lang="en-US" sz="2200" dirty="0"/>
                        <a:t> attribute </a:t>
                      </a:r>
                      <a:r>
                        <a:rPr lang="en-US" sz="2200" dirty="0" err="1"/>
                        <a:t>dan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mathod</a:t>
                      </a:r>
                      <a:r>
                        <a:rPr lang="en-US" sz="2200" dirty="0"/>
                        <a:t>() </a:t>
                      </a:r>
                      <a:r>
                        <a:rPr lang="en-US" sz="2200" dirty="0" err="1"/>
                        <a:t>secara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konkret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dan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rinci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390">
                <a:tc>
                  <a:txBody>
                    <a:bodyPr/>
                    <a:lstStyle/>
                    <a:p>
                      <a:r>
                        <a:rPr lang="en-US" sz="2400" dirty="0" err="1"/>
                        <a:t>Instansiasi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Tidak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boleh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Boleh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Interface </a:t>
            </a:r>
            <a:r>
              <a:rPr lang="en-US" dirty="0" err="1"/>
              <a:t>vs</a:t>
            </a:r>
            <a:r>
              <a:rPr lang="en-US" dirty="0"/>
              <a:t>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181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Inheritance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proses</a:t>
            </a:r>
            <a:r>
              <a:rPr lang="en-US" dirty="0"/>
              <a:t> </a:t>
            </a:r>
            <a:r>
              <a:rPr lang="en-US" dirty="0" err="1"/>
              <a:t>pewarisan</a:t>
            </a:r>
            <a:r>
              <a:rPr lang="en-US" dirty="0"/>
              <a:t> attribute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pewarisan</a:t>
            </a:r>
            <a:r>
              <a:rPr lang="en-US" dirty="0"/>
              <a:t> method() </a:t>
            </a:r>
            <a:r>
              <a:rPr lang="en-US" dirty="0" err="1"/>
              <a:t>atau</a:t>
            </a:r>
            <a:r>
              <a:rPr lang="en-US" dirty="0"/>
              <a:t> constructor()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super class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sub class.</a:t>
            </a:r>
          </a:p>
          <a:p>
            <a:endParaRPr lang="en-US" sz="1300" dirty="0"/>
          </a:p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yang attribute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method()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super class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? </a:t>
            </a:r>
            <a:r>
              <a:rPr lang="en-US" dirty="0" err="1"/>
              <a:t>Disinilah</a:t>
            </a:r>
            <a:r>
              <a:rPr lang="en-US" dirty="0"/>
              <a:t> </a:t>
            </a:r>
            <a:r>
              <a:rPr lang="en-US" dirty="0" err="1"/>
              <a:t>keterbatasan</a:t>
            </a:r>
            <a:r>
              <a:rPr lang="en-US" dirty="0"/>
              <a:t> inheritance.</a:t>
            </a:r>
          </a:p>
          <a:p>
            <a:endParaRPr lang="en-US" sz="1200" dirty="0"/>
          </a:p>
          <a:p>
            <a:r>
              <a:rPr lang="en-US" dirty="0" err="1"/>
              <a:t>Suatu</a:t>
            </a:r>
            <a:r>
              <a:rPr lang="en-US" dirty="0"/>
              <a:t> interface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memasukkan</a:t>
            </a:r>
            <a:r>
              <a:rPr lang="en-US" dirty="0"/>
              <a:t> method-method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library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menurunkannya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Nama-</a:t>
            </a:r>
            <a:r>
              <a:rPr lang="en-US" dirty="0" err="1"/>
              <a:t>nama</a:t>
            </a:r>
            <a:r>
              <a:rPr lang="en-US" dirty="0"/>
              <a:t> interface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dijadikan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attribute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parameter di </a:t>
            </a:r>
            <a:r>
              <a:rPr lang="en-US" dirty="0" err="1"/>
              <a:t>dalam</a:t>
            </a:r>
            <a:r>
              <a:rPr lang="en-US" dirty="0"/>
              <a:t> class yang </a:t>
            </a:r>
            <a:r>
              <a:rPr lang="en-US" dirty="0" err="1"/>
              <a:t>menggunakan</a:t>
            </a:r>
            <a:r>
              <a:rPr lang="en-US" dirty="0"/>
              <a:t> interface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Interface dan abstract class </a:t>
            </a:r>
            <a:r>
              <a:rPr lang="en-US" dirty="0" err="1"/>
              <a:t>sama-sama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intansiasi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/>
              <a:t>Implementasi</a:t>
            </a:r>
            <a:r>
              <a:rPr lang="en-US" sz="3200" dirty="0"/>
              <a:t> </a:t>
            </a:r>
            <a:r>
              <a:rPr lang="en-US" sz="3200" dirty="0" err="1"/>
              <a:t>vs</a:t>
            </a:r>
            <a:r>
              <a:rPr lang="en-US" sz="3200" dirty="0"/>
              <a:t> Inheritance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72964"/>
              </p:ext>
            </p:extLst>
          </p:nvPr>
        </p:nvGraphicFramePr>
        <p:xfrm>
          <a:off x="228600" y="1143000"/>
          <a:ext cx="8686800" cy="507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Komponen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Abstract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Hanya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berupa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konstanta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Bebas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Hanya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berupa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deklarasi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Sebagian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boleh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berupa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deklarasi</a:t>
                      </a:r>
                      <a:r>
                        <a:rPr lang="en-US" sz="2000" dirty="0"/>
                        <a:t> abstract method().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 err="1"/>
                        <a:t>Sebagian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boleh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berupa</a:t>
                      </a:r>
                      <a:r>
                        <a:rPr lang="en-US" sz="2000" dirty="0"/>
                        <a:t> method() </a:t>
                      </a:r>
                      <a:r>
                        <a:rPr lang="en-US" sz="2000" dirty="0" err="1"/>
                        <a:t>lengkap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Seluruhnya</a:t>
                      </a:r>
                      <a:r>
                        <a:rPr lang="en-US" sz="2000" dirty="0"/>
                        <a:t> abstract, </a:t>
                      </a:r>
                    </a:p>
                    <a:p>
                      <a:r>
                        <a:rPr lang="en-US" sz="2000" dirty="0" err="1"/>
                        <a:t>Semua</a:t>
                      </a:r>
                      <a:r>
                        <a:rPr lang="en-US" sz="2000" dirty="0"/>
                        <a:t> method()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wajib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dioverride</a:t>
                      </a:r>
                      <a:r>
                        <a:rPr lang="en-US" sz="2000" baseline="0" dirty="0"/>
                        <a:t> oleh subclass yg </a:t>
                      </a:r>
                      <a:r>
                        <a:rPr lang="en-US" sz="2000" baseline="0" dirty="0" err="1"/>
                        <a:t>mengimplementasikannya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Sebagian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boleh</a:t>
                      </a:r>
                      <a:r>
                        <a:rPr lang="en-US" sz="2000" dirty="0"/>
                        <a:t> abstract,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dirty="0" err="1"/>
                        <a:t>Semua</a:t>
                      </a:r>
                      <a:r>
                        <a:rPr lang="en-US" sz="2000" dirty="0"/>
                        <a:t> method()</a:t>
                      </a:r>
                      <a:r>
                        <a:rPr lang="en-US" sz="2000" baseline="0" dirty="0"/>
                        <a:t> yang abstract </a:t>
                      </a:r>
                      <a:r>
                        <a:rPr lang="en-US" sz="2000" baseline="0" dirty="0" err="1"/>
                        <a:t>wajib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dioverride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err="1"/>
                        <a:t>oleh</a:t>
                      </a:r>
                      <a:r>
                        <a:rPr lang="en-US" sz="2000" baseline="0" dirty="0"/>
                        <a:t> subclass </a:t>
                      </a:r>
                      <a:r>
                        <a:rPr lang="en-US" sz="2000" baseline="0" dirty="0" err="1"/>
                        <a:t>nya</a:t>
                      </a:r>
                      <a:r>
                        <a:rPr lang="en-US" sz="2000" baseline="0" dirty="0"/>
                        <a:t>.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Interface </a:t>
            </a:r>
            <a:r>
              <a:rPr lang="en-US" dirty="0" err="1"/>
              <a:t>vs</a:t>
            </a:r>
            <a:r>
              <a:rPr lang="en-US" dirty="0"/>
              <a:t> Abstract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07091"/>
          </a:xfrm>
        </p:spPr>
        <p:txBody>
          <a:bodyPr>
            <a:normAutofit/>
          </a:bodyPr>
          <a:lstStyle/>
          <a:p>
            <a:r>
              <a:rPr lang="en-US" sz="3000" dirty="0"/>
              <a:t>Interface </a:t>
            </a:r>
            <a:r>
              <a:rPr lang="en-US" sz="3000" dirty="0" err="1"/>
              <a:t>seringkali</a:t>
            </a:r>
            <a:r>
              <a:rPr lang="en-US" sz="3000" dirty="0"/>
              <a:t> </a:t>
            </a:r>
            <a:r>
              <a:rPr lang="en-US" sz="3000" dirty="0" err="1"/>
              <a:t>digunakan</a:t>
            </a:r>
            <a:r>
              <a:rPr lang="en-US" sz="3000" dirty="0"/>
              <a:t> </a:t>
            </a:r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menghandle</a:t>
            </a:r>
            <a:r>
              <a:rPr lang="en-US" sz="3000" dirty="0"/>
              <a:t> event </a:t>
            </a:r>
            <a:r>
              <a:rPr lang="en-US" sz="3000" dirty="0" err="1"/>
              <a:t>pada</a:t>
            </a:r>
            <a:r>
              <a:rPr lang="en-US" sz="3000" dirty="0"/>
              <a:t> </a:t>
            </a:r>
            <a:r>
              <a:rPr lang="en-US" sz="3000" dirty="0" err="1"/>
              <a:t>aplikasi</a:t>
            </a:r>
            <a:r>
              <a:rPr lang="en-US" sz="3000" dirty="0"/>
              <a:t> GUI, </a:t>
            </a:r>
            <a:r>
              <a:rPr lang="en-US" sz="3000" dirty="0" err="1"/>
              <a:t>perhatikan</a:t>
            </a:r>
            <a:r>
              <a:rPr lang="en-US" sz="3000" dirty="0"/>
              <a:t> </a:t>
            </a:r>
            <a:r>
              <a:rPr lang="en-US" sz="3000" dirty="0" err="1"/>
              <a:t>contoh</a:t>
            </a:r>
            <a:r>
              <a:rPr lang="en-US" sz="3000" dirty="0"/>
              <a:t> project </a:t>
            </a:r>
            <a:r>
              <a:rPr lang="en-US" sz="3000" b="1" i="1" dirty="0" err="1"/>
              <a:t>pFauna</a:t>
            </a:r>
            <a:r>
              <a:rPr lang="en-US" sz="3000" dirty="0"/>
              <a:t> </a:t>
            </a:r>
            <a:r>
              <a:rPr lang="en-US" sz="3000" dirty="0" err="1"/>
              <a:t>dan</a:t>
            </a:r>
            <a:r>
              <a:rPr lang="en-US" sz="3000" dirty="0"/>
              <a:t> project </a:t>
            </a:r>
            <a:r>
              <a:rPr lang="en-US" sz="3000" b="1" i="1" dirty="0" err="1"/>
              <a:t>pAppJButton</a:t>
            </a:r>
            <a:r>
              <a:rPr lang="en-US" sz="3000" b="1" i="1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Interface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19938</TotalTime>
  <Words>881</Words>
  <Application>Microsoft Office PowerPoint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Abstract Class dan Interface</vt:lpstr>
      <vt:lpstr>abstract class</vt:lpstr>
      <vt:lpstr>abstract method()</vt:lpstr>
      <vt:lpstr>memahami Interface (1)</vt:lpstr>
      <vt:lpstr>Contoh</vt:lpstr>
      <vt:lpstr>memahami Interface (2)</vt:lpstr>
      <vt:lpstr>Contoh</vt:lpstr>
      <vt:lpstr>Deklarasi dan ketentuan Interface</vt:lpstr>
      <vt:lpstr>Implementasi Interface</vt:lpstr>
      <vt:lpstr>Interface vs Class</vt:lpstr>
      <vt:lpstr>Implementasi vs Inheritance</vt:lpstr>
      <vt:lpstr>Interface vs Abstract Class</vt:lpstr>
      <vt:lpstr>Contoh aplikasi Interface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353</cp:revision>
  <dcterms:created xsi:type="dcterms:W3CDTF">2001-04-26T04:38:43Z</dcterms:created>
  <dcterms:modified xsi:type="dcterms:W3CDTF">2026-03-12T01:50:20Z</dcterms:modified>
</cp:coreProperties>
</file>