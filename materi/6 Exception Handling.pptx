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25"/>
  </p:notesMasterIdLst>
  <p:handoutMasterIdLst>
    <p:handoutMasterId r:id="rId26"/>
  </p:handoutMasterIdLst>
  <p:sldIdLst>
    <p:sldId id="437" r:id="rId2"/>
    <p:sldId id="438" r:id="rId3"/>
    <p:sldId id="444" r:id="rId4"/>
    <p:sldId id="439" r:id="rId5"/>
    <p:sldId id="445" r:id="rId6"/>
    <p:sldId id="446" r:id="rId7"/>
    <p:sldId id="440" r:id="rId8"/>
    <p:sldId id="447" r:id="rId9"/>
    <p:sldId id="459" r:id="rId10"/>
    <p:sldId id="460" r:id="rId11"/>
    <p:sldId id="448" r:id="rId12"/>
    <p:sldId id="449" r:id="rId13"/>
    <p:sldId id="441" r:id="rId14"/>
    <p:sldId id="451" r:id="rId15"/>
    <p:sldId id="442" r:id="rId16"/>
    <p:sldId id="450" r:id="rId17"/>
    <p:sldId id="452" r:id="rId18"/>
    <p:sldId id="453" r:id="rId19"/>
    <p:sldId id="454" r:id="rId20"/>
    <p:sldId id="455" r:id="rId21"/>
    <p:sldId id="456" r:id="rId22"/>
    <p:sldId id="457" r:id="rId23"/>
    <p:sldId id="458" r:id="rId24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FF0707"/>
    <a:srgbClr val="000000"/>
    <a:srgbClr val="CCFF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3" autoAdjust="0"/>
    <p:restoredTop sz="94643" autoAdjust="0"/>
  </p:normalViewPr>
  <p:slideViewPr>
    <p:cSldViewPr>
      <p:cViewPr varScale="1">
        <p:scale>
          <a:sx n="81" d="100"/>
          <a:sy n="81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C86F193C-C289-4371-A97A-BE0216192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700088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24363"/>
            <a:ext cx="502920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6BB55178-6231-4D76-9FDA-850185061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55178-6231-4D76-9FDA-85018506143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22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56" r:id="rId12"/>
    <p:sldLayoutId id="2147483666" r:id="rId13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085045"/>
            <a:ext cx="88392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1. </a:t>
            </a:r>
            <a:r>
              <a:rPr lang="en-US" sz="3200" b="1" dirty="0" err="1"/>
              <a:t>Pendahuluan</a:t>
            </a:r>
            <a:endParaRPr lang="en-US" sz="3200" b="1" i="1" dirty="0"/>
          </a:p>
          <a:p>
            <a:endParaRPr lang="en-US" sz="1000" b="1" i="1" dirty="0"/>
          </a:p>
          <a:p>
            <a:pPr>
              <a:buNone/>
            </a:pPr>
            <a:r>
              <a:rPr lang="en-US" sz="2800" b="1" dirty="0"/>
              <a:t>2. Class-class Exception </a:t>
            </a:r>
            <a:r>
              <a:rPr lang="en-US" sz="2800" b="1" dirty="0" err="1"/>
              <a:t>dan</a:t>
            </a:r>
            <a:r>
              <a:rPr lang="en-US" sz="2800" b="1" dirty="0"/>
              <a:t> Class-class Error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3. </a:t>
            </a:r>
            <a:r>
              <a:rPr lang="en-US" sz="3200" b="1" dirty="0" err="1"/>
              <a:t>Mengantisipasi</a:t>
            </a:r>
            <a:r>
              <a:rPr lang="en-US" sz="3200" b="1" dirty="0"/>
              <a:t> Exception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4. </a:t>
            </a:r>
            <a:r>
              <a:rPr lang="en-US" sz="3200" b="1" dirty="0" err="1"/>
              <a:t>Mekanisme</a:t>
            </a:r>
            <a:r>
              <a:rPr lang="en-US" sz="3200" b="1" dirty="0"/>
              <a:t> </a:t>
            </a:r>
            <a:r>
              <a:rPr lang="en-US" sz="3200" b="1" dirty="0" err="1"/>
              <a:t>Mengantisipasi</a:t>
            </a:r>
            <a:r>
              <a:rPr lang="en-US" sz="3200" b="1" dirty="0"/>
              <a:t> Exception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5</a:t>
            </a:r>
            <a:r>
              <a:rPr lang="en-US" sz="3200" b="1" i="1" dirty="0"/>
              <a:t>.</a:t>
            </a:r>
            <a:r>
              <a:rPr lang="en-US" sz="3200" b="1" dirty="0"/>
              <a:t> </a:t>
            </a:r>
            <a:r>
              <a:rPr lang="en-US" sz="3200" b="1" dirty="0" err="1"/>
              <a:t>Menampilkan</a:t>
            </a:r>
            <a:r>
              <a:rPr lang="en-US" sz="3200" b="1" dirty="0"/>
              <a:t> </a:t>
            </a:r>
            <a:r>
              <a:rPr lang="en-US" sz="3200" b="1" dirty="0" err="1"/>
              <a:t>Pesan</a:t>
            </a:r>
            <a:r>
              <a:rPr lang="en-US" sz="3200" b="1" dirty="0"/>
              <a:t> Exception</a:t>
            </a:r>
          </a:p>
          <a:p>
            <a:pPr>
              <a:buNone/>
            </a:pPr>
            <a:endParaRPr lang="en-US" sz="1300" b="1" dirty="0"/>
          </a:p>
          <a:p>
            <a:pPr>
              <a:buNone/>
            </a:pPr>
            <a:r>
              <a:rPr lang="en-US" sz="3200" b="1" dirty="0"/>
              <a:t>6. </a:t>
            </a:r>
            <a:r>
              <a:rPr lang="en-US" sz="3200" b="1" dirty="0" err="1"/>
              <a:t>Contoh</a:t>
            </a:r>
            <a:r>
              <a:rPr lang="en-US" sz="3200" b="1" dirty="0"/>
              <a:t> </a:t>
            </a:r>
            <a:r>
              <a:rPr lang="en-US" sz="3200" b="1" dirty="0" err="1"/>
              <a:t>Aplikasi</a:t>
            </a:r>
            <a:r>
              <a:rPr lang="en-US" sz="3200" b="1" dirty="0"/>
              <a:t> Exception</a:t>
            </a:r>
          </a:p>
          <a:p>
            <a:pPr>
              <a:buNone/>
            </a:pPr>
            <a:endParaRPr lang="en-US" sz="32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effectLst/>
              </a:rPr>
              <a:t>Exception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Error (</a:t>
            </a:r>
            <a:r>
              <a:rPr lang="en-US" dirty="0" err="1"/>
              <a:t>kesalahan</a:t>
            </a:r>
            <a:r>
              <a:rPr lang="en-US" dirty="0"/>
              <a:t>)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katagori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i="1" dirty="0"/>
              <a:t>syntax error</a:t>
            </a:r>
            <a:r>
              <a:rPr lang="en-US" dirty="0"/>
              <a:t>  (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kompilasi</a:t>
            </a:r>
            <a:r>
              <a:rPr lang="en-US" dirty="0"/>
              <a:t>), </a:t>
            </a:r>
            <a:r>
              <a:rPr lang="en-US" b="1" i="1" dirty="0"/>
              <a:t>run time error</a:t>
            </a:r>
            <a:r>
              <a:rPr lang="en-US" dirty="0"/>
              <a:t>  (</a:t>
            </a:r>
            <a:r>
              <a:rPr lang="en-US" dirty="0" err="1"/>
              <a:t>saat</a:t>
            </a:r>
            <a:r>
              <a:rPr lang="en-US" dirty="0"/>
              <a:t> program </a:t>
            </a:r>
            <a:r>
              <a:rPr lang="en-US" dirty="0" err="1"/>
              <a:t>dieksekusi</a:t>
            </a:r>
            <a:r>
              <a:rPr lang="en-US" dirty="0"/>
              <a:t>),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b="1" i="1" dirty="0"/>
              <a:t>logic error</a:t>
            </a:r>
            <a:r>
              <a:rPr lang="en-US" dirty="0"/>
              <a:t>  (</a:t>
            </a:r>
            <a:r>
              <a:rPr lang="en-US" dirty="0" err="1"/>
              <a:t>ketika</a:t>
            </a:r>
            <a:r>
              <a:rPr lang="en-US" dirty="0"/>
              <a:t> output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yang </a:t>
            </a:r>
            <a:r>
              <a:rPr lang="en-US" dirty="0" err="1"/>
              <a:t>diharapkan</a:t>
            </a:r>
            <a:r>
              <a:rPr lang="en-US" dirty="0"/>
              <a:t>).</a:t>
            </a:r>
          </a:p>
          <a:p>
            <a:endParaRPr lang="en-US" sz="1200" dirty="0"/>
          </a:p>
          <a:p>
            <a:r>
              <a:rPr lang="en-US" dirty="0"/>
              <a:t>Exception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sarana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b="1" i="1" dirty="0" err="1"/>
              <a:t>melaporkan</a:t>
            </a:r>
            <a:r>
              <a:rPr lang="en-US" dirty="0"/>
              <a:t> 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i="1" dirty="0"/>
              <a:t>run time error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b="1" i="1" dirty="0" err="1"/>
              <a:t>mengendalikan</a:t>
            </a:r>
            <a:r>
              <a:rPr lang="en-US" dirty="0" err="1"/>
              <a:t>nya</a:t>
            </a:r>
            <a:r>
              <a:rPr lang="en-US" dirty="0"/>
              <a:t> agar </a:t>
            </a:r>
            <a:r>
              <a:rPr lang="en-US" i="1" dirty="0"/>
              <a:t>run time error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mengakibatkan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dihentikan</a:t>
            </a:r>
            <a:r>
              <a:rPr lang="en-US" dirty="0"/>
              <a:t> (statement </a:t>
            </a:r>
            <a:r>
              <a:rPr lang="en-US" dirty="0" err="1"/>
              <a:t>setelahnya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).</a:t>
            </a:r>
          </a:p>
          <a:p>
            <a:endParaRPr lang="en-US" sz="1200" dirty="0"/>
          </a:p>
          <a:p>
            <a:r>
              <a:rPr lang="en-US" dirty="0" err="1"/>
              <a:t>Dalam</a:t>
            </a:r>
            <a:r>
              <a:rPr lang="en-US" dirty="0"/>
              <a:t> java, </a:t>
            </a:r>
            <a:r>
              <a:rPr lang="en-US" i="1" dirty="0"/>
              <a:t>exception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subclass Exception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super class </a:t>
            </a:r>
            <a:r>
              <a:rPr lang="en-US" i="1" dirty="0" err="1"/>
              <a:t>Throwable</a:t>
            </a:r>
            <a:r>
              <a:rPr lang="en-US" dirty="0"/>
              <a:t>. </a:t>
            </a:r>
            <a:r>
              <a:rPr lang="en-US" i="1" dirty="0"/>
              <a:t>Class </a:t>
            </a:r>
            <a:r>
              <a:rPr lang="en-US" i="1" dirty="0" err="1"/>
              <a:t>Throwable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i="1" dirty="0"/>
              <a:t>package </a:t>
            </a:r>
            <a:r>
              <a:rPr lang="en-US" i="1" dirty="0" err="1"/>
              <a:t>java.lang.object</a:t>
            </a:r>
            <a:r>
              <a:rPr lang="en-US" dirty="0"/>
              <a:t>. </a:t>
            </a:r>
          </a:p>
          <a:p>
            <a:endParaRPr lang="en-US" sz="12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Pendahuluan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685800"/>
            <a:ext cx="87630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err="1"/>
              <a:t>Kejadian</a:t>
            </a:r>
            <a:r>
              <a:rPr lang="en-US" sz="2800" dirty="0"/>
              <a:t> yang </a:t>
            </a:r>
            <a:r>
              <a:rPr lang="en-US" sz="2800" dirty="0" err="1"/>
              <a:t>terdeteksi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i="1" dirty="0"/>
              <a:t>class Error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turunannya</a:t>
            </a:r>
            <a:r>
              <a:rPr lang="en-US" sz="2800" dirty="0"/>
              <a:t> </a:t>
            </a:r>
            <a:r>
              <a:rPr lang="en-US" sz="2800" dirty="0" err="1"/>
              <a:t>tergolong</a:t>
            </a:r>
            <a:r>
              <a:rPr lang="en-US" sz="2800" dirty="0"/>
              <a:t> fatal,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sistem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dimanipulasi</a:t>
            </a:r>
            <a:r>
              <a:rPr lang="en-US" sz="2800" dirty="0"/>
              <a:t>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terkendalikan</a:t>
            </a:r>
            <a:r>
              <a:rPr lang="en-US" sz="2800" dirty="0"/>
              <a:t>. </a:t>
            </a:r>
            <a:r>
              <a:rPr lang="en-US" sz="2800" dirty="0" err="1"/>
              <a:t>Contoh</a:t>
            </a:r>
            <a:r>
              <a:rPr lang="en-US" sz="2800" dirty="0"/>
              <a:t> class standard </a:t>
            </a:r>
            <a:r>
              <a:rPr lang="en-US" sz="2800" dirty="0" err="1"/>
              <a:t>jenis</a:t>
            </a:r>
            <a:r>
              <a:rPr lang="en-US" sz="2800" dirty="0"/>
              <a:t> Error </a:t>
            </a:r>
            <a:r>
              <a:rPr lang="en-US" sz="2800" dirty="0" err="1"/>
              <a:t>misalnya</a:t>
            </a:r>
            <a:r>
              <a:rPr lang="en-US" sz="2800" dirty="0"/>
              <a:t> </a:t>
            </a:r>
            <a:r>
              <a:rPr lang="en-US" sz="2800" i="1" dirty="0" err="1"/>
              <a:t>LinkageError</a:t>
            </a:r>
            <a:r>
              <a:rPr lang="en-US" sz="2800" dirty="0"/>
              <a:t>, </a:t>
            </a:r>
            <a:r>
              <a:rPr lang="en-US" sz="2800" i="1" dirty="0" err="1"/>
              <a:t>VirtualMachineError</a:t>
            </a:r>
            <a:r>
              <a:rPr lang="en-US" sz="2800" dirty="0"/>
              <a:t>,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i="1" dirty="0" err="1"/>
              <a:t>AWTError</a:t>
            </a:r>
            <a:r>
              <a:rPr lang="en-US" sz="2800" dirty="0"/>
              <a:t>.</a:t>
            </a:r>
          </a:p>
          <a:p>
            <a:endParaRPr lang="en-US" sz="1200" dirty="0"/>
          </a:p>
          <a:p>
            <a:r>
              <a:rPr lang="en-US" sz="2800" dirty="0" err="1"/>
              <a:t>Kejadian</a:t>
            </a:r>
            <a:r>
              <a:rPr lang="en-US" sz="2800" dirty="0"/>
              <a:t> yang </a:t>
            </a:r>
            <a:r>
              <a:rPr lang="en-US" sz="2800" dirty="0" err="1"/>
              <a:t>terdeteksi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i="1" dirty="0"/>
              <a:t>class standard  </a:t>
            </a:r>
            <a:r>
              <a:rPr lang="en-US" sz="2800" dirty="0" err="1"/>
              <a:t>jenis</a:t>
            </a:r>
            <a:r>
              <a:rPr lang="en-US" sz="2800" i="1" dirty="0"/>
              <a:t> Exception</a:t>
            </a:r>
            <a:r>
              <a:rPr lang="en-US" sz="2800" dirty="0"/>
              <a:t> 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turunannya</a:t>
            </a:r>
            <a:r>
              <a:rPr lang="en-US" sz="2800" dirty="0"/>
              <a:t> </a:t>
            </a:r>
            <a:r>
              <a:rPr lang="en-US" sz="2800" dirty="0" err="1"/>
              <a:t>masih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diantisipasi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menyisipkan</a:t>
            </a:r>
            <a:r>
              <a:rPr lang="en-US" sz="2800" dirty="0"/>
              <a:t> statement </a:t>
            </a:r>
            <a:r>
              <a:rPr lang="en-US" sz="2800" dirty="0" err="1"/>
              <a:t>tambahan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mendeteksi</a:t>
            </a:r>
            <a:r>
              <a:rPr lang="en-US" sz="2800" dirty="0"/>
              <a:t> </a:t>
            </a:r>
            <a:r>
              <a:rPr lang="en-US" sz="2800" dirty="0" err="1"/>
              <a:t>penyebab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jenisnya</a:t>
            </a:r>
            <a:r>
              <a:rPr lang="en-US" sz="2800" dirty="0"/>
              <a:t>.</a:t>
            </a:r>
          </a:p>
          <a:p>
            <a:endParaRPr lang="en-US" sz="1200" dirty="0"/>
          </a:p>
          <a:p>
            <a:r>
              <a:rPr lang="en-US" sz="2800" dirty="0" err="1"/>
              <a:t>Kelompok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i="1" dirty="0"/>
              <a:t>class </a:t>
            </a:r>
            <a:r>
              <a:rPr lang="en-US" sz="2800" i="1" dirty="0" err="1"/>
              <a:t>RuntimeException</a:t>
            </a:r>
            <a:r>
              <a:rPr lang="en-US" sz="2800" dirty="0"/>
              <a:t>  </a:t>
            </a:r>
            <a:r>
              <a:rPr lang="en-US" sz="2800" dirty="0" err="1"/>
              <a:t>diperiksa</a:t>
            </a:r>
            <a:r>
              <a:rPr lang="en-US" sz="2800" dirty="0"/>
              <a:t> </a:t>
            </a:r>
            <a:r>
              <a:rPr lang="en-US" sz="2800" dirty="0" err="1"/>
              <a:t>oleh</a:t>
            </a:r>
            <a:r>
              <a:rPr lang="en-US" sz="2800" dirty="0"/>
              <a:t> interpreter </a:t>
            </a:r>
            <a:r>
              <a:rPr lang="en-US" sz="2800" dirty="0" err="1"/>
              <a:t>apakah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ditangani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dilempar</a:t>
            </a:r>
            <a:r>
              <a:rPr lang="en-US" sz="2800" dirty="0"/>
              <a:t>, </a:t>
            </a:r>
            <a:r>
              <a:rPr lang="en-US" sz="2800" dirty="0" err="1"/>
              <a:t>namun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pula exception yang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diperiksa</a:t>
            </a:r>
            <a:r>
              <a:rPr lang="en-US" sz="2800" dirty="0"/>
              <a:t> </a:t>
            </a:r>
            <a:r>
              <a:rPr lang="en-US" sz="2800" dirty="0" err="1"/>
              <a:t>oleh</a:t>
            </a:r>
            <a:r>
              <a:rPr lang="en-US" sz="2800" dirty="0"/>
              <a:t> interpreter. </a:t>
            </a:r>
          </a:p>
          <a:p>
            <a:endParaRPr lang="en-US" sz="1300" dirty="0"/>
          </a:p>
          <a:p>
            <a:r>
              <a:rPr lang="en-US" sz="2800" dirty="0"/>
              <a:t>Programmer </a:t>
            </a:r>
            <a:r>
              <a:rPr lang="en-US" sz="2800" dirty="0" err="1"/>
              <a:t>dibolehkan</a:t>
            </a:r>
            <a:r>
              <a:rPr lang="en-US" sz="2800" dirty="0"/>
              <a:t> </a:t>
            </a:r>
            <a:r>
              <a:rPr lang="en-US" sz="2800" dirty="0" err="1"/>
              <a:t>membuat</a:t>
            </a:r>
            <a:r>
              <a:rPr lang="en-US" sz="2800" dirty="0"/>
              <a:t> </a:t>
            </a:r>
            <a:r>
              <a:rPr lang="en-US" sz="2800" dirty="0" err="1"/>
              <a:t>sendiri</a:t>
            </a:r>
            <a:r>
              <a:rPr lang="en-US" sz="2800" dirty="0"/>
              <a:t> </a:t>
            </a:r>
            <a:r>
              <a:rPr lang="en-US" sz="2800" i="1" dirty="0"/>
              <a:t>class non standard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b="1" i="1" dirty="0"/>
              <a:t>extends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class standard </a:t>
            </a:r>
            <a:r>
              <a:rPr lang="en-US" sz="2800" i="1" dirty="0"/>
              <a:t>Exception</a:t>
            </a:r>
            <a:r>
              <a:rPr lang="en-US" sz="2800" dirty="0"/>
              <a:t>.</a:t>
            </a:r>
            <a:r>
              <a:rPr lang="en-US" dirty="0"/>
              <a:t> 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class Error </a:t>
            </a:r>
            <a:r>
              <a:rPr lang="en-US" dirty="0" err="1">
                <a:effectLst/>
              </a:rPr>
              <a:t>dan</a:t>
            </a:r>
            <a:r>
              <a:rPr lang="en-US" dirty="0">
                <a:effectLst/>
              </a:rPr>
              <a:t> class Exception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990600"/>
          <a:ext cx="8217536" cy="512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Deskripsi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ClassNotFoundException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ditemukan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CloneNotSupportedException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Melakukan</a:t>
                      </a:r>
                      <a:r>
                        <a:rPr lang="en-US" dirty="0"/>
                        <a:t> clone </a:t>
                      </a:r>
                      <a:r>
                        <a:rPr lang="en-US" dirty="0" err="1"/>
                        <a:t>objek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mengimplementasikan</a:t>
                      </a:r>
                      <a:r>
                        <a:rPr lang="en-US" dirty="0"/>
                        <a:t> interface </a:t>
                      </a:r>
                      <a:r>
                        <a:rPr lang="en-US" dirty="0" err="1"/>
                        <a:t>Cloneable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IllegalAccessException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Akses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ke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suatu</a:t>
                      </a:r>
                      <a:r>
                        <a:rPr lang="en-US" baseline="0" dirty="0"/>
                        <a:t> class </a:t>
                      </a:r>
                      <a:r>
                        <a:rPr lang="en-US" baseline="0" dirty="0" err="1"/>
                        <a:t>ditolak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InstantiationException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Menciptakan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objek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     abstract class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atau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dari</a:t>
                      </a:r>
                      <a:r>
                        <a:rPr lang="en-US" baseline="0" dirty="0"/>
                        <a:t> interface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InterruptedException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Thread </a:t>
                      </a:r>
                      <a:r>
                        <a:rPr lang="en-US" dirty="0" err="1"/>
                        <a:t>telah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diinterupsi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oleh</a:t>
                      </a:r>
                      <a:r>
                        <a:rPr lang="en-US" dirty="0"/>
                        <a:t> thread</a:t>
                      </a:r>
                      <a:r>
                        <a:rPr lang="en-US" baseline="0" dirty="0"/>
                        <a:t> lain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NoSuchFieldException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Field yang </a:t>
                      </a:r>
                      <a:r>
                        <a:rPr lang="en-US" dirty="0" err="1"/>
                        <a:t>diminta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ada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NoSuchMethodException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Method() </a:t>
                      </a:r>
                      <a:r>
                        <a:rPr lang="en-US" dirty="0" err="1"/>
                        <a:t>yg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diminta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ada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effectLst/>
              </a:rPr>
              <a:t>Checked Exception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52400" y="609600"/>
          <a:ext cx="8762999" cy="599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Deskripsi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ArithmaticException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Kesalahan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proses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arithmatic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misalnya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pembagian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bilangan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nol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ArrayIndexOutBoundsException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Index </a:t>
                      </a:r>
                      <a:r>
                        <a:rPr lang="en-US" dirty="0" err="1"/>
                        <a:t>arrray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luar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batas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1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ArrayStoreException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Pemberian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nilai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elemen</a:t>
                      </a:r>
                      <a:r>
                        <a:rPr lang="en-US" dirty="0"/>
                        <a:t> array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sesuai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tipenya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1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ClassCastException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Cast yang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sah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1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IllegalArgumentException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Argument Illegal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1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IllegalMonitorStateException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Operasi</a:t>
                      </a:r>
                      <a:r>
                        <a:rPr lang="en-US" dirty="0"/>
                        <a:t> monitor illegal </a:t>
                      </a:r>
                      <a:r>
                        <a:rPr lang="en-US" dirty="0" err="1"/>
                        <a:t>seperti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menunggu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di</a:t>
                      </a:r>
                      <a:r>
                        <a:rPr lang="en-US" baseline="0" dirty="0"/>
                        <a:t> thread yang </a:t>
                      </a:r>
                      <a:r>
                        <a:rPr lang="en-US" baseline="0" dirty="0" err="1"/>
                        <a:t>tidak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terkunci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1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IllegalStateException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Lingkungan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aplikasi</a:t>
                      </a:r>
                      <a:r>
                        <a:rPr lang="en-US" dirty="0"/>
                        <a:t> state</a:t>
                      </a:r>
                      <a:r>
                        <a:rPr lang="en-US" baseline="0" dirty="0"/>
                        <a:t> yang </a:t>
                      </a:r>
                      <a:r>
                        <a:rPr lang="en-US" baseline="0" dirty="0" err="1"/>
                        <a:t>tidak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benar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1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IllegalThreadStateException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Operasi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diminta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kompatibel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state thread </a:t>
                      </a:r>
                      <a:r>
                        <a:rPr lang="en-US" dirty="0" err="1"/>
                        <a:t>saat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itu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381000"/>
          </a:xfrm>
        </p:spPr>
        <p:txBody>
          <a:bodyPr>
            <a:noAutofit/>
          </a:bodyPr>
          <a:lstStyle/>
          <a:p>
            <a:pPr algn="ctr"/>
            <a:r>
              <a:rPr lang="en-US" sz="2400" dirty="0" err="1">
                <a:effectLst/>
              </a:rPr>
              <a:t>Uncheked</a:t>
            </a:r>
            <a:r>
              <a:rPr lang="en-US" sz="2400" dirty="0">
                <a:effectLst/>
              </a:rPr>
              <a:t> Exception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28600" y="838200"/>
          <a:ext cx="8686801" cy="505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0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Deskripsi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IndexOutOfBoundsException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 </a:t>
                      </a:r>
                      <a:r>
                        <a:rPr lang="en-US" dirty="0" err="1"/>
                        <a:t>di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luar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batas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NegativeArraySizeException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Array </a:t>
                      </a:r>
                      <a:r>
                        <a:rPr lang="en-US" dirty="0" err="1"/>
                        <a:t>diciptakan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ukuran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negatif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NullPointerException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Penggunaan</a:t>
                      </a:r>
                      <a:r>
                        <a:rPr lang="en-US" dirty="0"/>
                        <a:t> null yang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sah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NumberFormatException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Konversi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string </a:t>
                      </a:r>
                      <a:r>
                        <a:rPr lang="en-US" dirty="0" err="1"/>
                        <a:t>ke</a:t>
                      </a:r>
                      <a:r>
                        <a:rPr lang="en-US" dirty="0"/>
                        <a:t> format </a:t>
                      </a:r>
                      <a:r>
                        <a:rPr lang="en-US" dirty="0" err="1"/>
                        <a:t>numerik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SecurityException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Melanggar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aturan</a:t>
                      </a:r>
                      <a:r>
                        <a:rPr lang="en-US" dirty="0"/>
                        <a:t>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StringIndexOutOfBounds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 </a:t>
                      </a:r>
                      <a:r>
                        <a:rPr lang="en-US" dirty="0" err="1"/>
                        <a:t>di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luar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batas</a:t>
                      </a:r>
                      <a:r>
                        <a:rPr lang="en-US" dirty="0"/>
                        <a:t>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UnsupportedOperationException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Ditemukan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operasi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didukung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algn="ctr"/>
            <a:r>
              <a:rPr lang="en-US" sz="2400" dirty="0" err="1">
                <a:effectLst/>
              </a:rPr>
              <a:t>Uncheked</a:t>
            </a:r>
            <a:r>
              <a:rPr lang="en-US" sz="2400" dirty="0">
                <a:effectLst/>
              </a:rPr>
              <a:t> Exception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545465"/>
            <a:ext cx="8534400" cy="4461826"/>
          </a:xfrm>
        </p:spPr>
        <p:txBody>
          <a:bodyPr>
            <a:normAutofit/>
          </a:bodyPr>
          <a:lstStyle/>
          <a:p>
            <a:r>
              <a:rPr lang="en-US" sz="3600" dirty="0" err="1"/>
              <a:t>Diperlukan</a:t>
            </a:r>
            <a:r>
              <a:rPr lang="en-US" sz="3600" dirty="0"/>
              <a:t> dua </a:t>
            </a:r>
            <a:r>
              <a:rPr lang="en-US" sz="3600" dirty="0" err="1"/>
              <a:t>langkah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mengantisipasi</a:t>
            </a:r>
            <a:r>
              <a:rPr lang="en-US" sz="3600" dirty="0"/>
              <a:t> exception:</a:t>
            </a:r>
          </a:p>
          <a:p>
            <a:r>
              <a:rPr lang="en-US" sz="3600" dirty="0"/>
              <a:t>1. </a:t>
            </a:r>
            <a:r>
              <a:rPr lang="en-US" sz="3600" dirty="0" err="1"/>
              <a:t>Mendeklarasikan</a:t>
            </a:r>
            <a:r>
              <a:rPr lang="en-US" sz="3600" dirty="0"/>
              <a:t> Exception</a:t>
            </a:r>
          </a:p>
          <a:p>
            <a:r>
              <a:rPr lang="en-US" sz="3600" dirty="0"/>
              <a:t>    </a:t>
            </a:r>
            <a:r>
              <a:rPr lang="en-US" sz="3600" dirty="0" err="1"/>
              <a:t>Melempar</a:t>
            </a:r>
            <a:r>
              <a:rPr lang="en-US" sz="3600" dirty="0"/>
              <a:t> Exception</a:t>
            </a:r>
          </a:p>
          <a:p>
            <a:r>
              <a:rPr lang="en-US" sz="3600" dirty="0"/>
              <a:t>2. </a:t>
            </a:r>
            <a:r>
              <a:rPr lang="en-US" sz="3600" dirty="0" err="1"/>
              <a:t>Menangkap</a:t>
            </a:r>
            <a:r>
              <a:rPr lang="en-US" sz="3600" dirty="0"/>
              <a:t> Exception</a:t>
            </a:r>
          </a:p>
          <a:p>
            <a:pPr marL="109728" indent="0">
              <a:buNone/>
            </a:pPr>
            <a:r>
              <a:rPr lang="en-US" sz="3600" b="1" dirty="0" err="1">
                <a:solidFill>
                  <a:srgbClr val="FF0000"/>
                </a:solidFill>
              </a:rPr>
              <a:t>Dilakukan</a:t>
            </a:r>
            <a:r>
              <a:rPr lang="en-US" sz="3600" b="1" dirty="0">
                <a:solidFill>
                  <a:srgbClr val="FF0000"/>
                </a:solidFill>
              </a:rPr>
              <a:t> di method() di Class-class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>
                <a:effectLst/>
              </a:rPr>
              <a:t>Mangantisipasi</a:t>
            </a:r>
            <a:r>
              <a:rPr lang="en-US" sz="4000" dirty="0">
                <a:effectLst/>
              </a:rPr>
              <a:t> Exception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609600"/>
            <a:ext cx="8991600" cy="5562600"/>
          </a:xfrm>
        </p:spPr>
        <p:txBody>
          <a:bodyPr>
            <a:normAutofit fontScale="92500"/>
          </a:bodyPr>
          <a:lstStyle/>
          <a:p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umum</a:t>
            </a:r>
            <a:r>
              <a:rPr lang="en-US" sz="2400" dirty="0"/>
              <a:t>:</a:t>
            </a:r>
          </a:p>
          <a:p>
            <a:r>
              <a:rPr lang="en-US" sz="1800" b="1" dirty="0"/>
              <a:t>[modifier] </a:t>
            </a:r>
            <a:r>
              <a:rPr lang="en-US" sz="1800" b="1" dirty="0" err="1"/>
              <a:t>returnType</a:t>
            </a:r>
            <a:r>
              <a:rPr lang="en-US" sz="1800" b="1" dirty="0"/>
              <a:t> </a:t>
            </a:r>
            <a:r>
              <a:rPr lang="en-US" sz="1800" b="1" dirty="0" err="1"/>
              <a:t>namaMethod</a:t>
            </a:r>
            <a:r>
              <a:rPr lang="en-US" sz="1800" b="1" dirty="0"/>
              <a:t>() </a:t>
            </a:r>
            <a:r>
              <a:rPr lang="en-US" sz="1800" b="1" dirty="0">
                <a:solidFill>
                  <a:srgbClr val="FF0000"/>
                </a:solidFill>
              </a:rPr>
              <a:t>throws </a:t>
            </a:r>
            <a:r>
              <a:rPr lang="en-US" sz="1800" b="1" dirty="0" err="1">
                <a:solidFill>
                  <a:srgbClr val="FF0000"/>
                </a:solidFill>
              </a:rPr>
              <a:t>ExceptionClass</a:t>
            </a:r>
            <a:r>
              <a:rPr lang="en-US" sz="1800" b="1" dirty="0"/>
              <a:t> {   //</a:t>
            </a:r>
            <a:r>
              <a:rPr lang="en-US" sz="1800" b="1" dirty="0" err="1"/>
              <a:t>deklarasi</a:t>
            </a:r>
            <a:endParaRPr lang="en-US" sz="1800" b="1" dirty="0"/>
          </a:p>
          <a:p>
            <a:r>
              <a:rPr lang="en-US" sz="2400" b="1" dirty="0"/>
              <a:t>     </a:t>
            </a:r>
          </a:p>
          <a:p>
            <a:r>
              <a:rPr lang="en-US" sz="2400" b="1" dirty="0"/>
              <a:t>    //</a:t>
            </a:r>
            <a:r>
              <a:rPr lang="en-US" sz="2400" b="1" dirty="0" err="1"/>
              <a:t>ada</a:t>
            </a:r>
            <a:r>
              <a:rPr lang="en-US" sz="2400" b="1" dirty="0"/>
              <a:t> statement </a:t>
            </a:r>
            <a:r>
              <a:rPr lang="en-US" sz="2400" b="1" dirty="0" err="1"/>
              <a:t>melempar</a:t>
            </a:r>
            <a:r>
              <a:rPr lang="en-US" sz="2400" b="1" dirty="0"/>
              <a:t> exception</a:t>
            </a:r>
          </a:p>
          <a:p>
            <a:r>
              <a:rPr lang="en-US" sz="2400" b="1" dirty="0"/>
              <a:t>     </a:t>
            </a:r>
            <a:r>
              <a:rPr lang="en-US" sz="2400" b="1" dirty="0" err="1"/>
              <a:t>ExceptionClass</a:t>
            </a:r>
            <a:r>
              <a:rPr lang="en-US" sz="2400" b="1" dirty="0"/>
              <a:t> </a:t>
            </a:r>
            <a:r>
              <a:rPr lang="en-US" sz="2400" b="1" dirty="0" err="1"/>
              <a:t>ec</a:t>
            </a:r>
            <a:r>
              <a:rPr lang="en-US" sz="2400" b="1" dirty="0"/>
              <a:t> = new </a:t>
            </a:r>
            <a:r>
              <a:rPr lang="en-US" sz="2400" b="1" dirty="0" err="1"/>
              <a:t>ExceptionClass</a:t>
            </a:r>
            <a:r>
              <a:rPr lang="en-US" sz="2400" b="1" dirty="0"/>
              <a:t>();</a:t>
            </a:r>
          </a:p>
          <a:p>
            <a:r>
              <a:rPr lang="en-US" sz="2400" b="1" dirty="0"/>
              <a:t>     throw </a:t>
            </a:r>
            <a:r>
              <a:rPr lang="en-US" sz="2400" b="1" dirty="0" err="1"/>
              <a:t>ec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}</a:t>
            </a:r>
          </a:p>
          <a:p>
            <a:endParaRPr lang="en-US" sz="1300" b="1" dirty="0"/>
          </a:p>
          <a:p>
            <a:endParaRPr lang="en-US" sz="1300" b="1" dirty="0"/>
          </a:p>
          <a:p>
            <a:endParaRPr lang="en-US" sz="1300" b="1" dirty="0"/>
          </a:p>
          <a:p>
            <a:r>
              <a:rPr lang="en-US" sz="2600" dirty="0"/>
              <a:t>Contoh1:</a:t>
            </a:r>
          </a:p>
          <a:p>
            <a:r>
              <a:rPr lang="en-US" sz="1900" b="1" dirty="0"/>
              <a:t>public abstract </a:t>
            </a:r>
            <a:r>
              <a:rPr lang="en-US" sz="1900" b="1" dirty="0" err="1"/>
              <a:t>beriPinjaman</a:t>
            </a:r>
            <a:r>
              <a:rPr lang="en-US" sz="1900" b="1" dirty="0"/>
              <a:t>(int </a:t>
            </a:r>
            <a:r>
              <a:rPr lang="en-US" sz="1900" b="1" dirty="0" err="1"/>
              <a:t>vduit</a:t>
            </a:r>
            <a:r>
              <a:rPr lang="en-US" sz="1900" b="1" dirty="0"/>
              <a:t>) </a:t>
            </a:r>
            <a:r>
              <a:rPr lang="en-US" sz="1900" b="1" dirty="0">
                <a:solidFill>
                  <a:srgbClr val="FF0000"/>
                </a:solidFill>
              </a:rPr>
              <a:t>throws </a:t>
            </a:r>
            <a:r>
              <a:rPr lang="en-US" sz="1900" b="1" dirty="0" err="1">
                <a:solidFill>
                  <a:srgbClr val="FF0000"/>
                </a:solidFill>
              </a:rPr>
              <a:t>TolakException</a:t>
            </a:r>
            <a:r>
              <a:rPr lang="en-US" sz="1900" b="1" dirty="0"/>
              <a:t>; //</a:t>
            </a:r>
            <a:r>
              <a:rPr lang="en-US" sz="1900" b="1" dirty="0" err="1"/>
              <a:t>deklarasi</a:t>
            </a:r>
            <a:endParaRPr lang="en-US" sz="1900" b="1" dirty="0"/>
          </a:p>
          <a:p>
            <a:endParaRPr lang="en-US" sz="1200" b="1" dirty="0"/>
          </a:p>
          <a:p>
            <a:r>
              <a:rPr lang="en-US" sz="2600" b="1" dirty="0" err="1"/>
              <a:t>ClassNotFoundException</a:t>
            </a:r>
            <a:r>
              <a:rPr lang="en-US" sz="2600" dirty="0"/>
              <a:t> </a:t>
            </a:r>
            <a:r>
              <a:rPr lang="en-US" sz="2600" dirty="0" err="1"/>
              <a:t>adalah</a:t>
            </a:r>
            <a:r>
              <a:rPr lang="en-US" sz="2600" dirty="0"/>
              <a:t> class standard, </a:t>
            </a:r>
            <a:r>
              <a:rPr lang="en-US" sz="2600" dirty="0" err="1"/>
              <a:t>sedangkan</a:t>
            </a:r>
            <a:r>
              <a:rPr lang="en-US" sz="2600" dirty="0"/>
              <a:t> </a:t>
            </a:r>
            <a:r>
              <a:rPr lang="en-US" sz="2600" b="1" dirty="0" err="1"/>
              <a:t>TolakException</a:t>
            </a:r>
            <a:r>
              <a:rPr lang="en-US" sz="2600" dirty="0"/>
              <a:t> </a:t>
            </a:r>
            <a:r>
              <a:rPr lang="en-US" sz="2600" dirty="0" err="1"/>
              <a:t>adalah</a:t>
            </a:r>
            <a:r>
              <a:rPr lang="en-US" sz="2600" dirty="0"/>
              <a:t> class non standard yang </a:t>
            </a:r>
            <a:r>
              <a:rPr lang="en-US" sz="2600" dirty="0" err="1"/>
              <a:t>diturunkan</a:t>
            </a:r>
            <a:r>
              <a:rPr lang="en-US" sz="2600" dirty="0"/>
              <a:t> </a:t>
            </a:r>
            <a:r>
              <a:rPr lang="en-US" sz="2600" dirty="0" err="1"/>
              <a:t>dari</a:t>
            </a:r>
            <a:r>
              <a:rPr lang="en-US" sz="2600" dirty="0"/>
              <a:t> class standard.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11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 err="1">
                <a:effectLst/>
              </a:rPr>
              <a:t>Mendeklarasikan</a:t>
            </a:r>
            <a:r>
              <a:rPr lang="en-US" sz="2800" dirty="0">
                <a:effectLst/>
              </a:rPr>
              <a:t> Exception (di Method())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E86F92-CF8E-7E50-DF3B-FB82D2358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66800"/>
            <a:ext cx="8915400" cy="4940491"/>
          </a:xfrm>
        </p:spPr>
        <p:txBody>
          <a:bodyPr/>
          <a:lstStyle/>
          <a:p>
            <a:r>
              <a:rPr lang="en-US" sz="1600" b="1" dirty="0"/>
              <a:t>public string </a:t>
            </a:r>
            <a:r>
              <a:rPr lang="en-US" sz="1600" b="1" dirty="0" err="1"/>
              <a:t>operasiMatematika</a:t>
            </a:r>
            <a:r>
              <a:rPr lang="en-US" sz="1600" b="1" dirty="0"/>
              <a:t>() </a:t>
            </a:r>
            <a:r>
              <a:rPr lang="en-US" sz="1600" b="1" dirty="0">
                <a:solidFill>
                  <a:srgbClr val="FF0000"/>
                </a:solidFill>
              </a:rPr>
              <a:t>throws </a:t>
            </a:r>
            <a:r>
              <a:rPr lang="en-US" sz="1600" b="1" dirty="0" err="1">
                <a:solidFill>
                  <a:srgbClr val="FF0000"/>
                </a:solidFill>
              </a:rPr>
              <a:t>ClassNotFoundException</a:t>
            </a:r>
            <a:r>
              <a:rPr lang="en-US" sz="1600" b="1" dirty="0"/>
              <a:t>  { // </a:t>
            </a:r>
            <a:r>
              <a:rPr lang="en-US" sz="1600" b="1" dirty="0" err="1"/>
              <a:t>deklarasi</a:t>
            </a:r>
            <a:r>
              <a:rPr lang="en-US" sz="1600" b="1" dirty="0"/>
              <a:t>{</a:t>
            </a:r>
          </a:p>
          <a:p>
            <a:endParaRPr lang="en-US" sz="2800" b="1" dirty="0"/>
          </a:p>
          <a:p>
            <a:r>
              <a:rPr lang="en-US" sz="2800" b="1" dirty="0"/>
              <a:t>     </a:t>
            </a:r>
            <a:r>
              <a:rPr lang="en-US" sz="1800" b="1" dirty="0"/>
              <a:t>//</a:t>
            </a:r>
            <a:r>
              <a:rPr lang="en-US" sz="1800" b="1" dirty="0" err="1"/>
              <a:t>melempar</a:t>
            </a:r>
            <a:endParaRPr lang="en-US" sz="1800" b="1" dirty="0"/>
          </a:p>
          <a:p>
            <a:r>
              <a:rPr lang="en-US" sz="2800" b="1" dirty="0"/>
              <a:t>     </a:t>
            </a:r>
            <a:r>
              <a:rPr lang="en-US" sz="1600" b="1" dirty="0" err="1">
                <a:solidFill>
                  <a:srgbClr val="FF0000"/>
                </a:solidFill>
              </a:rPr>
              <a:t>ClassNotFoundExceptioin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cnfe</a:t>
            </a:r>
            <a:r>
              <a:rPr lang="en-US" sz="1600" b="1" dirty="0">
                <a:solidFill>
                  <a:srgbClr val="FF0000"/>
                </a:solidFill>
              </a:rPr>
              <a:t> = new </a:t>
            </a:r>
            <a:r>
              <a:rPr lang="en-US" sz="1600" b="1" dirty="0" err="1">
                <a:solidFill>
                  <a:srgbClr val="FF0000"/>
                </a:solidFill>
              </a:rPr>
              <a:t>ClassNotFoundException</a:t>
            </a:r>
            <a:r>
              <a:rPr lang="en-US" sz="1600" b="1" dirty="0">
                <a:solidFill>
                  <a:srgbClr val="FF0000"/>
                </a:solidFill>
              </a:rPr>
              <a:t>();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     throw </a:t>
            </a:r>
            <a:r>
              <a:rPr lang="en-US" sz="2800" b="1" dirty="0" err="1">
                <a:solidFill>
                  <a:srgbClr val="FF0000"/>
                </a:solidFill>
              </a:rPr>
              <a:t>cnfe</a:t>
            </a:r>
            <a:r>
              <a:rPr lang="en-US" sz="2800" b="1" dirty="0">
                <a:solidFill>
                  <a:srgbClr val="FF0000"/>
                </a:solidFill>
              </a:rPr>
              <a:t>;</a:t>
            </a:r>
            <a:r>
              <a:rPr lang="en-US" sz="2800" b="1" dirty="0"/>
              <a:t>    </a:t>
            </a:r>
          </a:p>
          <a:p>
            <a:r>
              <a:rPr lang="en-US" sz="2800" b="1" dirty="0"/>
              <a:t>}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A7B0D-A64B-1A10-D238-449C7F85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9BEEB-0B30-8B52-8C0B-473538EB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AA53AC-2B4A-2109-9FFE-83FF5B279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60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Contoh2</a:t>
            </a:r>
          </a:p>
        </p:txBody>
      </p:sp>
    </p:spTree>
    <p:extLst>
      <p:ext uri="{BB962C8B-B14F-4D97-AF65-F5344CB8AC3E}">
        <p14:creationId xmlns:p14="http://schemas.microsoft.com/office/powerpoint/2010/main" val="139300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5804A7-A236-37CE-6E8D-3C18D37D4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81328"/>
            <a:ext cx="8839200" cy="4525963"/>
          </a:xfrm>
        </p:spPr>
        <p:txBody>
          <a:bodyPr/>
          <a:lstStyle/>
          <a:p>
            <a:endParaRPr lang="en-US" sz="2800" dirty="0"/>
          </a:p>
          <a:p>
            <a:r>
              <a:rPr lang="en-US" sz="2000" b="1" dirty="0"/>
              <a:t>public void </a:t>
            </a:r>
            <a:r>
              <a:rPr lang="en-US" sz="2000" b="1" dirty="0" err="1"/>
              <a:t>beriPinjaman</a:t>
            </a:r>
            <a:r>
              <a:rPr lang="en-US" sz="2000" b="1" dirty="0"/>
              <a:t>() </a:t>
            </a:r>
            <a:r>
              <a:rPr lang="en-US" sz="2000" b="1" dirty="0">
                <a:solidFill>
                  <a:srgbClr val="FF0000"/>
                </a:solidFill>
              </a:rPr>
              <a:t>throws </a:t>
            </a:r>
            <a:r>
              <a:rPr lang="en-US" sz="2000" b="1" dirty="0" err="1">
                <a:solidFill>
                  <a:srgbClr val="FF0000"/>
                </a:solidFill>
              </a:rPr>
              <a:t>TolakException</a:t>
            </a:r>
            <a:r>
              <a:rPr lang="en-US" sz="2000" b="1" dirty="0"/>
              <a:t> {  //</a:t>
            </a:r>
            <a:r>
              <a:rPr lang="en-US" sz="2000" b="1" dirty="0" err="1"/>
              <a:t>deklarasi</a:t>
            </a:r>
            <a:endParaRPr lang="en-US" sz="2000" b="1" dirty="0"/>
          </a:p>
          <a:p>
            <a:r>
              <a:rPr lang="en-US" sz="2000" b="1" dirty="0"/>
              <a:t>  </a:t>
            </a:r>
          </a:p>
          <a:p>
            <a:r>
              <a:rPr lang="en-US" sz="2000" b="1" dirty="0"/>
              <a:t>     //</a:t>
            </a:r>
            <a:r>
              <a:rPr lang="en-US" sz="2000" b="1" dirty="0" err="1"/>
              <a:t>ada</a:t>
            </a:r>
            <a:r>
              <a:rPr lang="en-US" sz="2000" b="1" dirty="0"/>
              <a:t> statement </a:t>
            </a:r>
            <a:r>
              <a:rPr lang="en-US" sz="2000" b="1" dirty="0" err="1"/>
              <a:t>melempar</a:t>
            </a:r>
            <a:r>
              <a:rPr lang="en-US" sz="2000" b="1" dirty="0"/>
              <a:t> exception</a:t>
            </a:r>
          </a:p>
          <a:p>
            <a:r>
              <a:rPr lang="en-US" sz="2000" b="1" dirty="0"/>
              <a:t>     </a:t>
            </a:r>
            <a:r>
              <a:rPr lang="en-US" sz="2000" b="1" dirty="0" err="1"/>
              <a:t>TolakException</a:t>
            </a:r>
            <a:r>
              <a:rPr lang="en-US" sz="2000" b="1" dirty="0"/>
              <a:t> </a:t>
            </a:r>
            <a:r>
              <a:rPr lang="en-US" sz="2000" b="1" dirty="0" err="1"/>
              <a:t>tolak</a:t>
            </a:r>
            <a:r>
              <a:rPr lang="en-US" sz="2000" b="1" dirty="0"/>
              <a:t> = new </a:t>
            </a:r>
            <a:r>
              <a:rPr lang="en-US" sz="2000" b="1" dirty="0" err="1"/>
              <a:t>TolakException</a:t>
            </a:r>
            <a:r>
              <a:rPr lang="en-US" sz="2000" b="1" dirty="0"/>
              <a:t>();</a:t>
            </a:r>
          </a:p>
          <a:p>
            <a:r>
              <a:rPr lang="en-US" sz="2800" b="1" dirty="0"/>
              <a:t>    throw </a:t>
            </a:r>
            <a:r>
              <a:rPr lang="en-US" sz="2800" b="1" dirty="0" err="1"/>
              <a:t>tolak</a:t>
            </a:r>
            <a:r>
              <a:rPr lang="en-US" sz="2800" b="1" dirty="0"/>
              <a:t>;</a:t>
            </a:r>
          </a:p>
          <a:p>
            <a:r>
              <a:rPr lang="en-US" sz="2800" b="1" dirty="0"/>
              <a:t>}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CF55A0-3D60-1AC0-50F5-D2D75B21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D2242-8476-F1A8-32AA-E8BE9F18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7B9D8D-DB74-432F-726E-0FCCD595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/>
              <a:t>Contoh3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463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715000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Di </a:t>
            </a:r>
            <a:r>
              <a:rPr lang="en-US" sz="2000" dirty="0" err="1">
                <a:solidFill>
                  <a:srgbClr val="FF0000"/>
                </a:solidFill>
              </a:rPr>
              <a:t>dalam</a:t>
            </a:r>
            <a:r>
              <a:rPr lang="en-US" sz="2000" dirty="0">
                <a:solidFill>
                  <a:srgbClr val="FF0000"/>
                </a:solidFill>
              </a:rPr>
              <a:t> method() yang </a:t>
            </a:r>
            <a:r>
              <a:rPr lang="en-US" sz="2000" dirty="0" err="1">
                <a:solidFill>
                  <a:srgbClr val="FF0000"/>
                </a:solidFill>
              </a:rPr>
              <a:t>telah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dideklarasikan</a:t>
            </a:r>
            <a:r>
              <a:rPr lang="en-US" sz="2000" dirty="0"/>
              <a:t>, </a:t>
            </a:r>
            <a:r>
              <a:rPr lang="en-US" sz="2000" dirty="0" err="1"/>
              <a:t>tepatnya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 </a:t>
            </a:r>
            <a:r>
              <a:rPr lang="en-US" sz="2000" dirty="0" err="1"/>
              <a:t>bawah</a:t>
            </a:r>
            <a:r>
              <a:rPr lang="en-US" sz="2000" dirty="0"/>
              <a:t> </a:t>
            </a:r>
            <a:r>
              <a:rPr lang="en-US" sz="2000" dirty="0" err="1"/>
              <a:t>statemtent</a:t>
            </a:r>
            <a:r>
              <a:rPr lang="en-US" sz="2000" dirty="0"/>
              <a:t> yang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dikendalikan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umum</a:t>
            </a:r>
            <a:r>
              <a:rPr lang="en-US" sz="2000" dirty="0"/>
              <a:t>:</a:t>
            </a:r>
          </a:p>
          <a:p>
            <a:r>
              <a:rPr lang="en-US" sz="2200" b="1" dirty="0" err="1"/>
              <a:t>ExceptionClass</a:t>
            </a:r>
            <a:r>
              <a:rPr lang="en-US" sz="2200" b="1" dirty="0"/>
              <a:t> </a:t>
            </a:r>
            <a:r>
              <a:rPr lang="en-US" sz="2200" b="1" dirty="0" err="1"/>
              <a:t>namaObjek</a:t>
            </a:r>
            <a:r>
              <a:rPr lang="en-US" sz="2200" b="1" dirty="0"/>
              <a:t> = new </a:t>
            </a:r>
            <a:r>
              <a:rPr lang="en-US" sz="2200" b="1" dirty="0" err="1"/>
              <a:t>ExceptionConstructor</a:t>
            </a:r>
            <a:r>
              <a:rPr lang="en-US" sz="2200" b="1" dirty="0"/>
              <a:t>();</a:t>
            </a:r>
          </a:p>
          <a:p>
            <a:r>
              <a:rPr lang="en-US" sz="2200" b="1" dirty="0"/>
              <a:t>throw </a:t>
            </a:r>
            <a:r>
              <a:rPr lang="en-US" sz="2200" b="1" dirty="0" err="1"/>
              <a:t>namaObjek</a:t>
            </a:r>
            <a:r>
              <a:rPr lang="en-US" sz="2200" b="1" dirty="0"/>
              <a:t>;</a:t>
            </a:r>
          </a:p>
          <a:p>
            <a:endParaRPr lang="en-US" sz="1100" dirty="0"/>
          </a:p>
          <a:p>
            <a:r>
              <a:rPr lang="en-US" sz="2000" dirty="0" err="1"/>
              <a:t>Diringkas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:</a:t>
            </a:r>
          </a:p>
          <a:p>
            <a:r>
              <a:rPr lang="en-US" sz="2200" b="1" dirty="0"/>
              <a:t>throw </a:t>
            </a:r>
            <a:r>
              <a:rPr lang="en-US" sz="2200" b="1" dirty="0" err="1"/>
              <a:t>namaObjek</a:t>
            </a:r>
            <a:r>
              <a:rPr lang="en-US" sz="2200" b="1" dirty="0"/>
              <a:t> </a:t>
            </a:r>
            <a:r>
              <a:rPr lang="en-US" sz="2200" b="1" dirty="0" err="1"/>
              <a:t>ExceptionConstructor</a:t>
            </a:r>
            <a:r>
              <a:rPr lang="en-US" sz="2200" b="1" dirty="0"/>
              <a:t>();</a:t>
            </a:r>
          </a:p>
          <a:p>
            <a:endParaRPr lang="en-US" sz="1100" dirty="0"/>
          </a:p>
          <a:p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:</a:t>
            </a:r>
          </a:p>
          <a:p>
            <a:r>
              <a:rPr lang="en-US" sz="2200" b="1" dirty="0"/>
              <a:t>throw new </a:t>
            </a:r>
            <a:r>
              <a:rPr lang="en-US" sz="2200" b="1" dirty="0" err="1"/>
              <a:t>ExceptionConstructor</a:t>
            </a:r>
            <a:r>
              <a:rPr lang="en-US" sz="2200" b="1" dirty="0"/>
              <a:t>();</a:t>
            </a:r>
          </a:p>
          <a:p>
            <a:endParaRPr lang="en-US" sz="1100" dirty="0"/>
          </a:p>
          <a:p>
            <a:r>
              <a:rPr lang="en-US" sz="2000" dirty="0" err="1"/>
              <a:t>Contoh</a:t>
            </a:r>
            <a:r>
              <a:rPr lang="en-US" sz="2000" dirty="0"/>
              <a:t>:</a:t>
            </a:r>
          </a:p>
          <a:p>
            <a:r>
              <a:rPr lang="en-US" sz="2200" b="1" dirty="0" err="1"/>
              <a:t>TolakException</a:t>
            </a:r>
            <a:r>
              <a:rPr lang="en-US" sz="2200" b="1" dirty="0"/>
              <a:t> t = new </a:t>
            </a:r>
            <a:r>
              <a:rPr lang="en-US" sz="2200" b="1" dirty="0" err="1"/>
              <a:t>TolakException</a:t>
            </a:r>
            <a:r>
              <a:rPr lang="en-US" sz="2200" b="1" dirty="0"/>
              <a:t>(“</a:t>
            </a:r>
            <a:r>
              <a:rPr lang="en-US" sz="2200" b="1" dirty="0" err="1"/>
              <a:t>lagi</a:t>
            </a:r>
            <a:r>
              <a:rPr lang="en-US" sz="2200" b="1" dirty="0"/>
              <a:t> </a:t>
            </a:r>
            <a:r>
              <a:rPr lang="en-US" sz="2200" b="1" dirty="0" err="1"/>
              <a:t>pelit</a:t>
            </a:r>
            <a:r>
              <a:rPr lang="en-US" sz="2200" b="1" dirty="0"/>
              <a:t>!”);</a:t>
            </a:r>
          </a:p>
          <a:p>
            <a:r>
              <a:rPr lang="en-US" sz="2200" b="1" dirty="0"/>
              <a:t>throw t;</a:t>
            </a:r>
          </a:p>
          <a:p>
            <a:r>
              <a:rPr lang="en-US" sz="2000" dirty="0" err="1"/>
              <a:t>Diringkas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:</a:t>
            </a:r>
          </a:p>
          <a:p>
            <a:r>
              <a:rPr lang="en-US" sz="2200" b="1" dirty="0"/>
              <a:t>throw new </a:t>
            </a:r>
            <a:r>
              <a:rPr lang="en-US" sz="2200" b="1" dirty="0" err="1"/>
              <a:t>TolakException</a:t>
            </a:r>
            <a:r>
              <a:rPr lang="en-US" sz="2200" b="1" dirty="0"/>
              <a:t>(“</a:t>
            </a:r>
            <a:r>
              <a:rPr lang="en-US" sz="2200" b="1" dirty="0" err="1"/>
              <a:t>lagi</a:t>
            </a:r>
            <a:r>
              <a:rPr lang="en-US" sz="2200" b="1" dirty="0"/>
              <a:t> </a:t>
            </a:r>
            <a:r>
              <a:rPr lang="en-US" sz="2200" b="1" dirty="0" err="1"/>
              <a:t>pelit</a:t>
            </a:r>
            <a:r>
              <a:rPr lang="en-US" sz="2200" b="1" dirty="0"/>
              <a:t>!”);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 err="1">
                <a:effectLst/>
              </a:rPr>
              <a:t>Melempar</a:t>
            </a:r>
            <a:r>
              <a:rPr lang="en-US" sz="2800" dirty="0">
                <a:effectLst/>
              </a:rPr>
              <a:t> Exception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639762"/>
            <a:ext cx="8839200" cy="5608638"/>
          </a:xfrm>
        </p:spPr>
        <p:txBody>
          <a:bodyPr>
            <a:normAutofit fontScale="85000" lnSpcReduction="20000"/>
          </a:bodyPr>
          <a:lstStyle/>
          <a:p>
            <a:r>
              <a:rPr lang="en-US" sz="2200" dirty="0" err="1"/>
              <a:t>Penangkapan</a:t>
            </a:r>
            <a:r>
              <a:rPr lang="en-US" sz="2200" dirty="0"/>
              <a:t> runtime error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cara</a:t>
            </a:r>
            <a:r>
              <a:rPr lang="en-US" sz="2200" dirty="0"/>
              <a:t> </a:t>
            </a:r>
            <a:r>
              <a:rPr lang="en-US" sz="2200" dirty="0" err="1"/>
              <a:t>membuat</a:t>
            </a:r>
            <a:r>
              <a:rPr lang="en-US" sz="2200" dirty="0"/>
              <a:t> </a:t>
            </a:r>
            <a:r>
              <a:rPr lang="en-US" sz="2200" dirty="0" err="1"/>
              <a:t>beberapa</a:t>
            </a:r>
            <a:r>
              <a:rPr lang="en-US" sz="2200" dirty="0"/>
              <a:t> </a:t>
            </a:r>
            <a:r>
              <a:rPr lang="en-US" sz="2200" dirty="0" err="1"/>
              <a:t>blok</a:t>
            </a:r>
            <a:r>
              <a:rPr lang="en-US" sz="2200" dirty="0"/>
              <a:t> di </a:t>
            </a:r>
            <a:r>
              <a:rPr lang="en-US" sz="2200" dirty="0" err="1"/>
              <a:t>dalam</a:t>
            </a:r>
            <a:r>
              <a:rPr lang="en-US" sz="2200" dirty="0"/>
              <a:t> method </a:t>
            </a:r>
            <a:r>
              <a:rPr lang="en-US" sz="2200" dirty="0" err="1"/>
              <a:t>tersendiri</a:t>
            </a:r>
            <a:r>
              <a:rPr lang="en-US" sz="2200" dirty="0"/>
              <a:t> (</a:t>
            </a:r>
            <a:r>
              <a:rPr lang="en-US" sz="2200" dirty="0" err="1"/>
              <a:t>bukan</a:t>
            </a:r>
            <a:r>
              <a:rPr lang="en-US" sz="2200" dirty="0"/>
              <a:t> method yg </a:t>
            </a:r>
            <a:r>
              <a:rPr lang="en-US" sz="2200" dirty="0" err="1"/>
              <a:t>mendeklarasikan</a:t>
            </a:r>
            <a:r>
              <a:rPr lang="en-US" sz="2200" dirty="0"/>
              <a:t> </a:t>
            </a:r>
            <a:r>
              <a:rPr lang="en-US" sz="2200" dirty="0" err="1"/>
              <a:t>jenis</a:t>
            </a:r>
            <a:r>
              <a:rPr lang="en-US" sz="2200" dirty="0"/>
              <a:t> exception) </a:t>
            </a:r>
            <a:r>
              <a:rPr lang="en-US" sz="2200" b="1" dirty="0">
                <a:solidFill>
                  <a:srgbClr val="0070C0"/>
                </a:solidFill>
              </a:rPr>
              <a:t>di method yg </a:t>
            </a:r>
            <a:r>
              <a:rPr lang="en-US" sz="2200" b="1" dirty="0" err="1">
                <a:solidFill>
                  <a:srgbClr val="0070C0"/>
                </a:solidFill>
              </a:rPr>
              <a:t>memanggil</a:t>
            </a:r>
            <a:r>
              <a:rPr lang="en-US" sz="2200" dirty="0"/>
              <a:t> </a:t>
            </a:r>
            <a:r>
              <a:rPr lang="en-US" sz="2200" dirty="0" err="1"/>
              <a:t>misal</a:t>
            </a:r>
            <a:r>
              <a:rPr lang="en-US" sz="2200" dirty="0"/>
              <a:t> method main(), </a:t>
            </a:r>
            <a:r>
              <a:rPr lang="en-US" sz="2200" b="1" dirty="0">
                <a:solidFill>
                  <a:srgbClr val="FF0000"/>
                </a:solidFill>
              </a:rPr>
              <a:t>di Main Class</a:t>
            </a:r>
            <a:r>
              <a:rPr lang="en-US" sz="2200" dirty="0"/>
              <a:t>, yg </a:t>
            </a:r>
            <a:r>
              <a:rPr lang="en-US" sz="2200" dirty="0" err="1"/>
              <a:t>bentuk</a:t>
            </a:r>
            <a:r>
              <a:rPr lang="en-US" sz="2200" dirty="0"/>
              <a:t> </a:t>
            </a:r>
            <a:r>
              <a:rPr lang="en-US" sz="2200" dirty="0" err="1"/>
              <a:t>umumnya</a:t>
            </a:r>
            <a:r>
              <a:rPr lang="en-US" sz="2200" dirty="0"/>
              <a:t> </a:t>
            </a:r>
            <a:r>
              <a:rPr lang="en-US" sz="2200" dirty="0" err="1"/>
              <a:t>sebagai-berikut</a:t>
            </a:r>
            <a:r>
              <a:rPr lang="en-US" sz="2200" dirty="0"/>
              <a:t>:</a:t>
            </a:r>
          </a:p>
          <a:p>
            <a:r>
              <a:rPr lang="en-US" sz="2200" b="1" dirty="0"/>
              <a:t>try {</a:t>
            </a:r>
          </a:p>
          <a:p>
            <a:r>
              <a:rPr lang="en-US" sz="2200" b="1" dirty="0"/>
              <a:t>    //</a:t>
            </a:r>
            <a:r>
              <a:rPr lang="en-US" sz="2200" b="1" dirty="0" err="1"/>
              <a:t>pemanggilan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rgbClr val="FF0000"/>
                </a:solidFill>
              </a:rPr>
              <a:t>method </a:t>
            </a:r>
            <a:r>
              <a:rPr lang="en-US" sz="2200" b="1" dirty="0" err="1">
                <a:solidFill>
                  <a:srgbClr val="FF0000"/>
                </a:solidFill>
              </a:rPr>
              <a:t>telah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dideklarasikan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melempar</a:t>
            </a:r>
            <a:r>
              <a:rPr lang="en-US" sz="2200" b="1" dirty="0">
                <a:solidFill>
                  <a:srgbClr val="FF0000"/>
                </a:solidFill>
              </a:rPr>
              <a:t> exception</a:t>
            </a:r>
            <a:r>
              <a:rPr lang="en-US" sz="2200" b="1" dirty="0"/>
              <a:t> </a:t>
            </a:r>
          </a:p>
          <a:p>
            <a:r>
              <a:rPr lang="en-US" sz="2200" b="1" dirty="0"/>
              <a:t>    //yg </a:t>
            </a:r>
            <a:r>
              <a:rPr lang="en-US" sz="2200" b="1" dirty="0" err="1"/>
              <a:t>mungkin</a:t>
            </a:r>
            <a:r>
              <a:rPr lang="en-US" sz="2200" b="1" dirty="0"/>
              <a:t> </a:t>
            </a:r>
            <a:r>
              <a:rPr lang="en-US" sz="2200" b="1" dirty="0" err="1"/>
              <a:t>terjadi</a:t>
            </a:r>
            <a:r>
              <a:rPr lang="en-US" sz="2200" b="1" dirty="0"/>
              <a:t> exception</a:t>
            </a:r>
          </a:p>
          <a:p>
            <a:r>
              <a:rPr lang="en-US" sz="2200" b="1" dirty="0"/>
              <a:t>    //statement </a:t>
            </a:r>
            <a:r>
              <a:rPr lang="en-US" sz="2200" b="1" dirty="0" err="1"/>
              <a:t>yg</a:t>
            </a:r>
            <a:r>
              <a:rPr lang="en-US" sz="2200" b="1" dirty="0"/>
              <a:t> </a:t>
            </a:r>
            <a:r>
              <a:rPr lang="en-US" sz="2200" b="1" dirty="0" err="1"/>
              <a:t>mungkin</a:t>
            </a:r>
            <a:r>
              <a:rPr lang="en-US" sz="2200" b="1" dirty="0"/>
              <a:t> </a:t>
            </a:r>
            <a:r>
              <a:rPr lang="en-US" sz="2200" b="1" dirty="0" err="1"/>
              <a:t>terjadi</a:t>
            </a:r>
            <a:r>
              <a:rPr lang="en-US" sz="2200" b="1" dirty="0"/>
              <a:t> exception</a:t>
            </a:r>
          </a:p>
          <a:p>
            <a:r>
              <a:rPr lang="en-US" sz="2200" b="1" dirty="0"/>
              <a:t>}</a:t>
            </a:r>
          </a:p>
          <a:p>
            <a:r>
              <a:rPr lang="en-US" sz="2200" b="1" dirty="0"/>
              <a:t>catch (JenisException1 </a:t>
            </a:r>
            <a:r>
              <a:rPr lang="en-US" sz="2200" b="1" dirty="0" err="1">
                <a:solidFill>
                  <a:srgbClr val="FF0000"/>
                </a:solidFill>
              </a:rPr>
              <a:t>namaObjek</a:t>
            </a:r>
            <a:r>
              <a:rPr lang="en-US" sz="2200" b="1" dirty="0"/>
              <a:t>) {  //</a:t>
            </a:r>
            <a:r>
              <a:rPr lang="en-US" sz="2200" b="1" dirty="0" err="1"/>
              <a:t>penangkapan</a:t>
            </a:r>
            <a:r>
              <a:rPr lang="en-US" sz="2200" b="1" dirty="0"/>
              <a:t> </a:t>
            </a:r>
            <a:r>
              <a:rPr lang="en-US" sz="2200" b="1" dirty="0" err="1"/>
              <a:t>objek</a:t>
            </a:r>
            <a:r>
              <a:rPr lang="en-US" sz="2200" b="1" dirty="0"/>
              <a:t> exception</a:t>
            </a:r>
          </a:p>
          <a:p>
            <a:r>
              <a:rPr lang="en-US" sz="2200" b="1" dirty="0"/>
              <a:t>    //</a:t>
            </a:r>
            <a:r>
              <a:rPr lang="en-US" sz="2200" b="1" dirty="0" err="1"/>
              <a:t>penanganan</a:t>
            </a:r>
            <a:r>
              <a:rPr lang="en-US" sz="2200" b="1" dirty="0"/>
              <a:t> </a:t>
            </a:r>
            <a:r>
              <a:rPr lang="en-US" sz="2200" b="1" dirty="0" err="1"/>
              <a:t>bila</a:t>
            </a:r>
            <a:r>
              <a:rPr lang="en-US" sz="2200" b="1" dirty="0"/>
              <a:t> </a:t>
            </a:r>
            <a:r>
              <a:rPr lang="en-US" sz="2200" b="1" dirty="0" err="1"/>
              <a:t>terjadi</a:t>
            </a:r>
            <a:r>
              <a:rPr lang="en-US" sz="2200" b="1" dirty="0"/>
              <a:t> JenisException1</a:t>
            </a:r>
          </a:p>
          <a:p>
            <a:r>
              <a:rPr lang="en-US" sz="2200" b="1" dirty="0"/>
              <a:t>}</a:t>
            </a:r>
          </a:p>
          <a:p>
            <a:r>
              <a:rPr lang="en-US" sz="2200" b="1" dirty="0"/>
              <a:t>catch (JenisException2 </a:t>
            </a:r>
            <a:r>
              <a:rPr lang="en-US" sz="2200" b="1" dirty="0" err="1">
                <a:solidFill>
                  <a:srgbClr val="FF0000"/>
                </a:solidFill>
              </a:rPr>
              <a:t>namaObjek</a:t>
            </a:r>
            <a:r>
              <a:rPr lang="en-US" sz="2200" b="1" dirty="0"/>
              <a:t>) { //</a:t>
            </a:r>
            <a:r>
              <a:rPr lang="en-US" sz="2200" b="1" dirty="0" err="1"/>
              <a:t>penangkapan</a:t>
            </a:r>
            <a:r>
              <a:rPr lang="en-US" sz="2200" b="1" dirty="0"/>
              <a:t> </a:t>
            </a:r>
            <a:r>
              <a:rPr lang="en-US" sz="2200" b="1" dirty="0" err="1"/>
              <a:t>objek</a:t>
            </a:r>
            <a:r>
              <a:rPr lang="en-US" sz="2200" b="1" dirty="0"/>
              <a:t> exception</a:t>
            </a:r>
          </a:p>
          <a:p>
            <a:r>
              <a:rPr lang="en-US" sz="2200" b="1" dirty="0"/>
              <a:t>    //</a:t>
            </a:r>
            <a:r>
              <a:rPr lang="en-US" sz="2200" b="1" dirty="0" err="1"/>
              <a:t>penanganan</a:t>
            </a:r>
            <a:r>
              <a:rPr lang="en-US" sz="2200" b="1" dirty="0"/>
              <a:t> </a:t>
            </a:r>
            <a:r>
              <a:rPr lang="en-US" sz="2200" b="1" dirty="0" err="1"/>
              <a:t>bila</a:t>
            </a:r>
            <a:r>
              <a:rPr lang="en-US" sz="2200" b="1" dirty="0"/>
              <a:t> </a:t>
            </a:r>
            <a:r>
              <a:rPr lang="en-US" sz="2200" b="1" dirty="0" err="1"/>
              <a:t>terjadi</a:t>
            </a:r>
            <a:r>
              <a:rPr lang="en-US" sz="2200" b="1" dirty="0"/>
              <a:t> JenisException2</a:t>
            </a:r>
          </a:p>
          <a:p>
            <a:r>
              <a:rPr lang="en-US" sz="2200" b="1" dirty="0"/>
              <a:t>}</a:t>
            </a:r>
          </a:p>
          <a:p>
            <a:r>
              <a:rPr lang="en-US" sz="2200" b="1" dirty="0"/>
              <a:t>finally {</a:t>
            </a:r>
          </a:p>
          <a:p>
            <a:r>
              <a:rPr lang="en-US" sz="2200" b="1" dirty="0"/>
              <a:t>    //statements </a:t>
            </a:r>
            <a:r>
              <a:rPr lang="en-US" sz="2200" b="1" dirty="0" err="1"/>
              <a:t>yg</a:t>
            </a:r>
            <a:r>
              <a:rPr lang="en-US" sz="2200" b="1" dirty="0"/>
              <a:t> </a:t>
            </a:r>
            <a:r>
              <a:rPr lang="en-US" sz="2200" b="1" dirty="0" err="1"/>
              <a:t>wajib</a:t>
            </a:r>
            <a:r>
              <a:rPr lang="en-US" sz="2200" b="1" dirty="0"/>
              <a:t> </a:t>
            </a:r>
            <a:r>
              <a:rPr lang="en-US" sz="2200" b="1" dirty="0" err="1"/>
              <a:t>dieksekusi</a:t>
            </a:r>
            <a:r>
              <a:rPr lang="en-US" sz="2200" b="1" dirty="0"/>
              <a:t> </a:t>
            </a:r>
          </a:p>
          <a:p>
            <a:r>
              <a:rPr lang="en-US" sz="2200" b="1" dirty="0"/>
              <a:t>}</a:t>
            </a:r>
          </a:p>
          <a:p>
            <a:r>
              <a:rPr lang="en-US" sz="2200" dirty="0"/>
              <a:t>Blok di </a:t>
            </a:r>
            <a:r>
              <a:rPr lang="en-US" sz="2200" dirty="0" err="1"/>
              <a:t>atas</a:t>
            </a:r>
            <a:r>
              <a:rPr lang="en-US" sz="2200" dirty="0"/>
              <a:t> </a:t>
            </a:r>
            <a:r>
              <a:rPr lang="en-US" sz="2200" dirty="0" err="1"/>
              <a:t>menangkap</a:t>
            </a:r>
            <a:r>
              <a:rPr lang="en-US" sz="2200" dirty="0"/>
              <a:t> </a:t>
            </a:r>
            <a:r>
              <a:rPr lang="en-US" sz="2200" dirty="0" err="1"/>
              <a:t>objek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salah-satu</a:t>
            </a:r>
            <a:r>
              <a:rPr lang="en-US" sz="2200" dirty="0"/>
              <a:t> class Exception </a:t>
            </a:r>
            <a:r>
              <a:rPr lang="en-US" sz="2200" dirty="0" err="1"/>
              <a:t>yg</a:t>
            </a:r>
            <a:r>
              <a:rPr lang="en-US" sz="2200" dirty="0"/>
              <a:t> </a:t>
            </a:r>
            <a:r>
              <a:rPr lang="en-US" sz="2200" dirty="0" err="1"/>
              <a:t>dilempar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throw/throws </a:t>
            </a:r>
            <a:r>
              <a:rPr lang="en-US" sz="2200" dirty="0" err="1"/>
              <a:t>dan</a:t>
            </a:r>
            <a:r>
              <a:rPr lang="en-US" sz="2200" dirty="0"/>
              <a:t>/</a:t>
            </a:r>
            <a:r>
              <a:rPr lang="en-US" sz="2200" dirty="0" err="1"/>
              <a:t>atau</a:t>
            </a:r>
            <a:r>
              <a:rPr lang="en-US" sz="2200" dirty="0"/>
              <a:t> </a:t>
            </a:r>
            <a:r>
              <a:rPr lang="en-US" sz="2200" dirty="0" err="1"/>
              <a:t>blok</a:t>
            </a:r>
            <a:r>
              <a:rPr lang="en-US" sz="2200" dirty="0"/>
              <a:t> try. </a:t>
            </a:r>
          </a:p>
          <a:p>
            <a:pPr>
              <a:buNone/>
            </a:pPr>
            <a:endParaRPr lang="en-US" sz="22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72628"/>
            <a:ext cx="8229600" cy="487362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Menangkap</a:t>
            </a:r>
            <a:r>
              <a:rPr lang="en-US" sz="2800" dirty="0">
                <a:effectLst/>
              </a:rPr>
              <a:t> Exception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092891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4000" dirty="0" err="1"/>
              <a:t>Urutan</a:t>
            </a:r>
            <a:r>
              <a:rPr lang="en-US" sz="4000" dirty="0"/>
              <a:t> </a:t>
            </a:r>
            <a:r>
              <a:rPr lang="en-US" sz="4000" dirty="0" err="1"/>
              <a:t>jenis</a:t>
            </a:r>
            <a:r>
              <a:rPr lang="en-US" sz="4000" dirty="0"/>
              <a:t> Exception </a:t>
            </a:r>
            <a:r>
              <a:rPr lang="en-US" sz="4000" dirty="0" err="1"/>
              <a:t>mana</a:t>
            </a:r>
            <a:r>
              <a:rPr lang="en-US" sz="4000" dirty="0"/>
              <a:t> </a:t>
            </a:r>
            <a:r>
              <a:rPr lang="en-US" sz="4000" dirty="0" err="1"/>
              <a:t>yg</a:t>
            </a:r>
            <a:r>
              <a:rPr lang="en-US" sz="4000" dirty="0"/>
              <a:t> </a:t>
            </a:r>
            <a:r>
              <a:rPr lang="en-US" sz="4000" dirty="0" err="1"/>
              <a:t>wajib</a:t>
            </a:r>
            <a:r>
              <a:rPr lang="en-US" sz="4000" dirty="0"/>
              <a:t> </a:t>
            </a:r>
            <a:r>
              <a:rPr lang="en-US" sz="4000" dirty="0" err="1"/>
              <a:t>didahulukan</a:t>
            </a:r>
            <a:r>
              <a:rPr lang="en-US" sz="4000" dirty="0"/>
              <a:t> </a:t>
            </a:r>
            <a:r>
              <a:rPr lang="en-US" sz="4000" dirty="0" err="1"/>
              <a:t>dalam</a:t>
            </a:r>
            <a:r>
              <a:rPr lang="en-US" sz="4000" dirty="0"/>
              <a:t> </a:t>
            </a:r>
            <a:r>
              <a:rPr lang="en-US" sz="4000" dirty="0" err="1"/>
              <a:t>blok</a:t>
            </a:r>
            <a:r>
              <a:rPr lang="en-US" sz="4000" dirty="0"/>
              <a:t> catch </a:t>
            </a:r>
            <a:r>
              <a:rPr lang="en-US" sz="4000" dirty="0" err="1"/>
              <a:t>yaitu</a:t>
            </a:r>
            <a:r>
              <a:rPr lang="en-US" sz="4000" dirty="0"/>
              <a:t> </a:t>
            </a:r>
            <a:r>
              <a:rPr lang="en-US" sz="4000" dirty="0" err="1"/>
              <a:t>mulai</a:t>
            </a:r>
            <a:r>
              <a:rPr lang="en-US" sz="4000" dirty="0"/>
              <a:t> </a:t>
            </a:r>
            <a:r>
              <a:rPr lang="en-US" sz="4000" dirty="0" err="1"/>
              <a:t>dari</a:t>
            </a:r>
            <a:r>
              <a:rPr lang="en-US" sz="4000" dirty="0"/>
              <a:t> Exception yang </a:t>
            </a:r>
            <a:r>
              <a:rPr lang="en-US" sz="4000" b="1" dirty="0">
                <a:solidFill>
                  <a:srgbClr val="FF0000"/>
                </a:solidFill>
              </a:rPr>
              <a:t>paling </a:t>
            </a:r>
            <a:r>
              <a:rPr lang="en-US" sz="4000" b="1" dirty="0" err="1">
                <a:solidFill>
                  <a:srgbClr val="FF0000"/>
                </a:solidFill>
              </a:rPr>
              <a:t>khusus</a:t>
            </a:r>
            <a:r>
              <a:rPr lang="en-US" sz="4000" dirty="0"/>
              <a:t> </a:t>
            </a:r>
            <a:r>
              <a:rPr lang="en-US" sz="4000" dirty="0" err="1"/>
              <a:t>diletakkan</a:t>
            </a:r>
            <a:r>
              <a:rPr lang="en-US" sz="4000" dirty="0"/>
              <a:t> </a:t>
            </a:r>
            <a:r>
              <a:rPr lang="en-US" sz="4000" dirty="0" err="1"/>
              <a:t>pada</a:t>
            </a:r>
            <a:r>
              <a:rPr lang="en-US" sz="4000" dirty="0"/>
              <a:t> </a:t>
            </a:r>
            <a:r>
              <a:rPr lang="en-US" sz="4000" dirty="0" err="1"/>
              <a:t>blok</a:t>
            </a:r>
            <a:r>
              <a:rPr lang="en-US" sz="4000" dirty="0"/>
              <a:t> catch </a:t>
            </a:r>
            <a:r>
              <a:rPr lang="en-US" sz="4000" b="1" dirty="0"/>
              <a:t>paling </a:t>
            </a:r>
            <a:r>
              <a:rPr lang="en-US" sz="4000" b="1" dirty="0" err="1"/>
              <a:t>atas</a:t>
            </a:r>
            <a:r>
              <a:rPr lang="en-US" sz="4000" dirty="0"/>
              <a:t> </a:t>
            </a:r>
            <a:r>
              <a:rPr lang="en-US" sz="4000" dirty="0" err="1"/>
              <a:t>dan</a:t>
            </a:r>
            <a:r>
              <a:rPr lang="en-US" sz="4000" dirty="0"/>
              <a:t> </a:t>
            </a:r>
            <a:r>
              <a:rPr lang="en-US" sz="4000" dirty="0" err="1"/>
              <a:t>seterusnya</a:t>
            </a:r>
            <a:r>
              <a:rPr lang="en-US" sz="4000" dirty="0"/>
              <a:t> Exception yang </a:t>
            </a:r>
            <a:r>
              <a:rPr lang="en-US" sz="4000" b="1" dirty="0">
                <a:solidFill>
                  <a:srgbClr val="FF0000"/>
                </a:solidFill>
              </a:rPr>
              <a:t>paling </a:t>
            </a:r>
            <a:r>
              <a:rPr lang="en-US" sz="4000" b="1" dirty="0" err="1">
                <a:solidFill>
                  <a:srgbClr val="FF0000"/>
                </a:solidFill>
              </a:rPr>
              <a:t>umum</a:t>
            </a:r>
            <a:r>
              <a:rPr lang="en-US" sz="4000" dirty="0"/>
              <a:t> </a:t>
            </a:r>
            <a:r>
              <a:rPr lang="en-US" sz="4000" dirty="0" err="1"/>
              <a:t>diletakkan</a:t>
            </a:r>
            <a:r>
              <a:rPr lang="en-US" sz="4000" dirty="0"/>
              <a:t> </a:t>
            </a:r>
            <a:r>
              <a:rPr lang="en-US" sz="4000" dirty="0" err="1"/>
              <a:t>pada</a:t>
            </a:r>
            <a:r>
              <a:rPr lang="en-US" sz="4000" dirty="0"/>
              <a:t> </a:t>
            </a:r>
            <a:r>
              <a:rPr lang="en-US" sz="4000" dirty="0" err="1"/>
              <a:t>blok</a:t>
            </a:r>
            <a:r>
              <a:rPr lang="en-US" sz="4000" dirty="0"/>
              <a:t> catch </a:t>
            </a:r>
            <a:r>
              <a:rPr lang="en-US" sz="4000" b="1" dirty="0"/>
              <a:t>paling </a:t>
            </a:r>
            <a:r>
              <a:rPr lang="en-US" sz="4000" b="1" dirty="0" err="1"/>
              <a:t>bawah</a:t>
            </a:r>
            <a:r>
              <a:rPr lang="en-US" sz="4000" dirty="0"/>
              <a:t>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4000" dirty="0" err="1"/>
              <a:t>Ada</a:t>
            </a:r>
            <a:r>
              <a:rPr lang="en-US" sz="4000" dirty="0"/>
              <a:t> </a:t>
            </a:r>
            <a:r>
              <a:rPr lang="en-US" sz="4000" dirty="0" err="1"/>
              <a:t>tiga</a:t>
            </a:r>
            <a:r>
              <a:rPr lang="en-US" sz="4000" dirty="0"/>
              <a:t> </a:t>
            </a:r>
            <a:r>
              <a:rPr lang="en-US" sz="4000" dirty="0" err="1"/>
              <a:t>skenario</a:t>
            </a:r>
            <a:r>
              <a:rPr lang="en-US" sz="4000" dirty="0"/>
              <a:t> exception:</a:t>
            </a:r>
          </a:p>
          <a:p>
            <a:pPr>
              <a:buNone/>
            </a:pPr>
            <a:r>
              <a:rPr lang="en-US" sz="4000" dirty="0"/>
              <a:t>1. </a:t>
            </a:r>
            <a:r>
              <a:rPr lang="en-US" sz="4000" dirty="0" err="1"/>
              <a:t>Jika</a:t>
            </a:r>
            <a:r>
              <a:rPr lang="en-US" sz="4000" dirty="0"/>
              <a:t> </a:t>
            </a:r>
            <a:r>
              <a:rPr lang="en-US" sz="4000" b="1" dirty="0" err="1"/>
              <a:t>tidak</a:t>
            </a:r>
            <a:r>
              <a:rPr lang="en-US" sz="4000" b="1" dirty="0"/>
              <a:t> </a:t>
            </a:r>
            <a:r>
              <a:rPr lang="en-US" sz="4000" b="1" dirty="0" err="1"/>
              <a:t>terjadi</a:t>
            </a:r>
            <a:r>
              <a:rPr lang="en-US" sz="4000" dirty="0"/>
              <a:t> exception</a:t>
            </a:r>
          </a:p>
          <a:p>
            <a:pPr>
              <a:buNone/>
            </a:pPr>
            <a:r>
              <a:rPr lang="en-US" sz="4000" dirty="0"/>
              <a:t>    (</a:t>
            </a:r>
            <a:r>
              <a:rPr lang="en-US" sz="4000" dirty="0" err="1"/>
              <a:t>tidak</a:t>
            </a:r>
            <a:r>
              <a:rPr lang="en-US" sz="4000" dirty="0"/>
              <a:t> </a:t>
            </a:r>
            <a:r>
              <a:rPr lang="en-US" sz="4000" dirty="0" err="1"/>
              <a:t>ada</a:t>
            </a:r>
            <a:r>
              <a:rPr lang="en-US" sz="4000" dirty="0"/>
              <a:t> </a:t>
            </a:r>
            <a:r>
              <a:rPr lang="en-US" sz="4000" dirty="0" err="1"/>
              <a:t>kode</a:t>
            </a:r>
            <a:r>
              <a:rPr lang="en-US" sz="4000" dirty="0"/>
              <a:t> </a:t>
            </a:r>
            <a:r>
              <a:rPr lang="en-US" sz="4000" dirty="0" err="1"/>
              <a:t>dalam</a:t>
            </a:r>
            <a:r>
              <a:rPr lang="en-US" sz="4000" dirty="0"/>
              <a:t> </a:t>
            </a:r>
            <a:r>
              <a:rPr lang="en-US" sz="4000" dirty="0" err="1"/>
              <a:t>blok</a:t>
            </a:r>
            <a:r>
              <a:rPr lang="en-US" sz="4000" dirty="0"/>
              <a:t> catch yang </a:t>
            </a:r>
            <a:r>
              <a:rPr lang="en-US" sz="4000" dirty="0" err="1"/>
              <a:t>dieksekusi</a:t>
            </a:r>
            <a:r>
              <a:rPr lang="en-US" sz="4000" dirty="0"/>
              <a:t>).</a:t>
            </a:r>
          </a:p>
          <a:p>
            <a:pPr>
              <a:buNone/>
            </a:pPr>
            <a:r>
              <a:rPr lang="en-US" sz="4000" dirty="0"/>
              <a:t>2. </a:t>
            </a:r>
            <a:r>
              <a:rPr lang="en-US" sz="4000" dirty="0" err="1"/>
              <a:t>Jika</a:t>
            </a:r>
            <a:r>
              <a:rPr lang="en-US" sz="4000" dirty="0"/>
              <a:t> exception </a:t>
            </a:r>
            <a:r>
              <a:rPr lang="en-US" sz="4000" b="1" dirty="0" err="1"/>
              <a:t>terjadi</a:t>
            </a:r>
            <a:r>
              <a:rPr lang="en-US" sz="4000" dirty="0"/>
              <a:t> </a:t>
            </a:r>
            <a:r>
              <a:rPr lang="en-US" sz="4000" dirty="0" err="1"/>
              <a:t>pada</a:t>
            </a:r>
            <a:r>
              <a:rPr lang="en-US" sz="4000" dirty="0"/>
              <a:t> </a:t>
            </a:r>
            <a:r>
              <a:rPr lang="en-US" sz="4000" dirty="0" err="1"/>
              <a:t>blok</a:t>
            </a:r>
            <a:r>
              <a:rPr lang="en-US" sz="4000" dirty="0"/>
              <a:t> method() </a:t>
            </a:r>
            <a:r>
              <a:rPr lang="en-US" sz="4000" dirty="0" err="1"/>
              <a:t>tunggal</a:t>
            </a:r>
            <a:r>
              <a:rPr lang="en-US" sz="4000" dirty="0"/>
              <a:t>     </a:t>
            </a:r>
          </a:p>
          <a:p>
            <a:pPr>
              <a:buNone/>
            </a:pPr>
            <a:r>
              <a:rPr lang="en-US" sz="4000" dirty="0"/>
              <a:t>    (</a:t>
            </a:r>
            <a:r>
              <a:rPr lang="en-US" sz="4000" dirty="0" err="1"/>
              <a:t>salah-satu</a:t>
            </a:r>
            <a:r>
              <a:rPr lang="en-US" sz="4000" dirty="0"/>
              <a:t> </a:t>
            </a:r>
            <a:r>
              <a:rPr lang="en-US" sz="4000" dirty="0" err="1"/>
              <a:t>blok</a:t>
            </a:r>
            <a:r>
              <a:rPr lang="en-US" sz="4000" dirty="0"/>
              <a:t> catch </a:t>
            </a:r>
            <a:r>
              <a:rPr lang="en-US" sz="4000" dirty="0" err="1"/>
              <a:t>dieksekusi</a:t>
            </a:r>
            <a:r>
              <a:rPr lang="en-US" sz="4000" dirty="0"/>
              <a:t>).</a:t>
            </a:r>
          </a:p>
          <a:p>
            <a:pPr>
              <a:buNone/>
            </a:pPr>
            <a:r>
              <a:rPr lang="en-US" sz="4000" dirty="0"/>
              <a:t>3. </a:t>
            </a:r>
            <a:r>
              <a:rPr lang="en-US" sz="4000" dirty="0" err="1"/>
              <a:t>Jika</a:t>
            </a:r>
            <a:r>
              <a:rPr lang="en-US" sz="4000" dirty="0"/>
              <a:t> </a:t>
            </a:r>
            <a:r>
              <a:rPr lang="en-US" sz="4000" b="1" dirty="0" err="1"/>
              <a:t>terjadi</a:t>
            </a:r>
            <a:r>
              <a:rPr lang="en-US" sz="4000" dirty="0"/>
              <a:t> exception </a:t>
            </a:r>
            <a:r>
              <a:rPr lang="en-US" sz="4000" dirty="0" err="1"/>
              <a:t>pada</a:t>
            </a:r>
            <a:r>
              <a:rPr lang="en-US" sz="4000" dirty="0"/>
              <a:t> </a:t>
            </a:r>
            <a:r>
              <a:rPr lang="en-US" sz="4000" dirty="0" err="1"/>
              <a:t>blok</a:t>
            </a:r>
            <a:r>
              <a:rPr lang="en-US" sz="4000" dirty="0"/>
              <a:t> </a:t>
            </a:r>
            <a:r>
              <a:rPr lang="en-US" sz="4000" dirty="0" err="1"/>
              <a:t>bersarang</a:t>
            </a:r>
            <a:r>
              <a:rPr lang="en-US" sz="4000" dirty="0"/>
              <a:t>.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4000" dirty="0" err="1"/>
              <a:t>Pada</a:t>
            </a:r>
            <a:r>
              <a:rPr lang="en-US" sz="4000" dirty="0"/>
              <a:t> </a:t>
            </a:r>
            <a:r>
              <a:rPr lang="en-US" sz="4000" dirty="0" err="1"/>
              <a:t>semua</a:t>
            </a:r>
            <a:r>
              <a:rPr lang="en-US" sz="4000" dirty="0"/>
              <a:t> </a:t>
            </a:r>
            <a:r>
              <a:rPr lang="en-US" sz="4000" dirty="0" err="1"/>
              <a:t>skenario</a:t>
            </a:r>
            <a:r>
              <a:rPr lang="en-US" sz="4000" dirty="0"/>
              <a:t>, </a:t>
            </a:r>
            <a:r>
              <a:rPr lang="en-US" sz="4000" dirty="0" err="1"/>
              <a:t>blok</a:t>
            </a:r>
            <a:r>
              <a:rPr lang="en-US" sz="4000" dirty="0"/>
              <a:t> finally </a:t>
            </a:r>
            <a:r>
              <a:rPr lang="en-US" sz="4000" dirty="0" err="1"/>
              <a:t>tetap</a:t>
            </a:r>
            <a:r>
              <a:rPr lang="en-US" sz="4000" dirty="0"/>
              <a:t> </a:t>
            </a:r>
            <a:r>
              <a:rPr lang="en-US" sz="4000" dirty="0" err="1"/>
              <a:t>wajib</a:t>
            </a:r>
            <a:r>
              <a:rPr lang="en-US" sz="4000" dirty="0"/>
              <a:t> </a:t>
            </a:r>
            <a:r>
              <a:rPr lang="en-US" sz="4000" dirty="0" err="1"/>
              <a:t>dieksekusi</a:t>
            </a:r>
            <a:r>
              <a:rPr lang="en-US" sz="40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err="1">
                <a:effectLst/>
              </a:rPr>
              <a:t>Mekanisme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Mengantisipasi</a:t>
            </a:r>
            <a:r>
              <a:rPr lang="en-US" sz="3200" dirty="0">
                <a:effectLst/>
              </a:rPr>
              <a:t> Exception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641350"/>
          </a:xfrm>
        </p:spPr>
        <p:txBody>
          <a:bodyPr/>
          <a:lstStyle/>
          <a:p>
            <a:pPr algn="ctr"/>
            <a:r>
              <a:rPr lang="en-US" sz="2800" dirty="0">
                <a:effectLst/>
              </a:rPr>
              <a:t>Exception </a:t>
            </a:r>
            <a:r>
              <a:rPr lang="en-US" sz="2800" dirty="0" err="1">
                <a:effectLst/>
              </a:rPr>
              <a:t>pada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blok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bersarang</a:t>
            </a:r>
            <a:endParaRPr lang="en-US" sz="2800" dirty="0">
              <a:effectLst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>
          <a:xfrm>
            <a:off x="152400" y="1219200"/>
            <a:ext cx="4419600" cy="5334000"/>
          </a:xfrm>
        </p:spPr>
        <p:txBody>
          <a:bodyPr>
            <a:normAutofit/>
          </a:bodyPr>
          <a:lstStyle/>
          <a:p>
            <a:r>
              <a:rPr lang="en-US" sz="2200" dirty="0" err="1"/>
              <a:t>pertama</a:t>
            </a:r>
            <a:r>
              <a:rPr lang="en-US" sz="2200" dirty="0"/>
              <a:t>() {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…</a:t>
            </a:r>
          </a:p>
          <a:p>
            <a:r>
              <a:rPr lang="en-US" sz="2200" dirty="0"/>
              <a:t>    try {</a:t>
            </a:r>
          </a:p>
          <a:p>
            <a:r>
              <a:rPr lang="en-US" sz="2200" dirty="0"/>
              <a:t>        …</a:t>
            </a:r>
          </a:p>
          <a:p>
            <a:r>
              <a:rPr lang="en-US" sz="2200" dirty="0"/>
              <a:t>        </a:t>
            </a:r>
            <a:r>
              <a:rPr lang="en-US" sz="1600" dirty="0"/>
              <a:t>//</a:t>
            </a:r>
            <a:r>
              <a:rPr lang="en-US" sz="1600" dirty="0" err="1"/>
              <a:t>memanggil</a:t>
            </a:r>
            <a:r>
              <a:rPr lang="en-US" sz="1600" dirty="0"/>
              <a:t> method </a:t>
            </a:r>
            <a:r>
              <a:rPr lang="en-US" sz="1600" dirty="0" err="1"/>
              <a:t>kedua</a:t>
            </a:r>
            <a:r>
              <a:rPr lang="en-US" sz="1600" dirty="0"/>
              <a:t>()</a:t>
            </a:r>
          </a:p>
          <a:p>
            <a:r>
              <a:rPr lang="en-US" sz="2200" dirty="0"/>
              <a:t>    }</a:t>
            </a:r>
          </a:p>
          <a:p>
            <a:r>
              <a:rPr lang="en-US" sz="2200" dirty="0"/>
              <a:t>    catch(Exception1 obj1) {</a:t>
            </a:r>
          </a:p>
          <a:p>
            <a:r>
              <a:rPr lang="en-US" sz="2200" dirty="0"/>
              <a:t>       //</a:t>
            </a:r>
            <a:r>
              <a:rPr lang="en-US" sz="2200" dirty="0" err="1"/>
              <a:t>proses</a:t>
            </a:r>
            <a:r>
              <a:rPr lang="en-US" sz="2200" dirty="0"/>
              <a:t> </a:t>
            </a:r>
            <a:r>
              <a:rPr lang="en-US" sz="2200" dirty="0" err="1"/>
              <a:t>thd</a:t>
            </a:r>
            <a:r>
              <a:rPr lang="en-US" sz="2200" dirty="0"/>
              <a:t> objek1;</a:t>
            </a:r>
          </a:p>
          <a:p>
            <a:r>
              <a:rPr lang="en-US" sz="2200" dirty="0"/>
              <a:t>    } </a:t>
            </a:r>
          </a:p>
          <a:p>
            <a:r>
              <a:rPr lang="en-US" sz="2200" dirty="0"/>
              <a:t>    …</a:t>
            </a:r>
          </a:p>
          <a:p>
            <a:r>
              <a:rPr lang="en-US" sz="2200" dirty="0"/>
              <a:t>}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645025" y="1219200"/>
            <a:ext cx="4346575" cy="5334000"/>
          </a:xfrm>
        </p:spPr>
        <p:txBody>
          <a:bodyPr>
            <a:normAutofit/>
          </a:bodyPr>
          <a:lstStyle/>
          <a:p>
            <a:r>
              <a:rPr lang="en-US" sz="2200" dirty="0" err="1"/>
              <a:t>kedua</a:t>
            </a:r>
            <a:r>
              <a:rPr lang="en-US" sz="2200" dirty="0"/>
              <a:t>() {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…</a:t>
            </a:r>
          </a:p>
          <a:p>
            <a:r>
              <a:rPr lang="en-US" sz="2200" dirty="0"/>
              <a:t>    try {</a:t>
            </a:r>
          </a:p>
          <a:p>
            <a:r>
              <a:rPr lang="en-US" sz="2200" dirty="0"/>
              <a:t>        …</a:t>
            </a:r>
          </a:p>
          <a:p>
            <a:r>
              <a:rPr lang="en-US" sz="2200" dirty="0"/>
              <a:t>    }</a:t>
            </a:r>
          </a:p>
          <a:p>
            <a:r>
              <a:rPr lang="en-US" sz="2200" dirty="0"/>
              <a:t>    catch(Exception2 obj2) {</a:t>
            </a:r>
          </a:p>
          <a:p>
            <a:r>
              <a:rPr lang="en-US" sz="2200" dirty="0"/>
              <a:t>       //</a:t>
            </a:r>
            <a:r>
              <a:rPr lang="en-US" sz="2200" dirty="0" err="1"/>
              <a:t>proses</a:t>
            </a:r>
            <a:r>
              <a:rPr lang="en-US" sz="2200" dirty="0"/>
              <a:t> </a:t>
            </a:r>
            <a:r>
              <a:rPr lang="en-US" sz="2200" dirty="0" err="1"/>
              <a:t>thd</a:t>
            </a:r>
            <a:r>
              <a:rPr lang="en-US" sz="2200" dirty="0"/>
              <a:t> objek2;</a:t>
            </a:r>
          </a:p>
          <a:p>
            <a:r>
              <a:rPr lang="en-US" sz="2200" dirty="0"/>
              <a:t>    } </a:t>
            </a:r>
          </a:p>
          <a:p>
            <a:r>
              <a:rPr lang="en-US" sz="2200" dirty="0"/>
              <a:t>    …</a:t>
            </a:r>
          </a:p>
          <a:p>
            <a:r>
              <a:rPr lang="en-US" sz="2200" dirty="0"/>
              <a:t>}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rot="16200000" flipV="1">
            <a:off x="4000500" y="3390900"/>
            <a:ext cx="12954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 flipH="1" flipV="1">
            <a:off x="3962400" y="1752600"/>
            <a:ext cx="13716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559491"/>
          </a:xfrm>
        </p:spPr>
        <p:txBody>
          <a:bodyPr>
            <a:normAutofit/>
          </a:bodyPr>
          <a:lstStyle/>
          <a:p>
            <a:r>
              <a:rPr lang="en-US" sz="3600" dirty="0" err="1"/>
              <a:t>Beberapa</a:t>
            </a:r>
            <a:r>
              <a:rPr lang="en-US" sz="3600" dirty="0"/>
              <a:t> method() standard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digunakan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menampilkan</a:t>
            </a:r>
            <a:r>
              <a:rPr lang="en-US" sz="3600" dirty="0"/>
              <a:t> </a:t>
            </a:r>
            <a:r>
              <a:rPr lang="en-US" sz="3600" dirty="0" err="1"/>
              <a:t>pesan</a:t>
            </a:r>
            <a:r>
              <a:rPr lang="en-US" sz="3600" dirty="0"/>
              <a:t> exception, yang </a:t>
            </a:r>
            <a:r>
              <a:rPr lang="en-US" sz="3600" dirty="0" err="1"/>
              <a:t>merupakan</a:t>
            </a:r>
            <a:r>
              <a:rPr lang="en-US" sz="3600" dirty="0"/>
              <a:t> </a:t>
            </a:r>
            <a:r>
              <a:rPr lang="en-US" sz="3600" dirty="0" err="1"/>
              <a:t>turunan</a:t>
            </a:r>
            <a:r>
              <a:rPr lang="en-US" sz="3600" dirty="0"/>
              <a:t> </a:t>
            </a:r>
            <a:r>
              <a:rPr lang="en-US" sz="3600" dirty="0" err="1"/>
              <a:t>dari</a:t>
            </a:r>
            <a:r>
              <a:rPr lang="en-US" sz="3600" dirty="0"/>
              <a:t> class standard </a:t>
            </a:r>
            <a:r>
              <a:rPr lang="en-US" sz="3600" dirty="0" err="1"/>
              <a:t>java.lang.Throwable</a:t>
            </a:r>
            <a:r>
              <a:rPr lang="en-US" sz="3600" dirty="0"/>
              <a:t>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algn="ctr"/>
            <a:r>
              <a:rPr lang="en-US" sz="4000" dirty="0" err="1">
                <a:effectLst/>
              </a:rPr>
              <a:t>Menampilkan</a:t>
            </a:r>
            <a:r>
              <a:rPr lang="en-US" sz="4000" dirty="0">
                <a:effectLst/>
              </a:rPr>
              <a:t> </a:t>
            </a:r>
            <a:r>
              <a:rPr lang="en-US" sz="4000" dirty="0" err="1">
                <a:effectLst/>
              </a:rPr>
              <a:t>Pesan</a:t>
            </a:r>
            <a:r>
              <a:rPr lang="en-US" sz="4000" dirty="0">
                <a:effectLst/>
              </a:rPr>
              <a:t> Exception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907697"/>
              </p:ext>
            </p:extLst>
          </p:nvPr>
        </p:nvGraphicFramePr>
        <p:xfrm>
          <a:off x="228600" y="1219200"/>
          <a:ext cx="8686800" cy="5105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3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Method() </a:t>
                      </a:r>
                      <a:r>
                        <a:rPr lang="en-US" dirty="0" err="1"/>
                        <a:t>pesan</a:t>
                      </a:r>
                      <a:r>
                        <a:rPr lang="en-US" dirty="0"/>
                        <a:t> exception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Deskripsi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6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getMessage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Mengembalikan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nilai</a:t>
                      </a:r>
                      <a:r>
                        <a:rPr lang="en-US" b="1" dirty="0"/>
                        <a:t> string</a:t>
                      </a:r>
                      <a:r>
                        <a:rPr lang="en-US" dirty="0"/>
                        <a:t> yang </a:t>
                      </a:r>
                      <a:r>
                        <a:rPr lang="en-US" b="0" dirty="0" err="1"/>
                        <a:t>berisi</a:t>
                      </a:r>
                      <a:r>
                        <a:rPr lang="en-US" b="0" dirty="0"/>
                        <a:t> </a:t>
                      </a:r>
                      <a:r>
                        <a:rPr lang="en-US" b="0" dirty="0" err="1"/>
                        <a:t>pesan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tentang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objek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kejadian</a:t>
                      </a:r>
                      <a:r>
                        <a:rPr lang="en-US" baseline="0" dirty="0"/>
                        <a:t> exception </a:t>
                      </a:r>
                      <a:r>
                        <a:rPr lang="en-US" baseline="0" dirty="0" err="1"/>
                        <a:t>dari</a:t>
                      </a:r>
                      <a:r>
                        <a:rPr lang="en-US" baseline="0" dirty="0"/>
                        <a:t> class standard </a:t>
                      </a:r>
                      <a:r>
                        <a:rPr lang="en-US" baseline="0" dirty="0" err="1"/>
                        <a:t>Throwable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toString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Mengembalikan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baseline="0" dirty="0" err="1"/>
                        <a:t>nilai</a:t>
                      </a:r>
                      <a:r>
                        <a:rPr lang="en-US" b="1" baseline="0" dirty="0"/>
                        <a:t> string</a:t>
                      </a:r>
                      <a:r>
                        <a:rPr lang="en-US" baseline="0" dirty="0"/>
                        <a:t> yang </a:t>
                      </a:r>
                      <a:r>
                        <a:rPr lang="en-US" baseline="0" dirty="0" err="1"/>
                        <a:t>berisi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pesan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singkat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tentang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objek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dari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suatu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kejadian</a:t>
                      </a:r>
                      <a:r>
                        <a:rPr lang="en-US" baseline="0" dirty="0"/>
                        <a:t> exception.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3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getLocalizedMessage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Menampilkan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pesan</a:t>
                      </a:r>
                      <a:r>
                        <a:rPr lang="en-US" dirty="0"/>
                        <a:t> exception </a:t>
                      </a:r>
                      <a:r>
                        <a:rPr lang="en-US" dirty="0" err="1"/>
                        <a:t>lokal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terjadi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dalam</a:t>
                      </a:r>
                      <a:r>
                        <a:rPr lang="en-US" dirty="0"/>
                        <a:t> subclass </a:t>
                      </a:r>
                      <a:r>
                        <a:rPr lang="en-US" dirty="0" err="1"/>
                        <a:t>saja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8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printStackTrace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Method() </a:t>
                      </a:r>
                      <a:r>
                        <a:rPr lang="en-US" dirty="0" err="1"/>
                        <a:t>ini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bersifat</a:t>
                      </a:r>
                      <a:r>
                        <a:rPr lang="en-US" dirty="0"/>
                        <a:t> void, </a:t>
                      </a:r>
                      <a:r>
                        <a:rPr lang="en-US" dirty="0" err="1"/>
                        <a:t>dan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hanya</a:t>
                      </a:r>
                      <a:r>
                        <a:rPr lang="en-US" dirty="0"/>
                        <a:t> </a:t>
                      </a:r>
                      <a:r>
                        <a:rPr lang="en-US" b="1" dirty="0" err="1"/>
                        <a:t>mencetak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informasi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tentang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objek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class standard </a:t>
                      </a:r>
                      <a:r>
                        <a:rPr lang="en-US" dirty="0" err="1"/>
                        <a:t>Throwable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639762"/>
          </a:xfrm>
        </p:spPr>
        <p:txBody>
          <a:bodyPr>
            <a:normAutofit/>
          </a:bodyPr>
          <a:lstStyle/>
          <a:p>
            <a:r>
              <a:rPr lang="en-US" sz="3000" dirty="0">
                <a:effectLst/>
              </a:rPr>
              <a:t>Method </a:t>
            </a:r>
            <a:r>
              <a:rPr lang="en-US" sz="3000" dirty="0" err="1">
                <a:effectLst/>
              </a:rPr>
              <a:t>untuk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menampilkan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pesan</a:t>
            </a:r>
            <a:r>
              <a:rPr lang="en-US" sz="3000" dirty="0">
                <a:effectLst/>
              </a:rPr>
              <a:t> Exception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3CD909-FCC0-207E-9986-4625B881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88" y="522446"/>
            <a:ext cx="8686800" cy="5626291"/>
          </a:xfrm>
        </p:spPr>
        <p:txBody>
          <a:bodyPr/>
          <a:lstStyle/>
          <a:p>
            <a:pPr algn="just"/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BagiNol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static void main(String[]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Sebelum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pembagian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(5/0);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Sesudah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pembagian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5A0ABB-A108-F542-B494-E5E0639E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637A5-75EC-E554-FA77-54ECE700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A6DAA26-9258-5C54-257B-BE1BA2F84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64" y="3581400"/>
            <a:ext cx="8037672" cy="106032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lfaen" panose="010A0502050306030303" pitchFamily="18" charset="0"/>
              </a:rPr>
              <a:t>Sebelum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lfaen" panose="010A0502050306030303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lfaen" panose="010A0502050306030303" pitchFamily="18" charset="0"/>
              </a:rPr>
              <a:t>pembagian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ylfaen" panose="010A050205030603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lfaen" panose="010A0502050306030303" pitchFamily="18" charset="0"/>
              </a:rPr>
              <a:t>Exception in thread “main”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lfaen" panose="010A0502050306030303" pitchFamily="18" charset="0"/>
              </a:rPr>
              <a:t>java.lang.ArithmeticException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lfaen" panose="010A0502050306030303" pitchFamily="18" charset="0"/>
              </a:rPr>
              <a:t>: / by zero at BagiNo1.main&lt;BagiNo1.java:6&gt;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692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8C54C4-6704-5125-5468-38F5A4D6B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5867400"/>
          </a:xfrm>
        </p:spPr>
        <p:txBody>
          <a:bodyPr/>
          <a:lstStyle/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BagiNol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public static void main(String[]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Sebelum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pembagian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try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(5/0);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catch (Exception a)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System.err.println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Terjadi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pembagian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dengan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nol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	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System.err.println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Pesan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dari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Sun: " +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a.getMessage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Sesudah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pembagian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pt-BR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}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20E08-BC7D-8E3E-E551-870797FE6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287A9-69AA-1761-CB4C-11A3E33F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B237BA-0C45-AFBB-378D-192E2BC74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655907"/>
            <a:ext cx="8610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45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7CA5F4-5F3A-9053-7F05-7A3CFEC2E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5702491"/>
          </a:xfrm>
        </p:spPr>
        <p:txBody>
          <a:bodyPr>
            <a:normAutofit fontScale="92500" lnSpcReduction="20000"/>
          </a:bodyPr>
          <a:lstStyle/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TolakException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Exception {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public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TolakException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(String 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pesan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super(</a:t>
            </a:r>
            <a:r>
              <a:rPr lang="en-US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pesan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}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Kreditor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 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public void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beriPinjaman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(int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throws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TolakException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Orang {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protected String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nama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public Orang(String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vnama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3429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nama =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vnama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}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public String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getNama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3429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return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nama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}   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public void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ngomong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(String message) {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3429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   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nama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+ "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ngomong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 + message);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}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BA2DF-BF04-80D2-16B2-D577410DE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FBDAE-392B-3ED4-E6CF-BD79DC10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55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AFAE65-61D5-1212-52E7-6E6EEE9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81000"/>
            <a:ext cx="8915400" cy="5626291"/>
          </a:xfrm>
        </p:spPr>
        <p:txBody>
          <a:bodyPr>
            <a:normAutofit fontScale="92500" lnSpcReduction="10000"/>
          </a:bodyPr>
          <a:lstStyle/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Bank implements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Kreditor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private Orang manager;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int asset;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Bank(String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vmanager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int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vasset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manager = new Orang(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vmanager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asset =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vasset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void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beriPinjaman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(int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throws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TolakException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if 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1000000)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asset = asset -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manager.ngomong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("Bank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memberikan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pinjaman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Rp " +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manager.ngomong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("Asset bank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sekarang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Rp " + asset);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else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manager.ngomong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("Bank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tidak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memberikan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pinjaman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!");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throw new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TolakException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("Bank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lagi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pelit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!");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7A79A-CF2E-B0DE-3765-072451FC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23B62-4D51-7CD9-79C5-DD59DBF0B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621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20D88B-33F7-96FD-EEAD-FEE08EC45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04800"/>
            <a:ext cx="9982200" cy="5702491"/>
          </a:xfrm>
        </p:spPr>
        <p:txBody>
          <a:bodyPr>
            <a:normAutofit fontScale="92500" lnSpcReduction="10000"/>
          </a:bodyPr>
          <a:lstStyle/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OrangKaya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Orang implements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Kreditor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int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OrangKaya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(String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vnama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int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super(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vnama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void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beriPinjaman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(int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throws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TolakException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if 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500000)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-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super.ngomong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("Saya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memberikan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pinjaman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Rp " +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super.ngomong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saya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sekarang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Rp " +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else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super.ngomong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("Saya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tidak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akan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memberikan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pinjaman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!");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TolakException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t = new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TolakException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("Orang Kaya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lagi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pelit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!");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throw t;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59507-F747-E114-D826-CEC60A128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63F35-BF70-727A-2342-FF956099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703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4AB9E4-35FF-847D-E262-3EA17F92C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4909"/>
            <a:ext cx="8915400" cy="5778691"/>
          </a:xfrm>
        </p:spPr>
        <p:txBody>
          <a:bodyPr>
            <a:normAutofit fontScale="92500" lnSpcReduction="10000"/>
          </a:bodyPr>
          <a:lstStyle/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OrangMiskin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Orang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int utang;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OrangMiskin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(String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vnama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int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vutang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super(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vnama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utang =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vutang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void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pinjamDuit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Kreditor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vkreditor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int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try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vkreditor.beriPinjaman</a:t>
            </a:r>
            <a:r>
              <a:rPr lang="en-US" sz="18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utang = utang +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this.ngomong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("Saya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mendapatkan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pinjaman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Rp " +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this.ngomong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("Utang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saya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sekarang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Rp " + utang);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catch 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TolakException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System.err.println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e.getMessage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this.ngomong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Malangnya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nasibku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saya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telah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ditolak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!");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0F1CA-CBA4-DC74-B186-704BCD73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875BA-62BE-C810-5D50-D95B3CC9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148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2B3BDD-025F-5DDE-CD4F-CA71A26DF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4296"/>
            <a:ext cx="8839200" cy="5922995"/>
          </a:xfrm>
        </p:spPr>
        <p:txBody>
          <a:bodyPr/>
          <a:lstStyle/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PinjamApp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static void main(String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Bank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bankRut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Bank("Cesar", 5000000);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OrangKaya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amir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OrangKaya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("Amir", 2000000);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OrangMiskin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badu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OrangMiskin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("Badu", 1500000);    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try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badu.pinjamDuit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(amir, 600000);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badu.pinjamDuit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bankRut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800000);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catch (Exception e)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Nggak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pernah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jalan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!");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pt-BR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E6CF9-DACF-3FA8-2771-001841C4B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2182D-A28B-BD8C-07F7-37B914E1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156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20179</TotalTime>
  <Words>1837</Words>
  <Application>Microsoft Office PowerPoint</Application>
  <PresentationFormat>On-screen Show (4:3)</PresentationFormat>
  <Paragraphs>339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Courier New</vt:lpstr>
      <vt:lpstr>Lucida Sans Unicode</vt:lpstr>
      <vt:lpstr>Sylfaen</vt:lpstr>
      <vt:lpstr>Tahoma</vt:lpstr>
      <vt:lpstr>Times New Roman</vt:lpstr>
      <vt:lpstr>Verdana</vt:lpstr>
      <vt:lpstr>Wingdings 2</vt:lpstr>
      <vt:lpstr>Wingdings 3</vt:lpstr>
      <vt:lpstr>Concourse</vt:lpstr>
      <vt:lpstr>Exception Handling</vt:lpstr>
      <vt:lpstr>Pendahuluan</vt:lpstr>
      <vt:lpstr>class Error dan class Exception</vt:lpstr>
      <vt:lpstr>Checked Exception </vt:lpstr>
      <vt:lpstr>Uncheked Exception</vt:lpstr>
      <vt:lpstr>Uncheked Exception</vt:lpstr>
      <vt:lpstr>Mangantisipasi Exception</vt:lpstr>
      <vt:lpstr>Mendeklarasikan Exception (di Method())</vt:lpstr>
      <vt:lpstr>Contoh2</vt:lpstr>
      <vt:lpstr>Contoh3</vt:lpstr>
      <vt:lpstr>Melempar Exception</vt:lpstr>
      <vt:lpstr>Menangkap Exception</vt:lpstr>
      <vt:lpstr>Mekanisme Mengantisipasi Exception</vt:lpstr>
      <vt:lpstr>Exception pada blok bersarang</vt:lpstr>
      <vt:lpstr>Menampilkan Pesan Exception</vt:lpstr>
      <vt:lpstr>Method untuk menampilkan pesan Exception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Columbia University Computer Science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Models</dc:title>
  <dc:creator>Valued Sony Customer</dc:creator>
  <cp:lastModifiedBy>Lenovo L340</cp:lastModifiedBy>
  <cp:revision>381</cp:revision>
  <dcterms:created xsi:type="dcterms:W3CDTF">2001-04-26T04:38:43Z</dcterms:created>
  <dcterms:modified xsi:type="dcterms:W3CDTF">2025-07-03T02:24:34Z</dcterms:modified>
</cp:coreProperties>
</file>