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107"/>
  </p:notesMasterIdLst>
  <p:handoutMasterIdLst>
    <p:handoutMasterId r:id="rId108"/>
  </p:handoutMasterIdLst>
  <p:sldIdLst>
    <p:sldId id="437" r:id="rId2"/>
    <p:sldId id="438" r:id="rId3"/>
    <p:sldId id="445" r:id="rId4"/>
    <p:sldId id="448" r:id="rId5"/>
    <p:sldId id="449" r:id="rId6"/>
    <p:sldId id="451" r:id="rId7"/>
    <p:sldId id="454" r:id="rId8"/>
    <p:sldId id="462" r:id="rId9"/>
    <p:sldId id="464" r:id="rId10"/>
    <p:sldId id="470" r:id="rId11"/>
    <p:sldId id="469" r:id="rId12"/>
    <p:sldId id="441" r:id="rId13"/>
    <p:sldId id="466" r:id="rId14"/>
    <p:sldId id="467" r:id="rId15"/>
    <p:sldId id="472" r:id="rId16"/>
    <p:sldId id="513" r:id="rId17"/>
    <p:sldId id="474" r:id="rId18"/>
    <p:sldId id="476" r:id="rId19"/>
    <p:sldId id="478" r:id="rId20"/>
    <p:sldId id="514" r:id="rId21"/>
    <p:sldId id="515" r:id="rId22"/>
    <p:sldId id="517" r:id="rId23"/>
    <p:sldId id="520" r:id="rId24"/>
    <p:sldId id="522" r:id="rId25"/>
    <p:sldId id="479" r:id="rId26"/>
    <p:sldId id="524" r:id="rId27"/>
    <p:sldId id="480" r:id="rId28"/>
    <p:sldId id="526" r:id="rId29"/>
    <p:sldId id="442" r:id="rId30"/>
    <p:sldId id="482" r:id="rId31"/>
    <p:sldId id="484" r:id="rId32"/>
    <p:sldId id="486" r:id="rId33"/>
    <p:sldId id="487" r:id="rId34"/>
    <p:sldId id="488" r:id="rId35"/>
    <p:sldId id="489" r:id="rId36"/>
    <p:sldId id="527" r:id="rId37"/>
    <p:sldId id="500" r:id="rId38"/>
    <p:sldId id="528" r:id="rId39"/>
    <p:sldId id="501" r:id="rId40"/>
    <p:sldId id="529" r:id="rId41"/>
    <p:sldId id="502" r:id="rId42"/>
    <p:sldId id="530" r:id="rId43"/>
    <p:sldId id="531" r:id="rId44"/>
    <p:sldId id="503" r:id="rId45"/>
    <p:sldId id="504" r:id="rId46"/>
    <p:sldId id="532" r:id="rId47"/>
    <p:sldId id="533" r:id="rId48"/>
    <p:sldId id="505" r:id="rId49"/>
    <p:sldId id="534" r:id="rId50"/>
    <p:sldId id="535" r:id="rId51"/>
    <p:sldId id="536" r:id="rId52"/>
    <p:sldId id="506" r:id="rId53"/>
    <p:sldId id="537" r:id="rId54"/>
    <p:sldId id="538" r:id="rId55"/>
    <p:sldId id="539" r:id="rId56"/>
    <p:sldId id="540" r:id="rId57"/>
    <p:sldId id="541" r:id="rId58"/>
    <p:sldId id="507" r:id="rId59"/>
    <p:sldId id="542" r:id="rId60"/>
    <p:sldId id="543" r:id="rId61"/>
    <p:sldId id="544" r:id="rId62"/>
    <p:sldId id="545" r:id="rId63"/>
    <p:sldId id="546" r:id="rId64"/>
    <p:sldId id="547" r:id="rId65"/>
    <p:sldId id="548" r:id="rId66"/>
    <p:sldId id="549" r:id="rId67"/>
    <p:sldId id="508" r:id="rId68"/>
    <p:sldId id="550" r:id="rId69"/>
    <p:sldId id="551" r:id="rId70"/>
    <p:sldId id="552" r:id="rId71"/>
    <p:sldId id="553" r:id="rId72"/>
    <p:sldId id="554" r:id="rId73"/>
    <p:sldId id="555" r:id="rId74"/>
    <p:sldId id="556" r:id="rId75"/>
    <p:sldId id="557" r:id="rId76"/>
    <p:sldId id="509" r:id="rId77"/>
    <p:sldId id="558" r:id="rId78"/>
    <p:sldId id="559" r:id="rId79"/>
    <p:sldId id="560" r:id="rId80"/>
    <p:sldId id="561" r:id="rId81"/>
    <p:sldId id="562" r:id="rId82"/>
    <p:sldId id="563" r:id="rId83"/>
    <p:sldId id="510" r:id="rId84"/>
    <p:sldId id="564" r:id="rId85"/>
    <p:sldId id="565" r:id="rId86"/>
    <p:sldId id="566" r:id="rId87"/>
    <p:sldId id="567" r:id="rId88"/>
    <p:sldId id="568" r:id="rId89"/>
    <p:sldId id="569" r:id="rId90"/>
    <p:sldId id="511" r:id="rId91"/>
    <p:sldId id="570" r:id="rId92"/>
    <p:sldId id="571" r:id="rId93"/>
    <p:sldId id="572" r:id="rId94"/>
    <p:sldId id="573" r:id="rId95"/>
    <p:sldId id="574" r:id="rId96"/>
    <p:sldId id="512" r:id="rId97"/>
    <p:sldId id="575" r:id="rId98"/>
    <p:sldId id="576" r:id="rId99"/>
    <p:sldId id="577" r:id="rId100"/>
    <p:sldId id="578" r:id="rId101"/>
    <p:sldId id="579" r:id="rId102"/>
    <p:sldId id="580" r:id="rId103"/>
    <p:sldId id="581" r:id="rId104"/>
    <p:sldId id="582" r:id="rId105"/>
    <p:sldId id="443" r:id="rId106"/>
  </p:sldIdLst>
  <p:sldSz cx="9144000" cy="6858000" type="screen4x3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FF0707"/>
    <a:srgbClr val="000000"/>
    <a:srgbClr val="CCFF33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89" autoAdjust="0"/>
    <p:restoredTop sz="94643" autoAdjust="0"/>
  </p:normalViewPr>
  <p:slideViewPr>
    <p:cSldViewPr>
      <p:cViewPr varScale="1">
        <p:scale>
          <a:sx n="81" d="100"/>
          <a:sy n="81" d="100"/>
        </p:scale>
        <p:origin x="893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handoutMaster" Target="handoutMasters/handout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C86F193C-C289-4371-A97A-BE0216192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14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1725" y="700088"/>
            <a:ext cx="4656138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24363"/>
            <a:ext cx="5029200" cy="41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5031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54" tIns="46177" rIns="92354" bIns="4617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smtClean="0">
                <a:latin typeface="Tahoma" pitchFamily="34" charset="0"/>
              </a:defRPr>
            </a:lvl1pPr>
          </a:lstStyle>
          <a:p>
            <a:pPr>
              <a:defRPr/>
            </a:pPr>
            <a:fld id="{6BB55178-6231-4D76-9FDA-8501850614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981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B55178-6231-4D76-9FDA-85018506143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B55178-6231-4D76-9FDA-850185061430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B55178-6231-4D76-9FDA-85018506143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656" r:id="rId12"/>
    <p:sldLayoutId id="2147483666" r:id="rId13"/>
  </p:sldLayoutIdLst>
  <p:hf sldNum="0" hd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05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45.xml"/><Relationship Id="rId2" Type="http://schemas.openxmlformats.org/officeDocument/2006/relationships/slide" Target="slide3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724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b="1" dirty="0"/>
              <a:t>1. </a:t>
            </a:r>
            <a:r>
              <a:rPr lang="en-US" sz="3000" b="1" dirty="0" err="1"/>
              <a:t>Langkah-langkah</a:t>
            </a:r>
            <a:r>
              <a:rPr lang="en-US" sz="3000" b="1" dirty="0"/>
              <a:t> </a:t>
            </a:r>
            <a:r>
              <a:rPr lang="en-US" sz="3000" b="1" dirty="0" err="1"/>
              <a:t>Pembuatan</a:t>
            </a:r>
            <a:r>
              <a:rPr lang="en-US" sz="3000" b="1" dirty="0"/>
              <a:t> </a:t>
            </a:r>
            <a:r>
              <a:rPr lang="en-US" sz="3000" b="1" dirty="0" err="1"/>
              <a:t>Aplikasi</a:t>
            </a:r>
            <a:r>
              <a:rPr lang="en-US" sz="3000" b="1" dirty="0"/>
              <a:t> GUI</a:t>
            </a:r>
            <a:endParaRPr lang="en-US" sz="3000" b="1" i="1" dirty="0"/>
          </a:p>
          <a:p>
            <a:endParaRPr lang="en-US" sz="1000" b="1" i="1" dirty="0"/>
          </a:p>
          <a:p>
            <a:pPr>
              <a:buNone/>
            </a:pPr>
            <a:r>
              <a:rPr lang="en-US" sz="3200" b="1" dirty="0"/>
              <a:t>2. </a:t>
            </a:r>
            <a:r>
              <a:rPr lang="en-US" sz="3200" b="1" dirty="0" err="1"/>
              <a:t>Penjelasan</a:t>
            </a:r>
            <a:r>
              <a:rPr lang="en-US" sz="3200" b="1" dirty="0"/>
              <a:t> </a:t>
            </a:r>
            <a:r>
              <a:rPr lang="en-US" sz="3200" b="1" dirty="0" err="1"/>
              <a:t>contoh</a:t>
            </a:r>
            <a:r>
              <a:rPr lang="en-US" sz="3200" b="1" dirty="0"/>
              <a:t> program </a:t>
            </a:r>
            <a:r>
              <a:rPr lang="en-US" sz="3200" b="1" dirty="0" err="1"/>
              <a:t>Aplikasi</a:t>
            </a:r>
            <a:r>
              <a:rPr lang="en-US" sz="3200" b="1" dirty="0"/>
              <a:t> GUI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3200" b="1" dirty="0"/>
              <a:t>3. </a:t>
            </a:r>
            <a:r>
              <a:rPr lang="en-US" sz="3200" b="1" dirty="0" err="1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Manajemen</a:t>
            </a:r>
            <a:r>
              <a:rPr lang="en-US" sz="3200" b="1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Layout</a:t>
            </a:r>
            <a:endParaRPr lang="en-US" sz="3200" b="1" dirty="0"/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3200" b="1" dirty="0"/>
              <a:t>4. </a:t>
            </a:r>
            <a:r>
              <a:rPr lang="en-US" sz="3200" b="1" dirty="0" err="1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Pengantar</a:t>
            </a:r>
            <a:r>
              <a:rPr lang="en-US" sz="3200" b="1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Visual Programming </a:t>
            </a:r>
            <a:endParaRPr lang="en-US" sz="32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400" dirty="0" err="1">
                <a:effectLst/>
              </a:rPr>
              <a:t>Komponen</a:t>
            </a:r>
            <a:r>
              <a:rPr lang="en-US" sz="3400" dirty="0">
                <a:effectLst/>
              </a:rPr>
              <a:t> Swing </a:t>
            </a:r>
            <a:r>
              <a:rPr lang="en-US" sz="3400" dirty="0" err="1">
                <a:effectLst/>
              </a:rPr>
              <a:t>dan</a:t>
            </a:r>
            <a:r>
              <a:rPr lang="en-US" sz="3400" dirty="0">
                <a:effectLst/>
              </a:rPr>
              <a:t> </a:t>
            </a:r>
            <a:r>
              <a:rPr lang="en-US" sz="3400" dirty="0" err="1">
                <a:effectLst/>
              </a:rPr>
              <a:t>Manajemen</a:t>
            </a:r>
            <a:r>
              <a:rPr lang="en-US" sz="3400" dirty="0">
                <a:effectLst/>
              </a:rPr>
              <a:t> Layout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1816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err="1"/>
              <a:t>Langkah</a:t>
            </a:r>
            <a:r>
              <a:rPr lang="en-US" b="1" dirty="0"/>
              <a:t> 1 </a:t>
            </a:r>
            <a:r>
              <a:rPr lang="en-US" b="1" dirty="0" err="1"/>
              <a:t>Membuat</a:t>
            </a:r>
            <a:r>
              <a:rPr lang="en-US" b="1" dirty="0"/>
              <a:t> Frame</a:t>
            </a:r>
          </a:p>
          <a:p>
            <a:r>
              <a:rPr lang="en-US" dirty="0"/>
              <a:t>Cara1:	</a:t>
            </a:r>
          </a:p>
          <a:p>
            <a:r>
              <a:rPr lang="en-US" dirty="0"/>
              <a:t>class yang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diturunkan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class </a:t>
            </a:r>
            <a:r>
              <a:rPr lang="en-US" i="1" dirty="0" err="1"/>
              <a:t>JFrame</a:t>
            </a:r>
            <a:r>
              <a:rPr lang="en-US" i="1" dirty="0"/>
              <a:t>.</a:t>
            </a:r>
            <a:r>
              <a:rPr lang="en-US" dirty="0"/>
              <a:t> </a:t>
            </a:r>
          </a:p>
          <a:p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b="1" dirty="0" err="1"/>
              <a:t>objek</a:t>
            </a:r>
            <a:r>
              <a:rPr lang="en-US" dirty="0"/>
              <a:t> frame </a:t>
            </a:r>
            <a:r>
              <a:rPr lang="en-US" dirty="0" err="1"/>
              <a:t>dari</a:t>
            </a:r>
            <a:r>
              <a:rPr lang="en-US" dirty="0"/>
              <a:t> class </a:t>
            </a:r>
            <a:r>
              <a:rPr lang="en-US" i="1" dirty="0" err="1"/>
              <a:t>JFrame</a:t>
            </a:r>
            <a:r>
              <a:rPr lang="en-US" dirty="0"/>
              <a:t>. </a:t>
            </a:r>
            <a:r>
              <a:rPr lang="en-US" dirty="0" err="1"/>
              <a:t>contoh</a:t>
            </a:r>
            <a:r>
              <a:rPr lang="en-US" dirty="0"/>
              <a:t> :</a:t>
            </a:r>
          </a:p>
          <a:p>
            <a:r>
              <a:rPr lang="en-US" dirty="0"/>
              <a:t>      </a:t>
            </a:r>
            <a:r>
              <a:rPr lang="en-US" b="1" i="1" dirty="0"/>
              <a:t>class Frame {</a:t>
            </a:r>
            <a:endParaRPr lang="en-US" dirty="0"/>
          </a:p>
          <a:p>
            <a:r>
              <a:rPr lang="en-US" b="1" i="1" dirty="0"/>
              <a:t>     	     public Frame() {</a:t>
            </a:r>
            <a:endParaRPr lang="en-US" dirty="0"/>
          </a:p>
          <a:p>
            <a:r>
              <a:rPr lang="en-US" b="1" i="1" dirty="0"/>
              <a:t>      	           </a:t>
            </a:r>
            <a:r>
              <a:rPr lang="en-US" b="1" i="1" dirty="0" err="1"/>
              <a:t>JFrame</a:t>
            </a:r>
            <a:r>
              <a:rPr lang="en-US" b="1" i="1" dirty="0"/>
              <a:t> frame = new </a:t>
            </a:r>
            <a:r>
              <a:rPr lang="en-US" b="1" i="1" dirty="0" err="1"/>
              <a:t>JFrame</a:t>
            </a:r>
            <a:r>
              <a:rPr lang="en-US" b="1" i="1" dirty="0"/>
              <a:t>(”</a:t>
            </a:r>
            <a:r>
              <a:rPr lang="en-US" b="1" i="1" dirty="0" err="1"/>
              <a:t>Judulnya</a:t>
            </a:r>
            <a:r>
              <a:rPr lang="en-US" b="1" i="1" dirty="0"/>
              <a:t>…”);    	     </a:t>
            </a:r>
          </a:p>
          <a:p>
            <a:r>
              <a:rPr lang="en-US" b="1" i="1" dirty="0"/>
              <a:t>            }</a:t>
            </a:r>
            <a:endParaRPr lang="en-US" dirty="0"/>
          </a:p>
          <a:p>
            <a:r>
              <a:rPr lang="en-US" b="1" dirty="0"/>
              <a:t>	</a:t>
            </a:r>
            <a:r>
              <a:rPr lang="en-US" b="1" i="1" dirty="0"/>
              <a:t>}</a:t>
            </a:r>
          </a:p>
          <a:p>
            <a:endParaRPr lang="en-US" sz="1300" dirty="0"/>
          </a:p>
          <a:p>
            <a:r>
              <a:rPr lang="en-US" dirty="0"/>
              <a:t>Cara2: 	</a:t>
            </a:r>
          </a:p>
          <a:p>
            <a:r>
              <a:rPr lang="en-US" dirty="0"/>
              <a:t>class yang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diturunkan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class </a:t>
            </a:r>
            <a:r>
              <a:rPr lang="en-US" i="1" dirty="0" err="1"/>
              <a:t>JFrame</a:t>
            </a:r>
            <a:r>
              <a:rPr lang="en-US" dirty="0"/>
              <a:t>,.</a:t>
            </a:r>
          </a:p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r>
              <a:rPr lang="en-US" i="1" dirty="0"/>
              <a:t>	</a:t>
            </a:r>
            <a:r>
              <a:rPr lang="en-US" b="1" i="1" dirty="0"/>
              <a:t>class </a:t>
            </a:r>
            <a:r>
              <a:rPr lang="en-US" b="1" i="1" dirty="0" err="1"/>
              <a:t>FrameTurunan</a:t>
            </a:r>
            <a:r>
              <a:rPr lang="en-US" b="1" i="1" dirty="0"/>
              <a:t> extends </a:t>
            </a:r>
            <a:r>
              <a:rPr lang="en-US" b="1" i="1" dirty="0" err="1"/>
              <a:t>JFrame</a:t>
            </a:r>
            <a:r>
              <a:rPr lang="en-US" b="1" i="1" dirty="0"/>
              <a:t> {</a:t>
            </a:r>
            <a:endParaRPr lang="en-US" dirty="0"/>
          </a:p>
          <a:p>
            <a:r>
              <a:rPr lang="en-US" b="1" i="1" dirty="0"/>
              <a:t>     	     public </a:t>
            </a:r>
            <a:r>
              <a:rPr lang="en-US" b="1" i="1" dirty="0" err="1"/>
              <a:t>FrameTurunan</a:t>
            </a:r>
            <a:r>
              <a:rPr lang="en-US" b="1" i="1" dirty="0"/>
              <a:t>() {</a:t>
            </a:r>
            <a:endParaRPr lang="en-US" dirty="0"/>
          </a:p>
          <a:p>
            <a:r>
              <a:rPr lang="en-US" b="1" i="1" dirty="0"/>
              <a:t>      	          super("</a:t>
            </a:r>
            <a:r>
              <a:rPr lang="en-US" b="1" i="1" dirty="0" err="1"/>
              <a:t>Judulnya</a:t>
            </a:r>
            <a:r>
              <a:rPr lang="en-US" b="1" i="1" dirty="0"/>
              <a:t>….");</a:t>
            </a:r>
            <a:endParaRPr lang="en-US" dirty="0"/>
          </a:p>
          <a:p>
            <a:r>
              <a:rPr lang="en-US" b="1" i="1" dirty="0"/>
              <a:t>    	     }</a:t>
            </a:r>
            <a:endParaRPr lang="en-US" dirty="0"/>
          </a:p>
          <a:p>
            <a:r>
              <a:rPr lang="en-US" b="1" dirty="0"/>
              <a:t>	</a:t>
            </a:r>
            <a:r>
              <a:rPr lang="en-US" b="1" i="1" dirty="0"/>
              <a:t>}</a:t>
            </a:r>
            <a:endParaRPr lang="en-US" i="1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Langkah-langkah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pembuatan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1054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Langkah 2, </a:t>
            </a:r>
            <a:r>
              <a:rPr lang="en-US" b="1" dirty="0" err="1"/>
              <a:t>membuat</a:t>
            </a:r>
            <a:r>
              <a:rPr lang="en-US" b="1" dirty="0"/>
              <a:t> </a:t>
            </a:r>
            <a:r>
              <a:rPr lang="en-US" b="1" dirty="0" err="1"/>
              <a:t>objek</a:t>
            </a:r>
            <a:r>
              <a:rPr lang="en-US" b="1" dirty="0"/>
              <a:t> </a:t>
            </a:r>
            <a:r>
              <a:rPr lang="en-US" b="1" dirty="0" err="1"/>
              <a:t>komponen</a:t>
            </a:r>
            <a:endParaRPr lang="en-US" b="1" dirty="0"/>
          </a:p>
          <a:p>
            <a:r>
              <a:rPr lang="en-US" sz="2000" b="1" i="1" dirty="0" err="1"/>
              <a:t>NamaClassKomponen</a:t>
            </a:r>
            <a:r>
              <a:rPr lang="en-US" sz="2000" b="1" i="1" dirty="0"/>
              <a:t> </a:t>
            </a:r>
            <a:r>
              <a:rPr lang="en-US" sz="2000" b="1" i="1" dirty="0" err="1"/>
              <a:t>namaObjek</a:t>
            </a:r>
            <a:r>
              <a:rPr lang="en-US" sz="2000" b="1" i="1" dirty="0"/>
              <a:t> = new </a:t>
            </a:r>
            <a:r>
              <a:rPr lang="en-US" sz="2000" b="1" i="1" dirty="0" err="1"/>
              <a:t>NamaConstructor</a:t>
            </a:r>
            <a:r>
              <a:rPr lang="en-US" sz="2000" b="1" i="1" dirty="0"/>
              <a:t>();</a:t>
            </a:r>
            <a:r>
              <a:rPr lang="en-US" b="1" dirty="0"/>
              <a:t> </a:t>
            </a:r>
          </a:p>
          <a:p>
            <a:r>
              <a:rPr lang="en-US" dirty="0" err="1"/>
              <a:t>Contoh</a:t>
            </a:r>
            <a:r>
              <a:rPr lang="en-US" dirty="0"/>
              <a:t> :</a:t>
            </a:r>
          </a:p>
          <a:p>
            <a:r>
              <a:rPr lang="en-US" b="1" i="1" dirty="0" err="1"/>
              <a:t>JLabel</a:t>
            </a:r>
            <a:r>
              <a:rPr lang="en-US" b="1" i="1" dirty="0"/>
              <a:t>  </a:t>
            </a:r>
            <a:r>
              <a:rPr lang="en-US" b="1" i="1" dirty="0" err="1">
                <a:solidFill>
                  <a:srgbClr val="FF0000"/>
                </a:solidFill>
              </a:rPr>
              <a:t>lUserName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/>
              <a:t>= new </a:t>
            </a:r>
            <a:r>
              <a:rPr lang="en-US" b="1" i="1" dirty="0" err="1"/>
              <a:t>JLabel</a:t>
            </a:r>
            <a:r>
              <a:rPr lang="en-US" b="1" i="1" dirty="0"/>
              <a:t>(”User Name : ”);</a:t>
            </a:r>
          </a:p>
          <a:p>
            <a:endParaRPr lang="en-US" sz="1100" b="1" dirty="0"/>
          </a:p>
          <a:p>
            <a:r>
              <a:rPr lang="en-US" b="1" i="1" dirty="0" err="1"/>
              <a:t>JTextField</a:t>
            </a:r>
            <a:r>
              <a:rPr lang="en-US" b="1" i="1" dirty="0"/>
              <a:t>  </a:t>
            </a:r>
            <a:r>
              <a:rPr lang="en-US" b="1" i="1" dirty="0" err="1">
                <a:solidFill>
                  <a:srgbClr val="FF0000"/>
                </a:solidFill>
              </a:rPr>
              <a:t>tfUserName</a:t>
            </a:r>
            <a:r>
              <a:rPr lang="en-US" b="1" i="1" dirty="0"/>
              <a:t> = new </a:t>
            </a:r>
            <a:r>
              <a:rPr lang="en-US" b="1" i="1" dirty="0" err="1"/>
              <a:t>JTextField</a:t>
            </a:r>
            <a:r>
              <a:rPr lang="en-US" b="1" i="1" dirty="0"/>
              <a:t>(25);</a:t>
            </a:r>
          </a:p>
          <a:p>
            <a:endParaRPr lang="en-US" sz="1100" b="1" dirty="0"/>
          </a:p>
          <a:p>
            <a:r>
              <a:rPr lang="en-US" sz="2400" b="1" i="1" dirty="0" err="1"/>
              <a:t>DefaultListModel</a:t>
            </a:r>
            <a:r>
              <a:rPr lang="en-US" sz="2400" b="1" i="1" dirty="0"/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dlmBulan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/>
              <a:t>= new </a:t>
            </a:r>
            <a:r>
              <a:rPr lang="en-US" sz="2400" b="1" i="1" dirty="0" err="1"/>
              <a:t>DefaultListModel</a:t>
            </a:r>
            <a:r>
              <a:rPr lang="en-US" sz="2400" b="1" i="1" dirty="0"/>
              <a:t>();</a:t>
            </a:r>
            <a:endParaRPr lang="en-US" sz="2400" b="1" dirty="0"/>
          </a:p>
          <a:p>
            <a:r>
              <a:rPr lang="en-US" b="1" i="1" dirty="0" err="1"/>
              <a:t>dlmBulan.addElement</a:t>
            </a:r>
            <a:r>
              <a:rPr lang="en-US" b="1" i="1" dirty="0"/>
              <a:t>(”</a:t>
            </a:r>
            <a:r>
              <a:rPr lang="en-US" b="1" i="1" dirty="0" err="1"/>
              <a:t>Januari</a:t>
            </a:r>
            <a:r>
              <a:rPr lang="en-US" b="1" i="1" dirty="0"/>
              <a:t>”);</a:t>
            </a:r>
            <a:endParaRPr lang="en-US" b="1" dirty="0"/>
          </a:p>
          <a:p>
            <a:r>
              <a:rPr lang="en-US" b="1" i="1" dirty="0" err="1"/>
              <a:t>dlmBulan.addElement</a:t>
            </a:r>
            <a:r>
              <a:rPr lang="en-US" b="1" i="1" dirty="0"/>
              <a:t>(”</a:t>
            </a:r>
            <a:r>
              <a:rPr lang="en-US" b="1" i="1" dirty="0" err="1"/>
              <a:t>Februari</a:t>
            </a:r>
            <a:r>
              <a:rPr lang="en-US" b="1" i="1" dirty="0"/>
              <a:t>”);</a:t>
            </a:r>
            <a:endParaRPr lang="en-US" b="1" dirty="0"/>
          </a:p>
          <a:p>
            <a:r>
              <a:rPr lang="en-US" b="1" i="1" dirty="0" err="1"/>
              <a:t>dlmBulan.addElement</a:t>
            </a:r>
            <a:r>
              <a:rPr lang="en-US" b="1" i="1" dirty="0"/>
              <a:t>(”</a:t>
            </a:r>
            <a:r>
              <a:rPr lang="en-US" b="1" i="1" dirty="0" err="1"/>
              <a:t>Maret</a:t>
            </a:r>
            <a:r>
              <a:rPr lang="en-US" b="1" i="1" dirty="0"/>
              <a:t>”);</a:t>
            </a:r>
          </a:p>
          <a:p>
            <a:endParaRPr lang="en-US" sz="1000" b="1" dirty="0"/>
          </a:p>
          <a:p>
            <a:r>
              <a:rPr lang="en-US" b="1" i="1" dirty="0" err="1"/>
              <a:t>JList</a:t>
            </a:r>
            <a:r>
              <a:rPr lang="en-US" b="1" i="1" dirty="0"/>
              <a:t> </a:t>
            </a:r>
            <a:r>
              <a:rPr lang="en-US" b="1" i="1" dirty="0" err="1">
                <a:solidFill>
                  <a:srgbClr val="FF0000"/>
                </a:solidFill>
              </a:rPr>
              <a:t>mlist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/>
              <a:t>= new </a:t>
            </a:r>
            <a:r>
              <a:rPr lang="en-US" b="1" i="1" dirty="0" err="1"/>
              <a:t>JList</a:t>
            </a:r>
            <a:r>
              <a:rPr lang="en-US" b="1" i="1" dirty="0"/>
              <a:t>(</a:t>
            </a:r>
            <a:r>
              <a:rPr lang="en-US" b="1" i="1" dirty="0" err="1">
                <a:solidFill>
                  <a:srgbClr val="FF0000"/>
                </a:solidFill>
              </a:rPr>
              <a:t>dlmBulan</a:t>
            </a:r>
            <a:r>
              <a:rPr lang="en-US" b="1" i="1" dirty="0"/>
              <a:t>);</a:t>
            </a:r>
            <a:endParaRPr lang="en-US" b="1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Langkah-langkah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pembuatan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105400"/>
          </a:xfrm>
        </p:spPr>
        <p:txBody>
          <a:bodyPr>
            <a:normAutofit/>
          </a:bodyPr>
          <a:lstStyle/>
          <a:p>
            <a:r>
              <a:rPr lang="en-US" dirty="0" err="1"/>
              <a:t>Langkah</a:t>
            </a:r>
            <a:r>
              <a:rPr lang="en-US" dirty="0"/>
              <a:t> 3 </a:t>
            </a:r>
          </a:p>
          <a:p>
            <a:r>
              <a:rPr lang="en-US" sz="2200" dirty="0" err="1"/>
              <a:t>Membuat</a:t>
            </a:r>
            <a:r>
              <a:rPr lang="en-US" sz="2200" dirty="0"/>
              <a:t> </a:t>
            </a:r>
            <a:r>
              <a:rPr lang="en-US" sz="2200" dirty="0" err="1"/>
              <a:t>objek</a:t>
            </a:r>
            <a:r>
              <a:rPr lang="en-US" sz="2200" dirty="0"/>
              <a:t> Container </a:t>
            </a:r>
            <a:r>
              <a:rPr lang="en-US" sz="2200" dirty="0" err="1"/>
              <a:t>dan</a:t>
            </a:r>
            <a:r>
              <a:rPr lang="en-US" sz="2200" dirty="0"/>
              <a:t> </a:t>
            </a:r>
            <a:r>
              <a:rPr lang="en-US" sz="2200" dirty="0" err="1"/>
              <a:t>meletakkannya</a:t>
            </a:r>
            <a:r>
              <a:rPr lang="en-US" sz="2200" dirty="0"/>
              <a:t> </a:t>
            </a:r>
            <a:r>
              <a:rPr lang="en-US" sz="2200" dirty="0" err="1"/>
              <a:t>pada</a:t>
            </a:r>
            <a:r>
              <a:rPr lang="en-US" sz="2200" dirty="0"/>
              <a:t> Frame.</a:t>
            </a:r>
          </a:p>
          <a:p>
            <a:r>
              <a:rPr lang="en-US" sz="2200" dirty="0" err="1"/>
              <a:t>Sehingga</a:t>
            </a:r>
            <a:r>
              <a:rPr lang="en-US" sz="2200" dirty="0"/>
              <a:t> </a:t>
            </a:r>
            <a:r>
              <a:rPr lang="en-US" sz="2200" dirty="0" err="1"/>
              <a:t>di</a:t>
            </a:r>
            <a:r>
              <a:rPr lang="en-US" sz="2200" dirty="0"/>
              <a:t> </a:t>
            </a:r>
            <a:r>
              <a:rPr lang="en-US" sz="2200" dirty="0" err="1"/>
              <a:t>langkah</a:t>
            </a:r>
            <a:r>
              <a:rPr lang="en-US" sz="2200" dirty="0"/>
              <a:t> </a:t>
            </a:r>
            <a:r>
              <a:rPr lang="en-US" sz="2200" dirty="0" err="1"/>
              <a:t>berikutnya</a:t>
            </a:r>
            <a:r>
              <a:rPr lang="en-US" sz="2200" dirty="0"/>
              <a:t>, </a:t>
            </a:r>
            <a:r>
              <a:rPr lang="en-US" sz="2200" b="1" dirty="0" err="1">
                <a:solidFill>
                  <a:srgbClr val="FF0000"/>
                </a:solidFill>
              </a:rPr>
              <a:t>seluruh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komponen</a:t>
            </a:r>
            <a:r>
              <a:rPr lang="en-US" sz="2200" dirty="0"/>
              <a:t>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diletakkan</a:t>
            </a:r>
            <a:r>
              <a:rPr lang="en-US" sz="2200" dirty="0"/>
              <a:t> </a:t>
            </a:r>
            <a:r>
              <a:rPr lang="en-US" sz="2200" dirty="0" err="1"/>
              <a:t>dan</a:t>
            </a:r>
            <a:r>
              <a:rPr lang="en-US" sz="2200" dirty="0"/>
              <a:t> </a:t>
            </a:r>
            <a:r>
              <a:rPr lang="en-US" sz="2200" dirty="0" err="1"/>
              <a:t>diatur</a:t>
            </a:r>
            <a:r>
              <a:rPr lang="en-US" sz="2200" dirty="0"/>
              <a:t> </a:t>
            </a:r>
            <a:r>
              <a:rPr lang="en-US" sz="2200" dirty="0" err="1"/>
              <a:t>di</a:t>
            </a:r>
            <a:r>
              <a:rPr lang="en-US" sz="2200" dirty="0"/>
              <a:t>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kontainer</a:t>
            </a:r>
            <a:r>
              <a:rPr lang="en-US" sz="2200" dirty="0"/>
              <a:t>.</a:t>
            </a:r>
          </a:p>
          <a:p>
            <a:r>
              <a:rPr lang="en-US" sz="2200" dirty="0" err="1"/>
              <a:t>Kecuali</a:t>
            </a:r>
            <a:r>
              <a:rPr lang="en-US" sz="2200" dirty="0"/>
              <a:t> </a:t>
            </a:r>
            <a:r>
              <a:rPr lang="en-US" sz="2200" dirty="0" err="1"/>
              <a:t>tidak</a:t>
            </a:r>
            <a:r>
              <a:rPr lang="en-US" sz="2200" dirty="0"/>
              <a:t> </a:t>
            </a:r>
            <a:r>
              <a:rPr lang="en-US" sz="2200" dirty="0" err="1"/>
              <a:t>memilih</a:t>
            </a:r>
            <a:r>
              <a:rPr lang="en-US" sz="2200" dirty="0"/>
              <a:t> layout (</a:t>
            </a:r>
            <a:r>
              <a:rPr lang="en-US" sz="2200" dirty="0" err="1"/>
              <a:t>tata</a:t>
            </a:r>
            <a:r>
              <a:rPr lang="en-US" sz="2200" dirty="0"/>
              <a:t> </a:t>
            </a:r>
            <a:r>
              <a:rPr lang="en-US" sz="2200" dirty="0" err="1"/>
              <a:t>letak</a:t>
            </a:r>
            <a:r>
              <a:rPr lang="en-US" sz="2200" dirty="0"/>
              <a:t> standard).</a:t>
            </a:r>
          </a:p>
          <a:p>
            <a:endParaRPr lang="en-US" sz="2200" dirty="0"/>
          </a:p>
          <a:p>
            <a:r>
              <a:rPr lang="en-US" dirty="0" err="1"/>
              <a:t>Contoh</a:t>
            </a:r>
            <a:r>
              <a:rPr lang="en-US" dirty="0"/>
              <a:t>: </a:t>
            </a:r>
          </a:p>
          <a:p>
            <a:r>
              <a:rPr lang="en-US" b="1" i="1" dirty="0"/>
              <a:t>Container </a:t>
            </a:r>
            <a:r>
              <a:rPr lang="en-US" b="1" i="1" dirty="0" err="1">
                <a:solidFill>
                  <a:srgbClr val="FF0000"/>
                </a:solidFill>
              </a:rPr>
              <a:t>kontainer</a:t>
            </a:r>
            <a:r>
              <a:rPr lang="en-US" b="1" i="1" dirty="0"/>
              <a:t> = </a:t>
            </a:r>
            <a:r>
              <a:rPr lang="en-US" b="1" i="1" dirty="0" err="1"/>
              <a:t>frame.getContentPane</a:t>
            </a:r>
            <a:r>
              <a:rPr lang="en-US" b="1" i="1" dirty="0"/>
              <a:t>();  </a:t>
            </a:r>
            <a:r>
              <a:rPr lang="en-US" i="1" dirty="0"/>
              <a:t> </a:t>
            </a:r>
            <a:r>
              <a:rPr lang="en-US" sz="1000" i="1" dirty="0"/>
              <a:t>	</a:t>
            </a:r>
            <a:endParaRPr lang="en-US" sz="1000" dirty="0"/>
          </a:p>
          <a:p>
            <a:r>
              <a:rPr lang="en-US" dirty="0" err="1"/>
              <a:t>atau</a:t>
            </a:r>
            <a:r>
              <a:rPr lang="en-US" i="1" dirty="0"/>
              <a:t> </a:t>
            </a:r>
          </a:p>
          <a:p>
            <a:r>
              <a:rPr lang="en-US" b="1" i="1" dirty="0"/>
              <a:t>Container </a:t>
            </a:r>
            <a:r>
              <a:rPr lang="en-US" b="1" i="1" dirty="0" err="1">
                <a:solidFill>
                  <a:srgbClr val="FF0000"/>
                </a:solidFill>
              </a:rPr>
              <a:t>kontainer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/>
              <a:t>= </a:t>
            </a:r>
            <a:r>
              <a:rPr lang="en-US" b="1" i="1" dirty="0" err="1"/>
              <a:t>this.getContentPane</a:t>
            </a:r>
            <a:r>
              <a:rPr lang="en-US" b="1" i="1" dirty="0"/>
              <a:t>();</a:t>
            </a:r>
            <a:endParaRPr lang="en-US" b="1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Langkah-langkah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pembuatan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1054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Langkah</a:t>
            </a:r>
            <a:r>
              <a:rPr lang="en-US" dirty="0"/>
              <a:t> 4 </a:t>
            </a:r>
          </a:p>
          <a:p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Layout yang </a:t>
            </a:r>
            <a:r>
              <a:rPr lang="en-US" dirty="0" err="1"/>
              <a:t>selanjutnya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argumen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method </a:t>
            </a:r>
            <a:r>
              <a:rPr lang="en-US" dirty="0" err="1"/>
              <a:t>setLayout</a:t>
            </a:r>
            <a:r>
              <a:rPr lang="en-US" dirty="0"/>
              <a:t>() </a:t>
            </a:r>
            <a:r>
              <a:rPr lang="en-US" dirty="0" err="1"/>
              <a:t>milik</a:t>
            </a:r>
            <a:r>
              <a:rPr lang="en-US" dirty="0"/>
              <a:t> class Container</a:t>
            </a:r>
          </a:p>
          <a:p>
            <a:endParaRPr lang="en-US" sz="1300" dirty="0"/>
          </a:p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r>
              <a:rPr lang="en-US" dirty="0"/>
              <a:t>Cara1: </a:t>
            </a:r>
          </a:p>
          <a:p>
            <a:r>
              <a:rPr lang="en-US" b="1" i="1" dirty="0" err="1"/>
              <a:t>kontainer.setLayout</a:t>
            </a:r>
            <a:r>
              <a:rPr lang="en-US" b="1" i="1" dirty="0"/>
              <a:t>(new </a:t>
            </a:r>
            <a:r>
              <a:rPr lang="en-US" b="1" i="1" dirty="0" err="1"/>
              <a:t>NamaLayout</a:t>
            </a:r>
            <a:r>
              <a:rPr lang="en-US" b="1" i="1" dirty="0"/>
              <a:t>(</a:t>
            </a:r>
            <a:r>
              <a:rPr lang="en-US" b="1" i="1" dirty="0" err="1"/>
              <a:t>daftarArgumentLayout</a:t>
            </a:r>
            <a:r>
              <a:rPr lang="en-US" b="1" i="1" dirty="0"/>
              <a:t>));</a:t>
            </a:r>
            <a:r>
              <a:rPr lang="en-US" sz="1300" dirty="0"/>
              <a:t>	</a:t>
            </a:r>
          </a:p>
          <a:p>
            <a:r>
              <a:rPr lang="en-US" dirty="0"/>
              <a:t>Cara2:</a:t>
            </a:r>
          </a:p>
          <a:p>
            <a:r>
              <a:rPr lang="en-US" b="1" i="1" dirty="0" err="1"/>
              <a:t>FlowLayout</a:t>
            </a:r>
            <a:r>
              <a:rPr lang="en-US" b="1" i="1" dirty="0"/>
              <a:t> </a:t>
            </a:r>
            <a:r>
              <a:rPr lang="en-US" b="1" i="1" dirty="0">
                <a:solidFill>
                  <a:srgbClr val="FF0000"/>
                </a:solidFill>
              </a:rPr>
              <a:t>flow </a:t>
            </a:r>
            <a:r>
              <a:rPr lang="en-US" b="1" i="1" dirty="0"/>
              <a:t>= new </a:t>
            </a:r>
            <a:r>
              <a:rPr lang="en-US" b="1" i="1" dirty="0" err="1"/>
              <a:t>FlowLayout</a:t>
            </a:r>
            <a:r>
              <a:rPr lang="en-US" b="1" i="1" dirty="0"/>
              <a:t>();  </a:t>
            </a:r>
            <a:endParaRPr lang="en-US" b="1" dirty="0"/>
          </a:p>
          <a:p>
            <a:r>
              <a:rPr lang="en-US" b="1" i="1" dirty="0" err="1"/>
              <a:t>kontainer.setLayout</a:t>
            </a:r>
            <a:r>
              <a:rPr lang="en-US" b="1" i="1" dirty="0"/>
              <a:t>(</a:t>
            </a:r>
            <a:r>
              <a:rPr lang="en-US" b="1" i="1" dirty="0">
                <a:solidFill>
                  <a:srgbClr val="FF0000"/>
                </a:solidFill>
              </a:rPr>
              <a:t>flow</a:t>
            </a:r>
            <a:r>
              <a:rPr lang="en-US" b="1" i="1" dirty="0"/>
              <a:t>); </a:t>
            </a:r>
            <a:r>
              <a:rPr lang="en-US" i="1" dirty="0"/>
              <a:t>                        	  </a:t>
            </a:r>
          </a:p>
          <a:p>
            <a:endParaRPr lang="en-US" sz="1300" dirty="0"/>
          </a:p>
          <a:p>
            <a:r>
              <a:rPr lang="en-US" dirty="0"/>
              <a:t>Cara3: </a:t>
            </a:r>
          </a:p>
          <a:p>
            <a:r>
              <a:rPr lang="en-US" b="1" i="1" dirty="0" err="1"/>
              <a:t>kontainer.setLayout</a:t>
            </a:r>
            <a:r>
              <a:rPr lang="en-US" b="1" i="1" dirty="0"/>
              <a:t>(new </a:t>
            </a:r>
            <a:r>
              <a:rPr lang="en-US" b="1" i="1" dirty="0" err="1"/>
              <a:t>FlowLayout</a:t>
            </a:r>
            <a:r>
              <a:rPr lang="en-US" b="1" i="1" dirty="0"/>
              <a:t>());</a:t>
            </a:r>
            <a:r>
              <a:rPr lang="en-US" i="1" dirty="0"/>
              <a:t>   	</a:t>
            </a:r>
            <a:endParaRPr lang="en-US" dirty="0"/>
          </a:p>
          <a:p>
            <a:r>
              <a:rPr lang="en-US" sz="1300" dirty="0"/>
              <a:t> </a:t>
            </a:r>
          </a:p>
          <a:p>
            <a:r>
              <a:rPr lang="en-US" dirty="0"/>
              <a:t>Cara4: 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jika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layout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4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ditiadakan</a:t>
            </a:r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Langkah-langkah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pembuatan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" y="1066800"/>
            <a:ext cx="9067800" cy="5105400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Langkah</a:t>
            </a:r>
            <a:r>
              <a:rPr lang="en-US" dirty="0"/>
              <a:t> 5 </a:t>
            </a:r>
          </a:p>
          <a:p>
            <a:r>
              <a:rPr lang="en-US" sz="2200" dirty="0" err="1"/>
              <a:t>Meletakkan</a:t>
            </a:r>
            <a:r>
              <a:rPr lang="en-US" sz="2200" dirty="0"/>
              <a:t> </a:t>
            </a:r>
            <a:r>
              <a:rPr lang="en-US" sz="2200" dirty="0" err="1"/>
              <a:t>setiap</a:t>
            </a:r>
            <a:r>
              <a:rPr lang="en-US" sz="2200" dirty="0"/>
              <a:t> </a:t>
            </a:r>
            <a:r>
              <a:rPr lang="en-US" sz="2200" dirty="0" err="1"/>
              <a:t>komponen</a:t>
            </a:r>
            <a:r>
              <a:rPr lang="en-US" sz="2200" dirty="0"/>
              <a:t> </a:t>
            </a:r>
            <a:r>
              <a:rPr lang="en-US" sz="2200" dirty="0" err="1"/>
              <a:t>ke</a:t>
            </a:r>
            <a:r>
              <a:rPr lang="en-US" sz="2200" dirty="0"/>
              <a:t> Container yg </a:t>
            </a:r>
            <a:r>
              <a:rPr lang="en-US" sz="2200" dirty="0" err="1"/>
              <a:t>sudah</a:t>
            </a:r>
            <a:r>
              <a:rPr lang="en-US" sz="2200" dirty="0"/>
              <a:t> di </a:t>
            </a:r>
            <a:r>
              <a:rPr lang="en-US" sz="2200" dirty="0" err="1"/>
              <a:t>dalam</a:t>
            </a:r>
            <a:r>
              <a:rPr lang="en-US" sz="2200" dirty="0"/>
              <a:t> frame. </a:t>
            </a:r>
          </a:p>
          <a:p>
            <a:endParaRPr lang="en-US" sz="1000" dirty="0"/>
          </a:p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r>
              <a:rPr lang="en-US" dirty="0"/>
              <a:t>Cara1 :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4 </a:t>
            </a:r>
            <a:r>
              <a:rPr lang="en-US" dirty="0" err="1"/>
              <a:t>seperti</a:t>
            </a:r>
            <a:r>
              <a:rPr lang="en-US" dirty="0"/>
              <a:t> cara2 </a:t>
            </a:r>
            <a:r>
              <a:rPr lang="en-US" dirty="0" err="1"/>
              <a:t>atau</a:t>
            </a:r>
            <a:r>
              <a:rPr lang="en-US" dirty="0"/>
              <a:t> cara3</a:t>
            </a:r>
          </a:p>
          <a:p>
            <a:r>
              <a:rPr lang="en-US" b="1" i="1" dirty="0" err="1"/>
              <a:t>kontainer.add</a:t>
            </a:r>
            <a:r>
              <a:rPr lang="en-US" b="1" i="1" dirty="0"/>
              <a:t>(</a:t>
            </a:r>
            <a:r>
              <a:rPr lang="en-US" b="1" i="1" dirty="0" err="1"/>
              <a:t>namaKomponen</a:t>
            </a:r>
            <a:r>
              <a:rPr lang="en-US" b="1" i="1" dirty="0"/>
              <a:t>);</a:t>
            </a:r>
            <a:endParaRPr lang="en-US" b="1" dirty="0"/>
          </a:p>
          <a:p>
            <a:endParaRPr lang="en-US" sz="1000" dirty="0"/>
          </a:p>
          <a:p>
            <a:r>
              <a:rPr lang="en-US" dirty="0"/>
              <a:t>Cara2 : 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4 </a:t>
            </a:r>
            <a:r>
              <a:rPr lang="en-US" dirty="0" err="1"/>
              <a:t>seperti</a:t>
            </a:r>
            <a:r>
              <a:rPr lang="en-US" dirty="0"/>
              <a:t> cara4</a:t>
            </a:r>
          </a:p>
          <a:p>
            <a:r>
              <a:rPr lang="en-US" dirty="0"/>
              <a:t>            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diletakkan</a:t>
            </a:r>
            <a:r>
              <a:rPr lang="en-US" dirty="0"/>
              <a:t> </a:t>
            </a:r>
          </a:p>
          <a:p>
            <a:r>
              <a:rPr lang="en-US" dirty="0"/>
              <a:t>            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frame: </a:t>
            </a:r>
          </a:p>
          <a:p>
            <a:r>
              <a:rPr lang="en-US" b="1" i="1" dirty="0" err="1"/>
              <a:t>frame.add</a:t>
            </a:r>
            <a:r>
              <a:rPr lang="en-US" b="1" i="1" dirty="0"/>
              <a:t>(</a:t>
            </a:r>
            <a:r>
              <a:rPr lang="en-US" b="1" i="1" dirty="0" err="1"/>
              <a:t>namaKomponen</a:t>
            </a:r>
            <a:r>
              <a:rPr lang="en-US" b="1" i="1" dirty="0"/>
              <a:t>); </a:t>
            </a:r>
            <a:r>
              <a:rPr lang="en-US" i="1" dirty="0"/>
              <a:t> </a:t>
            </a:r>
          </a:p>
          <a:p>
            <a:r>
              <a:rPr lang="en-US" dirty="0" err="1"/>
              <a:t>atau</a:t>
            </a:r>
            <a:r>
              <a:rPr lang="en-US" dirty="0"/>
              <a:t> </a:t>
            </a:r>
          </a:p>
          <a:p>
            <a:r>
              <a:rPr lang="en-US" b="1" i="1" dirty="0" err="1"/>
              <a:t>this.add</a:t>
            </a:r>
            <a:r>
              <a:rPr lang="en-US" b="1" i="1" dirty="0"/>
              <a:t>(</a:t>
            </a:r>
            <a:r>
              <a:rPr lang="en-US" b="1" i="1" dirty="0" err="1"/>
              <a:t>namaKomponen</a:t>
            </a:r>
            <a:r>
              <a:rPr lang="en-US" b="1" i="1" dirty="0"/>
              <a:t>);</a:t>
            </a:r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Langkah-langkah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pembuatan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14400"/>
            <a:ext cx="8839200" cy="5257800"/>
          </a:xfrm>
        </p:spPr>
        <p:txBody>
          <a:bodyPr>
            <a:normAutofit fontScale="70000" lnSpcReduction="20000"/>
          </a:bodyPr>
          <a:lstStyle/>
          <a:p>
            <a:r>
              <a:rPr lang="en-US" sz="3000" dirty="0"/>
              <a:t>Langkah 6 </a:t>
            </a:r>
            <a:r>
              <a:rPr lang="en-US" sz="3000" dirty="0" err="1"/>
              <a:t>Menambah</a:t>
            </a:r>
            <a:r>
              <a:rPr lang="en-US" sz="3000" dirty="0"/>
              <a:t> </a:t>
            </a:r>
            <a:r>
              <a:rPr lang="en-US" sz="3000" i="1" dirty="0"/>
              <a:t>event listener</a:t>
            </a:r>
            <a:r>
              <a:rPr lang="en-US" sz="3000" dirty="0"/>
              <a:t> (</a:t>
            </a:r>
            <a:r>
              <a:rPr lang="en-US" sz="3000" dirty="0" err="1"/>
              <a:t>mengenal</a:t>
            </a:r>
            <a:r>
              <a:rPr lang="en-US" sz="3000" dirty="0"/>
              <a:t> </a:t>
            </a:r>
            <a:r>
              <a:rPr lang="en-US" sz="3000" dirty="0" err="1"/>
              <a:t>aksi</a:t>
            </a:r>
            <a:r>
              <a:rPr lang="en-US" sz="3000" dirty="0"/>
              <a:t> user) </a:t>
            </a:r>
          </a:p>
          <a:p>
            <a:r>
              <a:rPr lang="en-US" sz="3000" dirty="0"/>
              <a:t>                 dan </a:t>
            </a:r>
            <a:r>
              <a:rPr lang="en-US" sz="3000" i="1" dirty="0"/>
              <a:t>event handler</a:t>
            </a:r>
            <a:r>
              <a:rPr lang="en-US" sz="3000" dirty="0"/>
              <a:t>  (</a:t>
            </a:r>
            <a:r>
              <a:rPr lang="en-US" sz="3000" dirty="0" err="1"/>
              <a:t>reaksi</a:t>
            </a:r>
            <a:r>
              <a:rPr lang="en-US" sz="3000" dirty="0"/>
              <a:t> </a:t>
            </a:r>
            <a:r>
              <a:rPr lang="en-US" sz="3000" dirty="0" err="1"/>
              <a:t>sistem</a:t>
            </a:r>
            <a:r>
              <a:rPr lang="en-US" sz="3000" dirty="0"/>
              <a:t>).</a:t>
            </a:r>
          </a:p>
          <a:p>
            <a:r>
              <a:rPr lang="en-US" sz="1300" dirty="0"/>
              <a:t> </a:t>
            </a:r>
          </a:p>
          <a:p>
            <a:r>
              <a:rPr lang="en-US" sz="2800" dirty="0" err="1"/>
              <a:t>Ada</a:t>
            </a:r>
            <a:r>
              <a:rPr lang="en-US" sz="2800" dirty="0"/>
              <a:t> </a:t>
            </a:r>
            <a:r>
              <a:rPr lang="en-US" sz="2800" dirty="0" err="1"/>
              <a:t>tiga</a:t>
            </a:r>
            <a:r>
              <a:rPr lang="en-US" sz="2800" dirty="0"/>
              <a:t> </a:t>
            </a:r>
            <a:r>
              <a:rPr lang="en-US" sz="2800" dirty="0" err="1"/>
              <a:t>cara</a:t>
            </a:r>
            <a:r>
              <a:rPr lang="en-US" sz="2800" dirty="0"/>
              <a:t> </a:t>
            </a:r>
            <a:r>
              <a:rPr lang="en-US" sz="2800" dirty="0" err="1"/>
              <a:t>menangani</a:t>
            </a:r>
            <a:r>
              <a:rPr lang="en-US" sz="2800" dirty="0"/>
              <a:t> event: </a:t>
            </a:r>
          </a:p>
          <a:p>
            <a:pPr marL="109728" lvl="0" indent="0">
              <a:buNone/>
            </a:pPr>
            <a:r>
              <a:rPr lang="en-US" sz="2800" dirty="0"/>
              <a:t>1. Event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dihandle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langsung</a:t>
            </a:r>
            <a:r>
              <a:rPr lang="en-US" sz="2800" dirty="0">
                <a:solidFill>
                  <a:srgbClr val="FF0000"/>
                </a:solidFill>
              </a:rPr>
              <a:t> oleh class pada langkah1</a:t>
            </a:r>
            <a:r>
              <a:rPr lang="en-US" sz="2800" dirty="0"/>
              <a:t> </a:t>
            </a:r>
          </a:p>
          <a:p>
            <a:r>
              <a:rPr lang="en-US" sz="2800" dirty="0"/>
              <a:t> Implements listener </a:t>
            </a:r>
            <a:r>
              <a:rPr lang="en-US" sz="2800" dirty="0" err="1"/>
              <a:t>dari</a:t>
            </a:r>
            <a:r>
              <a:rPr lang="en-US" sz="2800" dirty="0"/>
              <a:t> constructor : </a:t>
            </a:r>
          </a:p>
          <a:p>
            <a:r>
              <a:rPr lang="en-US" sz="2800" dirty="0"/>
              <a:t> </a:t>
            </a:r>
            <a:r>
              <a:rPr lang="en-US" sz="2800" dirty="0" err="1"/>
              <a:t>Buat</a:t>
            </a:r>
            <a:r>
              <a:rPr lang="en-US" sz="2800" dirty="0"/>
              <a:t> method event handler dan </a:t>
            </a:r>
            <a:r>
              <a:rPr lang="en-US" sz="2800" dirty="0" err="1"/>
              <a:t>panggil</a:t>
            </a:r>
            <a:r>
              <a:rPr lang="en-US" sz="2800" dirty="0"/>
              <a:t> listener di </a:t>
            </a:r>
            <a:r>
              <a:rPr lang="en-US" sz="2800" dirty="0" err="1"/>
              <a:t>dalam</a:t>
            </a:r>
            <a:r>
              <a:rPr lang="en-US" sz="2800" dirty="0"/>
              <a:t> Class </a:t>
            </a:r>
            <a:r>
              <a:rPr lang="en-US" sz="2800" dirty="0" err="1"/>
              <a:t>tsb</a:t>
            </a:r>
            <a:r>
              <a:rPr lang="en-US" sz="2800" dirty="0"/>
              <a:t>     </a:t>
            </a:r>
          </a:p>
          <a:p>
            <a:endParaRPr lang="en-US" sz="1300" dirty="0"/>
          </a:p>
          <a:p>
            <a:pPr lvl="0">
              <a:buNone/>
            </a:pPr>
            <a:r>
              <a:rPr lang="en-US" sz="2800" dirty="0"/>
              <a:t>2. Event </a:t>
            </a:r>
            <a:r>
              <a:rPr lang="en-US" sz="2800" dirty="0" err="1">
                <a:solidFill>
                  <a:srgbClr val="FF0000"/>
                </a:solidFill>
              </a:rPr>
              <a:t>dihandle</a:t>
            </a:r>
            <a:r>
              <a:rPr lang="en-US" sz="2800" dirty="0">
                <a:solidFill>
                  <a:srgbClr val="FF0000"/>
                </a:solidFill>
              </a:rPr>
              <a:t> class lain</a:t>
            </a:r>
            <a:r>
              <a:rPr lang="en-US" sz="2800" dirty="0"/>
              <a:t> (</a:t>
            </a:r>
            <a:r>
              <a:rPr lang="en-US" sz="2800" dirty="0" err="1"/>
              <a:t>langkah</a:t>
            </a:r>
            <a:r>
              <a:rPr lang="en-US" sz="2800" dirty="0"/>
              <a:t> 6a, 6b, 6c)</a:t>
            </a:r>
          </a:p>
          <a:p>
            <a:pPr lvl="0">
              <a:buNone/>
            </a:pPr>
            <a:r>
              <a:rPr lang="en-US" sz="2800" dirty="0"/>
              <a:t>    </a:t>
            </a:r>
            <a:r>
              <a:rPr lang="en-US" sz="2800" dirty="0" err="1"/>
              <a:t>Boleh</a:t>
            </a:r>
            <a:r>
              <a:rPr lang="en-US" sz="2800" dirty="0"/>
              <a:t> </a:t>
            </a:r>
            <a:r>
              <a:rPr lang="en-US" sz="2800" dirty="0" err="1"/>
              <a:t>dihandle</a:t>
            </a:r>
            <a:r>
              <a:rPr lang="en-US" sz="2800" dirty="0"/>
              <a:t> </a:t>
            </a:r>
            <a:r>
              <a:rPr lang="en-US" sz="2800" b="1" dirty="0" err="1"/>
              <a:t>InnerClass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nama</a:t>
            </a:r>
            <a:r>
              <a:rPr lang="en-US" sz="2800" dirty="0"/>
              <a:t> </a:t>
            </a:r>
            <a:r>
              <a:rPr lang="en-US" sz="2800" i="1" dirty="0" err="1">
                <a:solidFill>
                  <a:srgbClr val="0070C0"/>
                </a:solidFill>
              </a:rPr>
              <a:t>Caption</a:t>
            </a:r>
            <a:r>
              <a:rPr lang="en-US" sz="2800" dirty="0" err="1"/>
              <a:t>Listener</a:t>
            </a:r>
            <a:r>
              <a:rPr lang="en-US" sz="2800" dirty="0"/>
              <a:t>.</a:t>
            </a:r>
          </a:p>
          <a:p>
            <a:r>
              <a:rPr lang="en-US" sz="2800" i="1" dirty="0"/>
              <a:t> </a:t>
            </a:r>
            <a:r>
              <a:rPr lang="en-US" sz="2800" dirty="0"/>
              <a:t>(</a:t>
            </a:r>
            <a:r>
              <a:rPr lang="en-US" sz="2600" i="1" dirty="0">
                <a:solidFill>
                  <a:srgbClr val="0070C0"/>
                </a:solidFill>
              </a:rPr>
              <a:t>Caption</a:t>
            </a:r>
            <a:r>
              <a:rPr lang="en-US" sz="2600" dirty="0"/>
              <a:t> </a:t>
            </a:r>
            <a:r>
              <a:rPr lang="en-US" sz="2600" dirty="0" err="1"/>
              <a:t>bersifat</a:t>
            </a:r>
            <a:r>
              <a:rPr lang="en-US" sz="2600" dirty="0"/>
              <a:t> </a:t>
            </a:r>
            <a:r>
              <a:rPr lang="en-US" sz="2600" dirty="0" err="1"/>
              <a:t>variabel</a:t>
            </a:r>
            <a:r>
              <a:rPr lang="en-US" sz="2600" dirty="0"/>
              <a:t> yang </a:t>
            </a:r>
            <a:r>
              <a:rPr lang="en-US" sz="2600" dirty="0" err="1"/>
              <a:t>berisi</a:t>
            </a:r>
            <a:r>
              <a:rPr lang="en-US" sz="2600" dirty="0"/>
              <a:t> </a:t>
            </a:r>
            <a:r>
              <a:rPr lang="en-US" sz="2600" dirty="0" err="1"/>
              <a:t>captionnya</a:t>
            </a:r>
            <a:r>
              <a:rPr lang="en-US" sz="2600" dirty="0"/>
              <a:t> </a:t>
            </a:r>
            <a:r>
              <a:rPr lang="en-US" sz="2600" dirty="0" err="1"/>
              <a:t>komponen</a:t>
            </a:r>
            <a:r>
              <a:rPr lang="en-US" sz="2600" dirty="0"/>
              <a:t>),</a:t>
            </a:r>
          </a:p>
          <a:p>
            <a:pPr>
              <a:buNone/>
            </a:pPr>
            <a:r>
              <a:rPr lang="en-US" sz="2600" dirty="0"/>
              <a:t>    </a:t>
            </a:r>
            <a:r>
              <a:rPr lang="en-US" sz="2600" dirty="0" err="1"/>
              <a:t>dengan</a:t>
            </a:r>
            <a:r>
              <a:rPr lang="en-US" sz="2600" dirty="0"/>
              <a:t> </a:t>
            </a:r>
            <a:r>
              <a:rPr lang="en-US" sz="2600" dirty="0" err="1"/>
              <a:t>cara</a:t>
            </a:r>
            <a:r>
              <a:rPr lang="en-US" sz="2600" dirty="0"/>
              <a:t>:</a:t>
            </a:r>
          </a:p>
          <a:p>
            <a:r>
              <a:rPr lang="en-US" sz="2800" dirty="0"/>
              <a:t> </a:t>
            </a:r>
            <a:r>
              <a:rPr lang="en-US" sz="2800" dirty="0" err="1"/>
              <a:t>Membuat</a:t>
            </a:r>
            <a:r>
              <a:rPr lang="en-US" sz="2800" dirty="0"/>
              <a:t> </a:t>
            </a:r>
            <a:r>
              <a:rPr lang="en-US" sz="2800" dirty="0" err="1"/>
              <a:t>objek</a:t>
            </a:r>
            <a:r>
              <a:rPr lang="en-US" sz="2800" dirty="0"/>
              <a:t> listener </a:t>
            </a:r>
          </a:p>
          <a:p>
            <a:r>
              <a:rPr lang="en-US" sz="2800" dirty="0"/>
              <a:t> </a:t>
            </a:r>
            <a:r>
              <a:rPr lang="en-US" sz="2800" dirty="0" err="1"/>
              <a:t>Komponen</a:t>
            </a:r>
            <a:r>
              <a:rPr lang="en-US" sz="2800" dirty="0"/>
              <a:t> </a:t>
            </a:r>
            <a:r>
              <a:rPr lang="en-US" sz="2800" dirty="0" err="1"/>
              <a:t>memanggil</a:t>
            </a:r>
            <a:r>
              <a:rPr lang="en-US" sz="2800" dirty="0"/>
              <a:t> listener </a:t>
            </a:r>
            <a:r>
              <a:rPr lang="en-US" sz="2800" dirty="0" err="1"/>
              <a:t>menggunakan</a:t>
            </a:r>
            <a:r>
              <a:rPr lang="en-US" sz="2800" dirty="0"/>
              <a:t> constructor.</a:t>
            </a:r>
          </a:p>
          <a:p>
            <a:pPr lvl="0"/>
            <a:endParaRPr lang="en-US" sz="1300" dirty="0"/>
          </a:p>
          <a:p>
            <a:pPr lvl="0">
              <a:buNone/>
            </a:pPr>
            <a:r>
              <a:rPr lang="en-US" dirty="0"/>
              <a:t>3. </a:t>
            </a:r>
            <a:r>
              <a:rPr lang="en-US" sz="2800" dirty="0"/>
              <a:t>Dari </a:t>
            </a:r>
            <a:r>
              <a:rPr lang="en-US" sz="2800" dirty="0" err="1"/>
              <a:t>dalam</a:t>
            </a:r>
            <a:r>
              <a:rPr lang="en-US" sz="2800" dirty="0"/>
              <a:t> constructor, Event </a:t>
            </a:r>
            <a:r>
              <a:rPr lang="en-US" sz="2800" dirty="0" err="1">
                <a:solidFill>
                  <a:srgbClr val="FF0000"/>
                </a:solidFill>
              </a:rPr>
              <a:t>dihandle</a:t>
            </a:r>
            <a:r>
              <a:rPr lang="en-US" sz="2800" dirty="0">
                <a:solidFill>
                  <a:srgbClr val="FF0000"/>
                </a:solidFill>
              </a:rPr>
              <a:t> Anonymous Class</a:t>
            </a:r>
            <a:r>
              <a:rPr lang="en-US" sz="2800" dirty="0"/>
              <a:t>. </a:t>
            </a:r>
          </a:p>
          <a:p>
            <a:r>
              <a:rPr lang="en-US" sz="2800" dirty="0"/>
              <a:t> </a:t>
            </a:r>
            <a:r>
              <a:rPr lang="en-US" dirty="0"/>
              <a:t>Method event handler </a:t>
            </a:r>
            <a:r>
              <a:rPr lang="en-US" dirty="0" err="1"/>
              <a:t>dimasukkan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method </a:t>
            </a:r>
            <a:r>
              <a:rPr lang="en-US" b="1" i="1" dirty="0" err="1"/>
              <a:t>addListener</a:t>
            </a:r>
            <a:r>
              <a:rPr lang="en-US" b="1" i="1" dirty="0"/>
              <a:t>()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    yang </a:t>
            </a:r>
            <a:r>
              <a:rPr lang="en-US" dirty="0" err="1"/>
              <a:t>dipanggil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Langkah-langkah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pembuatan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105400"/>
          </a:xfrm>
        </p:spPr>
        <p:txBody>
          <a:bodyPr>
            <a:normAutofit fontScale="92500"/>
          </a:bodyPr>
          <a:lstStyle/>
          <a:p>
            <a:r>
              <a:rPr lang="en-US" dirty="0"/>
              <a:t>Class yang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implements </a:t>
            </a:r>
            <a:r>
              <a:rPr lang="en-US" dirty="0" err="1"/>
              <a:t>dari</a:t>
            </a:r>
            <a:r>
              <a:rPr lang="en-US" dirty="0"/>
              <a:t> interface listener yang standard, </a:t>
            </a:r>
          </a:p>
          <a:p>
            <a:pPr>
              <a:buNone/>
            </a:pPr>
            <a:r>
              <a:rPr lang="en-US" dirty="0"/>
              <a:t>  </a:t>
            </a:r>
            <a:r>
              <a:rPr lang="en-US" dirty="0" err="1"/>
              <a:t>sehingga</a:t>
            </a:r>
            <a:r>
              <a:rPr lang="en-US" dirty="0"/>
              <a:t> event </a:t>
            </a:r>
            <a:r>
              <a:rPr lang="en-US" dirty="0" err="1"/>
              <a:t>dihandle</a:t>
            </a:r>
            <a:r>
              <a:rPr lang="en-US" dirty="0"/>
              <a:t> class lain (</a:t>
            </a:r>
            <a:r>
              <a:rPr lang="en-US" dirty="0" err="1"/>
              <a:t>boleh</a:t>
            </a:r>
            <a:r>
              <a:rPr lang="en-US" dirty="0"/>
              <a:t> Inner class) yang </a:t>
            </a:r>
            <a:r>
              <a:rPr lang="en-US" dirty="0" err="1"/>
              <a:t>juga</a:t>
            </a:r>
            <a:r>
              <a:rPr lang="en-US" dirty="0"/>
              <a:t> implements </a:t>
            </a:r>
            <a:r>
              <a:rPr lang="en-US" dirty="0" err="1"/>
              <a:t>dari</a:t>
            </a:r>
            <a:r>
              <a:rPr lang="en-US" dirty="0"/>
              <a:t> interface listener standard. </a:t>
            </a:r>
          </a:p>
          <a:p>
            <a:endParaRPr lang="en-US" dirty="0"/>
          </a:p>
          <a:p>
            <a:pPr lvl="0">
              <a:buNone/>
            </a:pPr>
            <a:r>
              <a:rPr lang="en-US" dirty="0"/>
              <a:t>6a. </a:t>
            </a:r>
            <a:r>
              <a:rPr lang="en-US" dirty="0" err="1"/>
              <a:t>Buat</a:t>
            </a:r>
            <a:r>
              <a:rPr lang="en-US" dirty="0"/>
              <a:t> Inner Class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b="1" i="1" dirty="0" err="1"/>
              <a:t>Caption</a:t>
            </a:r>
            <a:r>
              <a:rPr lang="en-US" dirty="0" err="1"/>
              <a:t>Listener</a:t>
            </a:r>
            <a:endParaRPr lang="en-US" dirty="0"/>
          </a:p>
          <a:p>
            <a:pPr>
              <a:buNone/>
            </a:pPr>
            <a:r>
              <a:rPr lang="en-US" dirty="0"/>
              <a:t>      </a:t>
            </a:r>
            <a:r>
              <a:rPr lang="en-US" dirty="0" err="1"/>
              <a:t>dengan</a:t>
            </a:r>
            <a:r>
              <a:rPr lang="en-US" dirty="0"/>
              <a:t> event listener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u="sng" dirty="0" err="1"/>
              <a:t>jenis</a:t>
            </a:r>
            <a:r>
              <a:rPr lang="en-US" u="sng" dirty="0"/>
              <a:t>  </a:t>
            </a:r>
          </a:p>
          <a:p>
            <a:pPr>
              <a:buNone/>
            </a:pPr>
            <a:r>
              <a:rPr lang="en-US" dirty="0"/>
              <a:t>      </a:t>
            </a:r>
            <a:r>
              <a:rPr lang="en-US" u="sng" dirty="0"/>
              <a:t>event</a:t>
            </a:r>
            <a:r>
              <a:rPr lang="en-US" dirty="0"/>
              <a:t> yang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dikenali</a:t>
            </a:r>
            <a:r>
              <a:rPr lang="en-US" dirty="0"/>
              <a:t>.</a:t>
            </a:r>
          </a:p>
          <a:p>
            <a:endParaRPr lang="en-US" sz="1300" dirty="0"/>
          </a:p>
          <a:p>
            <a:r>
              <a:rPr lang="en-US" dirty="0"/>
              <a:t>Class Inner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extends </a:t>
            </a:r>
            <a:r>
              <a:rPr lang="en-US" dirty="0" err="1"/>
              <a:t>dan</a:t>
            </a:r>
            <a:r>
              <a:rPr lang="en-US" dirty="0"/>
              <a:t>/</a:t>
            </a:r>
            <a:r>
              <a:rPr lang="en-US" dirty="0" err="1"/>
              <a:t>atau</a:t>
            </a:r>
            <a:r>
              <a:rPr lang="en-US" dirty="0"/>
              <a:t> implements </a:t>
            </a:r>
            <a:r>
              <a:rPr lang="en-US" dirty="0" err="1"/>
              <a:t>dari</a:t>
            </a:r>
            <a:r>
              <a:rPr lang="en-US" dirty="0"/>
              <a:t> class standard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b="1" i="1" dirty="0" err="1">
                <a:solidFill>
                  <a:srgbClr val="0070C0"/>
                </a:solidFill>
              </a:rPr>
              <a:t>JenisEvent</a:t>
            </a:r>
            <a:r>
              <a:rPr lang="en-US" dirty="0" err="1"/>
              <a:t>Listener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effectLst/>
              </a:rPr>
              <a:t>Langkah6 cara2, </a:t>
            </a:r>
            <a:r>
              <a:rPr lang="en-US" sz="3000" dirty="0" err="1">
                <a:effectLst/>
              </a:rPr>
              <a:t>pembuatan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105400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6a :</a:t>
            </a:r>
          </a:p>
          <a:p>
            <a:r>
              <a:rPr lang="en-US" dirty="0"/>
              <a:t>// class event listener</a:t>
            </a:r>
          </a:p>
          <a:p>
            <a:r>
              <a:rPr lang="en-US" b="1" i="1" dirty="0"/>
              <a:t>class </a:t>
            </a:r>
            <a:r>
              <a:rPr lang="en-US" b="1" i="1" dirty="0" err="1"/>
              <a:t>CancelListener</a:t>
            </a:r>
            <a:r>
              <a:rPr lang="en-US" b="1" i="1" dirty="0"/>
              <a:t> implements </a:t>
            </a:r>
            <a:r>
              <a:rPr lang="en-US" b="1" i="1" dirty="0" err="1"/>
              <a:t>ActionListener</a:t>
            </a:r>
            <a:r>
              <a:rPr lang="en-US" b="1" i="1" dirty="0"/>
              <a:t> {</a:t>
            </a:r>
            <a:endParaRPr lang="en-US" b="1" dirty="0"/>
          </a:p>
          <a:p>
            <a:r>
              <a:rPr lang="en-US" b="1" i="1" dirty="0"/>
              <a:t>    </a:t>
            </a:r>
            <a:r>
              <a:rPr lang="en-US" dirty="0"/>
              <a:t>// method() event handling</a:t>
            </a:r>
          </a:p>
          <a:p>
            <a:r>
              <a:rPr lang="en-US" b="1" i="1" dirty="0"/>
              <a:t>    public void </a:t>
            </a:r>
            <a:r>
              <a:rPr lang="en-US" b="1" i="1" dirty="0" err="1"/>
              <a:t>actionPerformed</a:t>
            </a:r>
            <a:r>
              <a:rPr lang="en-US" b="1" i="1" dirty="0"/>
              <a:t>(</a:t>
            </a:r>
            <a:r>
              <a:rPr lang="en-US" b="1" i="1" dirty="0" err="1"/>
              <a:t>ActionEvent</a:t>
            </a:r>
            <a:r>
              <a:rPr lang="en-US" b="1" i="1" dirty="0"/>
              <a:t> e) { </a:t>
            </a:r>
            <a:endParaRPr lang="en-US" b="1" dirty="0"/>
          </a:p>
          <a:p>
            <a:r>
              <a:rPr lang="en-US" b="1" i="1" dirty="0"/>
              <a:t>        </a:t>
            </a:r>
            <a:r>
              <a:rPr lang="en-US" b="1" i="1" dirty="0" err="1"/>
              <a:t>fieldNama.setText</a:t>
            </a:r>
            <a:r>
              <a:rPr lang="en-US" b="1" i="1" dirty="0"/>
              <a:t>(null);</a:t>
            </a:r>
            <a:endParaRPr lang="en-US" b="1" dirty="0"/>
          </a:p>
          <a:p>
            <a:r>
              <a:rPr lang="en-US" b="1" i="1" dirty="0"/>
              <a:t>        </a:t>
            </a:r>
            <a:r>
              <a:rPr lang="en-US" b="1" i="1" dirty="0" err="1"/>
              <a:t>fieldPassword.setText</a:t>
            </a:r>
            <a:r>
              <a:rPr lang="en-US" b="1" i="1" dirty="0"/>
              <a:t>(null);</a:t>
            </a:r>
            <a:endParaRPr lang="en-US" b="1" dirty="0"/>
          </a:p>
          <a:p>
            <a:r>
              <a:rPr lang="en-US" b="1" i="1" dirty="0"/>
              <a:t>    }</a:t>
            </a:r>
            <a:endParaRPr lang="en-US" b="1" dirty="0"/>
          </a:p>
          <a:p>
            <a:r>
              <a:rPr lang="en-US" b="1" i="1" dirty="0"/>
              <a:t>}</a:t>
            </a:r>
            <a:endParaRPr lang="en-US" b="1" dirty="0"/>
          </a:p>
          <a:p>
            <a:r>
              <a:rPr lang="en-US" dirty="0"/>
              <a:t>// class event listener yang lain</a:t>
            </a:r>
          </a:p>
          <a:p>
            <a:r>
              <a:rPr lang="en-US" b="1" i="1" dirty="0"/>
              <a:t>class </a:t>
            </a:r>
            <a:r>
              <a:rPr lang="en-US" b="1" i="1" dirty="0" err="1"/>
              <a:t>MyMouseListener</a:t>
            </a:r>
            <a:r>
              <a:rPr lang="en-US" b="1" i="1" dirty="0"/>
              <a:t> extends </a:t>
            </a:r>
            <a:r>
              <a:rPr lang="en-US" b="1" i="1" dirty="0" err="1"/>
              <a:t>MouseAdapter</a:t>
            </a:r>
            <a:r>
              <a:rPr lang="en-US" b="1" i="1" dirty="0"/>
              <a:t> { </a:t>
            </a:r>
            <a:endParaRPr lang="en-US" b="1" dirty="0"/>
          </a:p>
          <a:p>
            <a:r>
              <a:rPr lang="en-US" b="1" dirty="0"/>
              <a:t>    </a:t>
            </a:r>
            <a:r>
              <a:rPr lang="en-US" dirty="0"/>
              <a:t>// method() event handling</a:t>
            </a:r>
          </a:p>
          <a:p>
            <a:r>
              <a:rPr lang="en-US" b="1" i="1" dirty="0"/>
              <a:t>    public void </a:t>
            </a:r>
            <a:r>
              <a:rPr lang="en-US" b="1" i="1" dirty="0" err="1"/>
              <a:t>mouseEntered</a:t>
            </a:r>
            <a:r>
              <a:rPr lang="en-US" b="1" i="1" dirty="0"/>
              <a:t>(</a:t>
            </a:r>
            <a:r>
              <a:rPr lang="en-US" b="1" i="1" dirty="0" err="1"/>
              <a:t>MouseEvent</a:t>
            </a:r>
            <a:r>
              <a:rPr lang="en-US" b="1" i="1" dirty="0"/>
              <a:t> e) { </a:t>
            </a:r>
            <a:endParaRPr lang="en-US" b="1" dirty="0"/>
          </a:p>
          <a:p>
            <a:r>
              <a:rPr lang="en-US" b="1" i="1" dirty="0"/>
              <a:t>        </a:t>
            </a:r>
            <a:r>
              <a:rPr lang="en-US" dirty="0"/>
              <a:t>// code program</a:t>
            </a:r>
          </a:p>
          <a:p>
            <a:r>
              <a:rPr lang="en-US" b="1" i="1" dirty="0"/>
              <a:t>    }</a:t>
            </a:r>
            <a:endParaRPr lang="en-US" b="1" dirty="0"/>
          </a:p>
          <a:p>
            <a:r>
              <a:rPr lang="en-US" b="1" i="1" dirty="0"/>
              <a:t>}</a:t>
            </a:r>
            <a:endParaRPr lang="en-US" b="1" dirty="0"/>
          </a:p>
          <a:p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effectLst/>
              </a:rPr>
              <a:t>Langkah6 cara2, </a:t>
            </a:r>
            <a:r>
              <a:rPr lang="en-US" sz="3000" dirty="0" err="1">
                <a:effectLst/>
              </a:rPr>
              <a:t>pembuatan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1054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6b. </a:t>
            </a: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Listener yang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6a </a:t>
            </a:r>
          </a:p>
          <a:p>
            <a:pPr lvl="0"/>
            <a:r>
              <a:rPr lang="en-US" dirty="0"/>
              <a:t>      </a:t>
            </a:r>
            <a:r>
              <a:rPr lang="en-US" dirty="0" err="1"/>
              <a:t>dari</a:t>
            </a:r>
            <a:r>
              <a:rPr lang="en-US" dirty="0"/>
              <a:t> constructor </a:t>
            </a:r>
            <a:r>
              <a:rPr lang="en-US" dirty="0" err="1"/>
              <a:t>milik</a:t>
            </a:r>
            <a:r>
              <a:rPr lang="en-US" dirty="0"/>
              <a:t> inner class, </a:t>
            </a:r>
          </a:p>
          <a:p>
            <a:pPr lvl="0">
              <a:buNone/>
            </a:pPr>
            <a:r>
              <a:rPr lang="en-US" dirty="0"/>
              <a:t>.</a:t>
            </a:r>
          </a:p>
          <a:p>
            <a:pPr lvl="0"/>
            <a:endParaRPr lang="en-US" sz="1000" dirty="0"/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6b:</a:t>
            </a:r>
          </a:p>
          <a:p>
            <a:r>
              <a:rPr lang="en-US" b="1" i="1" dirty="0" err="1"/>
              <a:t>CancelListener</a:t>
            </a:r>
            <a:r>
              <a:rPr lang="en-US" b="1" i="1" dirty="0"/>
              <a:t> </a:t>
            </a:r>
            <a:r>
              <a:rPr lang="en-US" b="1" i="1" dirty="0" err="1">
                <a:solidFill>
                  <a:srgbClr val="FF0000"/>
                </a:solidFill>
              </a:rPr>
              <a:t>clist</a:t>
            </a:r>
            <a:r>
              <a:rPr lang="en-US" b="1" i="1" dirty="0"/>
              <a:t> = new </a:t>
            </a:r>
            <a:r>
              <a:rPr lang="en-US" b="1" i="1" dirty="0" err="1"/>
              <a:t>CancelListener</a:t>
            </a:r>
            <a:r>
              <a:rPr lang="en-US" b="1" i="1" dirty="0"/>
              <a:t>();</a:t>
            </a:r>
            <a:endParaRPr lang="en-US" b="1" dirty="0"/>
          </a:p>
          <a:p>
            <a:r>
              <a:rPr lang="en-US" sz="2400" b="1" i="1" dirty="0" err="1"/>
              <a:t>MyMouseListener</a:t>
            </a:r>
            <a:r>
              <a:rPr lang="en-US" sz="2400" b="1" i="1" dirty="0"/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mlist</a:t>
            </a:r>
            <a:r>
              <a:rPr lang="en-US" sz="2400" b="1" i="1" dirty="0"/>
              <a:t> = new </a:t>
            </a:r>
            <a:r>
              <a:rPr lang="en-US" sz="2400" b="1" i="1" dirty="0" err="1"/>
              <a:t>MyMouseListener</a:t>
            </a:r>
            <a:r>
              <a:rPr lang="en-US" sz="2400" b="1" i="1" dirty="0"/>
              <a:t>();</a:t>
            </a:r>
            <a:endParaRPr lang="en-US" sz="24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effectLst/>
              </a:rPr>
              <a:t>Langkah6 cara2, </a:t>
            </a:r>
            <a:r>
              <a:rPr lang="en-US" sz="3000" dirty="0" err="1">
                <a:effectLst/>
              </a:rPr>
              <a:t>pembuatan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1054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6c. Dari constructor, </a:t>
            </a:r>
            <a:r>
              <a:rPr lang="en-US" dirty="0" err="1"/>
              <a:t>masukkan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Listener  </a:t>
            </a:r>
          </a:p>
          <a:p>
            <a:pPr lvl="0">
              <a:buNone/>
            </a:pPr>
            <a:r>
              <a:rPr lang="en-US" dirty="0"/>
              <a:t>        </a:t>
            </a:r>
            <a:r>
              <a:rPr lang="en-US" dirty="0" err="1"/>
              <a:t>sebagai</a:t>
            </a:r>
            <a:r>
              <a:rPr lang="en-US" dirty="0"/>
              <a:t> parameter </a:t>
            </a:r>
            <a:r>
              <a:rPr lang="en-US" dirty="0" err="1"/>
              <a:t>milik</a:t>
            </a:r>
            <a:r>
              <a:rPr lang="en-US" dirty="0"/>
              <a:t> method  </a:t>
            </a:r>
          </a:p>
          <a:p>
            <a:pPr lvl="0">
              <a:buNone/>
            </a:pPr>
            <a:r>
              <a:rPr lang="en-US" i="1" dirty="0"/>
              <a:t>        </a:t>
            </a:r>
            <a:r>
              <a:rPr lang="en-US" i="1" dirty="0" err="1"/>
              <a:t>add</a:t>
            </a:r>
            <a:r>
              <a:rPr lang="en-US" b="1" i="1" dirty="0" err="1"/>
              <a:t>jenisevent</a:t>
            </a:r>
            <a:r>
              <a:rPr lang="en-US" i="1" dirty="0" err="1"/>
              <a:t>Listener</a:t>
            </a:r>
            <a:r>
              <a:rPr lang="en-US" i="1" dirty="0"/>
              <a:t>()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yang </a:t>
            </a:r>
          </a:p>
          <a:p>
            <a:pPr lvl="0">
              <a:buNone/>
            </a:pPr>
            <a:r>
              <a:rPr lang="en-US" dirty="0"/>
              <a:t>        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memanggilnya</a:t>
            </a:r>
            <a:r>
              <a:rPr lang="en-US" dirty="0"/>
              <a:t>, </a:t>
            </a:r>
          </a:p>
          <a:p>
            <a:pPr lvl="0">
              <a:buNone/>
            </a:pPr>
            <a:r>
              <a:rPr lang="en-US" dirty="0"/>
              <a:t>        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:</a:t>
            </a:r>
          </a:p>
          <a:p>
            <a:r>
              <a:rPr lang="en-US" sz="2000" b="1" i="1" dirty="0" err="1"/>
              <a:t>namaComponent.addJenisEventListener</a:t>
            </a:r>
            <a:r>
              <a:rPr lang="en-US" sz="2000" b="1" i="1" dirty="0"/>
              <a:t>(</a:t>
            </a:r>
            <a:r>
              <a:rPr lang="en-US" sz="2000" b="1" i="1" dirty="0" err="1"/>
              <a:t>namaObjekListener</a:t>
            </a:r>
            <a:r>
              <a:rPr lang="en-US" sz="2000" b="1" i="1" dirty="0"/>
              <a:t>);</a:t>
            </a:r>
            <a:endParaRPr lang="en-US" sz="2000" b="1" dirty="0"/>
          </a:p>
          <a:p>
            <a:endParaRPr lang="en-US" sz="1000" dirty="0"/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6c :</a:t>
            </a:r>
          </a:p>
          <a:p>
            <a:r>
              <a:rPr lang="en-US" b="1" i="1" dirty="0" err="1"/>
              <a:t>bCancel.addActionListener</a:t>
            </a:r>
            <a:r>
              <a:rPr lang="en-US" b="1" i="1" dirty="0"/>
              <a:t>(</a:t>
            </a:r>
            <a:r>
              <a:rPr lang="en-US" b="1" i="1" dirty="0" err="1">
                <a:solidFill>
                  <a:srgbClr val="FF0000"/>
                </a:solidFill>
              </a:rPr>
              <a:t>clist</a:t>
            </a:r>
            <a:r>
              <a:rPr lang="en-US" b="1" i="1" dirty="0"/>
              <a:t>);</a:t>
            </a:r>
            <a:endParaRPr lang="en-US" b="1" dirty="0"/>
          </a:p>
          <a:p>
            <a:r>
              <a:rPr lang="en-US" b="1" i="1" dirty="0" err="1"/>
              <a:t>tfUserName.addMouseListener</a:t>
            </a:r>
            <a:r>
              <a:rPr lang="en-US" b="1" i="1" dirty="0"/>
              <a:t>(</a:t>
            </a:r>
            <a:r>
              <a:rPr lang="en-US" b="1" i="1" dirty="0" err="1">
                <a:solidFill>
                  <a:srgbClr val="FF0000"/>
                </a:solidFill>
              </a:rPr>
              <a:t>mlist</a:t>
            </a:r>
            <a:r>
              <a:rPr lang="en-US" b="1" i="1" dirty="0"/>
              <a:t>);</a:t>
            </a:r>
            <a:endParaRPr lang="en-US" b="1" dirty="0"/>
          </a:p>
          <a:p>
            <a:r>
              <a:rPr lang="en-US" b="1" i="1" dirty="0" err="1"/>
              <a:t>pfPassword.addMouseListener</a:t>
            </a:r>
            <a:r>
              <a:rPr lang="en-US" b="1" i="1" dirty="0"/>
              <a:t>(</a:t>
            </a:r>
            <a:r>
              <a:rPr lang="en-US" b="1" i="1" dirty="0" err="1">
                <a:solidFill>
                  <a:srgbClr val="FF0000"/>
                </a:solidFill>
              </a:rPr>
              <a:t>mlist</a:t>
            </a:r>
            <a:r>
              <a:rPr lang="en-US" b="1" i="1" dirty="0"/>
              <a:t>);</a:t>
            </a:r>
            <a:endParaRPr lang="en-US" b="1" dirty="0"/>
          </a:p>
          <a:p>
            <a:endParaRPr lang="en-US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effectLst/>
              </a:rPr>
              <a:t>Langkah6 cara2, </a:t>
            </a:r>
            <a:r>
              <a:rPr lang="en-US" sz="3000" dirty="0" err="1">
                <a:effectLst/>
              </a:rPr>
              <a:t>pembuatan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4940491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Seluruh</a:t>
            </a:r>
            <a:r>
              <a:rPr lang="en-US" dirty="0"/>
              <a:t> class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program yang </a:t>
            </a:r>
            <a:r>
              <a:rPr lang="en-US" dirty="0" err="1"/>
              <a:t>mengeksplorasi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swing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project </a:t>
            </a:r>
            <a:r>
              <a:rPr lang="en-US" b="1" dirty="0" err="1"/>
              <a:t>pKomponenSwing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Class FListener.java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Program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fokus</a:t>
            </a:r>
            <a:r>
              <a:rPr lang="en-US" dirty="0"/>
              <a:t> </a:t>
            </a:r>
            <a:r>
              <a:rPr lang="en-US" dirty="0" err="1"/>
              <a:t>kursor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textfield</a:t>
            </a:r>
            <a:r>
              <a:rPr lang="en-US" dirty="0"/>
              <a:t>, </a:t>
            </a:r>
            <a:r>
              <a:rPr lang="en-US" dirty="0" err="1"/>
              <a:t>setelah</a:t>
            </a:r>
            <a:r>
              <a:rPr lang="en-US" dirty="0"/>
              <a:t> user </a:t>
            </a:r>
            <a:r>
              <a:rPr lang="en-US" dirty="0" err="1"/>
              <a:t>mengisi</a:t>
            </a:r>
            <a:r>
              <a:rPr lang="en-US" dirty="0"/>
              <a:t> </a:t>
            </a:r>
            <a:r>
              <a:rPr lang="en-US" dirty="0" err="1"/>
              <a:t>textfield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isinya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diedit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</a:t>
            </a:r>
            <a:r>
              <a:rPr lang="en-US" dirty="0" err="1"/>
              <a:t>membersihkan</a:t>
            </a:r>
            <a:r>
              <a:rPr lang="en-US" dirty="0"/>
              <a:t> </a:t>
            </a:r>
            <a:r>
              <a:rPr lang="en-US" dirty="0" err="1"/>
              <a:t>textfield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Penjelasan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contoh</a:t>
            </a:r>
            <a:r>
              <a:rPr lang="en-US" sz="3000" dirty="0">
                <a:effectLst/>
              </a:rPr>
              <a:t> program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3048000"/>
            <a:ext cx="5148262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404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Class MyButtonAction.java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Bila</a:t>
            </a:r>
            <a:r>
              <a:rPr lang="en-US" dirty="0"/>
              <a:t> Button </a:t>
            </a:r>
            <a:r>
              <a:rPr lang="en-US" b="1" dirty="0"/>
              <a:t>Ok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click,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TextField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user name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menyalin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TextField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password.</a:t>
            </a:r>
          </a:p>
          <a:p>
            <a:r>
              <a:rPr lang="en-US" dirty="0" err="1"/>
              <a:t>Bila</a:t>
            </a:r>
            <a:r>
              <a:rPr lang="en-US" dirty="0"/>
              <a:t> Button </a:t>
            </a:r>
            <a:r>
              <a:rPr lang="en-US" b="1" dirty="0"/>
              <a:t>Cancel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click,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TextField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password. </a:t>
            </a:r>
          </a:p>
          <a:p>
            <a:r>
              <a:rPr lang="en-US" dirty="0" err="1"/>
              <a:t>Jika</a:t>
            </a:r>
            <a:r>
              <a:rPr lang="en-US" dirty="0"/>
              <a:t> Button </a:t>
            </a:r>
            <a:r>
              <a:rPr lang="en-US" b="1" dirty="0"/>
              <a:t>Ok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click </a:t>
            </a:r>
            <a:r>
              <a:rPr lang="en-US" dirty="0" err="1"/>
              <a:t>sekali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TextField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user name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mengcopy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null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TextField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password.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Penjelasan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contoh</a:t>
            </a:r>
            <a:r>
              <a:rPr lang="en-US" sz="3000" dirty="0">
                <a:effectLst/>
              </a:rPr>
              <a:t> program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495425"/>
            <a:ext cx="4171950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40491"/>
          </a:xfrm>
        </p:spPr>
        <p:txBody>
          <a:bodyPr>
            <a:normAutofit/>
          </a:bodyPr>
          <a:lstStyle/>
          <a:p>
            <a:r>
              <a:rPr lang="en-US" sz="2400" dirty="0"/>
              <a:t>Class TwoButton.java implements </a:t>
            </a:r>
            <a:r>
              <a:rPr lang="en-US" sz="2400" dirty="0" err="1"/>
              <a:t>ActionListener</a:t>
            </a:r>
            <a:endParaRPr lang="en-US" sz="2400" dirty="0"/>
          </a:p>
          <a:p>
            <a:r>
              <a:rPr lang="en-US" sz="2400" dirty="0"/>
              <a:t>Class TwoButton.java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Bila</a:t>
            </a:r>
            <a:r>
              <a:rPr lang="en-US" sz="2400" dirty="0"/>
              <a:t> </a:t>
            </a:r>
            <a:r>
              <a:rPr lang="en-US" sz="2400" dirty="0" err="1"/>
              <a:t>salah-satu</a:t>
            </a:r>
            <a:r>
              <a:rPr lang="en-US" sz="2400" dirty="0"/>
              <a:t> Button </a:t>
            </a:r>
            <a:r>
              <a:rPr lang="en-US" sz="2400" dirty="0" err="1"/>
              <a:t>di</a:t>
            </a:r>
            <a:r>
              <a:rPr lang="en-US" sz="2400" dirty="0"/>
              <a:t> click </a:t>
            </a:r>
            <a:r>
              <a:rPr lang="en-US" sz="2400" dirty="0" err="1"/>
              <a:t>maka</a:t>
            </a:r>
            <a:r>
              <a:rPr lang="en-US" sz="2400" dirty="0"/>
              <a:t> caption button </a:t>
            </a:r>
            <a:r>
              <a:rPr lang="en-US" sz="2400" dirty="0" err="1"/>
              <a:t>tersebut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disalinkan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Judul</a:t>
            </a:r>
            <a:r>
              <a:rPr lang="en-US" sz="2400" dirty="0"/>
              <a:t> Frame.</a:t>
            </a:r>
          </a:p>
          <a:p>
            <a:endParaRPr lang="en-US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Penjelasan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contoh</a:t>
            </a:r>
            <a:r>
              <a:rPr lang="en-US" sz="3000" dirty="0">
                <a:effectLst/>
              </a:rPr>
              <a:t> program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057400"/>
            <a:ext cx="4114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Class WinClose.java (langkah6 cara3) </a:t>
            </a:r>
          </a:p>
          <a:p>
            <a:r>
              <a:rPr lang="en-US" sz="2400" dirty="0" err="1"/>
              <a:t>Tampilan</a:t>
            </a:r>
            <a:r>
              <a:rPr lang="en-US" sz="2400" dirty="0"/>
              <a:t> </a:t>
            </a:r>
            <a:r>
              <a:rPr lang="en-US" sz="2400" dirty="0" err="1"/>
              <a:t>awal</a:t>
            </a:r>
            <a:r>
              <a:rPr lang="en-US" sz="2400" dirty="0"/>
              <a:t> output class </a:t>
            </a:r>
            <a:r>
              <a:rPr lang="en-US" sz="2400" dirty="0" err="1"/>
              <a:t>tersebut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Output class </a:t>
            </a:r>
            <a:r>
              <a:rPr lang="en-US" sz="2400" dirty="0" err="1"/>
              <a:t>tersebut</a:t>
            </a:r>
            <a:r>
              <a:rPr lang="en-US" sz="2400" dirty="0"/>
              <a:t> </a:t>
            </a:r>
            <a:r>
              <a:rPr lang="en-US" sz="2400" dirty="0" err="1"/>
              <a:t>berupa</a:t>
            </a:r>
            <a:r>
              <a:rPr lang="en-US" sz="2400" dirty="0"/>
              <a:t> windows yang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tiga</a:t>
            </a:r>
            <a:r>
              <a:rPr lang="en-US" sz="2400" dirty="0"/>
              <a:t> button </a:t>
            </a:r>
            <a:r>
              <a:rPr lang="en-US" sz="2400" dirty="0" err="1"/>
              <a:t>di</a:t>
            </a:r>
            <a:r>
              <a:rPr lang="en-US" sz="2400" dirty="0"/>
              <a:t> </a:t>
            </a:r>
            <a:r>
              <a:rPr lang="en-US" sz="2400" dirty="0" err="1"/>
              <a:t>pojok</a:t>
            </a:r>
            <a:r>
              <a:rPr lang="en-US" sz="2400" dirty="0"/>
              <a:t> </a:t>
            </a:r>
            <a:r>
              <a:rPr lang="en-US" sz="2400" dirty="0" err="1"/>
              <a:t>kanan</a:t>
            </a:r>
            <a:r>
              <a:rPr lang="en-US" sz="2400" dirty="0"/>
              <a:t> </a:t>
            </a:r>
            <a:r>
              <a:rPr lang="en-US" sz="2400" dirty="0" err="1"/>
              <a:t>atas</a:t>
            </a:r>
            <a:r>
              <a:rPr lang="en-US" sz="2400" dirty="0"/>
              <a:t>.</a:t>
            </a:r>
          </a:p>
          <a:p>
            <a:r>
              <a:rPr lang="en-US" sz="2400" dirty="0"/>
              <a:t>Button </a:t>
            </a:r>
            <a:r>
              <a:rPr lang="en-US" sz="2400" dirty="0" err="1"/>
              <a:t>kiri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mengubah</a:t>
            </a:r>
            <a:r>
              <a:rPr lang="en-US" sz="2400" dirty="0"/>
              <a:t> </a:t>
            </a:r>
            <a:r>
              <a:rPr lang="en-US" sz="2400" dirty="0" err="1"/>
              <a:t>bentuk</a:t>
            </a:r>
            <a:r>
              <a:rPr lang="en-US" sz="2400" dirty="0"/>
              <a:t>/</a:t>
            </a:r>
            <a:r>
              <a:rPr lang="en-US" sz="2400" dirty="0" err="1"/>
              <a:t>ukuran</a:t>
            </a:r>
            <a:r>
              <a:rPr lang="en-US" sz="2400" dirty="0"/>
              <a:t> windows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b="1" dirty="0"/>
              <a:t>minimize</a:t>
            </a:r>
            <a:r>
              <a:rPr lang="en-US" sz="2400" dirty="0"/>
              <a:t>. Button </a:t>
            </a:r>
            <a:r>
              <a:rPr lang="en-US" sz="2400" dirty="0" err="1"/>
              <a:t>tengah</a:t>
            </a:r>
            <a:r>
              <a:rPr lang="en-US" sz="2400" dirty="0"/>
              <a:t> </a:t>
            </a:r>
            <a:r>
              <a:rPr lang="en-US" sz="2400" dirty="0" err="1"/>
              <a:t>mengubah</a:t>
            </a:r>
            <a:r>
              <a:rPr lang="en-US" sz="2400" dirty="0"/>
              <a:t> </a:t>
            </a:r>
            <a:r>
              <a:rPr lang="en-US" sz="2400" dirty="0" err="1"/>
              <a:t>ukuran</a:t>
            </a:r>
            <a:r>
              <a:rPr lang="en-US" sz="2400" dirty="0"/>
              <a:t> windows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b="1" dirty="0" err="1"/>
              <a:t>maximmize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Jika</a:t>
            </a:r>
            <a:r>
              <a:rPr lang="en-US" sz="2400" dirty="0"/>
              <a:t> button </a:t>
            </a:r>
            <a:r>
              <a:rPr lang="en-US" sz="2400" b="1" dirty="0"/>
              <a:t>close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</a:t>
            </a:r>
            <a:r>
              <a:rPr lang="en-US" sz="2400" dirty="0" err="1"/>
              <a:t>posisi</a:t>
            </a:r>
            <a:r>
              <a:rPr lang="en-US" sz="2400" dirty="0"/>
              <a:t> </a:t>
            </a:r>
            <a:r>
              <a:rPr lang="en-US" sz="2400" dirty="0" err="1"/>
              <a:t>kanan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click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muncul</a:t>
            </a:r>
            <a:r>
              <a:rPr lang="en-US" sz="2400" dirty="0"/>
              <a:t> windows </a:t>
            </a:r>
            <a:r>
              <a:rPr lang="en-US" sz="2400" dirty="0" err="1"/>
              <a:t>peringatan</a:t>
            </a:r>
            <a:r>
              <a:rPr lang="en-US" sz="2400" dirty="0"/>
              <a:t> </a:t>
            </a:r>
            <a:r>
              <a:rPr lang="en-US" sz="2400" dirty="0" err="1"/>
              <a:t>apakah</a:t>
            </a:r>
            <a:r>
              <a:rPr lang="en-US" sz="2400" dirty="0"/>
              <a:t> </a:t>
            </a:r>
            <a:r>
              <a:rPr lang="en-US" sz="2400" dirty="0" err="1"/>
              <a:t>benar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menutup</a:t>
            </a:r>
            <a:r>
              <a:rPr lang="en-US" sz="2400" dirty="0"/>
              <a:t> windows </a:t>
            </a:r>
            <a:r>
              <a:rPr lang="en-US" sz="2400" dirty="0" err="1"/>
              <a:t>tsb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Penjelasan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contoh</a:t>
            </a:r>
            <a:r>
              <a:rPr lang="en-US" sz="3000" dirty="0">
                <a:effectLst/>
              </a:rPr>
              <a:t> program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752600"/>
            <a:ext cx="3581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1752600"/>
            <a:ext cx="3200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4864291"/>
          </a:xfrm>
        </p:spPr>
        <p:txBody>
          <a:bodyPr/>
          <a:lstStyle/>
          <a:p>
            <a:r>
              <a:rPr lang="en-US" sz="2800" dirty="0"/>
              <a:t>Class WinClose2.java (langkah6 cara2)</a:t>
            </a:r>
          </a:p>
          <a:p>
            <a:r>
              <a:rPr lang="en-US" sz="2800" dirty="0"/>
              <a:t>Program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prinsipnya</a:t>
            </a:r>
            <a:r>
              <a:rPr lang="en-US" sz="2800" dirty="0"/>
              <a:t> </a:t>
            </a:r>
            <a:r>
              <a:rPr lang="en-US" sz="2800" dirty="0" err="1"/>
              <a:t>sama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contoh</a:t>
            </a:r>
            <a:r>
              <a:rPr lang="en-US" sz="2800" dirty="0"/>
              <a:t> </a:t>
            </a:r>
            <a:r>
              <a:rPr lang="en-US" sz="2800" dirty="0" err="1"/>
              <a:t>sebelumnya</a:t>
            </a:r>
            <a:r>
              <a:rPr lang="en-US" sz="2800" dirty="0"/>
              <a:t> (langkah6 cara3), </a:t>
            </a:r>
            <a:r>
              <a:rPr lang="en-US" sz="2800" dirty="0" err="1"/>
              <a:t>namun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gaya</a:t>
            </a:r>
            <a:r>
              <a:rPr lang="en-US" sz="2800" dirty="0"/>
              <a:t> yang </a:t>
            </a:r>
            <a:r>
              <a:rPr lang="en-US" sz="2800" dirty="0" err="1"/>
              <a:t>berbeda</a:t>
            </a:r>
            <a:r>
              <a:rPr lang="en-US" sz="2800" dirty="0"/>
              <a:t> (langkah6 cara2),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warna</a:t>
            </a:r>
            <a:r>
              <a:rPr lang="en-US" sz="2800" dirty="0"/>
              <a:t> windows yang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gelap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200" dirty="0" err="1">
                <a:effectLst/>
              </a:rPr>
              <a:t>Penjelasan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contoh</a:t>
            </a:r>
            <a:r>
              <a:rPr lang="en-US" sz="3200" dirty="0">
                <a:effectLst/>
              </a:rPr>
              <a:t> program </a:t>
            </a:r>
            <a:r>
              <a:rPr lang="en-US" sz="3200" dirty="0" err="1">
                <a:effectLst/>
              </a:rPr>
              <a:t>Aplikasi</a:t>
            </a:r>
            <a:r>
              <a:rPr lang="en-US" sz="3200" dirty="0">
                <a:effectLst/>
              </a:rPr>
              <a:t> GUI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40491"/>
          </a:xfrm>
        </p:spPr>
        <p:txBody>
          <a:bodyPr>
            <a:normAutofit/>
          </a:bodyPr>
          <a:lstStyle/>
          <a:p>
            <a:r>
              <a:rPr lang="en-US" sz="2400" dirty="0"/>
              <a:t>Class CBTest.java</a:t>
            </a:r>
          </a:p>
          <a:p>
            <a:r>
              <a:rPr lang="en-US" sz="2400" dirty="0" err="1"/>
              <a:t>Tampilan</a:t>
            </a:r>
            <a:r>
              <a:rPr lang="en-US" sz="2400" dirty="0"/>
              <a:t> </a:t>
            </a:r>
            <a:r>
              <a:rPr lang="en-US" sz="2400" dirty="0" err="1"/>
              <a:t>awal</a:t>
            </a:r>
            <a:r>
              <a:rPr lang="en-US" sz="2400" dirty="0"/>
              <a:t> output class </a:t>
            </a:r>
            <a:r>
              <a:rPr lang="en-US" sz="2400" dirty="0" err="1"/>
              <a:t>tersebut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Tulisan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</a:t>
            </a:r>
            <a:r>
              <a:rPr lang="en-US" sz="2400" dirty="0" err="1"/>
              <a:t>TextField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berubah</a:t>
            </a:r>
            <a:r>
              <a:rPr lang="en-US" sz="2400" dirty="0"/>
              <a:t> style </a:t>
            </a:r>
            <a:r>
              <a:rPr lang="en-US" sz="2400" b="1" dirty="0"/>
              <a:t>bold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/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i="1" dirty="0"/>
              <a:t>italic</a:t>
            </a:r>
            <a:r>
              <a:rPr lang="en-US" sz="2400" dirty="0"/>
              <a:t> </a:t>
            </a:r>
            <a:r>
              <a:rPr lang="en-US" sz="2400" dirty="0" err="1"/>
              <a:t>sesuai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pilihan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</a:t>
            </a:r>
            <a:r>
              <a:rPr lang="en-US" sz="2400" dirty="0" err="1"/>
              <a:t>CheckBox</a:t>
            </a:r>
            <a:r>
              <a:rPr lang="en-US" sz="2400" dirty="0"/>
              <a:t>.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Penjelasan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contoh</a:t>
            </a:r>
            <a:r>
              <a:rPr lang="en-US" sz="3000" dirty="0">
                <a:effectLst/>
              </a:rPr>
              <a:t> program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981200"/>
            <a:ext cx="3424237" cy="188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Class CheckRadio.java</a:t>
            </a:r>
          </a:p>
          <a:p>
            <a:r>
              <a:rPr lang="en-US" sz="2400" dirty="0" err="1"/>
              <a:t>Tampilan</a:t>
            </a:r>
            <a:r>
              <a:rPr lang="en-US" sz="2400" dirty="0"/>
              <a:t> </a:t>
            </a:r>
            <a:r>
              <a:rPr lang="en-US" sz="2400" dirty="0" err="1"/>
              <a:t>awal</a:t>
            </a:r>
            <a:r>
              <a:rPr lang="en-US" sz="2400" dirty="0"/>
              <a:t> output class </a:t>
            </a:r>
            <a:r>
              <a:rPr lang="en-US" sz="2400" dirty="0" err="1"/>
              <a:t>tersebut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nb-NO" sz="2400" dirty="0"/>
          </a:p>
          <a:p>
            <a:r>
              <a:rPr lang="nb-NO" sz="2400" dirty="0"/>
              <a:t>Pada contoh ini diperlihatkan bagaimana cara melengkapi komponen CheckBox dan RadioButton dengan event listener dan event handler.</a:t>
            </a:r>
          </a:p>
          <a:p>
            <a:r>
              <a:rPr lang="nb-NO" sz="2400" dirty="0"/>
              <a:t>Juga mencoba tag HTML di dalam komponen Jlabel. </a:t>
            </a:r>
            <a:endParaRPr lang="en-US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Penjelasan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contoh</a:t>
            </a:r>
            <a:r>
              <a:rPr lang="en-US" sz="3000" dirty="0">
                <a:effectLst/>
              </a:rPr>
              <a:t> program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828800"/>
            <a:ext cx="44958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r>
              <a:rPr lang="en-US" sz="2400" dirty="0"/>
              <a:t>Class Dialog1.java</a:t>
            </a:r>
          </a:p>
          <a:p>
            <a:r>
              <a:rPr lang="en-US" sz="2400" dirty="0"/>
              <a:t>Program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Class </a:t>
            </a:r>
            <a:r>
              <a:rPr lang="en-US" sz="2400" dirty="0" err="1"/>
              <a:t>JOptionPane</a:t>
            </a:r>
            <a:r>
              <a:rPr lang="en-US" sz="2400" dirty="0"/>
              <a:t> yang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method: </a:t>
            </a:r>
          </a:p>
          <a:p>
            <a:r>
              <a:rPr lang="en-US" sz="2400" b="1" dirty="0" err="1"/>
              <a:t>showInputDialog</a:t>
            </a:r>
            <a:r>
              <a:rPr lang="en-US" sz="2400" b="1" dirty="0"/>
              <a:t>()</a:t>
            </a:r>
            <a:r>
              <a:rPr lang="en-US" sz="2400" dirty="0"/>
              <a:t>, </a:t>
            </a:r>
          </a:p>
          <a:p>
            <a:r>
              <a:rPr lang="en-US" sz="2400" dirty="0" err="1"/>
              <a:t>showOptionDialog</a:t>
            </a:r>
            <a:r>
              <a:rPr lang="en-US" sz="2400" dirty="0"/>
              <a:t>(), </a:t>
            </a:r>
          </a:p>
          <a:p>
            <a:r>
              <a:rPr lang="en-US" sz="2400" b="1" dirty="0" err="1"/>
              <a:t>showMessageDialog</a:t>
            </a:r>
            <a:r>
              <a:rPr lang="en-US" sz="2400" b="1" dirty="0"/>
              <a:t>()</a:t>
            </a:r>
            <a:r>
              <a:rPr lang="en-US" sz="2400" dirty="0"/>
              <a:t>, </a:t>
            </a:r>
          </a:p>
          <a:p>
            <a:r>
              <a:rPr lang="en-US" sz="2400" b="1" dirty="0" err="1"/>
              <a:t>showConfirmDialog</a:t>
            </a:r>
            <a:r>
              <a:rPr lang="en-US" sz="2400" b="1" dirty="0"/>
              <a:t>()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konstanta</a:t>
            </a:r>
            <a:r>
              <a:rPr lang="en-US" sz="2400" dirty="0"/>
              <a:t> string </a:t>
            </a:r>
            <a:r>
              <a:rPr lang="en-US" sz="2400" dirty="0" err="1"/>
              <a:t>milik</a:t>
            </a:r>
            <a:r>
              <a:rPr lang="en-US" sz="2400" dirty="0"/>
              <a:t> Class </a:t>
            </a:r>
            <a:r>
              <a:rPr lang="en-US" sz="2400" dirty="0" err="1"/>
              <a:t>JOptionPane</a:t>
            </a:r>
            <a:r>
              <a:rPr lang="en-US" sz="2400" dirty="0"/>
              <a:t> </a:t>
            </a:r>
            <a:r>
              <a:rPr lang="en-US" sz="2400" dirty="0" err="1"/>
              <a:t>yaitu</a:t>
            </a:r>
            <a:r>
              <a:rPr lang="en-US" sz="2400" dirty="0"/>
              <a:t>:</a:t>
            </a:r>
          </a:p>
          <a:p>
            <a:r>
              <a:rPr lang="en-US" sz="2400" dirty="0"/>
              <a:t>WARNING_MESSAGE</a:t>
            </a:r>
          </a:p>
          <a:p>
            <a:r>
              <a:rPr lang="en-US" sz="2400" dirty="0"/>
              <a:t>QUESTION_MESSAGE</a:t>
            </a:r>
          </a:p>
          <a:p>
            <a:r>
              <a:rPr lang="en-US" sz="2400" dirty="0"/>
              <a:t>ERROR_MESSAGE</a:t>
            </a:r>
          </a:p>
          <a:p>
            <a:endParaRPr lang="en-US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Penjelasan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contoh</a:t>
            </a:r>
            <a:r>
              <a:rPr lang="en-US" sz="3000" dirty="0">
                <a:effectLst/>
              </a:rPr>
              <a:t> program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200" dirty="0" err="1">
                <a:effectLst/>
              </a:rPr>
              <a:t>Lanjutan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penjelasan</a:t>
            </a:r>
            <a:r>
              <a:rPr lang="en-US" sz="3200" dirty="0">
                <a:effectLst/>
              </a:rPr>
              <a:t> Class Dialog1.java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334000"/>
          </a:xfrm>
        </p:spPr>
        <p:txBody>
          <a:bodyPr>
            <a:normAutofit/>
          </a:bodyPr>
          <a:lstStyle/>
          <a:p>
            <a:r>
              <a:rPr lang="en-US" sz="2800" dirty="0"/>
              <a:t>window dialog </a:t>
            </a:r>
            <a:r>
              <a:rPr lang="en-US" sz="2800" dirty="0" err="1"/>
              <a:t>pesan</a:t>
            </a:r>
            <a:r>
              <a:rPr lang="en-US" sz="2800" dirty="0"/>
              <a:t> </a:t>
            </a:r>
            <a:r>
              <a:rPr lang="en-US" sz="2800" dirty="0" err="1"/>
              <a:t>yg</a:t>
            </a:r>
            <a:r>
              <a:rPr lang="en-US" sz="2800" dirty="0"/>
              <a:t> </a:t>
            </a:r>
            <a:r>
              <a:rPr lang="en-US" sz="2800" dirty="0" err="1"/>
              <a:t>terlihat</a:t>
            </a:r>
            <a:r>
              <a:rPr lang="en-US" sz="2800" dirty="0"/>
              <a:t> </a:t>
            </a:r>
            <a:r>
              <a:rPr lang="en-US" sz="2800" dirty="0" err="1"/>
              <a:t>pertama</a:t>
            </a:r>
            <a:r>
              <a:rPr lang="en-US" sz="2800" dirty="0"/>
              <a:t> kali: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Setelah</a:t>
            </a:r>
            <a:r>
              <a:rPr lang="en-US" dirty="0"/>
              <a:t> button ok </a:t>
            </a:r>
            <a:r>
              <a:rPr lang="en-US" dirty="0" err="1"/>
              <a:t>atau</a:t>
            </a:r>
            <a:r>
              <a:rPr lang="en-US" dirty="0"/>
              <a:t> button close </a:t>
            </a:r>
            <a:r>
              <a:rPr lang="en-US" dirty="0" err="1"/>
              <a:t>diclick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windows dialog </a:t>
            </a:r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berikutnya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7" name="Picture 1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4267200"/>
            <a:ext cx="36576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Content Placeholder 5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8400" y="1447800"/>
            <a:ext cx="3429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791200"/>
          </a:xfrm>
        </p:spPr>
        <p:txBody>
          <a:bodyPr/>
          <a:lstStyle/>
          <a:p>
            <a:r>
              <a:rPr lang="en-US" dirty="0" err="1"/>
              <a:t>Setelah</a:t>
            </a:r>
            <a:r>
              <a:rPr lang="en-US" dirty="0"/>
              <a:t> button ok </a:t>
            </a:r>
            <a:r>
              <a:rPr lang="en-US" dirty="0" err="1"/>
              <a:t>atau</a:t>
            </a:r>
            <a:r>
              <a:rPr lang="en-US" dirty="0"/>
              <a:t> button close </a:t>
            </a:r>
            <a:r>
              <a:rPr lang="en-US" dirty="0" err="1"/>
              <a:t>diclick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windows dialog </a:t>
            </a:r>
            <a:r>
              <a:rPr lang="en-US" dirty="0" err="1"/>
              <a:t>pesan</a:t>
            </a:r>
            <a:r>
              <a:rPr lang="en-US" dirty="0"/>
              <a:t> </a:t>
            </a:r>
            <a:r>
              <a:rPr lang="en-US" dirty="0" err="1"/>
              <a:t>berikutnya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600" dirty="0" err="1"/>
              <a:t>Setelah</a:t>
            </a:r>
            <a:r>
              <a:rPr lang="en-US" sz="2600" dirty="0"/>
              <a:t> button ok </a:t>
            </a:r>
            <a:r>
              <a:rPr lang="en-US" sz="2600" dirty="0" err="1"/>
              <a:t>atau</a:t>
            </a:r>
            <a:r>
              <a:rPr lang="en-US" sz="2600" dirty="0"/>
              <a:t> button close </a:t>
            </a:r>
            <a:r>
              <a:rPr lang="en-US" sz="2600" dirty="0" err="1"/>
              <a:t>diclick</a:t>
            </a:r>
            <a:r>
              <a:rPr lang="en-US" sz="2600" dirty="0"/>
              <a:t> </a:t>
            </a:r>
            <a:r>
              <a:rPr lang="en-US" sz="2600" dirty="0" err="1"/>
              <a:t>maka</a:t>
            </a:r>
            <a:r>
              <a:rPr lang="en-US" sz="2600" dirty="0"/>
              <a:t> </a:t>
            </a:r>
            <a:r>
              <a:rPr lang="en-US" sz="2600" dirty="0" err="1"/>
              <a:t>muncul</a:t>
            </a:r>
            <a:r>
              <a:rPr lang="en-US" sz="2600" dirty="0"/>
              <a:t> windows dialog </a:t>
            </a:r>
            <a:r>
              <a:rPr lang="en-US" sz="2600" dirty="0" err="1"/>
              <a:t>pesan</a:t>
            </a:r>
            <a:r>
              <a:rPr lang="en-US" sz="2600" dirty="0"/>
              <a:t> </a:t>
            </a:r>
            <a:r>
              <a:rPr lang="en-US" sz="2600" dirty="0" err="1"/>
              <a:t>berikutnya</a:t>
            </a:r>
            <a:r>
              <a:rPr lang="en-US" sz="2600" dirty="0"/>
              <a:t> (</a:t>
            </a:r>
            <a:r>
              <a:rPr lang="en-US" sz="2600" dirty="0" err="1"/>
              <a:t>misal</a:t>
            </a:r>
            <a:r>
              <a:rPr lang="en-US" sz="2600" dirty="0"/>
              <a:t> </a:t>
            </a:r>
            <a:r>
              <a:rPr lang="en-US" sz="2600" dirty="0" err="1"/>
              <a:t>memberi</a:t>
            </a:r>
            <a:r>
              <a:rPr lang="en-US" sz="2600" dirty="0"/>
              <a:t> </a:t>
            </a:r>
            <a:r>
              <a:rPr lang="en-US" sz="2600" dirty="0" err="1"/>
              <a:t>informasi</a:t>
            </a:r>
            <a:r>
              <a:rPr lang="en-US" sz="2600" dirty="0"/>
              <a:t> </a:t>
            </a:r>
            <a:r>
              <a:rPr lang="en-US" sz="2600" dirty="0" err="1"/>
              <a:t>ke</a:t>
            </a:r>
            <a:r>
              <a:rPr lang="en-US" sz="2600" dirty="0"/>
              <a:t> user </a:t>
            </a:r>
            <a:r>
              <a:rPr lang="en-US" sz="2600" dirty="0" err="1"/>
              <a:t>telah</a:t>
            </a:r>
            <a:r>
              <a:rPr lang="en-US" sz="2600" dirty="0"/>
              <a:t> </a:t>
            </a:r>
            <a:r>
              <a:rPr lang="en-US" sz="2600" dirty="0" err="1"/>
              <a:t>terjadi</a:t>
            </a:r>
            <a:r>
              <a:rPr lang="en-US" sz="2600" dirty="0"/>
              <a:t> error):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pPr algn="ctr"/>
            <a:r>
              <a:rPr lang="en-US" sz="3200" dirty="0" err="1">
                <a:effectLst/>
              </a:rPr>
              <a:t>Lanjutan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penjelasan</a:t>
            </a:r>
            <a:r>
              <a:rPr lang="en-US" sz="3200" dirty="0">
                <a:effectLst/>
              </a:rPr>
              <a:t> Class Dialog1.java</a:t>
            </a:r>
            <a:endParaRPr lang="en-US" sz="3200" dirty="0"/>
          </a:p>
        </p:txBody>
      </p:sp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0" y="2057400"/>
            <a:ext cx="32004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67000" y="5105400"/>
            <a:ext cx="32004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791200"/>
          </a:xfrm>
        </p:spPr>
        <p:txBody>
          <a:bodyPr/>
          <a:lstStyle/>
          <a:p>
            <a:r>
              <a:rPr lang="en-US" dirty="0" err="1"/>
              <a:t>Setelah</a:t>
            </a:r>
            <a:r>
              <a:rPr lang="en-US" dirty="0"/>
              <a:t> button ok </a:t>
            </a:r>
            <a:r>
              <a:rPr lang="en-US" dirty="0" err="1"/>
              <a:t>atau</a:t>
            </a:r>
            <a:r>
              <a:rPr lang="en-US" dirty="0"/>
              <a:t> button close </a:t>
            </a:r>
            <a:r>
              <a:rPr lang="en-US" dirty="0" err="1"/>
              <a:t>diclick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windows dialog </a:t>
            </a:r>
            <a:r>
              <a:rPr lang="en-US" dirty="0" err="1"/>
              <a:t>konfirmasi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600" dirty="0" err="1"/>
              <a:t>Setelah</a:t>
            </a:r>
            <a:r>
              <a:rPr lang="en-US" sz="2600" dirty="0"/>
              <a:t> button ok </a:t>
            </a:r>
            <a:r>
              <a:rPr lang="en-US" sz="2600" dirty="0" err="1"/>
              <a:t>atau</a:t>
            </a:r>
            <a:r>
              <a:rPr lang="en-US" sz="2600" dirty="0"/>
              <a:t> button close </a:t>
            </a:r>
            <a:r>
              <a:rPr lang="en-US" sz="2600" dirty="0" err="1"/>
              <a:t>diclick</a:t>
            </a:r>
            <a:r>
              <a:rPr lang="en-US" sz="2600" dirty="0"/>
              <a:t> </a:t>
            </a:r>
            <a:r>
              <a:rPr lang="en-US" sz="2600" dirty="0" err="1"/>
              <a:t>maka</a:t>
            </a:r>
            <a:r>
              <a:rPr lang="en-US" sz="2600" dirty="0"/>
              <a:t> </a:t>
            </a:r>
            <a:r>
              <a:rPr lang="en-US" sz="2600" dirty="0" err="1"/>
              <a:t>muncul</a:t>
            </a:r>
            <a:r>
              <a:rPr lang="en-US" sz="2600" dirty="0"/>
              <a:t> frame </a:t>
            </a:r>
            <a:r>
              <a:rPr lang="en-US" sz="2600" dirty="0" err="1"/>
              <a:t>pertama</a:t>
            </a:r>
            <a:r>
              <a:rPr lang="en-US" sz="2600" dirty="0"/>
              <a:t> (</a:t>
            </a:r>
            <a:r>
              <a:rPr lang="en-US" sz="2600" dirty="0" err="1"/>
              <a:t>yg</a:t>
            </a:r>
            <a:r>
              <a:rPr lang="en-US" sz="2600" dirty="0"/>
              <a:t> </a:t>
            </a:r>
            <a:r>
              <a:rPr lang="en-US" sz="2600" dirty="0" err="1"/>
              <a:t>dibuat</a:t>
            </a:r>
            <a:r>
              <a:rPr lang="en-US" sz="2600" dirty="0"/>
              <a:t> constructor):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pPr algn="ctr"/>
            <a:r>
              <a:rPr lang="en-US" sz="3200" dirty="0" err="1">
                <a:effectLst/>
              </a:rPr>
              <a:t>Lanjutan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penjelasan</a:t>
            </a:r>
            <a:r>
              <a:rPr lang="en-US" sz="3200" dirty="0">
                <a:effectLst/>
              </a:rPr>
              <a:t> Class Dialog1.java</a:t>
            </a:r>
            <a:endParaRPr lang="en-US" sz="3200" dirty="0"/>
          </a:p>
        </p:txBody>
      </p:sp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1981200"/>
            <a:ext cx="31242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90800" y="4648200"/>
            <a:ext cx="31242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791200"/>
          </a:xfrm>
        </p:spPr>
        <p:txBody>
          <a:bodyPr/>
          <a:lstStyle/>
          <a:p>
            <a:r>
              <a:rPr lang="en-US" dirty="0" err="1"/>
              <a:t>Setelah</a:t>
            </a:r>
            <a:r>
              <a:rPr lang="en-US" dirty="0"/>
              <a:t> button close </a:t>
            </a:r>
            <a:r>
              <a:rPr lang="en-US" dirty="0" err="1"/>
              <a:t>diclick</a:t>
            </a:r>
            <a:r>
              <a:rPr lang="en-US" dirty="0"/>
              <a:t> </a:t>
            </a:r>
            <a:r>
              <a:rPr lang="en-US" dirty="0" err="1"/>
              <a:t>di</a:t>
            </a:r>
            <a:r>
              <a:rPr lang="en-US" dirty="0"/>
              <a:t> frame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windows 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Bila</a:t>
            </a:r>
            <a:r>
              <a:rPr lang="en-US" dirty="0"/>
              <a:t> button No </a:t>
            </a:r>
            <a:r>
              <a:rPr lang="en-US" dirty="0" err="1"/>
              <a:t>atau</a:t>
            </a:r>
            <a:r>
              <a:rPr lang="en-US" dirty="0"/>
              <a:t> button Cancel </a:t>
            </a:r>
            <a:r>
              <a:rPr lang="en-US" dirty="0" err="1"/>
              <a:t>diclick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frame Dialog Test, </a:t>
            </a:r>
            <a:r>
              <a:rPr lang="en-US" dirty="0" err="1"/>
              <a:t>kecuali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button Yes </a:t>
            </a:r>
            <a:r>
              <a:rPr lang="en-US" dirty="0" err="1"/>
              <a:t>diclick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benar-benar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program.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pPr algn="ctr"/>
            <a:r>
              <a:rPr lang="en-US" sz="3200" dirty="0" err="1">
                <a:effectLst/>
              </a:rPr>
              <a:t>Lanjutan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penjelasan</a:t>
            </a:r>
            <a:r>
              <a:rPr lang="en-US" sz="3200" dirty="0">
                <a:effectLst/>
              </a:rPr>
              <a:t> Class Dialog1.java</a:t>
            </a:r>
            <a:endParaRPr lang="en-US" sz="3200" dirty="0"/>
          </a:p>
        </p:txBody>
      </p:sp>
      <p:pic>
        <p:nvPicPr>
          <p:cNvPr id="10" name="Picture 9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1981200"/>
            <a:ext cx="2971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40491"/>
          </a:xfrm>
        </p:spPr>
        <p:txBody>
          <a:bodyPr>
            <a:normAutofit/>
          </a:bodyPr>
          <a:lstStyle/>
          <a:p>
            <a:r>
              <a:rPr lang="en-US" sz="2400" dirty="0"/>
              <a:t>Class Dialog3.java</a:t>
            </a:r>
          </a:p>
          <a:p>
            <a:r>
              <a:rPr lang="en-US" sz="2400" dirty="0"/>
              <a:t>Program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method </a:t>
            </a:r>
            <a:r>
              <a:rPr lang="en-US" sz="2400" dirty="0" err="1"/>
              <a:t>showInputDialog</a:t>
            </a:r>
            <a:r>
              <a:rPr lang="en-US" sz="2400" dirty="0"/>
              <a:t>() </a:t>
            </a:r>
            <a:r>
              <a:rPr lang="en-US" sz="2400" dirty="0" err="1"/>
              <a:t>pada</a:t>
            </a:r>
            <a:r>
              <a:rPr lang="en-US" sz="2400" dirty="0"/>
              <a:t> Class </a:t>
            </a:r>
            <a:r>
              <a:rPr lang="en-US" sz="2400" dirty="0" err="1"/>
              <a:t>JOptionPane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Pertama</a:t>
            </a:r>
            <a:r>
              <a:rPr lang="en-US" sz="2400" dirty="0"/>
              <a:t> kali program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menyapa</a:t>
            </a:r>
            <a:r>
              <a:rPr lang="en-US" sz="2400" dirty="0"/>
              <a:t> User.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Penjelasan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contoh</a:t>
            </a:r>
            <a:r>
              <a:rPr lang="en-US" sz="3000" dirty="0">
                <a:effectLst/>
              </a:rPr>
              <a:t> program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2428875"/>
            <a:ext cx="3438525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4940491"/>
          </a:xfrm>
        </p:spPr>
        <p:txBody>
          <a:bodyPr>
            <a:normAutofit/>
          </a:bodyPr>
          <a:lstStyle/>
          <a:p>
            <a:r>
              <a:rPr lang="en-US" sz="2400" dirty="0" err="1"/>
              <a:t>Setelah</a:t>
            </a:r>
            <a:r>
              <a:rPr lang="en-US" sz="2400" dirty="0"/>
              <a:t> user </a:t>
            </a:r>
            <a:r>
              <a:rPr lang="en-US" sz="2400" dirty="0" err="1"/>
              <a:t>mengisi</a:t>
            </a:r>
            <a:r>
              <a:rPr lang="en-US" sz="2400" dirty="0"/>
              <a:t> input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TextField</a:t>
            </a:r>
            <a:r>
              <a:rPr lang="en-US" sz="2400" dirty="0"/>
              <a:t> </a:t>
            </a:r>
            <a:r>
              <a:rPr lang="en-US" sz="2400" dirty="0" err="1"/>
              <a:t>kemudian</a:t>
            </a:r>
            <a:r>
              <a:rPr lang="en-US" sz="2400" dirty="0"/>
              <a:t> button ok </a:t>
            </a:r>
            <a:r>
              <a:rPr lang="en-US" sz="2400" dirty="0" err="1"/>
              <a:t>di</a:t>
            </a:r>
            <a:r>
              <a:rPr lang="en-US" sz="2400" dirty="0"/>
              <a:t> click,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muncul</a:t>
            </a:r>
            <a:r>
              <a:rPr lang="en-US" sz="2400" dirty="0"/>
              <a:t> windows </a:t>
            </a:r>
            <a:r>
              <a:rPr lang="en-US" sz="2400" dirty="0" err="1"/>
              <a:t>isian</a:t>
            </a:r>
            <a:r>
              <a:rPr lang="en-US" sz="2400" dirty="0"/>
              <a:t> </a:t>
            </a:r>
            <a:r>
              <a:rPr lang="en-US" sz="2400" dirty="0" err="1"/>
              <a:t>berikutnya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Setelah</a:t>
            </a:r>
            <a:r>
              <a:rPr lang="en-US" sz="2400" dirty="0"/>
              <a:t> user </a:t>
            </a:r>
            <a:r>
              <a:rPr lang="en-US" sz="2400" dirty="0" err="1"/>
              <a:t>mengisi</a:t>
            </a:r>
            <a:r>
              <a:rPr lang="en-US" sz="2400" dirty="0"/>
              <a:t> input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TextField</a:t>
            </a:r>
            <a:r>
              <a:rPr lang="en-US" sz="2400" dirty="0"/>
              <a:t> </a:t>
            </a:r>
            <a:r>
              <a:rPr lang="en-US" sz="2400" dirty="0" err="1"/>
              <a:t>kemudian</a:t>
            </a:r>
            <a:r>
              <a:rPr lang="en-US" sz="2400" dirty="0"/>
              <a:t> button ok </a:t>
            </a:r>
            <a:r>
              <a:rPr lang="en-US" sz="2400" dirty="0" err="1"/>
              <a:t>di</a:t>
            </a:r>
            <a:r>
              <a:rPr lang="en-US" sz="2400" dirty="0"/>
              <a:t> click,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muncul</a:t>
            </a:r>
            <a:r>
              <a:rPr lang="en-US" sz="2400" dirty="0"/>
              <a:t> windows </a:t>
            </a:r>
            <a:r>
              <a:rPr lang="en-US" sz="2400" dirty="0" err="1"/>
              <a:t>isian</a:t>
            </a:r>
            <a:r>
              <a:rPr lang="en-US" sz="2400" dirty="0"/>
              <a:t> </a:t>
            </a:r>
            <a:r>
              <a:rPr lang="en-US" sz="2400" dirty="0" err="1"/>
              <a:t>berikutnya</a:t>
            </a:r>
            <a:endParaRPr lang="en-US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000" dirty="0" err="1">
                <a:effectLst/>
              </a:rPr>
              <a:t>Lanjutan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penjelasan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contoh</a:t>
            </a:r>
            <a:r>
              <a:rPr lang="en-US" sz="3000" dirty="0">
                <a:effectLst/>
              </a:rPr>
              <a:t> program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209800"/>
            <a:ext cx="3810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4940491"/>
          </a:xfrm>
        </p:spPr>
        <p:txBody>
          <a:bodyPr>
            <a:normAutofit/>
          </a:bodyPr>
          <a:lstStyle/>
          <a:p>
            <a:r>
              <a:rPr lang="en-US" sz="2200" dirty="0" err="1"/>
              <a:t>Setelah</a:t>
            </a:r>
            <a:r>
              <a:rPr lang="en-US" sz="2200" dirty="0"/>
              <a:t> user </a:t>
            </a:r>
            <a:r>
              <a:rPr lang="en-US" sz="2200" dirty="0" err="1"/>
              <a:t>mengisi</a:t>
            </a:r>
            <a:r>
              <a:rPr lang="en-US" sz="2200" dirty="0"/>
              <a:t> input </a:t>
            </a:r>
            <a:r>
              <a:rPr lang="en-US" sz="2200" dirty="0" err="1"/>
              <a:t>pada</a:t>
            </a:r>
            <a:r>
              <a:rPr lang="en-US" sz="2200" dirty="0"/>
              <a:t> </a:t>
            </a:r>
            <a:r>
              <a:rPr lang="en-US" sz="2200" dirty="0" err="1"/>
              <a:t>TextField</a:t>
            </a:r>
            <a:r>
              <a:rPr lang="en-US" sz="2200" dirty="0"/>
              <a:t> </a:t>
            </a:r>
            <a:r>
              <a:rPr lang="en-US" sz="2200" dirty="0" err="1"/>
              <a:t>kemudian</a:t>
            </a:r>
            <a:r>
              <a:rPr lang="en-US" sz="2200" dirty="0"/>
              <a:t> button ok </a:t>
            </a:r>
            <a:r>
              <a:rPr lang="en-US" sz="2200" dirty="0" err="1"/>
              <a:t>di</a:t>
            </a:r>
            <a:r>
              <a:rPr lang="en-US" sz="2200" dirty="0"/>
              <a:t> click, </a:t>
            </a:r>
            <a:r>
              <a:rPr lang="en-US" sz="2200" dirty="0" err="1"/>
              <a:t>maka</a:t>
            </a:r>
            <a:r>
              <a:rPr lang="en-US" sz="2200" dirty="0"/>
              <a:t> </a:t>
            </a:r>
            <a:r>
              <a:rPr lang="en-US" sz="2200" dirty="0" err="1"/>
              <a:t>muncul</a:t>
            </a:r>
            <a:r>
              <a:rPr lang="en-US" sz="2200" dirty="0"/>
              <a:t> windows </a:t>
            </a:r>
            <a:r>
              <a:rPr lang="en-US" sz="2200" dirty="0" err="1"/>
              <a:t>isian</a:t>
            </a:r>
            <a:r>
              <a:rPr lang="en-US" sz="2200" dirty="0"/>
              <a:t> </a:t>
            </a:r>
            <a:r>
              <a:rPr lang="en-US" sz="2200" dirty="0" err="1"/>
              <a:t>berikutnya</a:t>
            </a:r>
            <a:r>
              <a:rPr lang="en-US" sz="2200" dirty="0"/>
              <a:t>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200" dirty="0" err="1"/>
              <a:t>Setelah</a:t>
            </a:r>
            <a:r>
              <a:rPr lang="en-US" sz="2200" dirty="0"/>
              <a:t> user </a:t>
            </a:r>
            <a:r>
              <a:rPr lang="en-US" sz="2200" dirty="0" err="1"/>
              <a:t>mengisi</a:t>
            </a:r>
            <a:r>
              <a:rPr lang="en-US" sz="2200" dirty="0"/>
              <a:t> input </a:t>
            </a:r>
            <a:r>
              <a:rPr lang="en-US" sz="2200" dirty="0" err="1"/>
              <a:t>pada</a:t>
            </a:r>
            <a:r>
              <a:rPr lang="en-US" sz="2200" dirty="0"/>
              <a:t> </a:t>
            </a:r>
            <a:r>
              <a:rPr lang="en-US" sz="2200" dirty="0" err="1"/>
              <a:t>TextField</a:t>
            </a:r>
            <a:r>
              <a:rPr lang="en-US" sz="2200" dirty="0"/>
              <a:t> </a:t>
            </a:r>
            <a:r>
              <a:rPr lang="en-US" sz="2200" dirty="0" err="1"/>
              <a:t>kemudian</a:t>
            </a:r>
            <a:r>
              <a:rPr lang="en-US" sz="2200" dirty="0"/>
              <a:t> button ok </a:t>
            </a:r>
            <a:r>
              <a:rPr lang="en-US" sz="2200" dirty="0" err="1"/>
              <a:t>di</a:t>
            </a:r>
            <a:r>
              <a:rPr lang="en-US" sz="2200" dirty="0"/>
              <a:t> click, </a:t>
            </a:r>
            <a:r>
              <a:rPr lang="en-US" sz="2200" dirty="0" err="1"/>
              <a:t>maka</a:t>
            </a:r>
            <a:r>
              <a:rPr lang="en-US" sz="2200" dirty="0"/>
              <a:t> </a:t>
            </a:r>
            <a:r>
              <a:rPr lang="en-US" sz="2200" dirty="0" err="1"/>
              <a:t>muncul</a:t>
            </a:r>
            <a:r>
              <a:rPr lang="en-US" sz="2200" dirty="0"/>
              <a:t> windows </a:t>
            </a:r>
            <a:r>
              <a:rPr lang="en-US" sz="2200" dirty="0" err="1"/>
              <a:t>isian</a:t>
            </a:r>
            <a:r>
              <a:rPr lang="en-US" sz="2200" dirty="0"/>
              <a:t> </a:t>
            </a:r>
            <a:r>
              <a:rPr lang="en-US" sz="2200" dirty="0" err="1"/>
              <a:t>berikutnya</a:t>
            </a:r>
            <a:r>
              <a:rPr lang="en-US" sz="2200" dirty="0"/>
              <a:t>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memilih</a:t>
            </a:r>
            <a:r>
              <a:rPr lang="en-US" sz="2200" dirty="0"/>
              <a:t> </a:t>
            </a:r>
            <a:r>
              <a:rPr lang="en-US" sz="2200" dirty="0" err="1"/>
              <a:t>kota</a:t>
            </a:r>
            <a:r>
              <a:rPr lang="en-US" sz="2200" dirty="0"/>
              <a:t>:</a:t>
            </a:r>
            <a:r>
              <a:rPr lang="en-US" sz="2400" dirty="0"/>
              <a:t>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000" dirty="0" err="1">
                <a:effectLst/>
              </a:rPr>
              <a:t>Lanjutan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penjelasan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contoh</a:t>
            </a:r>
            <a:r>
              <a:rPr lang="en-US" sz="3000" dirty="0">
                <a:effectLst/>
              </a:rPr>
              <a:t> program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1828800"/>
            <a:ext cx="33528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19400" y="4267200"/>
            <a:ext cx="3581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40491"/>
          </a:xfrm>
        </p:spPr>
        <p:txBody>
          <a:bodyPr>
            <a:normAutofit/>
          </a:bodyPr>
          <a:lstStyle/>
          <a:p>
            <a:r>
              <a:rPr lang="en-US" sz="2400" dirty="0"/>
              <a:t>Class MyCombo.java</a:t>
            </a:r>
          </a:p>
          <a:p>
            <a:r>
              <a:rPr lang="en-US" sz="2400" dirty="0"/>
              <a:t>Program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contoh</a:t>
            </a:r>
            <a:r>
              <a:rPr lang="en-US" sz="2400" dirty="0"/>
              <a:t> </a:t>
            </a:r>
            <a:r>
              <a:rPr lang="en-US" sz="2400" dirty="0" err="1"/>
              <a:t>bagaimana</a:t>
            </a:r>
            <a:r>
              <a:rPr lang="en-US" sz="2400" dirty="0"/>
              <a:t> coding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swing </a:t>
            </a:r>
            <a:r>
              <a:rPr lang="en-US" sz="2400" dirty="0" err="1"/>
              <a:t>JComboBox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JTextField</a:t>
            </a:r>
            <a:r>
              <a:rPr lang="en-US" sz="2400" dirty="0"/>
              <a:t>.</a:t>
            </a:r>
          </a:p>
          <a:p>
            <a:r>
              <a:rPr lang="en-US" sz="2400" dirty="0"/>
              <a:t>Output class </a:t>
            </a:r>
            <a:r>
              <a:rPr lang="en-US" sz="2400" dirty="0" err="1"/>
              <a:t>tersebut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Jika</a:t>
            </a:r>
            <a:r>
              <a:rPr lang="en-US" sz="2400" dirty="0"/>
              <a:t> user </a:t>
            </a:r>
            <a:r>
              <a:rPr lang="en-US" sz="2400" dirty="0" err="1"/>
              <a:t>memilih</a:t>
            </a:r>
            <a:r>
              <a:rPr lang="en-US" sz="2400" dirty="0"/>
              <a:t> </a:t>
            </a:r>
            <a:r>
              <a:rPr lang="en-US" sz="2400" dirty="0" err="1"/>
              <a:t>salah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kota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</a:t>
            </a:r>
            <a:r>
              <a:rPr lang="en-US" sz="2400" dirty="0" err="1"/>
              <a:t>ComboBox</a:t>
            </a:r>
            <a:r>
              <a:rPr lang="en-US" sz="2400" dirty="0"/>
              <a:t>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ditulis</a:t>
            </a:r>
            <a:r>
              <a:rPr lang="en-US" sz="2400" dirty="0"/>
              <a:t> </a:t>
            </a:r>
            <a:r>
              <a:rPr lang="en-US" sz="2400" dirty="0" err="1"/>
              <a:t>ulang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</a:t>
            </a:r>
            <a:r>
              <a:rPr lang="en-US" sz="2400" dirty="0" err="1"/>
              <a:t>TextField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Penjelasan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contoh</a:t>
            </a:r>
            <a:r>
              <a:rPr lang="en-US" sz="3000" dirty="0">
                <a:effectLst/>
              </a:rPr>
              <a:t> program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62274" y="3133724"/>
            <a:ext cx="351472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3335" y="1066800"/>
            <a:ext cx="8632065" cy="4940491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Class MyList.java</a:t>
            </a:r>
          </a:p>
          <a:p>
            <a:r>
              <a:rPr lang="en-US" sz="2400" dirty="0"/>
              <a:t>Program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contoh</a:t>
            </a:r>
            <a:r>
              <a:rPr lang="en-US" sz="2400" dirty="0"/>
              <a:t> </a:t>
            </a:r>
            <a:r>
              <a:rPr lang="en-US" sz="2400" dirty="0" err="1"/>
              <a:t>bagaimana</a:t>
            </a:r>
            <a:r>
              <a:rPr lang="en-US" sz="2400" dirty="0"/>
              <a:t> coding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swing </a:t>
            </a:r>
            <a:r>
              <a:rPr lang="en-US" sz="2400" dirty="0" err="1"/>
              <a:t>JList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JTextField</a:t>
            </a:r>
            <a:r>
              <a:rPr lang="en-US" sz="2400" dirty="0"/>
              <a:t>.</a:t>
            </a:r>
          </a:p>
          <a:p>
            <a:r>
              <a:rPr lang="en-US" sz="2400" dirty="0"/>
              <a:t>Output class </a:t>
            </a:r>
            <a:r>
              <a:rPr lang="en-US" sz="2400" dirty="0" err="1"/>
              <a:t>tersebut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Jika</a:t>
            </a:r>
            <a:r>
              <a:rPr lang="en-US" sz="2400" dirty="0"/>
              <a:t> user </a:t>
            </a:r>
            <a:r>
              <a:rPr lang="en-US" sz="2400" dirty="0" err="1"/>
              <a:t>memilih</a:t>
            </a:r>
            <a:r>
              <a:rPr lang="en-US" sz="2400" dirty="0"/>
              <a:t> </a:t>
            </a:r>
            <a:r>
              <a:rPr lang="en-US" sz="2400" dirty="0" err="1"/>
              <a:t>salah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kota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List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ditulis</a:t>
            </a:r>
            <a:r>
              <a:rPr lang="en-US" sz="2400" dirty="0"/>
              <a:t> </a:t>
            </a:r>
            <a:r>
              <a:rPr lang="en-US" sz="2400" dirty="0" err="1"/>
              <a:t>ulang</a:t>
            </a:r>
            <a:r>
              <a:rPr lang="en-US" sz="2400" dirty="0"/>
              <a:t> </a:t>
            </a:r>
            <a:r>
              <a:rPr lang="en-US" sz="2400" dirty="0" err="1"/>
              <a:t>di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</a:t>
            </a:r>
            <a:r>
              <a:rPr lang="en-US" sz="2400" dirty="0" err="1"/>
              <a:t>TextField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Item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</a:t>
            </a:r>
            <a:r>
              <a:rPr lang="en-US" sz="2400" dirty="0" err="1"/>
              <a:t>ComboBox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tampil</a:t>
            </a:r>
            <a:r>
              <a:rPr lang="en-US" sz="2400" dirty="0"/>
              <a:t> item yang </a:t>
            </a:r>
            <a:r>
              <a:rPr lang="en-US" sz="2400" dirty="0" err="1"/>
              <a:t>dipilih</a:t>
            </a:r>
            <a:r>
              <a:rPr lang="en-US" sz="2400" dirty="0"/>
              <a:t> user, </a:t>
            </a:r>
            <a:r>
              <a:rPr lang="en-US" sz="2400" dirty="0" err="1"/>
              <a:t>sedangkan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List </a:t>
            </a:r>
            <a:r>
              <a:rPr lang="en-US" sz="2400" dirty="0" err="1"/>
              <a:t>semua</a:t>
            </a:r>
            <a:r>
              <a:rPr lang="en-US" sz="2400" dirty="0"/>
              <a:t> item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tampil</a:t>
            </a:r>
            <a:r>
              <a:rPr lang="en-US" sz="2400" dirty="0"/>
              <a:t>, item yang </a:t>
            </a:r>
            <a:r>
              <a:rPr lang="en-US" sz="2400" dirty="0" err="1"/>
              <a:t>dipilih</a:t>
            </a:r>
            <a:r>
              <a:rPr lang="en-US" sz="2400" dirty="0"/>
              <a:t> </a:t>
            </a:r>
            <a:r>
              <a:rPr lang="en-US" sz="2400" dirty="0" err="1"/>
              <a:t>biasanya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warna</a:t>
            </a:r>
            <a:r>
              <a:rPr lang="en-US" sz="2400" dirty="0"/>
              <a:t> background yang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gelap</a:t>
            </a:r>
            <a:r>
              <a:rPr lang="en-US" sz="2400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Penjelasan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contoh</a:t>
            </a:r>
            <a:r>
              <a:rPr lang="en-US" sz="3000" dirty="0">
                <a:effectLst/>
              </a:rPr>
              <a:t> program </a:t>
            </a:r>
            <a:r>
              <a:rPr lang="en-US" sz="3000" dirty="0" err="1">
                <a:effectLst/>
              </a:rPr>
              <a:t>Aplikasi</a:t>
            </a:r>
            <a:r>
              <a:rPr lang="en-US" sz="3000" dirty="0">
                <a:effectLst/>
              </a:rPr>
              <a:t> GUI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6200" y="2133600"/>
            <a:ext cx="48006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40491"/>
          </a:xfrm>
        </p:spPr>
        <p:txBody>
          <a:bodyPr/>
          <a:lstStyle/>
          <a:p>
            <a:pPr>
              <a:buNone/>
            </a:pPr>
            <a:r>
              <a:rPr lang="en-US" dirty="0"/>
              <a:t>Layout </a:t>
            </a:r>
            <a:r>
              <a:rPr lang="en-US" dirty="0" err="1"/>
              <a:t>diatur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: </a:t>
            </a:r>
          </a:p>
          <a:p>
            <a:pPr lvl="0">
              <a:buNone/>
            </a:pPr>
            <a:r>
              <a:rPr lang="en-US" dirty="0"/>
              <a:t>1. </a:t>
            </a:r>
            <a:r>
              <a:rPr lang="en-US" dirty="0" err="1"/>
              <a:t>Manajer</a:t>
            </a:r>
            <a:r>
              <a:rPr lang="en-US" dirty="0"/>
              <a:t> Layout yang </a:t>
            </a:r>
            <a:r>
              <a:rPr lang="en-US" dirty="0" err="1"/>
              <a:t>digunakan</a:t>
            </a:r>
            <a:r>
              <a:rPr lang="en-US" dirty="0"/>
              <a:t> (</a:t>
            </a:r>
            <a:r>
              <a:rPr lang="en-US" dirty="0" err="1"/>
              <a:t>langkah</a:t>
            </a:r>
            <a:r>
              <a:rPr lang="en-US" dirty="0"/>
              <a:t> 4).</a:t>
            </a:r>
          </a:p>
          <a:p>
            <a:pPr lvl="0">
              <a:buNone/>
            </a:pPr>
            <a:r>
              <a:rPr lang="en-US" dirty="0"/>
              <a:t>2. </a:t>
            </a:r>
            <a:r>
              <a:rPr lang="en-US" dirty="0" err="1"/>
              <a:t>Urutan</a:t>
            </a:r>
            <a:r>
              <a:rPr lang="en-US" dirty="0"/>
              <a:t> method </a:t>
            </a:r>
            <a:r>
              <a:rPr lang="en-US" b="1" dirty="0"/>
              <a:t>add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meletakkan</a:t>
            </a:r>
            <a:r>
              <a:rPr lang="en-US" dirty="0"/>
              <a:t> </a:t>
            </a:r>
          </a:p>
          <a:p>
            <a:pPr lvl="0">
              <a:buNone/>
            </a:pPr>
            <a:r>
              <a:rPr lang="en-US" dirty="0"/>
              <a:t>   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Container (</a:t>
            </a:r>
            <a:r>
              <a:rPr lang="en-US" dirty="0" err="1"/>
              <a:t>langkah</a:t>
            </a:r>
            <a:r>
              <a:rPr lang="en-US" dirty="0"/>
              <a:t> 5).</a:t>
            </a:r>
          </a:p>
          <a:p>
            <a:pPr lvl="0">
              <a:buNone/>
            </a:pPr>
            <a:endParaRPr lang="en-US" dirty="0"/>
          </a:p>
          <a:p>
            <a:r>
              <a:rPr lang="en-US" dirty="0"/>
              <a:t>Java </a:t>
            </a: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15 class </a:t>
            </a:r>
            <a:r>
              <a:rPr lang="en-US" dirty="0" err="1"/>
              <a:t>manajer</a:t>
            </a:r>
            <a:r>
              <a:rPr lang="en-US" dirty="0"/>
              <a:t> layout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tata</a:t>
            </a:r>
            <a:r>
              <a:rPr lang="en-US" dirty="0"/>
              <a:t> </a:t>
            </a:r>
            <a:r>
              <a:rPr lang="en-US" dirty="0" err="1"/>
              <a:t>letak</a:t>
            </a:r>
            <a:r>
              <a:rPr lang="en-US" dirty="0"/>
              <a:t> </a:t>
            </a:r>
            <a:r>
              <a:rPr lang="en-US" dirty="0" err="1"/>
              <a:t>komponen-komponen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frame.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>
                <a:effectLst/>
              </a:rPr>
              <a:t>Manajemen</a:t>
            </a:r>
            <a:r>
              <a:rPr lang="en-US" sz="3000" dirty="0">
                <a:effectLst/>
              </a:rPr>
              <a:t> Layout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836649"/>
              </p:ext>
            </p:extLst>
          </p:nvPr>
        </p:nvGraphicFramePr>
        <p:xfrm>
          <a:off x="152400" y="685800"/>
          <a:ext cx="8839200" cy="5714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9674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 </a:t>
                      </a:r>
                      <a:r>
                        <a:rPr lang="en-US" sz="2100" dirty="0" err="1"/>
                        <a:t>Manajer</a:t>
                      </a:r>
                      <a:r>
                        <a:rPr lang="en-US" sz="2100" dirty="0"/>
                        <a:t> Layout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err="1"/>
                        <a:t>Deskripsi</a:t>
                      </a:r>
                      <a:endParaRPr lang="en-US" sz="2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0868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457200" algn="l"/>
                        </a:tabLst>
                      </a:pP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  <a:hlinkClick r:id="rId2" action="ppaction://hlinksldjump"/>
                        </a:rPr>
                        <a:t>FlowLayout</a:t>
                      </a:r>
                      <a:endParaRPr lang="en-US" sz="2100" b="1" kern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457200" algn="l"/>
                        </a:tabLst>
                      </a:pP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Menentukan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letak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komponen-komponen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berdasarkan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baris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dari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atas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ke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bawah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)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kemudian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kolom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(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dari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kiri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ke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kanan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).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Posisi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komponen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pada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Layout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ini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dipengaruhi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ukuran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frame,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namun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ukuran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komponen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tetap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2100" b="1" kern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8152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457200" algn="l"/>
                        </a:tabLst>
                      </a:pP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  <a:hlinkClick r:id="rId3" action="ppaction://hlinksldjump"/>
                        </a:rPr>
                        <a:t>GridLayout</a:t>
                      </a:r>
                      <a:endParaRPr lang="en-US" sz="2100" b="1" kern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457200" algn="l"/>
                        </a:tabLst>
                      </a:pP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Menentukan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letak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komponen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berdasarkan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matriks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2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dimensi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baris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kolom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.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Posisi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komponen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ini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tidak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dipengaruhi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ukuran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frame,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namun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ukuran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komponennya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dapat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berubah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. </a:t>
                      </a:r>
                      <a:endParaRPr lang="en-US" sz="2100" b="1" kern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305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457200" algn="l"/>
                        </a:tabLst>
                      </a:pP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  <a:hlinkClick r:id="rId4" action="ppaction://hlinksldjump"/>
                        </a:rPr>
                        <a:t>GridBagLayout</a:t>
                      </a:r>
                      <a:endParaRPr lang="en-US" sz="2100" b="1" kern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457200" algn="l"/>
                        </a:tabLst>
                      </a:pP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Prinsipnya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sama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dengan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GridLayout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namun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suatu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komponen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button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dapat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menempati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lebih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dari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1 cell.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Suatu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button yang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menempati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lebih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dari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satu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cell,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harus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membentuk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segi-empat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semua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button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dalam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satu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panel/container/frame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harus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membentuk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segi-empat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pula.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Peletakkan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komponen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ke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panel/container/frame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harus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menyertakan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constraintnya</a:t>
                      </a:r>
                      <a:r>
                        <a:rPr lang="en-US" sz="2100" b="0" kern="1600" dirty="0">
                          <a:latin typeface="Times New Roman" pitchFamily="18" charset="0"/>
                          <a:cs typeface="Times New Roman" pitchFamily="18" charset="0"/>
                        </a:rPr>
                        <a:t>.  </a:t>
                      </a:r>
                      <a:endParaRPr lang="en-US" sz="2100" b="1" kern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000" dirty="0" err="1"/>
              <a:t>Daftar</a:t>
            </a:r>
            <a:r>
              <a:rPr lang="en-US" sz="3000" dirty="0"/>
              <a:t> class </a:t>
            </a:r>
            <a:r>
              <a:rPr lang="en-US" sz="3000" dirty="0" err="1"/>
              <a:t>sebagai</a:t>
            </a:r>
            <a:r>
              <a:rPr lang="en-US" sz="3000" dirty="0"/>
              <a:t> </a:t>
            </a:r>
            <a:r>
              <a:rPr lang="en-US" sz="3000" dirty="0" err="1"/>
              <a:t>Manajer</a:t>
            </a:r>
            <a:r>
              <a:rPr lang="en-US" sz="3000" dirty="0"/>
              <a:t> Layout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6000992"/>
              </p:ext>
            </p:extLst>
          </p:nvPr>
        </p:nvGraphicFramePr>
        <p:xfrm>
          <a:off x="228600" y="990599"/>
          <a:ext cx="86868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4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2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378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Manajer</a:t>
                      </a:r>
                      <a:r>
                        <a:rPr lang="en-US" sz="2400" dirty="0"/>
                        <a:t> 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Deskripsi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5996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457200" algn="l"/>
                        </a:tabLst>
                      </a:pP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  <a:hlinkClick r:id="rId2" action="ppaction://hlinksldjump"/>
                        </a:rPr>
                        <a:t>BorderLayout</a:t>
                      </a:r>
                      <a:endParaRPr lang="en-US" sz="2400" b="1" kern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Merupakan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kelas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default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bagi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container window, frame,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dan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dialog.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Tidak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dipengaruhi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ukuran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frame.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Peletakkan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komponen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ke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panel/container/frame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harus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menyertakan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posisi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mataanginnya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(east, west, north, south,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dan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center).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Kebalikan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dari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gridbaglayout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,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satu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posisi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boleh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ditempati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lebih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dari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satu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komponen</a:t>
                      </a:r>
                      <a:r>
                        <a:rPr lang="en-US" sz="24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5618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457200" algn="l"/>
                        </a:tabLst>
                      </a:pP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  <a:hlinkClick r:id="rId3" action="ppaction://hlinksldjump"/>
                        </a:rPr>
                        <a:t>CardLayout</a:t>
                      </a:r>
                      <a:endParaRPr lang="en-US" sz="2400" b="1" kern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457200" algn="l"/>
                        </a:tabLst>
                      </a:pP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Komponen-komponen</a:t>
                      </a:r>
                      <a:r>
                        <a:rPr lang="en-US" sz="24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diatur</a:t>
                      </a:r>
                      <a:r>
                        <a:rPr lang="en-US" sz="24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menjadi</a:t>
                      </a:r>
                      <a:r>
                        <a:rPr lang="en-US" sz="24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seperti</a:t>
                      </a:r>
                      <a:r>
                        <a:rPr lang="en-US" sz="24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tumpukan</a:t>
                      </a:r>
                      <a:r>
                        <a:rPr lang="en-US" sz="24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kartu</a:t>
                      </a:r>
                      <a:r>
                        <a:rPr lang="en-US" sz="2400" b="0" kern="1600" dirty="0">
                          <a:latin typeface="Times New Roman" pitchFamily="18" charset="0"/>
                          <a:cs typeface="Times New Roman" pitchFamily="18" charset="0"/>
                        </a:rPr>
                        <a:t>. </a:t>
                      </a: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Peletakkan</a:t>
                      </a:r>
                      <a:r>
                        <a:rPr lang="en-US" sz="24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komponen</a:t>
                      </a:r>
                      <a:r>
                        <a:rPr lang="en-US" sz="24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ke</a:t>
                      </a:r>
                      <a:r>
                        <a:rPr lang="en-US" sz="2400" b="0" kern="1600" dirty="0">
                          <a:latin typeface="Times New Roman" pitchFamily="18" charset="0"/>
                          <a:cs typeface="Times New Roman" pitchFamily="18" charset="0"/>
                        </a:rPr>
                        <a:t> panel/container/frame </a:t>
                      </a: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harus</a:t>
                      </a:r>
                      <a:r>
                        <a:rPr lang="en-US" sz="24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menyertakan</a:t>
                      </a:r>
                      <a:r>
                        <a:rPr lang="en-US" sz="2400" b="0" kern="1600" dirty="0">
                          <a:latin typeface="Times New Roman" pitchFamily="18" charset="0"/>
                          <a:cs typeface="Times New Roman" pitchFamily="18" charset="0"/>
                        </a:rPr>
                        <a:t> id card </a:t>
                      </a:r>
                      <a:r>
                        <a:rPr lang="en-US" sz="24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komponennya</a:t>
                      </a:r>
                      <a:r>
                        <a:rPr lang="en-US" sz="2400" b="0" kern="1600" dirty="0"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2400" b="1" kern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000" dirty="0" err="1">
                <a:effectLst/>
              </a:rPr>
              <a:t>Daftar</a:t>
            </a:r>
            <a:r>
              <a:rPr lang="en-US" sz="3000" dirty="0">
                <a:effectLst/>
              </a:rPr>
              <a:t> class </a:t>
            </a:r>
            <a:r>
              <a:rPr lang="en-US" sz="3000" dirty="0" err="1">
                <a:effectLst/>
              </a:rPr>
              <a:t>sebagai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Manajer</a:t>
            </a:r>
            <a:r>
              <a:rPr lang="en-US" sz="3000" dirty="0">
                <a:effectLst/>
              </a:rPr>
              <a:t> Layout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1687057"/>
              </p:ext>
            </p:extLst>
          </p:nvPr>
        </p:nvGraphicFramePr>
        <p:xfrm>
          <a:off x="228600" y="1162786"/>
          <a:ext cx="8686800" cy="4085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4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2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846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Times New Roman" pitchFamily="18" charset="0"/>
                          <a:cs typeface="Times New Roman" pitchFamily="18" charset="0"/>
                        </a:rPr>
                        <a:t>Manajer</a:t>
                      </a:r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 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Times New Roman" pitchFamily="18" charset="0"/>
                          <a:cs typeface="Times New Roman" pitchFamily="18" charset="0"/>
                        </a:rPr>
                        <a:t>Deskripsi</a:t>
                      </a:r>
                      <a:endParaRPr lang="en-US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6134">
                <a:tc>
                  <a:txBody>
                    <a:bodyPr/>
                    <a:lstStyle/>
                    <a:p>
                      <a:pPr algn="just">
                        <a:spcBef>
                          <a:spcPts val="120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457200" algn="l"/>
                        </a:tabLst>
                      </a:pP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  <a:hlinkClick r:id="rId2" action="ppaction://hlinksldjump"/>
                        </a:rPr>
                        <a:t>BoxLayout</a:t>
                      </a:r>
                      <a:endParaRPr lang="en-US" sz="2800" b="1" kern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120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457200" algn="l"/>
                        </a:tabLst>
                      </a:pP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Container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diilustrasikan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bagaikan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kotak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,    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dan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komponen-komponen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diilustraikan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di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packing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ke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dalam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kotak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tersebut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. </a:t>
                      </a:r>
                      <a:endParaRPr lang="en-US" sz="2800" b="1" kern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4485">
                <a:tc>
                  <a:txBody>
                    <a:bodyPr/>
                    <a:lstStyle/>
                    <a:p>
                      <a:pPr algn="just">
                        <a:spcBef>
                          <a:spcPts val="120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457200" algn="l"/>
                        </a:tabLst>
                      </a:pP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NullLayout</a:t>
                      </a:r>
                      <a:endParaRPr lang="en-US" sz="2800" b="1" kern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120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457200" algn="l"/>
                        </a:tabLst>
                      </a:pP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Layout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ini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digunakan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jika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pemrogram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ingin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bebas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meletakkan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komponen-komponen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sesuai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seleranya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800" b="0" kern="1600" dirty="0" err="1">
                          <a:latin typeface="Times New Roman" pitchFamily="18" charset="0"/>
                          <a:cs typeface="Times New Roman" pitchFamily="18" charset="0"/>
                        </a:rPr>
                        <a:t>menggunakan</a:t>
                      </a:r>
                      <a:r>
                        <a:rPr lang="en-US" sz="2800" b="0" kern="1600" dirty="0">
                          <a:latin typeface="Times New Roman" pitchFamily="18" charset="0"/>
                          <a:cs typeface="Times New Roman" pitchFamily="18" charset="0"/>
                        </a:rPr>
                        <a:t> designer.</a:t>
                      </a:r>
                      <a:endParaRPr lang="en-US" sz="2800" b="1" kern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000" dirty="0" err="1"/>
              <a:t>Daftar</a:t>
            </a:r>
            <a:r>
              <a:rPr lang="en-US" sz="3000" dirty="0"/>
              <a:t> class </a:t>
            </a:r>
            <a:r>
              <a:rPr lang="en-US" sz="3000" dirty="0" err="1"/>
              <a:t>sebagai</a:t>
            </a:r>
            <a:r>
              <a:rPr lang="en-US" sz="3000" dirty="0"/>
              <a:t> </a:t>
            </a:r>
            <a:r>
              <a:rPr lang="en-US" sz="3000" dirty="0" err="1"/>
              <a:t>Manajer</a:t>
            </a:r>
            <a:r>
              <a:rPr lang="en-US" sz="3000" dirty="0"/>
              <a:t> Layout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486400"/>
          </a:xfrm>
        </p:spPr>
        <p:txBody>
          <a:bodyPr>
            <a:normAutofit lnSpcReduction="10000"/>
          </a:bodyPr>
          <a:lstStyle/>
          <a:p>
            <a:r>
              <a:rPr lang="en-US" sz="2000" b="1" dirty="0" err="1"/>
              <a:t>FlowLayout</a:t>
            </a:r>
            <a:r>
              <a:rPr lang="en-US" sz="2000" b="1" dirty="0"/>
              <a:t>(</a:t>
            </a:r>
            <a:r>
              <a:rPr lang="en-US" sz="2000" b="1" dirty="0" err="1"/>
              <a:t>KONSTANTAlignment</a:t>
            </a:r>
            <a:r>
              <a:rPr lang="en-US" sz="2000" b="1" dirty="0"/>
              <a:t>, </a:t>
            </a:r>
            <a:r>
              <a:rPr lang="en-US" sz="2000" b="1" dirty="0" err="1"/>
              <a:t>spasiVertikal</a:t>
            </a:r>
            <a:r>
              <a:rPr lang="en-US" sz="2000" b="1" dirty="0"/>
              <a:t>, </a:t>
            </a:r>
            <a:r>
              <a:rPr lang="en-US" sz="2000" b="1" dirty="0" err="1"/>
              <a:t>spasiHorizontal</a:t>
            </a:r>
            <a:r>
              <a:rPr lang="en-US" sz="2000" b="1" dirty="0"/>
              <a:t>);</a:t>
            </a:r>
            <a:endParaRPr lang="en-US" sz="2000" dirty="0"/>
          </a:p>
          <a:p>
            <a:endParaRPr lang="en-US" sz="1000" b="1" dirty="0"/>
          </a:p>
          <a:p>
            <a:r>
              <a:rPr lang="en-US" sz="2200" b="1" dirty="0" err="1"/>
              <a:t>GridLayout</a:t>
            </a:r>
            <a:r>
              <a:rPr lang="en-US" sz="2200" b="1" dirty="0"/>
              <a:t>(</a:t>
            </a:r>
            <a:r>
              <a:rPr lang="en-US" sz="2200" b="1" dirty="0" err="1"/>
              <a:t>nBaris</a:t>
            </a:r>
            <a:r>
              <a:rPr lang="en-US" sz="2200" b="1" dirty="0"/>
              <a:t>, </a:t>
            </a:r>
            <a:r>
              <a:rPr lang="en-US" sz="2200" b="1" dirty="0" err="1"/>
              <a:t>nKolom</a:t>
            </a:r>
            <a:r>
              <a:rPr lang="en-US" sz="2200" b="1" dirty="0"/>
              <a:t>, </a:t>
            </a:r>
            <a:r>
              <a:rPr lang="en-US" sz="2200" b="1" dirty="0" err="1"/>
              <a:t>spasiHorizontal</a:t>
            </a:r>
            <a:r>
              <a:rPr lang="en-US" sz="2200" b="1" dirty="0"/>
              <a:t>, </a:t>
            </a:r>
            <a:r>
              <a:rPr lang="en-US" sz="2200" b="1" dirty="0" err="1"/>
              <a:t>spasiVertikal</a:t>
            </a:r>
            <a:r>
              <a:rPr lang="en-US" sz="2200" b="1" dirty="0"/>
              <a:t>);</a:t>
            </a:r>
          </a:p>
          <a:p>
            <a:endParaRPr lang="en-US" sz="1000" dirty="0"/>
          </a:p>
          <a:p>
            <a:r>
              <a:rPr lang="en-US" sz="2200" b="1" dirty="0" err="1"/>
              <a:t>Borderlayout</a:t>
            </a:r>
            <a:r>
              <a:rPr lang="en-US" sz="2200" b="1" dirty="0"/>
              <a:t>(</a:t>
            </a:r>
            <a:r>
              <a:rPr lang="en-US" sz="2200" b="1" dirty="0" err="1"/>
              <a:t>spasiHorizontal</a:t>
            </a:r>
            <a:r>
              <a:rPr lang="en-US" sz="2200" b="1" dirty="0"/>
              <a:t>, </a:t>
            </a:r>
            <a:r>
              <a:rPr lang="en-US" sz="2200" b="1" dirty="0" err="1"/>
              <a:t>spasiVertikal</a:t>
            </a:r>
            <a:r>
              <a:rPr lang="en-US" sz="2200" b="1" dirty="0"/>
              <a:t>);</a:t>
            </a:r>
          </a:p>
          <a:p>
            <a:endParaRPr lang="en-US" sz="1000" dirty="0"/>
          </a:p>
          <a:p>
            <a:r>
              <a:rPr lang="en-US" sz="2200" b="1" dirty="0" err="1"/>
              <a:t>GridBagLayout</a:t>
            </a:r>
            <a:r>
              <a:rPr lang="en-US" sz="2200" b="1" dirty="0"/>
              <a:t>(</a:t>
            </a:r>
            <a:r>
              <a:rPr lang="en-US" sz="2200" b="1" dirty="0" err="1"/>
              <a:t>posisiX</a:t>
            </a:r>
            <a:r>
              <a:rPr lang="en-US" sz="2200" b="1" dirty="0"/>
              <a:t>, </a:t>
            </a:r>
            <a:r>
              <a:rPr lang="en-US" sz="2200" b="1" dirty="0" err="1"/>
              <a:t>posisiY</a:t>
            </a:r>
            <a:r>
              <a:rPr lang="en-US" sz="2200" b="1" dirty="0"/>
              <a:t>, nSelHorizontal1Komponen,   </a:t>
            </a:r>
          </a:p>
          <a:p>
            <a:r>
              <a:rPr lang="en-US" sz="2200" b="1" dirty="0"/>
              <a:t>                        nSelVertikal1Komponen, </a:t>
            </a:r>
            <a:r>
              <a:rPr lang="en-US" sz="2200" b="1" dirty="0" err="1"/>
              <a:t>spasiVertikal</a:t>
            </a:r>
            <a:r>
              <a:rPr lang="en-US" sz="2200" b="1" dirty="0"/>
              <a:t>,</a:t>
            </a:r>
          </a:p>
          <a:p>
            <a:r>
              <a:rPr lang="en-US" sz="2200" b="1" dirty="0"/>
              <a:t>                        </a:t>
            </a:r>
            <a:r>
              <a:rPr lang="en-US" sz="2200" b="1" dirty="0" err="1"/>
              <a:t>spasiHorizontal</a:t>
            </a:r>
            <a:r>
              <a:rPr lang="en-US" sz="2200" b="1" dirty="0"/>
              <a:t>);</a:t>
            </a:r>
          </a:p>
          <a:p>
            <a:endParaRPr lang="en-US" sz="1000" dirty="0"/>
          </a:p>
          <a:p>
            <a:r>
              <a:rPr lang="en-US" sz="2200" b="1" dirty="0" err="1"/>
              <a:t>BoxLayout</a:t>
            </a:r>
            <a:r>
              <a:rPr lang="en-US" sz="2200" b="1" dirty="0"/>
              <a:t>(Container target, </a:t>
            </a:r>
            <a:r>
              <a:rPr lang="en-US" sz="2200" b="1" dirty="0" err="1"/>
              <a:t>int</a:t>
            </a:r>
            <a:r>
              <a:rPr lang="en-US" sz="2200" b="1" dirty="0"/>
              <a:t> AXIS);</a:t>
            </a:r>
            <a:endParaRPr lang="en-US" sz="2200" dirty="0"/>
          </a:p>
          <a:p>
            <a:endParaRPr lang="en-US" sz="1000" dirty="0"/>
          </a:p>
          <a:p>
            <a:r>
              <a:rPr lang="en-US" sz="2200" dirty="0"/>
              <a:t>AXIS </a:t>
            </a:r>
            <a:r>
              <a:rPr lang="en-US" sz="2200" dirty="0" err="1"/>
              <a:t>adalah</a:t>
            </a:r>
            <a:r>
              <a:rPr lang="en-US" sz="2200" dirty="0"/>
              <a:t> </a:t>
            </a:r>
            <a:r>
              <a:rPr lang="en-US" sz="2200" dirty="0" err="1"/>
              <a:t>konstanta</a:t>
            </a:r>
            <a:r>
              <a:rPr lang="en-US" sz="2200" dirty="0"/>
              <a:t> </a:t>
            </a:r>
            <a:r>
              <a:rPr lang="en-US" sz="2200" dirty="0" err="1"/>
              <a:t>salah-satu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: </a:t>
            </a:r>
          </a:p>
          <a:p>
            <a:r>
              <a:rPr lang="en-US" sz="2200" b="1" dirty="0" err="1"/>
              <a:t>BoxLayout.X_AXIS</a:t>
            </a:r>
            <a:r>
              <a:rPr lang="en-US" sz="2200" b="1" dirty="0"/>
              <a:t>; </a:t>
            </a:r>
          </a:p>
          <a:p>
            <a:r>
              <a:rPr lang="en-US" sz="2200" b="1" dirty="0" err="1"/>
              <a:t>BoxLayout.Y_AXIS</a:t>
            </a:r>
            <a:r>
              <a:rPr lang="en-US" sz="2200" b="1" dirty="0"/>
              <a:t>;                     </a:t>
            </a:r>
          </a:p>
          <a:p>
            <a:r>
              <a:rPr lang="en-US" sz="2200" b="1" dirty="0" err="1"/>
              <a:t>BoxLayout.LINE_AXIS</a:t>
            </a:r>
            <a:r>
              <a:rPr lang="en-US" sz="2200" b="1" dirty="0"/>
              <a:t>;</a:t>
            </a:r>
          </a:p>
          <a:p>
            <a:r>
              <a:rPr lang="en-US" sz="2200" b="1" dirty="0" err="1"/>
              <a:t>BoxLayout.PAGE_AXIS</a:t>
            </a:r>
            <a:r>
              <a:rPr lang="en-US" sz="2200" b="1" dirty="0"/>
              <a:t>;</a:t>
            </a:r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effectLst/>
              </a:rPr>
              <a:t>Format </a:t>
            </a:r>
            <a:r>
              <a:rPr lang="en-US" sz="3200" dirty="0" err="1">
                <a:effectLst/>
              </a:rPr>
              <a:t>masing-masing</a:t>
            </a:r>
            <a:r>
              <a:rPr lang="en-US" sz="3200" dirty="0">
                <a:effectLst/>
              </a:rPr>
              <a:t> Layout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4788091"/>
          </a:xfrm>
        </p:spPr>
        <p:txBody>
          <a:bodyPr/>
          <a:lstStyle/>
          <a:p>
            <a:r>
              <a:rPr lang="en-US" dirty="0" err="1"/>
              <a:t>Menata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frame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layar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Layout Manager,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koordinat</a:t>
            </a:r>
            <a:r>
              <a:rPr lang="en-US" dirty="0"/>
              <a:t> </a:t>
            </a:r>
            <a:r>
              <a:rPr lang="en-US" dirty="0" err="1"/>
              <a:t>absolut</a:t>
            </a:r>
            <a:r>
              <a:rPr lang="en-US" dirty="0"/>
              <a:t> </a:t>
            </a:r>
            <a:r>
              <a:rPr lang="en-US" dirty="0" err="1"/>
              <a:t>x,y</a:t>
            </a:r>
            <a:r>
              <a:rPr lang="en-US" dirty="0"/>
              <a:t>.</a:t>
            </a:r>
          </a:p>
          <a:p>
            <a:r>
              <a:rPr lang="en-US" sz="1000" dirty="0"/>
              <a:t> 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menempatkan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posisi</a:t>
            </a:r>
            <a:r>
              <a:rPr lang="en-US" dirty="0"/>
              <a:t> yang </a:t>
            </a:r>
            <a:r>
              <a:rPr lang="en-US" dirty="0" err="1"/>
              <a:t>diinginkan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koordinat</a:t>
            </a:r>
            <a:r>
              <a:rPr lang="en-US" dirty="0"/>
              <a:t> </a:t>
            </a:r>
            <a:r>
              <a:rPr lang="en-US" dirty="0" err="1"/>
              <a:t>absolut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diatur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method:</a:t>
            </a:r>
          </a:p>
          <a:p>
            <a:r>
              <a:rPr lang="en-US" b="1" i="1" dirty="0" err="1"/>
              <a:t>setBounds</a:t>
            </a:r>
            <a:r>
              <a:rPr lang="en-US" b="1" i="1" dirty="0"/>
              <a:t>(</a:t>
            </a:r>
            <a:r>
              <a:rPr lang="en-US" b="1" i="1" dirty="0" err="1"/>
              <a:t>int</a:t>
            </a:r>
            <a:r>
              <a:rPr lang="en-US" b="1" i="1" dirty="0"/>
              <a:t> x, </a:t>
            </a:r>
            <a:r>
              <a:rPr lang="en-US" b="1" i="1" dirty="0" err="1"/>
              <a:t>int</a:t>
            </a:r>
            <a:r>
              <a:rPr lang="en-US" b="1" i="1" dirty="0"/>
              <a:t> y, </a:t>
            </a:r>
            <a:r>
              <a:rPr lang="en-US" b="1" i="1" dirty="0" err="1"/>
              <a:t>int</a:t>
            </a:r>
            <a:r>
              <a:rPr lang="en-US" b="1" i="1" dirty="0"/>
              <a:t> w, </a:t>
            </a:r>
            <a:r>
              <a:rPr lang="en-US" b="1" i="1" dirty="0" err="1"/>
              <a:t>int</a:t>
            </a:r>
            <a:r>
              <a:rPr lang="en-US" b="1" i="1" dirty="0"/>
              <a:t> h)</a:t>
            </a:r>
            <a:r>
              <a:rPr lang="en-US" dirty="0"/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000" dirty="0">
                <a:effectLst/>
              </a:rPr>
              <a:t>Cara lain </a:t>
            </a:r>
            <a:r>
              <a:rPr lang="en-US" sz="3000" dirty="0" err="1">
                <a:effectLst/>
              </a:rPr>
              <a:t>menata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komponen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pada</a:t>
            </a:r>
            <a:r>
              <a:rPr lang="en-US" sz="3000" dirty="0">
                <a:effectLst/>
              </a:rPr>
              <a:t> Frame</a:t>
            </a:r>
            <a:br>
              <a:rPr lang="en-US" sz="3000" dirty="0">
                <a:effectLst/>
              </a:rPr>
            </a:br>
            <a:r>
              <a:rPr lang="en-US" sz="3000" dirty="0">
                <a:effectLst/>
              </a:rPr>
              <a:t>(</a:t>
            </a:r>
            <a:r>
              <a:rPr lang="en-US" sz="3000" dirty="0" err="1">
                <a:effectLst/>
              </a:rPr>
              <a:t>tanpa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menggunakan</a:t>
            </a:r>
            <a:r>
              <a:rPr lang="en-US" sz="3000" dirty="0">
                <a:effectLst/>
              </a:rPr>
              <a:t> </a:t>
            </a:r>
            <a:r>
              <a:rPr lang="en-US" sz="3000" dirty="0" err="1">
                <a:effectLst/>
              </a:rPr>
              <a:t>Manajer</a:t>
            </a:r>
            <a:r>
              <a:rPr lang="en-US" sz="3000" dirty="0">
                <a:effectLst/>
              </a:rPr>
              <a:t> Layout)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4102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err="1"/>
              <a:t>Seluruh</a:t>
            </a:r>
            <a:r>
              <a:rPr lang="en-US" sz="2800" dirty="0"/>
              <a:t> class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contoh</a:t>
            </a:r>
            <a:r>
              <a:rPr lang="en-US" sz="2800" dirty="0"/>
              <a:t> program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mengenal</a:t>
            </a:r>
            <a:r>
              <a:rPr lang="en-US" sz="2800" dirty="0"/>
              <a:t> </a:t>
            </a:r>
            <a:r>
              <a:rPr lang="en-US" sz="2800" dirty="0" err="1"/>
              <a:t>beragam</a:t>
            </a:r>
            <a:r>
              <a:rPr lang="en-US" sz="2800" dirty="0"/>
              <a:t> </a:t>
            </a:r>
            <a:r>
              <a:rPr lang="en-US" sz="2800" dirty="0" err="1"/>
              <a:t>macam</a:t>
            </a:r>
            <a:r>
              <a:rPr lang="en-US" sz="2800" dirty="0"/>
              <a:t> layout </a:t>
            </a:r>
            <a:r>
              <a:rPr lang="en-US" sz="2800" dirty="0" err="1"/>
              <a:t>berada</a:t>
            </a:r>
            <a:r>
              <a:rPr lang="en-US" sz="2800" dirty="0"/>
              <a:t> </a:t>
            </a:r>
            <a:r>
              <a:rPr lang="en-US" sz="2800" dirty="0" err="1"/>
              <a:t>di</a:t>
            </a:r>
            <a:r>
              <a:rPr lang="en-US" sz="2800" dirty="0"/>
              <a:t> project </a:t>
            </a:r>
            <a:r>
              <a:rPr lang="en-US" sz="2800" b="1" dirty="0" err="1"/>
              <a:t>pLayout</a:t>
            </a:r>
            <a:r>
              <a:rPr lang="en-US" sz="2800" dirty="0"/>
              <a:t>.</a:t>
            </a:r>
          </a:p>
          <a:p>
            <a:endParaRPr lang="en-US" sz="1000" b="1" dirty="0"/>
          </a:p>
          <a:p>
            <a:pPr marL="109728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class MyFlowLayout.java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MyFlowLayout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public static void main(String[]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layar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("Flow Layout");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lUserName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("User Name: ");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tfUserName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(15);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lPassword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("Password: ");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JPasswordField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pfPassword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JPasswordField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(5);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Container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layar.getContentPane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endParaRPr lang="en-US" sz="2500" b="1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1066800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5B9827-72EB-66E2-01F7-DCB08935C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058407"/>
          </a:xfrm>
        </p:spPr>
        <p:txBody>
          <a:bodyPr>
            <a:norm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FlowLayout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flow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FlowLayout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(FlowLayout.LEFT,20,20); 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kontainer.setLayout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(flow);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pfPassword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layar.setDefaultCloseOperation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JFrame.EXIT_ON_CLOSE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layar.setSize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(380, 150);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layar.setVisible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</a:t>
            </a:r>
            <a:r>
              <a:rPr lang="pt-BR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73D230-2E3F-5A18-0CAD-8C61FB3E7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3793"/>
            <a:ext cx="8229600" cy="487362"/>
          </a:xfrm>
        </p:spPr>
        <p:txBody>
          <a:bodyPr>
            <a:normAutofit/>
          </a:bodyPr>
          <a:lstStyle/>
          <a:p>
            <a:r>
              <a:rPr lang="en-ID" sz="2400" dirty="0">
                <a:solidFill>
                  <a:schemeClr val="accent2">
                    <a:lumMod val="75000"/>
                  </a:schemeClr>
                </a:solidFill>
              </a:rPr>
              <a:t> MyFlowLayout.java (2)</a:t>
            </a:r>
          </a:p>
        </p:txBody>
      </p:sp>
      <p:sp>
        <p:nvSpPr>
          <p:cNvPr id="6" name="Arrow: Curved Left 5">
            <a:hlinkClick r:id="rId2" action="ppaction://hlinksldjump"/>
            <a:extLst>
              <a:ext uri="{FF2B5EF4-FFF2-40B4-BE49-F238E27FC236}">
                <a16:creationId xmlns:a16="http://schemas.microsoft.com/office/drawing/2014/main" id="{C4948F7B-2E46-E75B-93F6-C3332418014B}"/>
              </a:ext>
            </a:extLst>
          </p:cNvPr>
          <p:cNvSpPr/>
          <p:nvPr/>
        </p:nvSpPr>
        <p:spPr>
          <a:xfrm>
            <a:off x="7924800" y="5624236"/>
            <a:ext cx="457200" cy="45720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3934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534400" cy="4953000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Class MyBorderLayout.java</a:t>
            </a:r>
          </a:p>
          <a:p>
            <a:pPr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MyBorderLayout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public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MyBorderLayout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super("Border Layout");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("User Name: 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(15);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("Password: 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JPasswordField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pfPassword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JPasswordField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(5);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Container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this.getContentPane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kontainer.setLayout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BorderLayout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//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utara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"North");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304800"/>
            <a:ext cx="8763000" cy="762000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8CD5CE-CCE8-9552-C4BF-212B224A2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89864"/>
            <a:ext cx="8991600" cy="5317427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// barat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"West");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//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tengah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"Center");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//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timur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pfPassword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"East");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//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selatan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"South");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this.setDefaultCloseOperation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JFrame.EXIT_ON_CLOSE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this.setSize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(380, 150);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this.setVisible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static void main(String[]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MyBorderLayout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endParaRPr lang="en-ID" sz="2000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2D5AB2-0DA6-3A22-29F4-5C54E2F4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BA037-6445-33BD-9A77-48A27DE4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CFEDAC-7B3F-71E2-FD7D-D4D80D3FE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865" y="113793"/>
            <a:ext cx="8229600" cy="57607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MyBorderLayout.java (2)</a:t>
            </a:r>
            <a:endParaRPr lang="en-ID" sz="2400" dirty="0"/>
          </a:p>
        </p:txBody>
      </p:sp>
      <p:sp>
        <p:nvSpPr>
          <p:cNvPr id="6" name="Arrow: Curved Left 5">
            <a:hlinkClick r:id="rId2" action="ppaction://hlinksldjump"/>
            <a:extLst>
              <a:ext uri="{FF2B5EF4-FFF2-40B4-BE49-F238E27FC236}">
                <a16:creationId xmlns:a16="http://schemas.microsoft.com/office/drawing/2014/main" id="{691E3C39-54D8-BB13-7DFA-73310B42C5D5}"/>
              </a:ext>
            </a:extLst>
          </p:cNvPr>
          <p:cNvSpPr/>
          <p:nvPr/>
        </p:nvSpPr>
        <p:spPr>
          <a:xfrm>
            <a:off x="7772400" y="5715000"/>
            <a:ext cx="533400" cy="57607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884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480060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class MyGridLayout.java</a:t>
            </a:r>
          </a:p>
          <a:p>
            <a:pPr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MyGridLayout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public static void main(String[]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layar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("Grid Layout");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("User Name: 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(15);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("Password");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JPasswordField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pfPassword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JPasswordField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(5);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</a:tabLst>
            </a:pP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endParaRPr lang="en-US" sz="2500" b="1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990600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3480D6-92CE-79D5-B413-E1BA29E13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8458200" cy="5245291"/>
          </a:xfrm>
        </p:spPr>
        <p:txBody>
          <a:bodyPr>
            <a:normAutofit fontScale="92500" lnSpcReduction="10000"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Container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layar.getContentPane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// 3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brs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2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klm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spasi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brs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20,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spasi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klm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20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183515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grid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(3,2,20,20);  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kontainer.setLayout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(grid);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pfPassword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layar.setDefaultCloseOperation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JFrame.EXIT_ON_CLOSE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layar.setSize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(380, 150);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layar.setVisible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lnSpc>
                <a:spcPct val="150000"/>
              </a:lnSpc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E28796-1035-3024-CA4B-E3280A347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1A73D-41B0-7612-B152-3F9B11EF4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F24FAE-0DB1-CC5B-495C-9CE11E2B5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11162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MyGridLayout.java (2)</a:t>
            </a:r>
            <a:endParaRPr lang="en-ID" sz="2400" dirty="0"/>
          </a:p>
        </p:txBody>
      </p:sp>
      <p:sp>
        <p:nvSpPr>
          <p:cNvPr id="6" name="Arrow: Curved Left 5">
            <a:hlinkClick r:id="rId2" action="ppaction://hlinksldjump"/>
            <a:extLst>
              <a:ext uri="{FF2B5EF4-FFF2-40B4-BE49-F238E27FC236}">
                <a16:creationId xmlns:a16="http://schemas.microsoft.com/office/drawing/2014/main" id="{981C13B2-0538-D220-CE95-4F92E077B7FF}"/>
              </a:ext>
            </a:extLst>
          </p:cNvPr>
          <p:cNvSpPr/>
          <p:nvPr/>
        </p:nvSpPr>
        <p:spPr>
          <a:xfrm>
            <a:off x="7848600" y="5791200"/>
            <a:ext cx="457200" cy="53340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5917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5029200"/>
          </a:xfrm>
        </p:spPr>
        <p:txBody>
          <a:bodyPr>
            <a:normAutofit lnSpcReduction="10000"/>
          </a:bodyPr>
          <a:lstStyle/>
          <a:p>
            <a:pPr marL="109728" indent="0">
              <a:buNone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Class MyGridBagLayout.java</a:t>
            </a:r>
          </a:p>
          <a:p>
            <a:pPr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MyGridBagLayout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public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MyGridBagLayout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super("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GridBag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Layout");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("User Name: 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(15);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("Password: 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JPasswordField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pfPassword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JPasswordField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(5);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bQuit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("Quit");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228600" algn="l"/>
                <a:tab pos="457200" algn="l"/>
                <a:tab pos="6858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1066800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66FD8F-DE22-E977-77A6-7FC491272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60368"/>
            <a:ext cx="8229600" cy="5816632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Container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this.getContentPane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GridBagLayout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gridbag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GridBagLayout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kontainer.setLayout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gridbag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GridBagConstraints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gbc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GridBagConstraints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margin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atas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=5,margin kiri=5,margin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bawah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=5,margin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kanan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=5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gbc.insets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Insets(5, 5, 5, 5);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gbc.fill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GridBagConstraints.BOTH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gbc.gridwidth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1;	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jumlah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sell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mendatar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1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gbc.gridheight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1;	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jumlah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sell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vertikal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1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gbc.gridx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0;     	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diletakkan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pada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kolom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ke-0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gbc.gridy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0;    	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diletakkan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pada baris ke-0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gridbag.setConstraints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lUserName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gbc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lUserName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gbc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endParaRPr lang="en-ID" sz="18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394CA7-DEFC-5678-41CC-63D3C2B61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4296"/>
            <a:ext cx="8229600" cy="57607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MyGridBagLayout.java (2)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4677741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B1C6-0094-970A-94F8-4512734D1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3EC03-397E-143B-1927-889069F54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60368"/>
            <a:ext cx="8229600" cy="5816632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gbc.gridwidth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3;	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9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jumlah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sell </a:t>
            </a:r>
            <a:r>
              <a:rPr lang="en-US" sz="19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mendatar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3</a:t>
            </a:r>
            <a:endParaRPr lang="en-ID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gbc.gridheight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1;	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9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jumlsh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sell </a:t>
            </a:r>
            <a:r>
              <a:rPr lang="en-US" sz="19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vertikal</a:t>
            </a:r>
            <a:r>
              <a:rPr lang="en-US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1</a:t>
            </a:r>
            <a:endParaRPr lang="en-ID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nb-NO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gbc.gridx = 3;     	</a:t>
            </a:r>
            <a:r>
              <a:rPr lang="nb-NO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diletakkan pada kolom ke-3</a:t>
            </a:r>
            <a:endParaRPr lang="en-ID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nb-NO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gbc.gridy = 0;    	</a:t>
            </a:r>
            <a:r>
              <a:rPr lang="nb-NO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diletakkan pada baris ke-0</a:t>
            </a:r>
            <a:endParaRPr lang="en-ID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nb-NO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gridbag.setConstraints(tfUserName, gbc);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nb-NO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kontainer.add(tfUserName, gbc);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nb-NO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nb-NO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gbc.gridwidth = 1;	</a:t>
            </a:r>
            <a:r>
              <a:rPr lang="nb-NO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jumlah sell mendatar = 2</a:t>
            </a:r>
            <a:endParaRPr lang="en-ID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nb-NO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gbc.gridheight = 1;	</a:t>
            </a:r>
            <a:r>
              <a:rPr lang="nb-NO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jumlsh sell vertikal = 1</a:t>
            </a:r>
            <a:endParaRPr lang="en-ID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nb-NO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gbc.gridx = 0;     	</a:t>
            </a:r>
            <a:r>
              <a:rPr lang="nb-NO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diletakkan pada kolom ke-0</a:t>
            </a:r>
            <a:endParaRPr lang="en-ID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nb-NO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gbc.gridy = 1;    	</a:t>
            </a:r>
            <a:r>
              <a:rPr lang="nb-NO" sz="19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diletakkan pada baris ke-1</a:t>
            </a:r>
            <a:endParaRPr lang="en-ID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nb-NO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gridbag.setConstraints(lPassword, gbc);</a:t>
            </a:r>
            <a:endParaRPr lang="en-ID" sz="19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r>
              <a:rPr lang="en-ID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</a:t>
            </a:r>
            <a:r>
              <a:rPr lang="nb-NO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kontainer.add(lPassword, gbc);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1485900" algn="l"/>
                <a:tab pos="2400300" algn="l"/>
              </a:tabLst>
            </a:pPr>
            <a:endParaRPr lang="en-ID" sz="19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C74B11-86C6-F974-9426-F25FB2808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4296"/>
            <a:ext cx="8229600" cy="57607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MyGridBagLayout.java (3)</a:t>
            </a:r>
            <a:endParaRPr lang="en-ID" sz="2400" dirty="0"/>
          </a:p>
        </p:txBody>
      </p:sp>
      <p:sp>
        <p:nvSpPr>
          <p:cNvPr id="3" name="Arrow: Curved Left 2">
            <a:hlinkClick r:id="rId2" action="ppaction://hlinksldjump"/>
            <a:extLst>
              <a:ext uri="{FF2B5EF4-FFF2-40B4-BE49-F238E27FC236}">
                <a16:creationId xmlns:a16="http://schemas.microsoft.com/office/drawing/2014/main" id="{CD45C308-BA6A-E521-B09C-18349862B629}"/>
              </a:ext>
            </a:extLst>
          </p:cNvPr>
          <p:cNvSpPr/>
          <p:nvPr/>
        </p:nvSpPr>
        <p:spPr>
          <a:xfrm>
            <a:off x="7772400" y="5715000"/>
            <a:ext cx="457200" cy="60960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3680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572000"/>
          </a:xfrm>
        </p:spPr>
        <p:txBody>
          <a:bodyPr>
            <a:normAutofit/>
          </a:bodyPr>
          <a:lstStyle/>
          <a:p>
            <a:r>
              <a:rPr lang="en-US" sz="2800" b="1" dirty="0"/>
              <a:t>class MyLayout5.java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1066800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4953000"/>
          </a:xfrm>
        </p:spPr>
        <p:txBody>
          <a:bodyPr>
            <a:normAutofit fontScale="92500" lnSpcReduction="20000"/>
          </a:bodyPr>
          <a:lstStyle/>
          <a:p>
            <a:pPr marL="109728" indent="0">
              <a:buNone/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</a:rPr>
              <a:t>class MyCardLayout.java</a:t>
            </a: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MyCardLayout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CardLayout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card;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Container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public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MyCardLayout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super("Card Layout");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lUserName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("User Name: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tfUserName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(15);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lPassword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("Password: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JPasswordField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pfPassword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JPasswordField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(5);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this.getContentPane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card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CardLayout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kontainer.setLayout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(card); 	</a:t>
            </a:r>
            <a:endParaRPr lang="en-US" sz="28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228600"/>
            <a:ext cx="8763000" cy="990600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69F39B-09B9-5DC7-16BB-3CED7CE4F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092891"/>
          </a:xfrm>
        </p:spPr>
        <p:txBody>
          <a:bodyPr>
            <a:normAutofit fontScale="92500" lnSpcReduction="10000"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"First");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tfUserName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"Second");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"Third");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pfPassword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"Fourth");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"Fifth");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"Sixth");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this.setDefaultCloseOperation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JFrame.EXIT_ON_CLOSE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this.setSize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(300, 100);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this.setVisible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public void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acakCard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while (1 == 1)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try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Thread.sleep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(2000);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endParaRPr lang="en-ID" sz="2800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C0916-98B4-856B-7FEC-309461DB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F9D81-EACA-7298-DE80-E2B330C0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829822-D8BC-4585-1DA3-A33D2E8FF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kern="1200" dirty="0">
                <a:solidFill>
                  <a:schemeClr val="accent2">
                    <a:lumMod val="75000"/>
                  </a:schemeClr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MyCardLayout.java (2)</a:t>
            </a:r>
            <a:endParaRPr lang="en-ID" sz="4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0431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B6444-578C-1F1D-798C-73BBB04D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BFD0E5-A9A9-BD45-69BB-FAFD9AF44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645309"/>
          </a:xfrm>
        </p:spPr>
        <p:txBody>
          <a:bodyPr>
            <a:normAutofit fontScale="92500" lnSpcReduction="10000"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catch(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InterruptedException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double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acak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Math.random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acak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0.20)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card.show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,"Second");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else 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acak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0.40)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card.show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"Third");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else 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acak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0.60)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card.show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"Fourth");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 else 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acak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0.80)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card.show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"Fifth");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else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card.show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"Sixth");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public static void main(String[]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MyCardLayout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app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MyCardLayout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app.acakCard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4F8BCC-D857-991A-C18A-A9F5571E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53454-6512-8395-656D-A6CEF7B2A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F81DB5-0532-F1C7-1986-3A665ABA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kern="1200" dirty="0">
                <a:solidFill>
                  <a:schemeClr val="accent2">
                    <a:lumMod val="75000"/>
                  </a:schemeClr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MyCardLayout.java (3)</a:t>
            </a:r>
            <a:endParaRPr lang="en-ID" sz="4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Arrow: Curved Left 5">
            <a:hlinkClick r:id="rId2" action="ppaction://hlinksldjump"/>
            <a:extLst>
              <a:ext uri="{FF2B5EF4-FFF2-40B4-BE49-F238E27FC236}">
                <a16:creationId xmlns:a16="http://schemas.microsoft.com/office/drawing/2014/main" id="{D382A235-BDFA-CD08-934C-491C90474B94}"/>
              </a:ext>
            </a:extLst>
          </p:cNvPr>
          <p:cNvSpPr/>
          <p:nvPr/>
        </p:nvSpPr>
        <p:spPr>
          <a:xfrm>
            <a:off x="7848600" y="5638800"/>
            <a:ext cx="457200" cy="60960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8824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410200"/>
          </a:xfrm>
        </p:spPr>
        <p:txBody>
          <a:bodyPr>
            <a:normAutofit fontScale="55000" lnSpcReduction="20000"/>
          </a:bodyPr>
          <a:lstStyle/>
          <a:p>
            <a:pPr marL="109728" indent="0">
              <a:buNone/>
            </a:pPr>
            <a:r>
              <a:rPr lang="en-US" sz="5100" b="1" dirty="0">
                <a:solidFill>
                  <a:schemeClr val="accent2">
                    <a:lumMod val="75000"/>
                  </a:schemeClr>
                </a:solidFill>
              </a:rPr>
              <a:t>class BoxLayoutExample.java</a:t>
            </a:r>
          </a:p>
          <a:p>
            <a:pPr marL="109728" indent="0">
              <a:buNone/>
            </a:pPr>
            <a:endParaRPr lang="en-US" sz="4200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BoxLayoutExample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extends 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public 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BoxLayoutExample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super("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example");</a:t>
            </a:r>
            <a:endParaRPr lang="en-ID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panel1 = new 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panel1.setLayout(new 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(panel1, 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BoxLayout.X_AXIS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));</a:t>
            </a:r>
            <a:endParaRPr lang="en-ID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panel1.add(new 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("1"));</a:t>
            </a:r>
            <a:endParaRPr lang="en-ID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panel1.add(new 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("2"));</a:t>
            </a:r>
            <a:endParaRPr lang="en-ID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panel1.add(new 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("3"));</a:t>
            </a:r>
            <a:endParaRPr lang="en-ID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panel1.add(new </a:t>
            </a:r>
            <a:r>
              <a:rPr lang="en-US" sz="3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("4"));</a:t>
            </a:r>
            <a:endParaRPr lang="en-ID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3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3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4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endParaRPr lang="en-ID" sz="4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1143000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5DC2D-E959-931C-3C6C-80A4ECFB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D24F61-7478-3648-A01E-79850D251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3405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panel2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panel2.setLayout(new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(panel2,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BoxLayout.Y_AXIS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panel2.add(new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("5"));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panel2.add(new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("6"));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panel2.add(new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("7"));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panel2.add(new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("8"));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panel3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panel3.setLayout(new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(panel3,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BoxLayout.LINE_AXIS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panel3.add(new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("9"));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panel3.add(new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("10"));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panel3.add(new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("11"));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panel3.add(new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("12"));</a:t>
            </a:r>
            <a:endParaRPr lang="en-ID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4624E-6C45-95CE-9EDC-3BAB7671C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95C0C-289E-AFCD-A6DC-FF6F32793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4B3DA3-D514-6138-8C43-8C50A4A41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BoxLayoutExample.java </a:t>
            </a:r>
            <a:r>
              <a:rPr lang="en-US" sz="2400" b="1" kern="1200" dirty="0">
                <a:solidFill>
                  <a:schemeClr val="accent2">
                    <a:lumMod val="75000"/>
                  </a:schemeClr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2</a:t>
            </a:r>
            <a:r>
              <a:rPr lang="en-US" sz="2400" b="1" kern="1200" dirty="0">
                <a:solidFill>
                  <a:schemeClr val="accent2">
                    <a:lumMod val="75000"/>
                  </a:schemeClr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)</a:t>
            </a:r>
            <a:endParaRPr lang="en-ID" sz="4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1826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4B25D-C410-3293-AAD9-56539B9D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254E21-6FB2-839F-0FE2-CDE4117E8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panel4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panel4.setLayout(new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(panel4,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BoxLayout.PAGE_AXIS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panel4.add(new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("13"));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panel4.add(new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("14"));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panel4.add(new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("15"));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panel4.add(new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("16"));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Container c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this.getContentPane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c.setLayout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(c,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BoxLayout.Y_AXIS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spasi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horizontal di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atas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panel1</a:t>
            </a:r>
            <a:endParaRPr lang="en-ID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Box.createVerticalStrut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(10));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(panel1);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//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spasi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horizontal di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bawah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panel1 dan di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atas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panel2</a:t>
            </a:r>
            <a:endParaRPr lang="en-ID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Box.createVerticalStrut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(10));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(panel2);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1AB03-B758-AC43-D9E8-835B7BFD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95CFA-1123-50A3-FD04-30835B4C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27A5F50-33B4-698A-9AD8-911BEF7C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BoxLayoutExample.java </a:t>
            </a:r>
            <a:r>
              <a:rPr lang="en-US" sz="2400" b="1" kern="1200" dirty="0">
                <a:solidFill>
                  <a:schemeClr val="accent2">
                    <a:lumMod val="75000"/>
                  </a:schemeClr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(3)</a:t>
            </a:r>
            <a:endParaRPr lang="en-ID" sz="4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2772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6B720-CFDF-B39B-3CC9-7F4BD7143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33AC3D-A334-DC68-1749-EEBCF9031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762000"/>
            <a:ext cx="8763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spasi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horizontal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bawah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panel2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atau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atas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panel3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Box.createVerticalStrut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(10));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(panel3);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spasi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horizontal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bawah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panel3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atau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atas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panel4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Box.createVerticalStrut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(10));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(panel4);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spasi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horizontal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bawah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panel4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Box.createVerticalStrut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(10));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setting agar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posisi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komponen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rata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atas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Box.createHorizontalGlue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setting agar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posisi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komponen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rata kiri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Box.createVerticalGlue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constructor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public static void main(String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[])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BoxLayoutExample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BoxLayoutExample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b.pack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b.setVisible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58FA30-B376-7CBB-84E3-0926C8A6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8BD86B-307A-D209-6734-0CD69FFA2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223CAA-EEF3-3EE4-9128-156A1015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BoxLayoutExample.java </a:t>
            </a:r>
            <a:r>
              <a:rPr lang="en-US" sz="2400" b="1" kern="1200" dirty="0">
                <a:solidFill>
                  <a:schemeClr val="accent2">
                    <a:lumMod val="75000"/>
                  </a:schemeClr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(4)</a:t>
            </a:r>
            <a:endParaRPr lang="en-ID" sz="4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Arrow: Curved Left 5">
            <a:hlinkClick r:id="rId2" action="ppaction://hlinksldjump"/>
            <a:extLst>
              <a:ext uri="{FF2B5EF4-FFF2-40B4-BE49-F238E27FC236}">
                <a16:creationId xmlns:a16="http://schemas.microsoft.com/office/drawing/2014/main" id="{7CA1A1CC-44B2-6FA6-615A-34E1A9D09644}"/>
              </a:ext>
            </a:extLst>
          </p:cNvPr>
          <p:cNvSpPr/>
          <p:nvPr/>
        </p:nvSpPr>
        <p:spPr>
          <a:xfrm>
            <a:off x="7924800" y="5943600"/>
            <a:ext cx="533400" cy="463709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2529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>
            <a:normAutofit fontScale="85000" lnSpcReduction="10000"/>
          </a:bodyPr>
          <a:lstStyle/>
          <a:p>
            <a:pPr marL="109728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class ContohTabbedPaneLayout.java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java.awt.event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ContohTabbedPaneLayout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static final String JUDUL_TAB1 = 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Peserta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Wrokshop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static final String JUDUL_TAB2 = "Karya Tulis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Ilmiah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static final String JUDUL_TAB3 = "Lomba Vocal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JTabbedPane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tabbedPane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JTabbedPane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panel_tab1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panel_tab2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panel_tab3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endParaRPr lang="en-US" sz="2800" b="1" dirty="0">
              <a:solidFill>
                <a:schemeClr val="accent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838200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2075F-6342-1E46-C9A6-CCC876B5D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51181D-ED94-DD78-16B9-DD9623290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7215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ContohTabbedPaneLayout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setSize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(250, 250);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setLocation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(150, 200);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BorderLayout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("Nama: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(20);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("No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HandPhone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(12);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("Workshop: ");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</a:t>
            </a:r>
            <a:r>
              <a:rPr lang="en-US" sz="16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6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Pakar using j2ee dan j2me");</a:t>
            </a:r>
            <a:endParaRPr lang="en-ID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JST using JOONE");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60021A-2C78-E7CF-C52E-AD261080F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ContohTabbedPaneLayout.java </a:t>
            </a:r>
            <a:r>
              <a:rPr lang="en-US" sz="2400" b="1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2</a:t>
            </a:r>
            <a:r>
              <a:rPr lang="en-US" sz="2400" b="1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)</a:t>
            </a:r>
            <a:endParaRPr lang="en-ID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1465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0FB0-29C5-1CE0-3D3F-C484550F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BBDB16-4351-C3C2-8B42-8B3BF22C4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7215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panel_tab1.add(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panel_tab1.add(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panel_tab1.add(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panel_tab1.add(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panel_tab1.add(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panel_tab1.add(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panel_tab1.add(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panel_tab1.add(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panel_tab1.add(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("Lomba Karya Tulis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Ilmiah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Jaringan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Komputer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dan SI");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("Multimedia");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Cerdas");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24F256-9245-8C69-ED9D-D9B59B34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ContohTabbedPaneLayout.java </a:t>
            </a:r>
            <a:r>
              <a:rPr lang="en-US" sz="2400" b="1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(3) *</a:t>
            </a:r>
            <a:endParaRPr lang="en-ID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9673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7A9A9-222E-7FBF-7ECB-CBD9B83BE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51A1B1-4DD6-5D8B-B0B3-4BF64A8EA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7215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panel_tab2.add(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panel_tab2.add(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panel_tab2.add(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panel_tab2.add(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panel_tab2.add(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panel_tab2.add(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("Lomba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Menyanyi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String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[] = {"Solo", "Duet", "Trio"};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5715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for(int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=0;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nyanyi.length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++)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comboNyanyi.addItem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0EFD5C-E9EA-5B3D-C821-7563014A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ContohTabbedPaneLayout.java </a:t>
            </a:r>
            <a:r>
              <a:rPr lang="en-US" sz="2400" b="1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(4) </a:t>
            </a:r>
            <a:endParaRPr lang="en-ID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5641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2E9AC-61DF-E51D-BBB5-76619A9D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3A7865-C444-3F0D-665B-3B1B9768E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4167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panel_tab3.add(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panel_tab3.add(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panel_tab3.add(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 	panel_tab3.add(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US" sz="2000" b="1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tabbedPane.add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(JUDUL_TAB1, panel_tab1);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tabbedPane.add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(JUDUL_TAB2, panel_tab2);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tabbedPane.add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(JUDUL_TAB3, panel_tab3);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tabbedPane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BorderLayout.CENTER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setVisible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 //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constructor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1BE481-242F-371C-2D8E-2681FDFF2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ContohTabbedPaneLayout.java </a:t>
            </a:r>
            <a:r>
              <a:rPr lang="en-US" sz="2400" b="1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(5) </a:t>
            </a:r>
            <a:endParaRPr lang="en-ID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0035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46CB1-125C-17FA-A620-8DD924A4C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756493-123C-EBB6-D410-CD873650F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static void main(String[]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try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frame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frame.setTitle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Formulir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Kegiatan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Dies Natalis ke-12 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T.Informatika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UPNVYk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frame.setDefaultCloseOperation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JFrame.EXIT_ON_CLOSE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ContohTabbedPaneLayout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ContohTabbedPaneLayout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frame.getContentPane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().add(panel);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frame.pack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frame.show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catch(Exception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eksepsi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209936-EB95-D376-8BD4-2684680C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ContohTabbedPaneLayout.java </a:t>
            </a:r>
            <a:r>
              <a:rPr lang="en-US" sz="2400" b="1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(6) </a:t>
            </a:r>
            <a:endParaRPr lang="en-ID" sz="4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2557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" y="1066800"/>
            <a:ext cx="9067800" cy="5486400"/>
          </a:xfrm>
        </p:spPr>
        <p:txBody>
          <a:bodyPr>
            <a:normAutofit fontScale="77500" lnSpcReduction="20000"/>
          </a:bodyPr>
          <a:lstStyle/>
          <a:p>
            <a:pPr marL="109728" indent="0">
              <a:buNone/>
            </a:pPr>
            <a:r>
              <a:rPr lang="en-US" b="1" dirty="0"/>
              <a:t>class ContohOverlayLayout.java</a:t>
            </a:r>
          </a:p>
          <a:p>
            <a:pPr>
              <a:buNone/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java.awt.event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class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ContohOverlayLayout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implements ActionListener {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p1, p2, p3, p4, p5;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ContohOverlayLayout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nb-NO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super("Dies Natalis ke-12 Teknik Informatika UPNVYk </a:t>
            </a:r>
            <a:r>
              <a:rPr lang="en-ID" sz="21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nb-NO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September 2007");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("Nama: ");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(20);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("No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HandPhone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");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21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21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21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(12);</a:t>
            </a:r>
            <a:endParaRPr lang="en-ID" sz="2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endParaRPr lang="en-US" b="1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500" y="191729"/>
            <a:ext cx="8763000" cy="762000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8DBC0-39D7-CE6B-C85F-80C04EA50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5370EB-126B-24FF-15A3-9561AD864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static void main(String[]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try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frame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frame.setTitle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Formulir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Kegiatan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Dies Natalis ke-12 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T.Informatika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UPNVYk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frame.setDefaultCloseOperation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JFrame.EXIT_ON_CLOSE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ContohTabbedPaneLayout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ContohTabbedPaneLayout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frame.getContentPane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().add(panel);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frame.pack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frame.show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catch(Exception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eksepsi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7D5523-0310-7205-994D-E66513D45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ContohOverlayLayout</a:t>
            </a:r>
            <a:r>
              <a:rPr lang="en-US" sz="2400" dirty="0">
                <a:solidFill>
                  <a:schemeClr val="accent2"/>
                </a:solidFill>
              </a:rPr>
              <a:t>.java </a:t>
            </a:r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(2) </a:t>
            </a:r>
            <a:endParaRPr lang="en-ID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9839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8CC61-3ADD-23E6-F5BA-2FBA7063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CE398E-A3BB-51FB-02F8-56505F4EE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Pakar using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    j2ee dan j2me");                          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JST using JOONE");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("Lomba Karya Tulis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Ilmiah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 = new JCheckBox("Jaringan Komputer dan SI");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("Multimedia");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Cerdas");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("Lomba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String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[] = {"Solo", "Duet", "Trio"};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for(int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=0;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nyanyi.length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++)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comboNyanyi.addItem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D67F55-86F1-C786-D0BC-CE161E0FC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ContohOverlayLayout</a:t>
            </a:r>
            <a:r>
              <a:rPr lang="en-US" sz="2400" dirty="0">
                <a:solidFill>
                  <a:schemeClr val="accent2"/>
                </a:solidFill>
              </a:rPr>
              <a:t>.java </a:t>
            </a:r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(3) </a:t>
            </a:r>
            <a:endParaRPr lang="en-ID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0428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F2D29-2712-32AD-CE4F-A7A5EF792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347E13-EE4C-5C3B-91A7-1A225F554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p1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(3,3));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p1.add(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p1.add(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p1.add(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p1.add(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p2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(4,1));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p2.add(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p2.add(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US" sz="2000" b="1" dirty="0"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p2.add(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p3 = 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(5,1));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p3.add(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p3.add(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p3.add(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p3.add(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</a:p>
          <a:p>
            <a:pPr>
              <a:buNone/>
            </a:pPr>
            <a:r>
              <a:rPr lang="en-US" sz="20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81ECCC-44A3-4E13-0F39-0FC65EF6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ContohOverlayLayout</a:t>
            </a:r>
            <a:r>
              <a:rPr lang="en-US" sz="2400" dirty="0">
                <a:solidFill>
                  <a:schemeClr val="accent2"/>
                </a:solidFill>
              </a:rPr>
              <a:t>.java </a:t>
            </a:r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(4) </a:t>
            </a:r>
            <a:endParaRPr lang="en-ID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2973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E3B84-E533-80D1-483D-ABBE82556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B71033-C8FA-B847-8736-88FE2B79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p4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(3,1));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p4.add(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p4.add(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p5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(1,2));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p5.add(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p5.add(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OverlayLayout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overlay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OverlayLayout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(overlay);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Dimension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dimensi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Dimension();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p1.setMinimumSize(dimensi);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p1.setMaximumSize(dimensi);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p1.setPreferredSize(dimensi);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p1.setAlignmentX(0);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p1.setAlignmentY(10);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CDB983-D504-F7FB-EB00-ECF7E3EF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ContohOverlayLayout</a:t>
            </a:r>
            <a:r>
              <a:rPr lang="en-US" sz="2400" dirty="0">
                <a:solidFill>
                  <a:schemeClr val="accent2"/>
                </a:solidFill>
              </a:rPr>
              <a:t>.java </a:t>
            </a:r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(5) </a:t>
            </a:r>
            <a:endParaRPr lang="en-ID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6792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CA6A-7E0A-D40D-6E54-4FC3300B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B4B3D5-08AD-5899-17A0-7D8AA3BBA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p2.setMinimumSize(dimensi);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p2.setMaximumSize(dimensi);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p2.setPreferredSize(dimensi);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p2.setAlignmentX(0);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p2.setAlignmentY(10);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p3.setMinimumSize(dimensi);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p3.setMaximumSize(dimensi);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p3.setPreferredSize(dimensi);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p3.setAlignmentX(0);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p3.setAlignmentY(10);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p4.setMinimumSize(dimensi);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p4.setMaximumSize(dimensi);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p4.setPreferredSize(dimensi);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p4.setAlignmentX(0);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p4.setAlignmentY(10);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45B796-E2B0-80DA-367D-85641D26C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ContohOverlayLayout</a:t>
            </a:r>
            <a:r>
              <a:rPr lang="en-US" sz="2400" dirty="0">
                <a:solidFill>
                  <a:schemeClr val="accent2"/>
                </a:solidFill>
              </a:rPr>
              <a:t>.java </a:t>
            </a:r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(6) </a:t>
            </a:r>
            <a:endParaRPr lang="en-ID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7363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8686F-790B-0645-CD78-3732C7A6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50B467-7FF9-3A8C-837C-2F525CA29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(p1);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(p2);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(p3);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(p4);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this.add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(p5);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bOk.addActionListener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bCancel.addActionListener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this.setSize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(300,400);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this.setResizable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this.setVisible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this.setDefaultCloseOperation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this.setLocation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(300,100);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 //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constructor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568190-9F19-C1CC-98CF-77DA5C23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ContohOverlayLayout</a:t>
            </a:r>
            <a:r>
              <a:rPr lang="en-US" sz="2400" dirty="0">
                <a:solidFill>
                  <a:schemeClr val="accent2"/>
                </a:solidFill>
              </a:rPr>
              <a:t>.java </a:t>
            </a:r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7</a:t>
            </a:r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) </a:t>
            </a:r>
            <a:endParaRPr lang="en-ID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7876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5FE4D-556B-AB6D-4A58-860F93CFF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F4317B-3A75-3B12-B826-A787077E2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0357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void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if (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event.getSource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JOptionPane.showMessageDialog(this, "Selamat anda 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telah terdaftar,\n" +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terima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kasih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telah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berpartisipasi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", "message",      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JOptionPane.INFORMATION_MESSAGE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System.exit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(0);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}</a:t>
            </a:r>
            <a:endParaRPr lang="en-ID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099E33-B1BF-BC9C-1B55-CF61767BB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ContohOverlayLayout</a:t>
            </a:r>
            <a:r>
              <a:rPr lang="en-US" sz="2400" dirty="0">
                <a:solidFill>
                  <a:schemeClr val="accent2"/>
                </a:solidFill>
              </a:rPr>
              <a:t>.java </a:t>
            </a:r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8</a:t>
            </a:r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) </a:t>
            </a:r>
            <a:endParaRPr lang="en-ID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1090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5F7BC-2136-2FC5-C3A3-F8B1A07B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8449A3-D899-3869-2760-7468D3F6D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event.getSource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tfNama.setText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tfHP.setText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bSP.setSelected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rbJST.setSelected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cbJKSI.setSelected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cbMulMed.setSelected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cbAI.setSelected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comboNyanyi.setSelectedIndex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(0);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static void main(String[]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aregs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new 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ContohOverlayLayout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().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setVisible</a:t>
            </a: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lnSpc>
                <a:spcPct val="150000"/>
              </a:lnSpc>
              <a:buNone/>
            </a:pPr>
            <a:r>
              <a:rPr lang="en-US" sz="20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3B9DB62-C0E9-5CA2-6B10-75EF49E2B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ContohOverlayLayout</a:t>
            </a:r>
            <a:r>
              <a:rPr lang="en-US" sz="2400" dirty="0">
                <a:solidFill>
                  <a:schemeClr val="accent2"/>
                </a:solidFill>
              </a:rPr>
              <a:t>.java </a:t>
            </a:r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</a:t>
            </a:r>
            <a:r>
              <a:rPr lang="en-US" sz="24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9</a:t>
            </a:r>
            <a:r>
              <a:rPr lang="en-US" sz="2400" kern="1200" dirty="0">
                <a:solidFill>
                  <a:schemeClr val="accent2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) </a:t>
            </a:r>
            <a:endParaRPr lang="en-ID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3591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524000"/>
            <a:ext cx="8610600" cy="4876800"/>
          </a:xfrm>
        </p:spPr>
        <p:txBody>
          <a:bodyPr>
            <a:normAutofit/>
          </a:bodyPr>
          <a:lstStyle/>
          <a:p>
            <a:r>
              <a:rPr lang="en-US" b="1" dirty="0"/>
              <a:t>class </a:t>
            </a:r>
            <a:r>
              <a:rPr lang="en-US" b="1" dirty="0">
                <a:solidFill>
                  <a:schemeClr val="accent3"/>
                </a:solidFill>
              </a:rPr>
              <a:t>ContohSpringLayout.java</a:t>
            </a: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java.awt.event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java.io.*;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ContohSpringLayout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implements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endParaRPr lang="en-US" sz="1800" b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304800"/>
            <a:ext cx="8763000" cy="914400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5AAB-4065-2529-18DA-FB4B49A98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F602C5-801E-39AE-FD6E-877C64F37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ContohSpringLayout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nb-NO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super("Dies Natalis ke-12 Teknik Informatika UPNVYk September 2007");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("Nama: 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(20);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("No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HandPhone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(12);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("Workshop: 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Pakar using 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   j2ee dan j2me");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JST using JOONE");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("Lomba Karya Tulis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Ilmiah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Jaringan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Komputer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dan SI");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90EB64-E13D-9011-9C90-93E1C01DB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ContohSpringLayout.java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(1)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6107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712BD-0107-A2A8-55A0-81DAC6F6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8324E4-8DA8-8949-8EB2-CAB5DF2F0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("Multimedia");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Cerdas");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("Lomba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Menyanyi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String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[] = {"Solo", "Duet", "Trio"};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for(int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=0;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nyanyi.length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++)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comboNyanyi.addItem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this.setDefaultCloseOperation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this.setSize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(600,600);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this.setLocation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(600,600);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bOk.addActionListener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bCancel.addActionListener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(this);</a:t>
            </a: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639DCB-D1B7-C009-5B09-97390C473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ContohSpringLayout.java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(2)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9398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90E1C-2431-C23F-108A-5966AF166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381C3D-0467-D410-CA59-E77039D8E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Container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this.getContentPane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layout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kontainer.setLayout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(layout);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AA2FB1-16E0-0EF5-1FB5-55ECB6602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ContohSpringLayout.java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(3)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3938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40A71-1F07-57D9-EDC5-7DB8CC09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F62929-25AD-DAF0-1CCE-E786560D4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lNama,5,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lNama,5,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SpringLayout.NORTH,kontainer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tfNama,55,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tfNama,5,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lHP,5,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lHP,35,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tfHP,100,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4C1548-CF95-9C6C-8C40-117FC2BCE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ContohSpringLayout.java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(4)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98520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A9641-203C-432B-1090-4EE508CF8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452024-688C-0438-C6F7-D29170F75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tfHP,35, 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   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lWorkshop,5, 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      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lWorkshop,65,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rbSP,80, 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       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rbSP,65, 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          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rbJST,80, 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        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rbJST,85, 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        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lLKTI,5, 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	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lLKTI,120, 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        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2044C9-F1CF-9003-7630-C8F212119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ContohSpringLayout.java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(5)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9747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4E88E-C135-7AD4-3124-0E6F0CA61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1EA484-DBEA-E188-1429-C9F0D7A9F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cbJKSI,120,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cbJKSI,140,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cbMulMed,120,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cbMulMed,160,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cbAI,120,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cbAI,180,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   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lLomba,5,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lLomba,215,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comboNyanyi,120,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            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85ADB7-D1F0-FBFA-9946-008EE9D67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ContohSpringLayout.java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(6)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9471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A38F9-405F-3C7F-F1F7-8ED34A5CB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99D8FF-BB1C-B9F8-4AA8-8BFA0A28F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9144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comboNyanyi,215,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bOk,130,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bOk,270, 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                                            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bCancel,190,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SpringLayout.WEST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layout.putConstraint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bCancel,270,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SpringLayout.NORTH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if	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JOptionPane.showMessageDialog(this,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"Selamat anda telah terdaftar,\n" +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terima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kasih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telah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berpartisipasi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", "message",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JOptionPane.INFORMATION_MESSAGE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System.exit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(0);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92C387-4524-BF4F-BEE0-AD5F774F5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ContohSpringLayout.java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(7)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2627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4596C-CECD-4C26-F1B6-8E44987EF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C0881A-A404-56E7-8841-2B390751F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4167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	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indent="-91440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indent="-91440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indent="-91440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indent="-91440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indent="-91440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indent="-91440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indent="-91440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comboNyanyi.setSelectedIndex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static void main(String[]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aregs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ContohSpringLayout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().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setVisible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E50B55-E76A-ACC1-8392-2D832A8CE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ContohSpringLayout.java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(8)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282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676400"/>
            <a:ext cx="8686800" cy="4724400"/>
          </a:xfrm>
        </p:spPr>
        <p:txBody>
          <a:bodyPr>
            <a:normAutofit/>
          </a:bodyPr>
          <a:lstStyle/>
          <a:p>
            <a:r>
              <a:rPr lang="en-US" b="1" dirty="0"/>
              <a:t>class </a:t>
            </a:r>
            <a:r>
              <a:rPr lang="en-US" b="1" dirty="0">
                <a:solidFill>
                  <a:schemeClr val="accent3"/>
                </a:solidFill>
              </a:rPr>
              <a:t>ContohScrollPaneLayout.java</a:t>
            </a: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java.awt.event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ContohScrollPaneLayout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implements ActionListener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p1, p2, p3, panel1, panel2;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304800"/>
            <a:ext cx="8763000" cy="1066800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8140-D28D-E574-6FC5-88C562F2E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295E15-C7C1-80F3-F81E-0BF25F479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4167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ContohScrollPaneLayout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super("Dies Natalis ke-12 Teknik Informatika UPNVYk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September 2007");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("Nama: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(20);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("No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HandPhone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(12);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("Workshop: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Pakar using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   j2ee dan j2me");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JST using JOONE");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("Lomba Karya Tulis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Ilmiah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Jaringan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Komputer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dan SI");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ECF24D-3BBF-0445-6D26-2D03968E6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ContohScrollPaneLayout.java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(2)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3586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FBC0-7BA4-4880-C6F3-E3BAC294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ADAB85-C057-A0AE-CC89-D4754BCE8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4167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("Multimedia");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Cerdas");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("Lomba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String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[] = {"Solo", "Duet", "Trio"};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for(int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=0;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nyanyi.length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++)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comboNyanyi.addItem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p1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(2,2));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p2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GridLayout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(0,1));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p3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panel1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BorderLayout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panel2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BorderLayout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7E2226-9A7A-99EE-CB53-99EC8D949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ContohScrollPaneLayout.java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(3)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0112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BEA1-988D-4F4A-A304-01519E030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64F548-F542-0B26-E0BF-2667C99AE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4167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p1.add(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p1.add(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p1.add(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p1.add(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p2.add(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p2.add(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p2.add(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p2.add(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p2.add(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p2.add(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p2.add(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p2.add(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p2.add(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p3.add(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p3.add(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FD735F-FB6E-D067-A3B7-499B8ACB4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ContohScrollPaneLayout.java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(4)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82909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561C3-F998-1A85-BAF4-DDBD9500B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3BC053-FA1E-E1D3-D59B-7E9B19732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6868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ScrollPane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scroll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ScrollPane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scroll.setPreferredSize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Dimension(400,300));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panel1.add(p1,"North");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panel1.add(p2,"Center");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panel1.add(p3,"South");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panel2.add(scroll);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scroll.add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(panel1);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(panel2,"North");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this.pack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this.setVisible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this.setLocation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(200,100);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this.setDefaultCloseOperation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(EXIT_ON_CLOSE);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} 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constructor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86E2DA-BAD3-E1BD-6366-D431AEC71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ContohScrollPaneLayout.java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(5)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04764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3E67D-E4C2-821D-C978-605CE980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3F6B13-362D-51D3-3D19-D4EB3871A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6868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	</a:t>
            </a: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JOptionPane.showMessageDialog(this, "Selamat anda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                telah terdaftar,\n" +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“ terima kasih telah berpartisipasi", "message",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JOptionPane.INFORMATION_MESSAGE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System.exit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(0);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</a:p>
          <a:p>
            <a:pPr marL="109728" indent="0"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698C8D-FBFA-4835-EBFB-C872FE5CD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ContohScrollPaneLayout.java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(6)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0712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F8D98-1580-78C8-D6C4-7A2BBBE4B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BCDD02-6860-FFEA-591C-1C28294C2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6868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comboNyanyi.setSelectedIndex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public static void main(String[]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ContohScrollPaneLayout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lnSpc>
                <a:spcPct val="150000"/>
              </a:lnSpc>
              <a:buNone/>
              <a:tabLst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F1FAE3-D93B-373D-C82D-12A5B74A2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ContohScrollPaneLayout.java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(7)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7567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class </a:t>
            </a:r>
            <a:r>
              <a:rPr lang="en-US" sz="2800" b="1" dirty="0">
                <a:solidFill>
                  <a:schemeClr val="accent3"/>
                </a:solidFill>
              </a:rPr>
              <a:t>ContohViewportLayout.java</a:t>
            </a: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javax.swing.ViewportLayout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java.awt.event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info.clearthought.layout.TableLayout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ContohViewportLayout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class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InnerContoh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implements ActionListener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panelButton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endParaRPr lang="en-US" sz="1800" b="1" dirty="0">
              <a:solidFill>
                <a:schemeClr val="accent3"/>
              </a:solidFill>
            </a:endParaRPr>
          </a:p>
          <a:p>
            <a:pPr marL="109728" indent="0">
              <a:buNone/>
            </a:pPr>
            <a:endParaRPr lang="en-US" sz="2800" b="1" dirty="0">
              <a:solidFill>
                <a:schemeClr val="accent3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304800"/>
            <a:ext cx="8763000" cy="914400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C471F-8354-C705-9102-FF5716CAF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478D28-2BB7-3746-E655-0DB2879FB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39762"/>
            <a:ext cx="8686800" cy="5767547"/>
          </a:xfrm>
        </p:spPr>
        <p:txBody>
          <a:bodyPr>
            <a:noAutofit/>
          </a:bodyPr>
          <a:lstStyle/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public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InnerContoh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constructor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super("Dies Natalis ke-12 Teknik Informatika UPNVYk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September 2007");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setDefaultCloseOperation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JFrame.EXIT_ON_CLOSE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Container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this.getContentPane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double b = 30;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double f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TableLayout.FILL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double p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TableLayout.PREFERRED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double vs = 20;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double vg = 20;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double hg = 30;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double size[][] =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	{b, f, hg, p, hg, p, b},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	{b, p, vs, p, vg, p, vs,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 p, vg, p, vs, p, vg, p,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800100" algn="l"/>
                <a:tab pos="914400" algn="l"/>
                <a:tab pos="1143000" algn="l"/>
                <a:tab pos="1371600" algn="l"/>
              </a:tabLst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 vs, p, vg, p, vs, p, vg,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nb-NO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	 p, vs, p, b}};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BDE19A-2174-8133-6D70-9B2DAF43E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ContohViewportLayout.java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</a:t>
            </a:r>
            <a:r>
              <a:rPr lang="en-US" sz="25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2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28594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707E2-B93E-BAEE-164D-4FE69C5CB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052EA3-519B-8575-8383-B9C9D0D1C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6868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TableLayout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TableLayout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(size);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kontainer.setLayout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("Nama: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(20);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("No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HandPhone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(12);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("Workshop: ");</a:t>
            </a: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Pakar using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      j2ee dan j2me");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JST using JOONE");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("Lomba Karya Tulis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Ilmiah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Jaringan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Komputer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dan SI");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("Multimedia");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ED68A0-209B-A1C3-ADEB-6DAAC3D5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ContohViewportLayout.java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(3)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91196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24128-2E8A-A7FE-9DFF-B7883E2D4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5EA6E1-6F97-F02B-2F65-8719ECB6F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6868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Cerdas");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("Lomba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String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[] = {"Solo", "Duet", "Trio"};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for(int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=0;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nyanyi.length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++)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comboNyanyi.addItem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panelButton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ViewportLayout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panelButton.add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9D28F5-185E-7B0F-7C2E-6CA48B7FB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ContohViewportLayout.java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(4)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41337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E328D-568A-D070-05FE-72AE12B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C0E833-CF6E-6920-69D5-E54AA0BDB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6868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"1, 1");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(tfNama,"3, 1");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"1, 3");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"3,3");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"1, 5");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"1, 6");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"1, 7");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"1, 9");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"1, 10");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"1, 11");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"1, 12");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"1, 14");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"5, 14");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pack();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setResizable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setVisible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 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constructor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2EE8DD-9EE1-F9C6-ADA0-1D7B1B5D5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ContohViewportLayout.java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(5)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11201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A770-7378-D9B5-52EA-2CEB1935D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EA00F1-15EF-556A-A634-87C0868BC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686800" cy="4883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		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JOptionPane.showMessageDialog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(this,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"Selamat Anda Telah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Terdaftar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”,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    	+”dan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Terima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Kasih" +"Atas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Partisipasinya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4B2EBC-875E-CE95-7E8C-7C65C33BD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ContohViewportLayout.java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(6)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21009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3610-64F4-9718-DB1E-A4E0AFB19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F30E6D-378D-D780-82ED-1AA9D74D5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686800" cy="55691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event.getSource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==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comboNyanyi.setSelectedIndex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}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 handling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228600" algn="l"/>
                <a:tab pos="4572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//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InnerContoh</a:t>
            </a:r>
            <a:endPara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public static void main(String[]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ContohTableLayout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lnSpc>
                <a:spcPct val="150000"/>
              </a:lnSpc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2297AC-CDC4-D5E8-7DC7-D3D93170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ContohViewportLayout.java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(7)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33241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ContohTableLayout.java</a:t>
            </a:r>
          </a:p>
          <a:p>
            <a:pPr>
              <a:buNone/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java.awt.event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info.clearthought.layout.TableLayout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class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ContohTableLayout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extends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// constructor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ContohTableLayout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super("Dies Natalis ke-12 Teknik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Informatika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9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UPNVYk</a:t>
            </a: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9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September 2007");</a:t>
            </a:r>
            <a:endParaRPr lang="en-ID" sz="19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304800"/>
            <a:ext cx="8763000" cy="990600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0E1E-4C6A-494E-7516-B977A7DF1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DC0595-BBB4-3221-3F94-C2FEBDF31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686800" cy="55691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Container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this.getContentPane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double b = 20;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double f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TableLayout.FILL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double p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TableLayout.PREFERRED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		double vs = 20;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double vg = 20;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double hg = 20;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double size[][] =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	{{b, f, hg, p, hg, p, b},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	{b, p, vs, p, vg, p, vs, p, vg, p, vs, p, vg, p, b}};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TableLayout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TableLayout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(size);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kontainer.setLayout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("Nama: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(20);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18B3B0-7A37-3E56-086D-0C202292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ContohTableLayout.java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</a:t>
            </a:r>
            <a:r>
              <a:rPr lang="en-US" sz="25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2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65712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8E560-305D-FA08-16E8-272893A39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21A3D6-C252-3C6C-A0F4-14557F23E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686800" cy="55691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("No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HandPhone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(12);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lWorkshop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("Workshop: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Pakar using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                        j2ee dan j2me");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JST using JOONE");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lLKTI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("Lomba Karya Tulis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Ilmiah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Jaringan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Komputer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dan SI");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("Multimedia");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Cerdas");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lLomba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("Lomba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String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[] = {"Solo", "Duet", "Trio"};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5E122C-0E29-B297-FA03-0F3047100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ContohTableLayout.java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(3)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95439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B5F09-9F0B-E53C-AFB3-E3EDC7A39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C41C64-4900-1919-392B-D9B74AD30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686800" cy="54929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for(int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=0;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&lt;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nyanyi.length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++)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comboNyanyi.addItem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nyanyi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]);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(lNama,"1,0");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(tfNama,"3,0");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(lHP,"1,1");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(tfHP,"3,1");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(lWorkshop,"1,4");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(rbSP,"3,4");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(rbJST,"3,5");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(lLomba,"1,11");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(comboNyanyi,"5,11");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9A7C8E-EC4A-B998-AB98-C6A7D155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ContohTableLayout.java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(4)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8988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0757B-C644-34BD-09FE-1A02FBE0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846BE6-8421-6C06-7934-C43E59810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39762"/>
            <a:ext cx="8686800" cy="5767547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(bOk,"1,13");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kontainer.add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(bCancel,"3,13");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setDefaultCloseOperation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setVisible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pack();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setSize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(600,400);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setLocation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(300,200);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ActionListener()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cbJKSI.setSelected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comboNyanyi.setSelectedIndex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(0);}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B231F2-551D-8203-493D-16161F23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ContohTableLayout.java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(5)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9604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DBBCC-A469-F06D-D706-51D4EE11E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FF43EB-045D-F454-DDB4-0E24328BB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686800" cy="54929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ActionListener()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event)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JOptionPane.showMessageDialog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(null,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"Selamat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untuk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"+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tfNama.getText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		+"Anda Telah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Terdaftar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Terima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Kasih "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+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JOptionPane.INFORMATION_MESSAGE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});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static void main(String[]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ContohTableLayout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lnSpc>
                <a:spcPct val="150000"/>
              </a:lnSpc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6C3BFB-D140-AA52-89EA-C0ABD33E1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chemeClr val="accent3"/>
                </a:solidFill>
              </a:rPr>
              <a:t>ContohTableLayout.java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(6)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05905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ContohFormLayout.java</a:t>
            </a: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javax.swing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java.awt.event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.*;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com.jgoodies.forms.builder.PanelBuilder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com.jgoodies.forms.layout.CellConstraints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import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com.jgoodies.forms.layout.FormLayout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final class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ContohFormLayout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comboVocal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bExit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</a:pPr>
            <a:endParaRPr lang="en-US" sz="2800" b="1" dirty="0">
              <a:solidFill>
                <a:schemeClr val="accent3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228600"/>
            <a:ext cx="8763000" cy="998696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>
                <a:effectLst/>
              </a:rPr>
              <a:t>Penjelasan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contoh</a:t>
            </a:r>
            <a:r>
              <a:rPr lang="en-US" sz="2800" dirty="0">
                <a:effectLst/>
              </a:rPr>
              <a:t> program yang </a:t>
            </a:r>
            <a:r>
              <a:rPr lang="en-US" sz="2800" dirty="0" err="1">
                <a:effectLst/>
              </a:rPr>
              <a:t>menggunakan</a:t>
            </a:r>
            <a:r>
              <a:rPr lang="en-US" sz="2800" dirty="0">
                <a:effectLst/>
              </a:rPr>
              <a:t> </a:t>
            </a:r>
            <a:br>
              <a:rPr lang="en-US" sz="2800" dirty="0">
                <a:effectLst/>
              </a:rPr>
            </a:br>
            <a:r>
              <a:rPr lang="en-US" sz="2800" dirty="0" err="1">
                <a:effectLst/>
              </a:rPr>
              <a:t>Manajer</a:t>
            </a:r>
            <a:r>
              <a:rPr lang="en-US" sz="2800" dirty="0">
                <a:effectLst/>
              </a:rPr>
              <a:t> Layout</a:t>
            </a:r>
            <a:endParaRPr lang="en-US" sz="2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9610E-8167-0D7A-10F4-78A0A0FE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6E914E-37E6-60D4-4BF7-17C7D9300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0"/>
            <a:ext cx="9525000" cy="54929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private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initComponents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JTextField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Jaringan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Komputer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dan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			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Informasi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("Multimedia");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JCheckBox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Cerdas");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Sistem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Pakar using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    j2ee dan j2me");                    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JRadioButton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("Developing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Jaringan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Syaraf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Tiruan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 +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 " using Java Object Oriented Neural Engine");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group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ButtonGroup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18288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group.add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group.add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comboVocal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createvocalComboBox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A94FA3-6C0F-5D97-63EA-7D9C772A7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ContohFormLayout.java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(2)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1913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E3D43-07F5-F1B2-C654-4585E2F50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CFFEE8-B9D5-2897-5BD2-82D4ED854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0"/>
            <a:ext cx="9525000" cy="54929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("OK");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("Cancel");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bExit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JButton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("Exit");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ActionListener()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ev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tfhp.setText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cbAI.setSelected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(false);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5715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FA32B5-099E-C34B-2E93-12EA0D655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ContohFormLayout.java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(3)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69011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595AB-9473-B63E-1C0A-90EF8CDF1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5A25AF-1E31-3E26-A07C-5C4EFD1BF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14400"/>
            <a:ext cx="9525000" cy="54929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bExit.addActionListener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ActionListener()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System.exit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(0);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});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bOk.addActionListener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(new ActionListener()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public void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actionPerformed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ActionEvent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JOptionPane.showConfirmDialog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(null,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	"SELAMAT ANDA TELAH TERDAFTAR ","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Informasi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",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JOptionPane.OK_CANCEL_OPTION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JOptionPane.INFORMATION_MESSAGE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});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 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method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iniComponents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965345-69D6-8D0B-A8BB-5C5A45F29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ContohFormLayout.java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(4)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61955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6F73-148E-F572-10BF-CF87B9607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31B58F-65BF-7ACF-EF04-BEF4FFA0D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62000"/>
            <a:ext cx="9525000" cy="5645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private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createvocalComboBox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return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JComboBox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	new String[]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		"Solo",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	"Duo",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	"Trio"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});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public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JComponent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initComponents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FormLayout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layout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FormLayout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	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left:max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(10dlu;pref), 2dlu, 50dlu, 7dlu, "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  	+ 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left:max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(10dlu;pref), 2dlu, 50dlu",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  	"p, 3dlu, p, 3dlu, p, 2dlu, p, 9dlu, "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  	+ "p, 3dlu, p, 3dlu, p, 2dlu, p, 9dlu, "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   	+ "p, 3dlu, p, 3dlu, p, 2dlu, p"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FB7319-052B-AC9A-E4F7-FBDED6FDF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ContohFormLayout.java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(5)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77278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E3A54-57AB-4B11-EB30-76626AA1A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28C3C5-CE8F-7875-915C-EE9BB335C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9525000" cy="55691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PanelBuilder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builder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PanelBuilder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(layout);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builder.setDefaultDialogBorder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CellConstraints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cc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CellConstraints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builder.addSeparator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("Data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Pendaftar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cc.xyw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(1, 1, 5));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("Nama:",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(1,  3));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tfnama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cc.xyw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(3, 3, 3));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No.HP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:",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(1,  5));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tfhp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cc.xyw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(3, 5, 3));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builder.addSeparator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Mendaftar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sebagai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peserta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Workshop",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cc.xyw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(1,7,5));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rbSP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(1, 9));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rbJST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(1, 11));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builder.addSeparator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Mendaftar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sebagai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peserta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Lomba Karya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Ilmiah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cc.xyw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(1, 13,5)); </a:t>
            </a:r>
          </a:p>
          <a:p>
            <a:pPr marL="109728" indent="0"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5915BF-EF0D-0084-A830-00DE15DB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ContohFormLayout.java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(6)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3282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F0524-0B82-07A7-8CB2-DCD46C4E2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2B42D5-41BD-E811-37B0-C5E657B3A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9525000" cy="55691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cbJK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(1, 15));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builder.setColumnSpan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builder.nextLine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cbMulMed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(3, 15));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builder.setColumnSpan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builder.nextLine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cbAI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(5, 15));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builder.setColumnSpan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(1);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builder.nextLine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builder.addSeparator("Mendaftar sebagai peserta Lomba Vocal",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       cc.xyw (1, 17, 5));     </a:t>
            </a: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		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builder.addLabel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Pilihan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:",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(1, 19));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comboVocal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(3, 19));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(1, 21));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bCancel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(3, 21));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pt-BR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      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ABE79C-E86D-8739-0AC7-F51A2E335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ContohFormLayout.java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(7)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67224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A954E-D192-C1EA-0BEE-4E9126241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3D99B8-C552-97AB-0C5D-69FB650C4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9525000" cy="55691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builder.add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bExit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cc.xy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(5, 21));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 	return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builder.getPanel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	} //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akhir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method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public static void main(String[]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args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try {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UIManager.setLookAndFeel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com.jgoodies.plaf.plastic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PlasticXPLookAndFeel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");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catch (Exception e) {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frame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JFrame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frame.setTitle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("Forms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Pendaftaran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Dies Natalis IF UPN V YK");          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	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5A4A31-076A-40B2-AFD1-DE4C2EC47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ContohFormLayout.java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(8)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569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83B7B-DD24-513A-C3FD-8190C1F03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2FD93A-2B77-64AC-0E85-1B858D678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9525000" cy="5264309"/>
          </a:xfrm>
        </p:spPr>
        <p:txBody>
          <a:bodyPr>
            <a:noAutofit/>
          </a:bodyPr>
          <a:lstStyle/>
          <a:p>
            <a:pPr>
              <a:buNone/>
              <a:tabLst>
                <a:tab pos="228600" algn="l"/>
                <a:tab pos="457200" algn="l"/>
                <a:tab pos="1143000" algn="l"/>
                <a:tab pos="1371600" algn="l"/>
              </a:tabLst>
            </a:pP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frame.setDefaultCloseOperation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WindowConstants.EXIT_ON_CLOSE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JComponent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panel = new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ContohFormLayout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().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buildPanel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frame.getContentPane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().add(panel);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frame.pack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frame.setVisible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(true);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  <a:tabLst>
                <a:tab pos="228600" algn="l"/>
                <a:tab pos="457200" algn="l"/>
                <a:tab pos="1143000" algn="l"/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	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9728" indent="0">
              <a:buNone/>
              <a:tabLst>
                <a:tab pos="228600" algn="l"/>
                <a:tab pos="4572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ID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6BC97D-89C9-7F54-B770-B5D064141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>
            <a:normAutofit/>
          </a:bodyPr>
          <a:lstStyle/>
          <a:p>
            <a:r>
              <a:rPr lang="en-US" sz="2500" b="1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ContohFormLayout.java </a:t>
            </a:r>
            <a:r>
              <a:rPr lang="en-US" sz="2500" kern="1200" dirty="0">
                <a:solidFill>
                  <a:schemeClr val="accent3"/>
                </a:solidFill>
                <a:effectLst/>
                <a:latin typeface="Lucida Sans Unicode" panose="020B0602030504020204" pitchFamily="34" charset="0"/>
                <a:ea typeface="+mn-ea"/>
                <a:cs typeface="+mn-cs"/>
              </a:rPr>
              <a:t>(9) </a:t>
            </a:r>
            <a:endParaRPr lang="en-ID" sz="25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50003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457200"/>
            <a:ext cx="8686800" cy="5943600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Langkah1: </a:t>
            </a:r>
            <a:r>
              <a:rPr lang="en-US" sz="2400" dirty="0" err="1"/>
              <a:t>membuat</a:t>
            </a:r>
            <a:r>
              <a:rPr lang="en-US" sz="2400" dirty="0"/>
              <a:t> project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Netbeans</a:t>
            </a:r>
            <a:endParaRPr lang="en-US" sz="2400" dirty="0"/>
          </a:p>
          <a:p>
            <a:r>
              <a:rPr lang="en-US" sz="2400" dirty="0"/>
              <a:t>1.1 </a:t>
            </a:r>
            <a:r>
              <a:rPr lang="en-US" sz="2400" dirty="0" err="1"/>
              <a:t>Membuat</a:t>
            </a:r>
            <a:r>
              <a:rPr lang="en-US" sz="2400" dirty="0"/>
              <a:t> </a:t>
            </a:r>
            <a:r>
              <a:rPr lang="en-US" sz="2400" dirty="0" err="1"/>
              <a:t>nama</a:t>
            </a:r>
            <a:r>
              <a:rPr lang="en-US" sz="2400" dirty="0"/>
              <a:t> project </a:t>
            </a:r>
            <a:r>
              <a:rPr lang="en-US" sz="2400" dirty="0" err="1"/>
              <a:t>baru</a:t>
            </a:r>
            <a:endParaRPr lang="en-US" sz="2400" dirty="0"/>
          </a:p>
          <a:p>
            <a:r>
              <a:rPr lang="en-US" sz="2400" dirty="0"/>
              <a:t>1.2 </a:t>
            </a:r>
            <a:r>
              <a:rPr lang="en-US" sz="2400" dirty="0" err="1"/>
              <a:t>Memberi</a:t>
            </a:r>
            <a:r>
              <a:rPr lang="en-US" sz="2400" dirty="0"/>
              <a:t> </a:t>
            </a:r>
            <a:r>
              <a:rPr lang="en-US" sz="2400" dirty="0" err="1"/>
              <a:t>nama</a:t>
            </a:r>
            <a:r>
              <a:rPr lang="en-US" sz="2400" dirty="0"/>
              <a:t> project</a:t>
            </a:r>
          </a:p>
          <a:p>
            <a:r>
              <a:rPr lang="en-US" sz="2400" dirty="0"/>
              <a:t>1.3 </a:t>
            </a:r>
            <a:r>
              <a:rPr lang="en-US" sz="2400" dirty="0" err="1"/>
              <a:t>Cek</a:t>
            </a:r>
            <a:r>
              <a:rPr lang="en-US" sz="2400" dirty="0"/>
              <a:t> </a:t>
            </a:r>
            <a:r>
              <a:rPr lang="en-US" sz="2400" dirty="0" err="1"/>
              <a:t>apakah</a:t>
            </a:r>
            <a:r>
              <a:rPr lang="en-US" sz="2400" dirty="0"/>
              <a:t> project </a:t>
            </a:r>
            <a:r>
              <a:rPr lang="en-US" sz="2400" dirty="0" err="1"/>
              <a:t>telah</a:t>
            </a:r>
            <a:r>
              <a:rPr lang="en-US" sz="2400" dirty="0"/>
              <a:t> </a:t>
            </a:r>
            <a:r>
              <a:rPr lang="en-US" sz="2400" dirty="0" err="1"/>
              <a:t>berhasil</a:t>
            </a:r>
            <a:r>
              <a:rPr lang="en-US" sz="2400" dirty="0"/>
              <a:t> </a:t>
            </a:r>
            <a:r>
              <a:rPr lang="en-US" sz="2400" dirty="0" err="1"/>
              <a:t>dibuat</a:t>
            </a:r>
            <a:endParaRPr lang="en-US" sz="2400" dirty="0"/>
          </a:p>
          <a:p>
            <a:r>
              <a:rPr lang="en-US" sz="2400" dirty="0"/>
              <a:t>Langkah2: </a:t>
            </a:r>
            <a:r>
              <a:rPr lang="en-US" sz="2400" dirty="0" err="1"/>
              <a:t>membuat</a:t>
            </a:r>
            <a:r>
              <a:rPr lang="en-US" sz="2400" dirty="0"/>
              <a:t> Frame</a:t>
            </a:r>
          </a:p>
          <a:p>
            <a:r>
              <a:rPr lang="en-US" sz="2400" dirty="0"/>
              <a:t>2.1 </a:t>
            </a:r>
            <a:r>
              <a:rPr lang="en-US" sz="2400" dirty="0" err="1"/>
              <a:t>Klik</a:t>
            </a:r>
            <a:r>
              <a:rPr lang="en-US" sz="2400" dirty="0"/>
              <a:t> </a:t>
            </a:r>
            <a:r>
              <a:rPr lang="en-US" sz="2400" dirty="0" err="1"/>
              <a:t>kanan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nama</a:t>
            </a:r>
            <a:r>
              <a:rPr lang="en-US" sz="2400" dirty="0"/>
              <a:t> project</a:t>
            </a:r>
          </a:p>
          <a:p>
            <a:r>
              <a:rPr lang="en-US" sz="2400" dirty="0"/>
              <a:t>2.2 </a:t>
            </a:r>
            <a:r>
              <a:rPr lang="en-US" sz="2400" dirty="0" err="1"/>
              <a:t>Pilih</a:t>
            </a:r>
            <a:r>
              <a:rPr lang="en-US" sz="2400" dirty="0"/>
              <a:t> swing GUI </a:t>
            </a:r>
            <a:r>
              <a:rPr lang="en-US" sz="2400" dirty="0" err="1"/>
              <a:t>JFrame</a:t>
            </a:r>
            <a:r>
              <a:rPr lang="en-US" sz="2400" dirty="0"/>
              <a:t>, </a:t>
            </a:r>
            <a:r>
              <a:rPr lang="en-US" sz="2400" dirty="0" err="1"/>
              <a:t>tekan</a:t>
            </a:r>
            <a:r>
              <a:rPr lang="en-US" sz="2400" dirty="0"/>
              <a:t> </a:t>
            </a:r>
            <a:r>
              <a:rPr lang="en-US" sz="2400" dirty="0" err="1"/>
              <a:t>tombol</a:t>
            </a:r>
            <a:r>
              <a:rPr lang="en-US" sz="2400" dirty="0"/>
              <a:t> next, </a:t>
            </a:r>
          </a:p>
          <a:p>
            <a:r>
              <a:rPr lang="en-US" sz="2400" dirty="0"/>
              <a:t>      </a:t>
            </a:r>
            <a:r>
              <a:rPr lang="en-US" sz="2400" dirty="0" err="1"/>
              <a:t>diberi</a:t>
            </a:r>
            <a:r>
              <a:rPr lang="en-US" sz="2400" dirty="0"/>
              <a:t> </a:t>
            </a:r>
            <a:r>
              <a:rPr lang="en-US" sz="2400" dirty="0" err="1"/>
              <a:t>nama</a:t>
            </a:r>
            <a:r>
              <a:rPr lang="en-US" sz="2400" dirty="0"/>
              <a:t>, </a:t>
            </a:r>
            <a:r>
              <a:rPr lang="en-US" sz="2400" dirty="0" err="1"/>
              <a:t>tekan</a:t>
            </a:r>
            <a:r>
              <a:rPr lang="en-US" sz="2400" dirty="0"/>
              <a:t> </a:t>
            </a:r>
            <a:r>
              <a:rPr lang="en-US" sz="2400" dirty="0" err="1"/>
              <a:t>tombol</a:t>
            </a:r>
            <a:r>
              <a:rPr lang="en-US" sz="2400" dirty="0"/>
              <a:t> finish.</a:t>
            </a:r>
          </a:p>
          <a:p>
            <a:r>
              <a:rPr lang="en-US" sz="2400" dirty="0"/>
              <a:t>Langkah3: </a:t>
            </a:r>
            <a:r>
              <a:rPr lang="en-US" sz="2400" dirty="0" err="1"/>
              <a:t>meletakkan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Jframe</a:t>
            </a:r>
            <a:endParaRPr lang="en-US" sz="2400" dirty="0"/>
          </a:p>
          <a:p>
            <a:r>
              <a:rPr lang="en-US" sz="2400" dirty="0"/>
              <a:t>3.1 Drag and drop </a:t>
            </a:r>
            <a:r>
              <a:rPr lang="en-US" sz="2400" dirty="0" err="1"/>
              <a:t>komponen</a:t>
            </a:r>
            <a:r>
              <a:rPr lang="en-US" sz="2400" dirty="0"/>
              <a:t> yang </a:t>
            </a:r>
            <a:r>
              <a:rPr lang="en-US" sz="2400" dirty="0" err="1"/>
              <a:t>diperlukan</a:t>
            </a:r>
            <a:r>
              <a:rPr lang="en-US" sz="2400" dirty="0"/>
              <a:t> </a:t>
            </a:r>
          </a:p>
          <a:p>
            <a:r>
              <a:rPr lang="en-US" sz="2400" dirty="0"/>
              <a:t>     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pallette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frame </a:t>
            </a:r>
          </a:p>
          <a:p>
            <a:r>
              <a:rPr lang="en-US" sz="2400" dirty="0"/>
              <a:t>Langkah4: </a:t>
            </a:r>
            <a:r>
              <a:rPr lang="en-US" sz="2400" dirty="0" err="1"/>
              <a:t>mengatur</a:t>
            </a:r>
            <a:r>
              <a:rPr lang="en-US" sz="2400" dirty="0"/>
              <a:t> layout frame</a:t>
            </a:r>
          </a:p>
          <a:p>
            <a:r>
              <a:rPr lang="en-US" sz="2400" dirty="0"/>
              <a:t>4.1 </a:t>
            </a:r>
            <a:r>
              <a:rPr lang="en-US" sz="2400" dirty="0" err="1"/>
              <a:t>Klik</a:t>
            </a:r>
            <a:r>
              <a:rPr lang="en-US" sz="2400" dirty="0"/>
              <a:t> </a:t>
            </a:r>
            <a:r>
              <a:rPr lang="en-US" sz="2400" dirty="0" err="1"/>
              <a:t>kanan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frame </a:t>
            </a:r>
            <a:r>
              <a:rPr lang="en-US" sz="2400" dirty="0" err="1"/>
              <a:t>kemudian</a:t>
            </a:r>
            <a:r>
              <a:rPr lang="en-US" sz="2400" dirty="0"/>
              <a:t> </a:t>
            </a:r>
            <a:r>
              <a:rPr lang="en-US" sz="2400" dirty="0" err="1"/>
              <a:t>pilih</a:t>
            </a:r>
            <a:r>
              <a:rPr lang="en-US" sz="2400" dirty="0"/>
              <a:t> menu </a:t>
            </a:r>
            <a:r>
              <a:rPr lang="en-US" sz="2400" dirty="0" err="1"/>
              <a:t>setlayout</a:t>
            </a:r>
            <a:r>
              <a:rPr lang="en-US" sz="2400" dirty="0"/>
              <a:t>, </a:t>
            </a:r>
          </a:p>
          <a:p>
            <a:r>
              <a:rPr lang="en-US" sz="2400" dirty="0"/>
              <a:t>      </a:t>
            </a:r>
            <a:r>
              <a:rPr lang="en-US" sz="2400" dirty="0" err="1"/>
              <a:t>kemudian</a:t>
            </a:r>
            <a:r>
              <a:rPr lang="en-US" sz="2400" dirty="0"/>
              <a:t> </a:t>
            </a:r>
            <a:r>
              <a:rPr lang="en-US" sz="2400" dirty="0" err="1"/>
              <a:t>pilih</a:t>
            </a:r>
            <a:r>
              <a:rPr lang="en-US" sz="2400" dirty="0"/>
              <a:t> layout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</a:p>
          <a:p>
            <a:r>
              <a:rPr lang="en-US" sz="2400" dirty="0"/>
              <a:t>      (</a:t>
            </a:r>
            <a:r>
              <a:rPr lang="en-US" sz="2400" dirty="0" err="1"/>
              <a:t>misal</a:t>
            </a:r>
            <a:r>
              <a:rPr lang="en-US" sz="2400" dirty="0"/>
              <a:t> </a:t>
            </a:r>
            <a:r>
              <a:rPr lang="en-US" sz="2400" dirty="0" err="1"/>
              <a:t>Flowlayout</a:t>
            </a:r>
            <a:r>
              <a:rPr lang="en-US" sz="2400" dirty="0"/>
              <a:t>).</a:t>
            </a:r>
          </a:p>
          <a:p>
            <a:r>
              <a:rPr lang="en-US" sz="2400" dirty="0"/>
              <a:t>Langkah5: </a:t>
            </a:r>
            <a:r>
              <a:rPr lang="en-US" sz="2400" dirty="0" err="1"/>
              <a:t>menambah</a:t>
            </a:r>
            <a:r>
              <a:rPr lang="en-US" sz="2400" dirty="0"/>
              <a:t> event listener </a:t>
            </a:r>
            <a:r>
              <a:rPr lang="en-US" sz="2400" dirty="0" err="1"/>
              <a:t>dan</a:t>
            </a:r>
            <a:r>
              <a:rPr lang="en-US" sz="2400" dirty="0"/>
              <a:t> event handler</a:t>
            </a:r>
          </a:p>
          <a:p>
            <a:r>
              <a:rPr lang="en-US" sz="2400" dirty="0"/>
              <a:t>5.1 </a:t>
            </a:r>
            <a:r>
              <a:rPr lang="en-US" sz="2400" dirty="0" err="1"/>
              <a:t>Klik</a:t>
            </a:r>
            <a:r>
              <a:rPr lang="en-US" sz="2400" dirty="0"/>
              <a:t> </a:t>
            </a:r>
            <a:r>
              <a:rPr lang="en-US" sz="2400" dirty="0" err="1"/>
              <a:t>kanan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komponen</a:t>
            </a:r>
            <a:r>
              <a:rPr lang="en-US" sz="2400" dirty="0"/>
              <a:t>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diberi</a:t>
            </a:r>
            <a:r>
              <a:rPr lang="en-US" sz="2400" dirty="0"/>
              <a:t> event, </a:t>
            </a:r>
          </a:p>
          <a:p>
            <a:r>
              <a:rPr lang="en-US" sz="2400" dirty="0"/>
              <a:t>      </a:t>
            </a:r>
            <a:r>
              <a:rPr lang="en-US" sz="2400" dirty="0" err="1"/>
              <a:t>pilih</a:t>
            </a:r>
            <a:r>
              <a:rPr lang="en-US" sz="2400" dirty="0"/>
              <a:t> event, action, </a:t>
            </a:r>
            <a:r>
              <a:rPr lang="en-US" sz="2400" dirty="0" err="1"/>
              <a:t>actionPerformed</a:t>
            </a:r>
            <a:r>
              <a:rPr lang="en-US" sz="2400" dirty="0"/>
              <a:t>.</a:t>
            </a:r>
          </a:p>
          <a:p>
            <a:r>
              <a:rPr lang="en-US" sz="2400" dirty="0"/>
              <a:t>5.2 </a:t>
            </a:r>
            <a:r>
              <a:rPr lang="en-US" sz="2400" dirty="0" err="1"/>
              <a:t>Tambahkan</a:t>
            </a:r>
            <a:r>
              <a:rPr lang="en-US" sz="2400" dirty="0"/>
              <a:t> </a:t>
            </a:r>
            <a:r>
              <a:rPr lang="en-US" sz="2400" dirty="0" err="1"/>
              <a:t>kode</a:t>
            </a:r>
            <a:r>
              <a:rPr lang="en-US" sz="2400" dirty="0"/>
              <a:t> program </a:t>
            </a:r>
            <a:r>
              <a:rPr lang="en-US" sz="2400" dirty="0" err="1"/>
              <a:t>System.exit</a:t>
            </a:r>
            <a:r>
              <a:rPr lang="en-US" sz="2400" dirty="0"/>
              <a:t>(0);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304800"/>
          </a:xfrm>
        </p:spPr>
        <p:txBody>
          <a:bodyPr>
            <a:noAutofit/>
          </a:bodyPr>
          <a:lstStyle/>
          <a:p>
            <a:pPr algn="ctr"/>
            <a:r>
              <a:rPr lang="en-US" sz="2400" dirty="0" err="1">
                <a:effectLst/>
              </a:rPr>
              <a:t>Pengantar</a:t>
            </a:r>
            <a:r>
              <a:rPr lang="en-US" sz="2400" dirty="0">
                <a:effectLst/>
              </a:rPr>
              <a:t> Visual Programming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20298</TotalTime>
  <Words>11667</Words>
  <Application>Microsoft Office PowerPoint</Application>
  <PresentationFormat>On-screen Show (4:3)</PresentationFormat>
  <Paragraphs>1491</Paragraphs>
  <Slides>105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14" baseType="lpstr">
      <vt:lpstr>Arial</vt:lpstr>
      <vt:lpstr>Courier New</vt:lpstr>
      <vt:lpstr>Lucida Sans Unicode</vt:lpstr>
      <vt:lpstr>Tahoma</vt:lpstr>
      <vt:lpstr>Times New Roman</vt:lpstr>
      <vt:lpstr>Verdana</vt:lpstr>
      <vt:lpstr>Wingdings 2</vt:lpstr>
      <vt:lpstr>Wingdings 3</vt:lpstr>
      <vt:lpstr>Concourse</vt:lpstr>
      <vt:lpstr>Komponen Swing dan Manajemen Layout</vt:lpstr>
      <vt:lpstr>Langkah-langkah pembuatan Aplikasi GUI</vt:lpstr>
      <vt:lpstr>Langkah-langkah pembuatan Aplikasi GUI</vt:lpstr>
      <vt:lpstr>Langkah-langkah pembuatan Aplikasi GUI</vt:lpstr>
      <vt:lpstr>Langkah-langkah pembuatan Aplikasi GUI</vt:lpstr>
      <vt:lpstr>Langkah-langkah pembuatan Aplikasi GUI</vt:lpstr>
      <vt:lpstr>Langkah-langkah pembuatan Aplikasi GUI</vt:lpstr>
      <vt:lpstr>Langkah6 cara2, pembuatan aplikasi GUI</vt:lpstr>
      <vt:lpstr>Langkah6 cara2, pembuatan aplikasi GUI</vt:lpstr>
      <vt:lpstr>Langkah6 cara2, pembuatan aplikasi GUI</vt:lpstr>
      <vt:lpstr>Langkah6 cara2, pembuatan aplikasi GUI</vt:lpstr>
      <vt:lpstr>Penjelasan contoh program Aplikasi GUI</vt:lpstr>
      <vt:lpstr>Penjelasan contoh program Aplikasi GUI</vt:lpstr>
      <vt:lpstr>Penjelasan contoh program Aplikasi GUI</vt:lpstr>
      <vt:lpstr>Penjelasan contoh program Aplikasi GUI</vt:lpstr>
      <vt:lpstr>Penjelasan contoh program Aplikasi GUI</vt:lpstr>
      <vt:lpstr>Penjelasan contoh program Aplikasi GUI</vt:lpstr>
      <vt:lpstr>Penjelasan contoh program Aplikasi GUI</vt:lpstr>
      <vt:lpstr>Penjelasan contoh program Aplikasi GUI</vt:lpstr>
      <vt:lpstr>Lanjutan penjelasan Class Dialog1.java</vt:lpstr>
      <vt:lpstr>Lanjutan penjelasan Class Dialog1.java</vt:lpstr>
      <vt:lpstr>Lanjutan penjelasan Class Dialog1.java</vt:lpstr>
      <vt:lpstr>Lanjutan penjelasan Class Dialog1.java</vt:lpstr>
      <vt:lpstr>Penjelasan contoh program Aplikasi GUI</vt:lpstr>
      <vt:lpstr>Lanjutan penjelasan contoh program Aplikasi GUI</vt:lpstr>
      <vt:lpstr>Lanjutan penjelasan contoh program Aplikasi GUI</vt:lpstr>
      <vt:lpstr>Penjelasan contoh program Aplikasi GUI</vt:lpstr>
      <vt:lpstr>Penjelasan contoh program Aplikasi GUI</vt:lpstr>
      <vt:lpstr>Manajemen Layout</vt:lpstr>
      <vt:lpstr>Daftar class sebagai Manajer Layout</vt:lpstr>
      <vt:lpstr>Daftar class sebagai Manajer Layout</vt:lpstr>
      <vt:lpstr>Daftar class sebagai Manajer Layout</vt:lpstr>
      <vt:lpstr>Format masing-masing Layout</vt:lpstr>
      <vt:lpstr>Cara lain menata komponen pada Frame (tanpa menggunakan Manajer Layout)</vt:lpstr>
      <vt:lpstr>Penjelasan contoh program yang menggunakan  Manajer Layout</vt:lpstr>
      <vt:lpstr> MyFlowLayout.java (2)</vt:lpstr>
      <vt:lpstr>Penjelasan contoh program yang menggunakan  Manajer Layout</vt:lpstr>
      <vt:lpstr>MyBorderLayout.java (2)</vt:lpstr>
      <vt:lpstr>Penjelasan contoh program yang menggunakan  Manajer Layout</vt:lpstr>
      <vt:lpstr>MyGridLayout.java (2)</vt:lpstr>
      <vt:lpstr>Penjelasan contoh program yang menggunakan  Manajer Layout</vt:lpstr>
      <vt:lpstr>MyGridBagLayout.java (2)</vt:lpstr>
      <vt:lpstr>MyGridBagLayout.java (3)</vt:lpstr>
      <vt:lpstr>Penjelasan contoh program yang menggunakan  Manajer Layout</vt:lpstr>
      <vt:lpstr>Penjelasan contoh program yang menggunakan  Manajer Layout</vt:lpstr>
      <vt:lpstr>MyCardLayout.java (2)</vt:lpstr>
      <vt:lpstr>MyCardLayout.java (3)</vt:lpstr>
      <vt:lpstr>Penjelasan contoh program yang menggunakan  Manajer Layout</vt:lpstr>
      <vt:lpstr>BoxLayoutExample.java (2)</vt:lpstr>
      <vt:lpstr>BoxLayoutExample.java (3)</vt:lpstr>
      <vt:lpstr>BoxLayoutExample.java (4)</vt:lpstr>
      <vt:lpstr>Penjelasan contoh program yang menggunakan  Manajer Layout</vt:lpstr>
      <vt:lpstr>ContohTabbedPaneLayout.java (2)</vt:lpstr>
      <vt:lpstr>ContohTabbedPaneLayout.java (3) *</vt:lpstr>
      <vt:lpstr>ContohTabbedPaneLayout.java (4) </vt:lpstr>
      <vt:lpstr>ContohTabbedPaneLayout.java (5) </vt:lpstr>
      <vt:lpstr>ContohTabbedPaneLayout.java (6) </vt:lpstr>
      <vt:lpstr>Penjelasan contoh program yang menggunakan  Manajer Layout</vt:lpstr>
      <vt:lpstr>ContohOverlayLayout.java (2) </vt:lpstr>
      <vt:lpstr>ContohOverlayLayout.java (3) </vt:lpstr>
      <vt:lpstr>ContohOverlayLayout.java (4) </vt:lpstr>
      <vt:lpstr>ContohOverlayLayout.java (5) </vt:lpstr>
      <vt:lpstr>ContohOverlayLayout.java (6) </vt:lpstr>
      <vt:lpstr>ContohOverlayLayout.java (7) </vt:lpstr>
      <vt:lpstr>ContohOverlayLayout.java (8) </vt:lpstr>
      <vt:lpstr>ContohOverlayLayout.java (9) </vt:lpstr>
      <vt:lpstr>Penjelasan contoh program yang menggunakan  Manajer Layout</vt:lpstr>
      <vt:lpstr>ContohSpringLayout.java (1) </vt:lpstr>
      <vt:lpstr>ContohSpringLayout.java (2) </vt:lpstr>
      <vt:lpstr>ContohSpringLayout.java (3) </vt:lpstr>
      <vt:lpstr>ContohSpringLayout.java (4) </vt:lpstr>
      <vt:lpstr>ContohSpringLayout.java (5) </vt:lpstr>
      <vt:lpstr>ContohSpringLayout.java (6) </vt:lpstr>
      <vt:lpstr>ContohSpringLayout.java (7) </vt:lpstr>
      <vt:lpstr>ContohSpringLayout.java (8) </vt:lpstr>
      <vt:lpstr>Penjelasan contoh program yang menggunakan  Manajer Layout</vt:lpstr>
      <vt:lpstr>ContohScrollPaneLayout.java (2) </vt:lpstr>
      <vt:lpstr>ContohScrollPaneLayout.java (3) </vt:lpstr>
      <vt:lpstr>ContohScrollPaneLayout.java (4) </vt:lpstr>
      <vt:lpstr>ContohScrollPaneLayout.java (5) </vt:lpstr>
      <vt:lpstr>ContohScrollPaneLayout.java (6) </vt:lpstr>
      <vt:lpstr>ContohScrollPaneLayout.java (7) </vt:lpstr>
      <vt:lpstr>Penjelasan contoh program yang menggunakan  Manajer Layout</vt:lpstr>
      <vt:lpstr>ContohViewportLayout.java (2) </vt:lpstr>
      <vt:lpstr>ContohViewportLayout.java (3) </vt:lpstr>
      <vt:lpstr>ContohViewportLayout.java (4) </vt:lpstr>
      <vt:lpstr>ContohViewportLayout.java (5) </vt:lpstr>
      <vt:lpstr>ContohViewportLayout.java (6) </vt:lpstr>
      <vt:lpstr>ContohViewportLayout.java (7) </vt:lpstr>
      <vt:lpstr>Penjelasan contoh program yang menggunakan  Manajer Layout</vt:lpstr>
      <vt:lpstr>ContohTableLayout.java (2) </vt:lpstr>
      <vt:lpstr>ContohTableLayout.java (3) </vt:lpstr>
      <vt:lpstr>ContohTableLayout.java (4) </vt:lpstr>
      <vt:lpstr>ContohTableLayout.java (5) </vt:lpstr>
      <vt:lpstr>ContohTableLayout.java (6) </vt:lpstr>
      <vt:lpstr>Penjelasan contoh program yang menggunakan  Manajer Layout</vt:lpstr>
      <vt:lpstr>ContohFormLayout.java (2) </vt:lpstr>
      <vt:lpstr>ContohFormLayout.java (3) </vt:lpstr>
      <vt:lpstr>ContohFormLayout.java (4) </vt:lpstr>
      <vt:lpstr>ContohFormLayout.java (5) </vt:lpstr>
      <vt:lpstr>ContohFormLayout.java (6) </vt:lpstr>
      <vt:lpstr>ContohFormLayout.java (7) </vt:lpstr>
      <vt:lpstr>ContohFormLayout.java (8) </vt:lpstr>
      <vt:lpstr>ContohFormLayout.java (9) </vt:lpstr>
      <vt:lpstr>Pengantar Visual Programming</vt:lpstr>
    </vt:vector>
  </TitlesOfParts>
  <Company>Columbia University Computer Science Department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Models</dc:title>
  <dc:creator>Valued Sony Customer</dc:creator>
  <cp:lastModifiedBy>Lenovo L340</cp:lastModifiedBy>
  <cp:revision>465</cp:revision>
  <dcterms:created xsi:type="dcterms:W3CDTF">2001-04-26T04:38:43Z</dcterms:created>
  <dcterms:modified xsi:type="dcterms:W3CDTF">2026-04-30T02:30:19Z</dcterms:modified>
</cp:coreProperties>
</file>