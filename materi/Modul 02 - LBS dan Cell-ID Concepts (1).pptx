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35" roundtripDataSignature="AMtx7miBmMTS34OqH4GzCcwGVt+9ogWJ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" name="Google Shape;5;n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000" y="695325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481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2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3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4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5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6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7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8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9:notes"/>
          <p:cNvSpPr/>
          <p:nvPr>
            <p:ph idx="2" type="sldImg"/>
          </p:nvPr>
        </p:nvSpPr>
        <p:spPr>
          <a:xfrm>
            <a:off x="-11798300" y="-11796713"/>
            <a:ext cx="11796712" cy="12490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2"/>
          <p:cNvSpPr txBox="1"/>
          <p:nvPr>
            <p:ph type="title"/>
          </p:nvPr>
        </p:nvSpPr>
        <p:spPr>
          <a:xfrm>
            <a:off x="457200" y="274638"/>
            <a:ext cx="82264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0" type="dt"/>
          </p:nvPr>
        </p:nvSpPr>
        <p:spPr>
          <a:xfrm>
            <a:off x="457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2"/>
          <p:cNvSpPr txBox="1"/>
          <p:nvPr>
            <p:ph idx="11" type="ftr"/>
          </p:nvPr>
        </p:nvSpPr>
        <p:spPr>
          <a:xfrm>
            <a:off x="3124200" y="6245225"/>
            <a:ext cx="2892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2"/>
          <p:cNvSpPr txBox="1"/>
          <p:nvPr>
            <p:ph idx="12" type="sldNum"/>
          </p:nvPr>
        </p:nvSpPr>
        <p:spPr>
          <a:xfrm>
            <a:off x="6553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/>
          <p:nvPr>
            <p:ph type="title"/>
          </p:nvPr>
        </p:nvSpPr>
        <p:spPr>
          <a:xfrm>
            <a:off x="457200" y="274638"/>
            <a:ext cx="82264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" type="body"/>
          </p:nvPr>
        </p:nvSpPr>
        <p:spPr>
          <a:xfrm>
            <a:off x="457200" y="1600200"/>
            <a:ext cx="8226425" cy="45227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42900" lvl="0" marL="457200" algn="l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0" type="dt"/>
          </p:nvPr>
        </p:nvSpPr>
        <p:spPr>
          <a:xfrm>
            <a:off x="457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1" type="ftr"/>
          </p:nvPr>
        </p:nvSpPr>
        <p:spPr>
          <a:xfrm>
            <a:off x="3124200" y="6245225"/>
            <a:ext cx="2892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3"/>
          <p:cNvSpPr txBox="1"/>
          <p:nvPr>
            <p:ph idx="12" type="sldNum"/>
          </p:nvPr>
        </p:nvSpPr>
        <p:spPr>
          <a:xfrm>
            <a:off x="6553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ctr">
              <a:spcBef>
                <a:spcPts val="80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70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0" type="dt"/>
          </p:nvPr>
        </p:nvSpPr>
        <p:spPr>
          <a:xfrm>
            <a:off x="457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1" type="ftr"/>
          </p:nvPr>
        </p:nvSpPr>
        <p:spPr>
          <a:xfrm>
            <a:off x="3124200" y="6245225"/>
            <a:ext cx="2892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2" type="sldNum"/>
          </p:nvPr>
        </p:nvSpPr>
        <p:spPr>
          <a:xfrm>
            <a:off x="6553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2" name="Google Shape;32;p35"/>
          <p:cNvSpPr txBox="1"/>
          <p:nvPr>
            <p:ph idx="10" type="dt"/>
          </p:nvPr>
        </p:nvSpPr>
        <p:spPr>
          <a:xfrm>
            <a:off x="457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1" type="ftr"/>
          </p:nvPr>
        </p:nvSpPr>
        <p:spPr>
          <a:xfrm>
            <a:off x="3124200" y="6245225"/>
            <a:ext cx="2892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2" type="sldNum"/>
          </p:nvPr>
        </p:nvSpPr>
        <p:spPr>
          <a:xfrm>
            <a:off x="6553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 txBox="1"/>
          <p:nvPr>
            <p:ph type="title"/>
          </p:nvPr>
        </p:nvSpPr>
        <p:spPr>
          <a:xfrm>
            <a:off x="457200" y="274638"/>
            <a:ext cx="82264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1" type="body"/>
          </p:nvPr>
        </p:nvSpPr>
        <p:spPr>
          <a:xfrm>
            <a:off x="457200" y="1600200"/>
            <a:ext cx="4037013" cy="45227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406400" lvl="0" marL="457200" algn="l">
              <a:spcBef>
                <a:spcPts val="8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70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" name="Google Shape;38;p36"/>
          <p:cNvSpPr txBox="1"/>
          <p:nvPr>
            <p:ph idx="2" type="body"/>
          </p:nvPr>
        </p:nvSpPr>
        <p:spPr>
          <a:xfrm>
            <a:off x="4646613" y="1600200"/>
            <a:ext cx="4037012" cy="45227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406400" lvl="0" marL="457200" algn="l">
              <a:spcBef>
                <a:spcPts val="8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70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" name="Google Shape;39;p36"/>
          <p:cNvSpPr txBox="1"/>
          <p:nvPr>
            <p:ph idx="10" type="dt"/>
          </p:nvPr>
        </p:nvSpPr>
        <p:spPr>
          <a:xfrm>
            <a:off x="457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11" type="ftr"/>
          </p:nvPr>
        </p:nvSpPr>
        <p:spPr>
          <a:xfrm>
            <a:off x="3124200" y="6245225"/>
            <a:ext cx="2892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2" type="sldNum"/>
          </p:nvPr>
        </p:nvSpPr>
        <p:spPr>
          <a:xfrm>
            <a:off x="6553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81000" lvl="0" marL="457200" algn="l">
              <a:spcBef>
                <a:spcPts val="8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7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5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81000" lvl="0" marL="457200" algn="l">
              <a:spcBef>
                <a:spcPts val="8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7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5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48" name="Google Shape;48;p37"/>
          <p:cNvSpPr txBox="1"/>
          <p:nvPr>
            <p:ph idx="10" type="dt"/>
          </p:nvPr>
        </p:nvSpPr>
        <p:spPr>
          <a:xfrm>
            <a:off x="457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7"/>
          <p:cNvSpPr txBox="1"/>
          <p:nvPr>
            <p:ph idx="11" type="ftr"/>
          </p:nvPr>
        </p:nvSpPr>
        <p:spPr>
          <a:xfrm>
            <a:off x="3124200" y="6245225"/>
            <a:ext cx="2892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12" type="sldNum"/>
          </p:nvPr>
        </p:nvSpPr>
        <p:spPr>
          <a:xfrm>
            <a:off x="6553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8"/>
          <p:cNvSpPr txBox="1"/>
          <p:nvPr>
            <p:ph type="title"/>
          </p:nvPr>
        </p:nvSpPr>
        <p:spPr>
          <a:xfrm>
            <a:off x="457200" y="274638"/>
            <a:ext cx="82264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0" type="dt"/>
          </p:nvPr>
        </p:nvSpPr>
        <p:spPr>
          <a:xfrm>
            <a:off x="457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8"/>
          <p:cNvSpPr txBox="1"/>
          <p:nvPr>
            <p:ph idx="11" type="ftr"/>
          </p:nvPr>
        </p:nvSpPr>
        <p:spPr>
          <a:xfrm>
            <a:off x="3124200" y="6245225"/>
            <a:ext cx="2892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8"/>
          <p:cNvSpPr txBox="1"/>
          <p:nvPr>
            <p:ph idx="12" type="sldNum"/>
          </p:nvPr>
        </p:nvSpPr>
        <p:spPr>
          <a:xfrm>
            <a:off x="6553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9"/>
          <p:cNvSpPr txBox="1"/>
          <p:nvPr>
            <p:ph idx="10" type="dt"/>
          </p:nvPr>
        </p:nvSpPr>
        <p:spPr>
          <a:xfrm>
            <a:off x="457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9"/>
          <p:cNvSpPr txBox="1"/>
          <p:nvPr>
            <p:ph idx="11" type="ftr"/>
          </p:nvPr>
        </p:nvSpPr>
        <p:spPr>
          <a:xfrm>
            <a:off x="3124200" y="6245225"/>
            <a:ext cx="2892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2" type="sldNum"/>
          </p:nvPr>
        </p:nvSpPr>
        <p:spPr>
          <a:xfrm>
            <a:off x="6553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431800" lvl="0" marL="457200" algn="l">
              <a:spcBef>
                <a:spcPts val="8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70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5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63" name="Google Shape;63;p4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40"/>
          <p:cNvSpPr txBox="1"/>
          <p:nvPr>
            <p:ph idx="10" type="dt"/>
          </p:nvPr>
        </p:nvSpPr>
        <p:spPr>
          <a:xfrm>
            <a:off x="457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0"/>
          <p:cNvSpPr txBox="1"/>
          <p:nvPr>
            <p:ph idx="11" type="ftr"/>
          </p:nvPr>
        </p:nvSpPr>
        <p:spPr>
          <a:xfrm>
            <a:off x="3124200" y="6245225"/>
            <a:ext cx="2892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2" type="sldNum"/>
          </p:nvPr>
        </p:nvSpPr>
        <p:spPr>
          <a:xfrm>
            <a:off x="6553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4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245225"/>
            <a:ext cx="2892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>
            <a:off x="457200" y="274638"/>
            <a:ext cx="82264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2309019" y="-251618"/>
            <a:ext cx="4522788" cy="822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42900" lvl="0" marL="457200" algn="l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245225"/>
            <a:ext cx="2892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3"/>
          <p:cNvSpPr txBox="1"/>
          <p:nvPr>
            <p:ph type="title"/>
          </p:nvPr>
        </p:nvSpPr>
        <p:spPr>
          <a:xfrm rot="5400000">
            <a:off x="4731544" y="2170907"/>
            <a:ext cx="5848350" cy="2055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3"/>
          <p:cNvSpPr txBox="1"/>
          <p:nvPr>
            <p:ph idx="1" type="body"/>
          </p:nvPr>
        </p:nvSpPr>
        <p:spPr>
          <a:xfrm rot="5400000">
            <a:off x="542132" y="189707"/>
            <a:ext cx="5848350" cy="60182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42900" lvl="0" marL="457200" algn="l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3"/>
          <p:cNvSpPr txBox="1"/>
          <p:nvPr>
            <p:ph idx="10" type="dt"/>
          </p:nvPr>
        </p:nvSpPr>
        <p:spPr>
          <a:xfrm>
            <a:off x="457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3"/>
          <p:cNvSpPr txBox="1"/>
          <p:nvPr>
            <p:ph idx="11" type="ftr"/>
          </p:nvPr>
        </p:nvSpPr>
        <p:spPr>
          <a:xfrm>
            <a:off x="3124200" y="6245225"/>
            <a:ext cx="2892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3"/>
          <p:cNvSpPr txBox="1"/>
          <p:nvPr>
            <p:ph idx="12" type="sldNum"/>
          </p:nvPr>
        </p:nvSpPr>
        <p:spPr>
          <a:xfrm>
            <a:off x="6553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1"/>
          <p:cNvSpPr txBox="1"/>
          <p:nvPr>
            <p:ph type="title"/>
          </p:nvPr>
        </p:nvSpPr>
        <p:spPr>
          <a:xfrm>
            <a:off x="457200" y="274638"/>
            <a:ext cx="82264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" type="body"/>
          </p:nvPr>
        </p:nvSpPr>
        <p:spPr>
          <a:xfrm>
            <a:off x="457200" y="1600200"/>
            <a:ext cx="8226425" cy="45227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431800" lvl="0" marL="457200" marR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0" type="dt"/>
          </p:nvPr>
        </p:nvSpPr>
        <p:spPr>
          <a:xfrm>
            <a:off x="457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1" type="ftr"/>
          </p:nvPr>
        </p:nvSpPr>
        <p:spPr>
          <a:xfrm>
            <a:off x="3124200" y="6245225"/>
            <a:ext cx="2892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1"/>
          <p:cNvSpPr txBox="1"/>
          <p:nvPr>
            <p:ph idx="12" type="sldNum"/>
          </p:nvPr>
        </p:nvSpPr>
        <p:spPr>
          <a:xfrm>
            <a:off x="6553200" y="6245225"/>
            <a:ext cx="213042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3.png"/><Relationship Id="rId6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2319685" y="3379770"/>
            <a:ext cx="4908821" cy="60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LBS dan Cell-ID Concepts</a:t>
            </a:r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5656" y="332657"/>
            <a:ext cx="964205" cy="1944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0" l="21611" r="21048" t="0"/>
          <a:stretch/>
        </p:blipFill>
        <p:spPr>
          <a:xfrm>
            <a:off x="3275856" y="548680"/>
            <a:ext cx="2597177" cy="1234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6239" y="684106"/>
            <a:ext cx="2925816" cy="187252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3454323" y="4812632"/>
            <a:ext cx="2639547" cy="4380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Dosen TPM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489768" y="1124744"/>
            <a:ext cx="8226425" cy="726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00000"/>
                </a:solidFill>
              </a:rPr>
              <a:t>Telematika dan LBS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489768" y="2348880"/>
            <a:ext cx="8226425" cy="3558084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i="1" lang="en-US"/>
              <a:t>Telematika: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Konvergenitas dari teknologi komputer, informasi,  penyiaran, dan komunikasi mobile</a:t>
            </a:r>
            <a:endParaRPr/>
          </a:p>
          <a:p>
            <a:pPr indent="-228600" lvl="2" marL="1143000" rtl="0" algn="l"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TV, radio, dan multimedia</a:t>
            </a:r>
            <a:endParaRPr/>
          </a:p>
          <a:p>
            <a:pPr indent="-228600" lvl="2" marL="1143000" rtl="0" algn="l"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Penyatuan! </a:t>
            </a:r>
            <a:endParaRPr/>
          </a:p>
          <a:p>
            <a:pPr indent="-228600" lvl="3" marL="1600200" rtl="0" algn="l">
              <a:spcBef>
                <a:spcPts val="5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Telepon digital, handphone, communicator, dll</a:t>
            </a:r>
            <a:endParaRPr/>
          </a:p>
          <a:p>
            <a:pPr indent="-107950" lvl="1" marL="742950" rtl="0" algn="l">
              <a:spcBef>
                <a:spcPts val="7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49" y="52454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title"/>
          </p:nvPr>
        </p:nvSpPr>
        <p:spPr>
          <a:xfrm>
            <a:off x="446931" y="836712"/>
            <a:ext cx="8226425" cy="855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00000"/>
                </a:solidFill>
              </a:rPr>
              <a:t>Dampak Konvergensi</a:t>
            </a:r>
            <a:endParaRPr b="1" sz="3600">
              <a:solidFill>
                <a:srgbClr val="C00000"/>
              </a:solidFill>
            </a:endParaRPr>
          </a:p>
        </p:txBody>
      </p:sp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446931" y="2060848"/>
            <a:ext cx="8226425" cy="45227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Berubahnya gaya hidup</a:t>
            </a:r>
            <a:endParaRPr sz="2800"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Ketergantungan akan telp bergerak</a:t>
            </a:r>
            <a:endParaRPr sz="2400"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Internet semakin populer</a:t>
            </a:r>
            <a:endParaRPr sz="2400"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E-commerce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Bisnis: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Monopoli vs kompetisi</a:t>
            </a:r>
            <a:endParaRPr sz="2400"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Membuka usaha baru</a:t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Regulasi</a:t>
            </a:r>
            <a:endParaRPr sz="2800"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Lisensi dan hukum cyber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Perlindungan konsumen</a:t>
            </a:r>
            <a:endParaRPr sz="2400"/>
          </a:p>
        </p:txBody>
      </p:sp>
      <p:pic>
        <p:nvPicPr>
          <p:cNvPr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49" y="52454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467543" y="903040"/>
            <a:ext cx="8226425" cy="826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00000"/>
                </a:solidFill>
              </a:rPr>
              <a:t>LBS</a:t>
            </a:r>
            <a:endParaRPr b="1" sz="3600">
              <a:solidFill>
                <a:srgbClr val="C00000"/>
              </a:solidFill>
            </a:endParaRPr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170520" y="1947456"/>
            <a:ext cx="8820472" cy="410445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Location-based services (LBS):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aplikasi telematika yang mampu menentukan lokasi perangkat wireless seseorang</a:t>
            </a:r>
            <a:endParaRPr sz="2000"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Carriers = perangkat wireless</a:t>
            </a:r>
            <a:endParaRPr/>
          </a:p>
          <a:p>
            <a:pPr indent="0" lvl="1" marL="45720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i="1" sz="2000"/>
          </a:p>
          <a:p>
            <a:pPr indent="-34290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i="1" lang="en-US" sz="2400"/>
              <a:t>E911 Act</a:t>
            </a:r>
            <a:r>
              <a:rPr lang="en-US" sz="2400"/>
              <a:t>: Federal Trade Commission mengatur tentang </a:t>
            </a:r>
            <a:r>
              <a:rPr b="1" lang="en-US" sz="2400"/>
              <a:t>911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Phase 1: carriers harus menyediakan </a:t>
            </a:r>
            <a:r>
              <a:rPr i="1" lang="en-US" sz="2000"/>
              <a:t>Automatic Number Information </a:t>
            </a:r>
            <a:r>
              <a:rPr lang="en-US" sz="2000"/>
              <a:t>dan </a:t>
            </a:r>
            <a:r>
              <a:rPr i="1" lang="en-US" sz="2000"/>
              <a:t>cell site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Phase 2: carriers harus menyediakan </a:t>
            </a:r>
            <a:r>
              <a:rPr i="1" lang="en-US" sz="2000"/>
              <a:t>Automatic Local Identification</a:t>
            </a:r>
            <a:endParaRPr/>
          </a:p>
          <a:p>
            <a:pPr indent="0" lvl="1" marL="45720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i="1" sz="2000"/>
          </a:p>
          <a:p>
            <a:pPr indent="-34290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Ada standarisasi celluler</a:t>
            </a:r>
            <a:endParaRPr sz="2400"/>
          </a:p>
          <a:p>
            <a:pPr indent="-34290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Mempermudah pengembangan infrastruktur</a:t>
            </a:r>
            <a:endParaRPr sz="2400"/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49" y="52454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467544" y="1196752"/>
            <a:ext cx="8226425" cy="674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00000"/>
                </a:solidFill>
              </a:rPr>
              <a:t>Cell-ID, Location</a:t>
            </a:r>
            <a:endParaRPr b="1" sz="3600">
              <a:solidFill>
                <a:srgbClr val="C00000"/>
              </a:solidFill>
            </a:endParaRPr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611560" y="2383094"/>
            <a:ext cx="8229600" cy="403244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i="1" lang="en-US" sz="2800"/>
              <a:t>Cell-ID</a:t>
            </a:r>
            <a:r>
              <a:rPr lang="en-US" sz="2800"/>
              <a:t>: suatu nomor yang mengidentifikasi cellular device dalam suatu jaringan</a:t>
            </a:r>
            <a:endParaRPr sz="2800"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Komunikasi terjadi antara device dan tower LBS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i="1" lang="en-US" sz="2000"/>
              <a:t>Cloned phones</a:t>
            </a:r>
            <a:r>
              <a:rPr lang="en-US" sz="2000"/>
              <a:t>: 2 phones sharing ID yang sama (kriminal)</a:t>
            </a:r>
            <a:endParaRPr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Menetukan Lokasi</a:t>
            </a:r>
            <a:endParaRPr sz="2800"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Carrier merepresentasikan </a:t>
            </a:r>
            <a:r>
              <a:rPr i="1" lang="en-US" sz="2400"/>
              <a:t>geo-code</a:t>
            </a:r>
            <a:r>
              <a:rPr lang="en-US" sz="2400"/>
              <a:t> (lattitude dan longitude) kepada content provider, kemudian ditranslasikan ke map</a:t>
            </a:r>
            <a:endParaRPr/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49" y="52454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441746" y="1134719"/>
            <a:ext cx="8226425" cy="563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00000"/>
                </a:solidFill>
              </a:rPr>
              <a:t>Location ID, GPS</a:t>
            </a:r>
            <a:endParaRPr b="1" sz="3600">
              <a:solidFill>
                <a:srgbClr val="C00000"/>
              </a:solidFill>
            </a:endParaRPr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457200" y="2204864"/>
            <a:ext cx="8229600" cy="421729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Location-ID Technologies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i="1" lang="en-US" sz="2000"/>
              <a:t>Satellite-based</a:t>
            </a:r>
            <a:r>
              <a:rPr lang="en-US" sz="2000"/>
              <a:t>: satellites menentukan lokasi</a:t>
            </a:r>
            <a:endParaRPr sz="2000"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i="1" lang="en-US" sz="2000"/>
              <a:t>Network-based</a:t>
            </a:r>
            <a:r>
              <a:rPr lang="en-US" sz="2000"/>
              <a:t>: cellular towers menentukan lokasi</a:t>
            </a:r>
            <a:endParaRPr sz="2000"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i="1" lang="en-US" sz="2000"/>
              <a:t>Network-centric</a:t>
            </a:r>
            <a:r>
              <a:rPr lang="en-US" sz="2000"/>
              <a:t>: device location dikontrol oleh network, tidak membutuhkan upgrade pada device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i="1" lang="en-US" sz="2000"/>
              <a:t>Handset-centric</a:t>
            </a:r>
            <a:r>
              <a:rPr lang="en-US" sz="2000"/>
              <a:t>: membutuhkan device upgrade untuk menentukan lokasi</a:t>
            </a:r>
            <a:endParaRPr sz="2000"/>
          </a:p>
          <a:p>
            <a:pPr indent="-34290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Teknologi terbaru: GPS (Global Positioning System)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Dapat menemukan selular di manapun di belahan bumi ini, akurat: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location, speed, direction, and time</a:t>
            </a:r>
            <a:r>
              <a:rPr lang="en-US" sz="1800"/>
              <a:t>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Masih kurang baik jika selular berada dalam ruangan</a:t>
            </a:r>
            <a:endParaRPr sz="2000"/>
          </a:p>
        </p:txBody>
      </p:sp>
      <p:pic>
        <p:nvPicPr>
          <p:cNvPr id="129" name="Google Shape;1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49" y="52454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457199" y="836712"/>
            <a:ext cx="8226425" cy="8517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C00000"/>
                </a:solidFill>
              </a:rPr>
              <a:t>GPS</a:t>
            </a:r>
            <a:endParaRPr b="1" sz="4000">
              <a:solidFill>
                <a:srgbClr val="C00000"/>
              </a:solidFill>
            </a:endParaRPr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457199" y="1988840"/>
            <a:ext cx="8226425" cy="45227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i="1" lang="en-US" sz="2800"/>
              <a:t>Global Positioning System</a:t>
            </a:r>
            <a:r>
              <a:rPr lang="en-US" sz="2800"/>
              <a:t>: satellites track position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i="1" lang="en-US" sz="2400"/>
              <a:t>Standard Positioning Service</a:t>
            </a:r>
            <a:r>
              <a:rPr lang="en-US" sz="2400"/>
              <a:t>: 100 meter accuracy 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i="1" lang="en-US" sz="2400"/>
              <a:t>Precise Positioning Service</a:t>
            </a:r>
            <a:r>
              <a:rPr lang="en-US" sz="2400"/>
              <a:t>: 10 meter accuracy, originally only for military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i="1" lang="en-US" sz="2400"/>
              <a:t>Random-error signal</a:t>
            </a:r>
            <a:r>
              <a:rPr lang="en-US" sz="2400"/>
              <a:t>: scrambling mechanism</a:t>
            </a:r>
            <a:endParaRPr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GPS Disadvantages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Costly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Signals lose strength over long distance</a:t>
            </a:r>
            <a:endParaRPr sz="2400"/>
          </a:p>
        </p:txBody>
      </p:sp>
      <p:pic>
        <p:nvPicPr>
          <p:cNvPr id="136" name="Google Shape;1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49" y="52454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251520" y="1038295"/>
            <a:ext cx="8640960" cy="527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00000"/>
                </a:solidFill>
              </a:rPr>
              <a:t>Location Technology: Cell of Origin (CoO)</a:t>
            </a:r>
            <a:endParaRPr/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458788" y="1839947"/>
            <a:ext cx="8226425" cy="45227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i="1" lang="en-US"/>
              <a:t>Cell of Origin</a:t>
            </a:r>
            <a:r>
              <a:rPr lang="en-US"/>
              <a:t>: metode paling primitif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COO = lokasi hanya pada tower tertentu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Tidak bisa menemukan posisi penelepon</a:t>
            </a:r>
            <a:endParaRPr/>
          </a:p>
        </p:txBody>
      </p:sp>
      <p:pic>
        <p:nvPicPr>
          <p:cNvPr id="143" name="Google Shape;1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338" y="2660685"/>
            <a:ext cx="7334250" cy="425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3188" y="5345147"/>
            <a:ext cx="2184400" cy="1123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p8"/>
          <p:cNvCxnSpPr/>
          <p:nvPr/>
        </p:nvCxnSpPr>
        <p:spPr>
          <a:xfrm rot="10800000">
            <a:off x="4344988" y="5040347"/>
            <a:ext cx="9144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6" name="Google Shape;14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629" y="64082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title"/>
          </p:nvPr>
        </p:nvSpPr>
        <p:spPr>
          <a:xfrm>
            <a:off x="467544" y="908720"/>
            <a:ext cx="8226425" cy="740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00000"/>
                </a:solidFill>
              </a:rPr>
              <a:t>Location Technology: AOA</a:t>
            </a:r>
            <a:endParaRPr b="1" sz="3600">
              <a:solidFill>
                <a:srgbClr val="C00000"/>
              </a:solidFill>
            </a:endParaRPr>
          </a:p>
        </p:txBody>
      </p:sp>
      <p:sp>
        <p:nvSpPr>
          <p:cNvPr id="152" name="Google Shape;152;p9"/>
          <p:cNvSpPr txBox="1"/>
          <p:nvPr>
            <p:ph idx="1" type="body"/>
          </p:nvPr>
        </p:nvSpPr>
        <p:spPr>
          <a:xfrm>
            <a:off x="179400" y="1916825"/>
            <a:ext cx="38877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Angle of Arrival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Menemukan posisi berdasarkan pada sudut yang dibentuk oleh selular dengan 2 atau lebih tower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Menggunakan longitude dan latitude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Di daerah perkotaan : jelek</a:t>
            </a:r>
            <a:endParaRPr sz="2400"/>
          </a:p>
          <a:p>
            <a:pPr indent="-228600" lvl="2" marL="1143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Banyak bangunan penghalang</a:t>
            </a:r>
            <a:endParaRPr sz="2000"/>
          </a:p>
          <a:p>
            <a:pPr indent="-1651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descr="AOA3"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7175" y="1916832"/>
            <a:ext cx="5076825" cy="467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629" y="64082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463315" y="1340768"/>
            <a:ext cx="8136904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C00000"/>
                </a:solidFill>
              </a:rPr>
              <a:t>Time Difference of Arrival (TDOA)</a:t>
            </a:r>
            <a:endParaRPr/>
          </a:p>
        </p:txBody>
      </p:sp>
      <p:pic>
        <p:nvPicPr>
          <p:cNvPr id="160" name="Google Shape;1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336" y="2810346"/>
            <a:ext cx="8382000" cy="301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0"/>
          <p:cNvSpPr txBox="1"/>
          <p:nvPr/>
        </p:nvSpPr>
        <p:spPr>
          <a:xfrm>
            <a:off x="1081336" y="5934546"/>
            <a:ext cx="69008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Illustration demonstrating TDOA (Courtesy of National Communications System)</a:t>
            </a:r>
            <a:endParaRPr/>
          </a:p>
        </p:txBody>
      </p:sp>
      <p:pic>
        <p:nvPicPr>
          <p:cNvPr id="162" name="Google Shape;16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629" y="64082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type="title"/>
          </p:nvPr>
        </p:nvSpPr>
        <p:spPr>
          <a:xfrm>
            <a:off x="539552" y="1070706"/>
            <a:ext cx="8075613" cy="577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</a:rPr>
              <a:t>Enhanced Observed Time Difference (E-OTD)</a:t>
            </a:r>
            <a:endParaRPr/>
          </a:p>
        </p:txBody>
      </p:sp>
      <p:pic>
        <p:nvPicPr>
          <p:cNvPr descr="EOTD" id="168" name="Google Shape;168;p11"/>
          <p:cNvPicPr preferRelativeResize="0"/>
          <p:nvPr/>
        </p:nvPicPr>
        <p:blipFill rotWithShape="1">
          <a:blip r:embed="rId3">
            <a:alphaModFix/>
          </a:blip>
          <a:srcRect b="7831" l="2486" r="3014" t="23042"/>
          <a:stretch/>
        </p:blipFill>
        <p:spPr>
          <a:xfrm>
            <a:off x="97502" y="1844824"/>
            <a:ext cx="8860413" cy="489654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1"/>
          <p:cNvSpPr txBox="1"/>
          <p:nvPr/>
        </p:nvSpPr>
        <p:spPr>
          <a:xfrm>
            <a:off x="166936" y="6645498"/>
            <a:ext cx="87630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ETSI [date]. Further use, modification, redistribution is strictly prohibited. ETSI standards are available from publication@etsi.fr&lt;mailto:publication@etsi.fr&gt;, and &lt;http://www.etsi.org/eds/eds.htm&gt; </a:t>
            </a:r>
            <a:endParaRPr/>
          </a:p>
        </p:txBody>
      </p:sp>
      <p:pic>
        <p:nvPicPr>
          <p:cNvPr id="170" name="Google Shape;17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629" y="64082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>
            <p:ph type="title"/>
          </p:nvPr>
        </p:nvSpPr>
        <p:spPr>
          <a:xfrm>
            <a:off x="457200" y="778794"/>
            <a:ext cx="8226425" cy="705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C00000"/>
                </a:solidFill>
              </a:rPr>
              <a:t>Wireless communications</a:t>
            </a:r>
            <a:endParaRPr sz="3600">
              <a:solidFill>
                <a:srgbClr val="C00000"/>
              </a:solidFill>
            </a:endParaRPr>
          </a:p>
        </p:txBody>
      </p:sp>
      <p:sp>
        <p:nvSpPr>
          <p:cNvPr id="176" name="Google Shape;176;p12"/>
          <p:cNvSpPr txBox="1"/>
          <p:nvPr>
            <p:ph idx="1" type="body"/>
          </p:nvPr>
        </p:nvSpPr>
        <p:spPr>
          <a:xfrm>
            <a:off x="611560" y="1558478"/>
            <a:ext cx="8229600" cy="518289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C00000"/>
                </a:solidFill>
              </a:rPr>
              <a:t>Hardware: </a:t>
            </a:r>
            <a:r>
              <a:rPr lang="en-US" sz="2400"/>
              <a:t>mobile phones, PDAs and laptop computers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C00000"/>
                </a:solidFill>
              </a:rPr>
              <a:t>Wireless carriers: </a:t>
            </a:r>
            <a:r>
              <a:rPr lang="en-US" sz="2400"/>
              <a:t>perusahaan yang menyediakan akses Internet nirkabel ke perangkat seluler</a:t>
            </a:r>
            <a:endParaRPr sz="2400"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Services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Pricing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Network coverage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C00000"/>
                </a:solidFill>
              </a:rPr>
              <a:t>Networks: </a:t>
            </a:r>
            <a:r>
              <a:rPr lang="en-US" sz="2400"/>
              <a:t>perusahaan, bisnis, dan perguruan tinggi membangun jaringan nirkabel yang memungkinkan akses informasi kapan saja dan dari mana saja</a:t>
            </a:r>
            <a:endParaRPr sz="2400"/>
          </a:p>
          <a:p>
            <a:pPr indent="-34290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000"/>
              <a:buChar char="•"/>
            </a:pPr>
            <a:r>
              <a:rPr i="1" lang="en-US" sz="2000"/>
              <a:t>Local Area Networks (LAN) and Wide Area Networks (WAN)</a:t>
            </a:r>
            <a:endParaRPr sz="2000"/>
          </a:p>
          <a:p>
            <a:pPr indent="-228600" lvl="2" marL="11430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Use wires and cables to connect users to central server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i="1" lang="en-US" sz="2000"/>
              <a:t>Wireless Local Area Networks (WLANs), Wireless Wide Area Networks (WWANs) and Wireless Personal Area Networks (WPANs) </a:t>
            </a:r>
            <a:endParaRPr sz="2000"/>
          </a:p>
          <a:p>
            <a:pPr indent="-228600" lvl="2" marL="11430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Transmit data through air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C00000"/>
                </a:solidFill>
              </a:rPr>
              <a:t>Satellites: </a:t>
            </a:r>
            <a:r>
              <a:rPr lang="en-US" sz="2400"/>
              <a:t>an alternatives way…</a:t>
            </a:r>
            <a:endParaRPr sz="2400"/>
          </a:p>
        </p:txBody>
      </p:sp>
      <p:pic>
        <p:nvPicPr>
          <p:cNvPr id="177" name="Google Shape;1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29" y="64082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 txBox="1"/>
          <p:nvPr>
            <p:ph type="title"/>
          </p:nvPr>
        </p:nvSpPr>
        <p:spPr>
          <a:xfrm>
            <a:off x="464045" y="836712"/>
            <a:ext cx="8226425" cy="8517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C00000"/>
                </a:solidFill>
              </a:rPr>
              <a:t>Handsets</a:t>
            </a:r>
            <a:endParaRPr/>
          </a:p>
        </p:txBody>
      </p:sp>
      <p:sp>
        <p:nvSpPr>
          <p:cNvPr id="183" name="Google Shape;183;p13"/>
          <p:cNvSpPr txBox="1"/>
          <p:nvPr>
            <p:ph idx="1" type="body"/>
          </p:nvPr>
        </p:nvSpPr>
        <p:spPr>
          <a:xfrm>
            <a:off x="481185" y="2060848"/>
            <a:ext cx="8226425" cy="45227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Handsets: perangkat untuk mengirim / menerima panggilan suara dan pesan data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Antenna – transmission 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Number pad – dialing 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Speaker and microphone – voice communications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Operating system – operation 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Computer chips – other functions</a:t>
            </a:r>
            <a:endParaRPr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SzPts val="2800"/>
              <a:buChar char="•"/>
            </a:pPr>
            <a:r>
              <a:rPr i="1" lang="en-US" sz="2800"/>
              <a:t>Flip-phones</a:t>
            </a:r>
            <a:endParaRPr sz="2800"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Compact handsets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84" name="Google Shape;1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29" y="64082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"/>
          <p:cNvSpPr txBox="1"/>
          <p:nvPr>
            <p:ph type="title"/>
          </p:nvPr>
        </p:nvSpPr>
        <p:spPr>
          <a:xfrm>
            <a:off x="457200" y="806425"/>
            <a:ext cx="8226425" cy="7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C00000"/>
                </a:solidFill>
              </a:rPr>
              <a:t>Handsets (2)</a:t>
            </a:r>
            <a:endParaRPr/>
          </a:p>
        </p:txBody>
      </p:sp>
      <p:sp>
        <p:nvSpPr>
          <p:cNvPr id="190" name="Google Shape;190;p14"/>
          <p:cNvSpPr txBox="1"/>
          <p:nvPr>
            <p:ph idx="1" type="body"/>
          </p:nvPr>
        </p:nvSpPr>
        <p:spPr>
          <a:xfrm>
            <a:off x="457200" y="1600200"/>
            <a:ext cx="8226425" cy="50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Cell phone features: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Digital and analog signals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Phone books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Caller ID and voicemail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color display screen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i="1" lang="en-US" sz="2400"/>
              <a:t>Voice-activated technology</a:t>
            </a:r>
            <a:r>
              <a:rPr lang="en-US" sz="2400"/>
              <a:t>: operation through voice commands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Internet access</a:t>
            </a:r>
            <a:endParaRPr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The term handset digunakan secara bergantian dengan mobile phone, cell phone and wireless phone.</a:t>
            </a:r>
            <a:endParaRPr i="1" sz="3600"/>
          </a:p>
        </p:txBody>
      </p:sp>
      <p:pic>
        <p:nvPicPr>
          <p:cNvPr id="191" name="Google Shape;1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29" y="64082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 txBox="1"/>
          <p:nvPr>
            <p:ph type="title"/>
          </p:nvPr>
        </p:nvSpPr>
        <p:spPr>
          <a:xfrm>
            <a:off x="467544" y="751161"/>
            <a:ext cx="8226425" cy="9052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C00000"/>
                </a:solidFill>
              </a:rPr>
              <a:t>Handsets</a:t>
            </a:r>
            <a:endParaRPr/>
          </a:p>
        </p:txBody>
      </p:sp>
      <p:pic>
        <p:nvPicPr>
          <p:cNvPr descr="motorolaphone" id="197" name="Google Shape;1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072" y="1963688"/>
            <a:ext cx="22574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5"/>
          <p:cNvSpPr txBox="1"/>
          <p:nvPr/>
        </p:nvSpPr>
        <p:spPr>
          <a:xfrm>
            <a:off x="981472" y="5849888"/>
            <a:ext cx="73691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Motorola’s V series™ Phone model 66, Nokia’s 3390 and 5165 series are examples of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handsets available on the market. ©2001 Nokia Mobile Phones., ©2001, Motorola, Inc. </a:t>
            </a:r>
            <a:endParaRPr/>
          </a:p>
        </p:txBody>
      </p:sp>
      <p:pic>
        <p:nvPicPr>
          <p:cNvPr descr="09_02" id="199" name="Google Shape;1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9872" y="2420888"/>
            <a:ext cx="218440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9_03" id="200" name="Google Shape;20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0272" y="1963688"/>
            <a:ext cx="1279525" cy="342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629" y="64082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>
            <p:ph type="title"/>
          </p:nvPr>
        </p:nvSpPr>
        <p:spPr>
          <a:xfrm>
            <a:off x="431130" y="836712"/>
            <a:ext cx="8226425" cy="705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C00000"/>
                </a:solidFill>
              </a:rPr>
              <a:t>Pagers</a:t>
            </a:r>
            <a:endParaRPr/>
          </a:p>
        </p:txBody>
      </p:sp>
      <p:sp>
        <p:nvSpPr>
          <p:cNvPr id="207" name="Google Shape;207;p16"/>
          <p:cNvSpPr txBox="1"/>
          <p:nvPr>
            <p:ph idx="1" type="body"/>
          </p:nvPr>
        </p:nvSpPr>
        <p:spPr>
          <a:xfrm>
            <a:off x="453454" y="1844824"/>
            <a:ext cx="8229600" cy="478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Times"/>
                <a:ea typeface="Times"/>
                <a:cs typeface="Times"/>
                <a:sym typeface="Times"/>
              </a:rPr>
              <a:t>Pagers adalah salah satu metode komunikasi nirkabel pertama yang banyak digunakan</a:t>
            </a:r>
            <a:endParaRPr sz="2400">
              <a:latin typeface="Times"/>
              <a:ea typeface="Times"/>
              <a:cs typeface="Times"/>
              <a:sym typeface="Times"/>
            </a:endParaRPr>
          </a:p>
          <a:p>
            <a:pPr indent="-285750" lvl="1" marL="74295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>
                <a:latin typeface="Times"/>
                <a:ea typeface="Times"/>
                <a:cs typeface="Times"/>
                <a:sym typeface="Times"/>
              </a:rPr>
              <a:t>Store messages</a:t>
            </a:r>
            <a:endParaRPr/>
          </a:p>
          <a:p>
            <a:pPr indent="-285750" lvl="1" marL="74295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>
                <a:latin typeface="Times"/>
                <a:ea typeface="Times"/>
                <a:cs typeface="Times"/>
                <a:sym typeface="Times"/>
              </a:rPr>
              <a:t>Alert user of new messages</a:t>
            </a:r>
            <a:endParaRPr/>
          </a:p>
          <a:p>
            <a:pPr indent="-285750" lvl="1" marL="74295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>
                <a:latin typeface="Times"/>
                <a:ea typeface="Times"/>
                <a:cs typeface="Times"/>
                <a:sym typeface="Times"/>
              </a:rPr>
              <a:t>Show caller ID and message information</a:t>
            </a:r>
            <a:endParaRPr/>
          </a:p>
          <a:p>
            <a:pPr indent="-342900" lvl="0" marL="342900" rtl="0" algn="just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Times"/>
                <a:ea typeface="Times"/>
                <a:cs typeface="Times"/>
                <a:sym typeface="Times"/>
              </a:rPr>
              <a:t>Tarif berdasarkan jumlah pesan yang dikirim / diterima dan pesan yang disimpan</a:t>
            </a:r>
            <a:endParaRPr sz="2400">
              <a:latin typeface="Times"/>
              <a:ea typeface="Times"/>
              <a:cs typeface="Times"/>
              <a:sym typeface="Times"/>
            </a:endParaRPr>
          </a:p>
          <a:p>
            <a:pPr indent="-342900" lvl="0" marL="342900" rtl="0" algn="just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Times"/>
                <a:ea typeface="Times"/>
                <a:cs typeface="Times"/>
                <a:sym typeface="Times"/>
              </a:rPr>
              <a:t>3 messaging types</a:t>
            </a:r>
            <a:endParaRPr/>
          </a:p>
          <a:p>
            <a:pPr indent="-285750" lvl="1" marL="74295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One-way numbering</a:t>
            </a:r>
            <a:r>
              <a:rPr i="1" lang="en-US" sz="2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paging: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Telephone numbers</a:t>
            </a:r>
            <a:endParaRPr/>
          </a:p>
          <a:p>
            <a:pPr indent="-228600" lvl="2" marL="114300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Some numbers used as codes for messages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i="1" lang="en-US" sz="2000"/>
              <a:t>Text-based messaging</a:t>
            </a:r>
            <a:r>
              <a:rPr lang="en-US" sz="2000"/>
              <a:t>: </a:t>
            </a:r>
            <a:r>
              <a:rPr lang="en-US" sz="1800"/>
              <a:t>menerima pemberitahuan teks dan pesan suara (pesan teks satu arah)</a:t>
            </a:r>
            <a:endParaRPr sz="1800"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i="1" lang="en-US" sz="2000"/>
              <a:t>Two-way interactive communication</a:t>
            </a:r>
            <a:r>
              <a:rPr lang="en-US" sz="2000"/>
              <a:t>: </a:t>
            </a:r>
            <a:r>
              <a:rPr lang="en-US" sz="1800"/>
              <a:t>mengirim / menerima pesan teks antara dua individu</a:t>
            </a:r>
            <a:endParaRPr/>
          </a:p>
        </p:txBody>
      </p:sp>
      <p:pic>
        <p:nvPicPr>
          <p:cNvPr id="208" name="Google Shape;2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29" y="64082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 txBox="1"/>
          <p:nvPr>
            <p:ph type="title"/>
          </p:nvPr>
        </p:nvSpPr>
        <p:spPr>
          <a:xfrm>
            <a:off x="467544" y="980728"/>
            <a:ext cx="8226425" cy="7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C00000"/>
                </a:solidFill>
              </a:rPr>
              <a:t>Personal Digital Assistants (PDAs)</a:t>
            </a:r>
            <a:endParaRPr/>
          </a:p>
        </p:txBody>
      </p:sp>
      <p:sp>
        <p:nvSpPr>
          <p:cNvPr id="214" name="Google Shape;214;p17"/>
          <p:cNvSpPr txBox="1"/>
          <p:nvPr>
            <p:ph idx="1" type="body"/>
          </p:nvPr>
        </p:nvSpPr>
        <p:spPr>
          <a:xfrm>
            <a:off x="611560" y="1988840"/>
            <a:ext cx="8226425" cy="45227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PDA popularity in wireless market growing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Access web, e-mail, travel arrangements, directions, reservations, shopping, etc…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Organizers: store information, appointments and personal information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Infrared technology allows information sharing between devices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PDA opportunities for businesses and consumers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i="1" lang="en-US" sz="2400"/>
              <a:t>Convergence Devices</a:t>
            </a:r>
            <a:endParaRPr sz="2400"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Combinations of PDAs, mobile phones, and pagers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Smart phones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PDAs with add-on modules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MP3 phone hybrids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Personal communicators</a:t>
            </a:r>
            <a:endParaRPr/>
          </a:p>
        </p:txBody>
      </p:sp>
      <p:pic>
        <p:nvPicPr>
          <p:cNvPr id="215" name="Google Shape;2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29" y="64082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/>
          <p:nvPr>
            <p:ph type="title"/>
          </p:nvPr>
        </p:nvSpPr>
        <p:spPr>
          <a:xfrm>
            <a:off x="4795193" y="138907"/>
            <a:ext cx="3888432" cy="490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00000"/>
                </a:solidFill>
              </a:rPr>
              <a:t>Radio Basics</a:t>
            </a:r>
            <a:endParaRPr b="1" sz="3600">
              <a:solidFill>
                <a:srgbClr val="C00000"/>
              </a:solidFill>
            </a:endParaRPr>
          </a:p>
        </p:txBody>
      </p:sp>
      <p:sp>
        <p:nvSpPr>
          <p:cNvPr id="221" name="Google Shape;221;p18"/>
          <p:cNvSpPr txBox="1"/>
          <p:nvPr>
            <p:ph idx="1" type="body"/>
          </p:nvPr>
        </p:nvSpPr>
        <p:spPr>
          <a:xfrm>
            <a:off x="457200" y="1600200"/>
            <a:ext cx="8226425" cy="45227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22" name="Google Shape;2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65175"/>
            <a:ext cx="6372225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5713" y="765175"/>
            <a:ext cx="2808287" cy="211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088" y="3644900"/>
            <a:ext cx="7524750" cy="32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496" y="44624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/>
          <p:nvPr>
            <p:ph type="title"/>
          </p:nvPr>
        </p:nvSpPr>
        <p:spPr>
          <a:xfrm>
            <a:off x="683568" y="1008643"/>
            <a:ext cx="8226425" cy="589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00000"/>
                </a:solidFill>
              </a:rPr>
              <a:t>Radio Basics</a:t>
            </a:r>
            <a:endParaRPr b="1" sz="3600">
              <a:solidFill>
                <a:srgbClr val="C00000"/>
              </a:solidFill>
            </a:endParaRPr>
          </a:p>
        </p:txBody>
      </p:sp>
      <p:pic>
        <p:nvPicPr>
          <p:cNvPr id="231" name="Google Shape;231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1988840"/>
            <a:ext cx="8226425" cy="4522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629" y="44624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 txBox="1"/>
          <p:nvPr>
            <p:ph type="title"/>
          </p:nvPr>
        </p:nvSpPr>
        <p:spPr>
          <a:xfrm>
            <a:off x="457199" y="976203"/>
            <a:ext cx="8226425" cy="72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00000"/>
                </a:solidFill>
              </a:rPr>
              <a:t>Radio Basics</a:t>
            </a:r>
            <a:endParaRPr b="1" sz="3600">
              <a:solidFill>
                <a:srgbClr val="C00000"/>
              </a:solidFill>
            </a:endParaRPr>
          </a:p>
        </p:txBody>
      </p:sp>
      <p:pic>
        <p:nvPicPr>
          <p:cNvPr id="238" name="Google Shape;238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1988840"/>
            <a:ext cx="8226425" cy="4522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96" y="44624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 txBox="1"/>
          <p:nvPr>
            <p:ph type="title"/>
          </p:nvPr>
        </p:nvSpPr>
        <p:spPr>
          <a:xfrm>
            <a:off x="457200" y="673314"/>
            <a:ext cx="8226425" cy="72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00000"/>
                </a:solidFill>
              </a:rPr>
              <a:t>Teknikal Wireless</a:t>
            </a:r>
            <a:endParaRPr b="1" sz="3600">
              <a:solidFill>
                <a:srgbClr val="C00000"/>
              </a:solidFill>
            </a:endParaRPr>
          </a:p>
        </p:txBody>
      </p:sp>
      <p:sp>
        <p:nvSpPr>
          <p:cNvPr id="245" name="Google Shape;245;p21"/>
          <p:cNvSpPr txBox="1"/>
          <p:nvPr>
            <p:ph idx="1" type="body"/>
          </p:nvPr>
        </p:nvSpPr>
        <p:spPr>
          <a:xfrm>
            <a:off x="323528" y="1387729"/>
            <a:ext cx="8229600" cy="53292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Modulasi</a:t>
            </a:r>
            <a:endParaRPr sz="2400"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Informasi dienkode oleh modulasi sebuah gelombang sinyal pembawa dengan sebuah frekuensi</a:t>
            </a:r>
            <a:endParaRPr sz="2000"/>
          </a:p>
          <a:p>
            <a:pPr indent="-34290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Analisis Fourier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Setiap sinyal dapat digambarkan sebagai sebuah integral (jumlah) gelombang sinus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Three key access technologies: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menyangkut metode akses kanal frekuensi dengan cara membaginya agar dapat digunakan secara bersama pada saat sama</a:t>
            </a:r>
            <a:endParaRPr sz="2000"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Frequency Division Multiple Access (FDMA)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Menempatkan setiap panggilan pada frekuensi terpisah</a:t>
            </a:r>
            <a:endParaRPr sz="1800"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Time Division Multiple Access (TDMA)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Memberikan slot waktu frekuensi untuk tiap panggilan</a:t>
            </a:r>
            <a:endParaRPr sz="1800"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Code Division Multiple Access (CDMA)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Memberikan kode unik untuk tiap panggilan dan menyebarkannya pada frekuensi yang tersedia</a:t>
            </a:r>
            <a:endParaRPr sz="1800"/>
          </a:p>
        </p:txBody>
      </p:sp>
      <p:pic>
        <p:nvPicPr>
          <p:cNvPr id="246" name="Google Shape;2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29" y="44624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 txBox="1"/>
          <p:nvPr>
            <p:ph type="title"/>
          </p:nvPr>
        </p:nvSpPr>
        <p:spPr>
          <a:xfrm>
            <a:off x="457199" y="908720"/>
            <a:ext cx="8226425" cy="72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00000"/>
                </a:solidFill>
              </a:rPr>
              <a:t>FDMA, TDMA, CDMA</a:t>
            </a:r>
            <a:endParaRPr b="1" sz="3600">
              <a:solidFill>
                <a:srgbClr val="C00000"/>
              </a:solidFill>
            </a:endParaRPr>
          </a:p>
        </p:txBody>
      </p:sp>
      <p:pic>
        <p:nvPicPr>
          <p:cNvPr id="252" name="Google Shape;252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1988840"/>
            <a:ext cx="8226425" cy="4522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629" y="44624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 txBox="1"/>
          <p:nvPr>
            <p:ph type="title"/>
          </p:nvPr>
        </p:nvSpPr>
        <p:spPr>
          <a:xfrm>
            <a:off x="478657" y="728742"/>
            <a:ext cx="8226425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00000"/>
                </a:solidFill>
              </a:rPr>
              <a:t>FDMA</a:t>
            </a:r>
            <a:endParaRPr b="1" sz="3600">
              <a:solidFill>
                <a:srgbClr val="C00000"/>
              </a:solidFill>
            </a:endParaRPr>
          </a:p>
        </p:txBody>
      </p:sp>
      <p:sp>
        <p:nvSpPr>
          <p:cNvPr id="259" name="Google Shape;259;p23"/>
          <p:cNvSpPr txBox="1"/>
          <p:nvPr>
            <p:ph idx="1" type="body"/>
          </p:nvPr>
        </p:nvSpPr>
        <p:spPr>
          <a:xfrm>
            <a:off x="478657" y="2043152"/>
            <a:ext cx="3538537" cy="49291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Teknologi pertama untuk komunikasi jaringan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FDMA membagi spektrum kedalam beberapa kanal suara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FDMA digunakan untuk transmisi Analog.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FDMA tidak efisien untuk transmisi digital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Contoh: AMPS</a:t>
            </a:r>
            <a:endParaRPr/>
          </a:p>
        </p:txBody>
      </p:sp>
      <p:pic>
        <p:nvPicPr>
          <p:cNvPr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4644" y="1466890"/>
            <a:ext cx="5035550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629" y="44624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/>
          <p:nvPr>
            <p:ph type="title"/>
          </p:nvPr>
        </p:nvSpPr>
        <p:spPr>
          <a:xfrm>
            <a:off x="1806395" y="689015"/>
            <a:ext cx="4546848" cy="72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C00000"/>
                </a:solidFill>
              </a:rPr>
              <a:t>FDMA</a:t>
            </a:r>
            <a:endParaRPr b="1" sz="4000">
              <a:solidFill>
                <a:srgbClr val="C00000"/>
              </a:solidFill>
            </a:endParaRPr>
          </a:p>
        </p:txBody>
      </p:sp>
      <p:sp>
        <p:nvSpPr>
          <p:cNvPr id="267" name="Google Shape;267;p24"/>
          <p:cNvSpPr txBox="1"/>
          <p:nvPr>
            <p:ph idx="1" type="body"/>
          </p:nvPr>
        </p:nvSpPr>
        <p:spPr>
          <a:xfrm>
            <a:off x="611560" y="1428751"/>
            <a:ext cx="5915025" cy="51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Frequency slots are divided into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i="1" lang="en-US" sz="2000"/>
              <a:t>uplinks</a:t>
            </a:r>
            <a:r>
              <a:rPr lang="en-US" sz="2000"/>
              <a:t> = channels yang menghandle transmissions dari user ke base stations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i="1" lang="en-US" sz="2000"/>
              <a:t>downlinks</a:t>
            </a:r>
            <a:r>
              <a:rPr lang="en-US" sz="2000"/>
              <a:t> = transmissions dari base stations ke user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FDMA mencari frekuensi yang tersedia dan memberikan sebuah channel ke user untuk satu durasi </a:t>
            </a:r>
            <a:r>
              <a:rPr i="1" lang="en-US" sz="2400"/>
              <a:t>uplink</a:t>
            </a:r>
            <a:r>
              <a:rPr lang="en-US" sz="2400"/>
              <a:t> atau </a:t>
            </a:r>
            <a:r>
              <a:rPr i="1" lang="en-US" sz="2400"/>
              <a:t>downlink session</a:t>
            </a:r>
            <a:r>
              <a:rPr lang="en-US" sz="2400"/>
              <a:t>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Tidak ada user lain yang bisa menggunakan channel yang sudah dipakai, walaupun idle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Dalam FDMA mungkin terjadi interference problems, inefficiency dan transmission interruptions.</a:t>
            </a:r>
            <a:endParaRPr sz="2400"/>
          </a:p>
        </p:txBody>
      </p:sp>
      <p:pic>
        <p:nvPicPr>
          <p:cNvPr descr="10_01" id="268" name="Google Shape;26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0788" y="0"/>
            <a:ext cx="2843212" cy="3287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629" y="44624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"/>
          <p:cNvSpPr txBox="1"/>
          <p:nvPr>
            <p:ph type="title"/>
          </p:nvPr>
        </p:nvSpPr>
        <p:spPr>
          <a:xfrm>
            <a:off x="456654" y="1115375"/>
            <a:ext cx="8226425" cy="506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C00000"/>
                </a:solidFill>
              </a:rPr>
              <a:t>TDMA</a:t>
            </a:r>
            <a:endParaRPr b="1" sz="4000">
              <a:solidFill>
                <a:srgbClr val="C00000"/>
              </a:solidFill>
            </a:endParaRPr>
          </a:p>
        </p:txBody>
      </p:sp>
      <p:sp>
        <p:nvSpPr>
          <p:cNvPr id="275" name="Google Shape;275;p25"/>
          <p:cNvSpPr txBox="1"/>
          <p:nvPr>
            <p:ph idx="1" type="body"/>
          </p:nvPr>
        </p:nvSpPr>
        <p:spPr>
          <a:xfrm>
            <a:off x="456654" y="2060848"/>
            <a:ext cx="34671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Lebar kanal 200 Khz</a:t>
            </a:r>
            <a:endParaRPr sz="2400"/>
          </a:p>
          <a:p>
            <a:pPr indent="-34290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Beroperasi pada band 800 Mhz atau 1900 Mhz</a:t>
            </a:r>
            <a:endParaRPr sz="2400"/>
          </a:p>
          <a:p>
            <a:pPr indent="-34290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Kapasitas 3x &gt; FDMA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TDMA memiliki multiple calls dan assigns setiap call ke dalam slot waktu yang berbeda dalam frekuensi radio yg sama</a:t>
            </a:r>
            <a:endParaRPr sz="2400"/>
          </a:p>
        </p:txBody>
      </p:sp>
      <p:pic>
        <p:nvPicPr>
          <p:cNvPr id="276" name="Google Shape;2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7175" y="908050"/>
            <a:ext cx="4876800" cy="515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629" y="120313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 txBox="1"/>
          <p:nvPr>
            <p:ph type="title"/>
          </p:nvPr>
        </p:nvSpPr>
        <p:spPr>
          <a:xfrm>
            <a:off x="457200" y="908720"/>
            <a:ext cx="8226425" cy="649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C00000"/>
                </a:solidFill>
              </a:rPr>
              <a:t>TDMA</a:t>
            </a:r>
            <a:endParaRPr b="1" sz="4000">
              <a:solidFill>
                <a:srgbClr val="C00000"/>
              </a:solidFill>
            </a:endParaRPr>
          </a:p>
        </p:txBody>
      </p:sp>
      <p:sp>
        <p:nvSpPr>
          <p:cNvPr id="283" name="Google Shape;283;p26"/>
          <p:cNvSpPr txBox="1"/>
          <p:nvPr>
            <p:ph idx="1" type="body"/>
          </p:nvPr>
        </p:nvSpPr>
        <p:spPr>
          <a:xfrm>
            <a:off x="457200" y="1947887"/>
            <a:ext cx="5843588" cy="450544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Two technologies are used by TDMA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Frequency-Division Duplex (FDD)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Time-Division Duplex (TDD)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TDD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Uses on frequency band for all stations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Setiap station diberikan sebuah slot waktu pada band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FDD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Uses 2 separate frequency bands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Setiap station diberikan 2 slot waktu (1 untuk menerima sinyal dan 1 untuk mengirim sinyal)</a:t>
            </a:r>
            <a:endParaRPr/>
          </a:p>
        </p:txBody>
      </p:sp>
      <p:pic>
        <p:nvPicPr>
          <p:cNvPr descr="10_02" id="284" name="Google Shape;28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1863" y="120338"/>
            <a:ext cx="3132137" cy="3249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629" y="120313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7"/>
          <p:cNvSpPr txBox="1"/>
          <p:nvPr>
            <p:ph type="title"/>
          </p:nvPr>
        </p:nvSpPr>
        <p:spPr>
          <a:xfrm>
            <a:off x="449808" y="1011661"/>
            <a:ext cx="8226425" cy="649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C00000"/>
                </a:solidFill>
              </a:rPr>
              <a:t>CDMA</a:t>
            </a:r>
            <a:endParaRPr b="1" sz="4000">
              <a:solidFill>
                <a:srgbClr val="C00000"/>
              </a:solidFill>
            </a:endParaRPr>
          </a:p>
        </p:txBody>
      </p:sp>
      <p:sp>
        <p:nvSpPr>
          <p:cNvPr id="291" name="Google Shape;291;p27"/>
          <p:cNvSpPr txBox="1"/>
          <p:nvPr>
            <p:ph idx="1" type="body"/>
          </p:nvPr>
        </p:nvSpPr>
        <p:spPr>
          <a:xfrm>
            <a:off x="465807" y="2060848"/>
            <a:ext cx="2819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Setelah mendigitalisasi data, akan menyebarkan ke seluruh kanal yang tersedia</a:t>
            </a:r>
            <a:endParaRPr sz="2000"/>
          </a:p>
          <a:p>
            <a:pPr indent="-34290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Menerapkan modulasi spread spectrum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Lebar kanal radio: 1250 Khz</a:t>
            </a:r>
            <a:endParaRPr sz="2000"/>
          </a:p>
          <a:p>
            <a:pPr indent="-34290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One of the more popular standards in the U.S. and internationally</a:t>
            </a:r>
            <a:endParaRPr sz="2000"/>
          </a:p>
        </p:txBody>
      </p:sp>
      <p:pic>
        <p:nvPicPr>
          <p:cNvPr id="292" name="Google Shape;29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3775" y="692150"/>
            <a:ext cx="5610225" cy="561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629" y="120313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 txBox="1"/>
          <p:nvPr>
            <p:ph type="title"/>
          </p:nvPr>
        </p:nvSpPr>
        <p:spPr>
          <a:xfrm>
            <a:off x="498350" y="908720"/>
            <a:ext cx="8226425" cy="779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C00000"/>
                </a:solidFill>
              </a:rPr>
              <a:t>CDMA</a:t>
            </a:r>
            <a:endParaRPr b="1" sz="4000">
              <a:solidFill>
                <a:srgbClr val="C00000"/>
              </a:solidFill>
            </a:endParaRPr>
          </a:p>
        </p:txBody>
      </p:sp>
      <p:sp>
        <p:nvSpPr>
          <p:cNvPr id="299" name="Google Shape;299;p28"/>
          <p:cNvSpPr txBox="1"/>
          <p:nvPr>
            <p:ph idx="1" type="body"/>
          </p:nvPr>
        </p:nvSpPr>
        <p:spPr>
          <a:xfrm>
            <a:off x="482922" y="1916832"/>
            <a:ext cx="8226425" cy="45227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Uses </a:t>
            </a:r>
            <a:r>
              <a:rPr i="1" lang="en-US" sz="2800"/>
              <a:t>spread-spectrum technology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Memecah sinyal-sinyal dan menyebarkannya ke seluruh bandwidth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Meningkatkan kapasitas 3x lebih besar dari digital system lain dan 20x lebih besar dari sistem analog lain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Uses </a:t>
            </a:r>
            <a:r>
              <a:rPr i="1" lang="en-US" sz="2800"/>
              <a:t>packet-switched data transmissions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Data dikirim dan diterima pada jaringan dalam bentuk paket-paket</a:t>
            </a:r>
            <a:endParaRPr sz="2400"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Paket-paket dapat dikirimkan pada 1 channel tertentu dan diterima pada channel lainnya</a:t>
            </a:r>
            <a:endParaRPr sz="2400"/>
          </a:p>
        </p:txBody>
      </p:sp>
      <p:pic>
        <p:nvPicPr>
          <p:cNvPr id="300" name="Google Shape;30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29" y="120313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9"/>
          <p:cNvSpPr txBox="1"/>
          <p:nvPr>
            <p:ph type="title"/>
          </p:nvPr>
        </p:nvSpPr>
        <p:spPr>
          <a:xfrm>
            <a:off x="463798" y="786458"/>
            <a:ext cx="8226425" cy="649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C00000"/>
                </a:solidFill>
              </a:rPr>
              <a:t>CDMA</a:t>
            </a:r>
            <a:endParaRPr/>
          </a:p>
        </p:txBody>
      </p:sp>
      <p:sp>
        <p:nvSpPr>
          <p:cNvPr id="306" name="Google Shape;306;p29"/>
          <p:cNvSpPr txBox="1"/>
          <p:nvPr>
            <p:ph idx="1" type="body"/>
          </p:nvPr>
        </p:nvSpPr>
        <p:spPr>
          <a:xfrm>
            <a:off x="457200" y="1700808"/>
            <a:ext cx="8229600" cy="26209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Advantages of CDMA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Membutuhkan power yang lebih kecil, sehingga akan meningkatkan talk time dan battery life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Interference dan background noise berkurang</a:t>
            </a:r>
            <a:endParaRPr sz="2400"/>
          </a:p>
          <a:p>
            <a:pPr indent="-285750" lvl="1" marL="74295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Membutuhkan cell cites yang lebih sedikit yang akan mengurangi waktu konstruksi jaringan dibandingkan dengan wireline dan other wireless networks</a:t>
            </a:r>
            <a:endParaRPr/>
          </a:p>
        </p:txBody>
      </p:sp>
      <p:pic>
        <p:nvPicPr>
          <p:cNvPr descr="10_03" id="307" name="Google Shape;30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8538" y="4168601"/>
            <a:ext cx="4824412" cy="264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629" y="120313"/>
            <a:ext cx="4044323" cy="64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2008-01-16T10:42:04Z</dcterms:created>
  <dc:creator>Antonius Rachmat C</dc:creator>
</cp:coreProperties>
</file>